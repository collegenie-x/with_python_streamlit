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Roboto Light"/>
      <p:regular r:id="rId201314"/>
    </p:embeddedFont>
    <p:embeddedFont>
      <p:font typeface="Roboto"/>
      <p:regular r:id="rId201315"/>
    </p:embeddedFont>
    <p:embeddedFont>
      <p:font typeface="Roboto Thin"/>
      <p:regular r:id="rId201316"/>
    </p:embeddedFont>
    <p:embeddedFont>
      <p:font typeface="Roboto ExtraLight"/>
      <p:regular r:id="rId201317"/>
    </p:embeddedFont>
    <p:embeddedFont>
      <p:font typeface="Roboto Medium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ExtraBold"/>
      <p:regular r:id="rId201321"/>
    </p:embeddedFont>
    <p:embeddedFont>
      <p:font typeface="Roboto Black"/>
      <p:regular r:id="rId201322"/>
    </p:embeddedFont>
    <p:embeddedFont>
      <p:font typeface="Roboto Slab Thin"/>
      <p:regular r:id="rId201323"/>
    </p:embeddedFont>
    <p:embeddedFont>
      <p:font typeface="Roboto Slab ExtraLight"/>
      <p:regular r:id="rId201324"/>
    </p:embeddedFont>
    <p:embeddedFont>
      <p:font typeface="Roboto Slab Light"/>
      <p:regular r:id="rId201325"/>
    </p:embeddedFont>
    <p:embeddedFont>
      <p:font typeface="Roboto Slab"/>
      <p:regular r:id="rId201326"/>
    </p:embeddedFont>
    <p:embeddedFont>
      <p:font typeface="Roboto Slab Medium"/>
      <p:regular r:id="rId201327"/>
    </p:embeddedFont>
    <p:embeddedFont>
      <p:font typeface="Roboto Slab SemiBold"/>
      <p:regular r:id="rId201328"/>
    </p:embeddedFont>
    <p:embeddedFont>
      <p:font typeface="Roboto Slab Bold"/>
      <p:regular r:id="rId201329"/>
    </p:embeddedFont>
    <p:embeddedFont>
      <p:font typeface="Roboto Slab ExtraBold"/>
      <p:regular r:id="rId201330"/>
    </p:embeddedFont>
    <p:embeddedFont>
      <p:font typeface="Roboto Slab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9001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9. 회복탄력성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54797"/>
            <a:ext cx="6296860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실패를 연료로 바꾸는 태도</a:t>
            </a:r>
            <a:endParaRPr lang="ko-KR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99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BG 마인드 vs AG 마인드 — 실패 대응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154734"/>
            <a:ext cx="5470785" cy="2201366"/>
          </a:xfrm>
          <a:prstGeom prst="roundRect">
            <a:avLst>
              <a:gd name="adj" fmla="val 1127"/>
            </a:avLst>
          </a:prstGeom>
          <a:solidFill>
            <a:srgbClr val="3257B8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320032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BG 마인드 (좌절)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743795"/>
            <a:ext cx="514019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"나는 코딩에 소질이 없나 봐"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"아무도 안 봐, 포기해야지"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"시간 낭비였다"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"창피하다, 숨기자"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"나는 안 되나 봐"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32003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 마인드 (성장)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743795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"에러 메시지를 AI에게 보여주고 다시 해보자"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"썸네일을 바꿔보고 A/B 테스트하자"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"사용자 피드백을 받아 개선하자"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"1년 후에 포트폴리오로 보여주면 된다"</a:t>
            </a:r>
            <a:endParaRPr lang="ko-KR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"어디서 틀렸는지 AI한테 분석 요청하자"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4542135"/>
            <a:ext cx="10868745" cy="925909"/>
          </a:xfrm>
          <a:prstGeom prst="roundRect">
            <a:avLst>
              <a:gd name="adj" fmla="val 2679"/>
            </a:avLst>
          </a:prstGeom>
          <a:solidFill>
            <a:srgbClr val="D7DFF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4781848"/>
            <a:ext cx="206667" cy="1652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98731" y="4748709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실패 해석 공식: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실패 = 성장을 위한 데이터 수집 = 프롬프트를 수정해서 다시 하면 되는 것. 프로 개발자도 매일 실패한다. 다른 건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실패한 후에 뭘 하느냐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다.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"다시 해보자"를 100번 말할 수 있는 사람이 이긴다.</a:t>
            </a:r>
            <a:endParaRPr lang="ko-KR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9001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10. 이 수업이 끝나면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454797"/>
            <a:ext cx="6296860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지금부터가 시작이다</a:t>
            </a:r>
            <a:endParaRPr lang="ko-KR" sz="4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876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오늘 기억해야 할 5가지</a:t>
            </a:r>
            <a:endParaRPr lang="ko-KR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94904"/>
            <a:ext cx="10868745" cy="8930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6555" y="1601887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09863" y="1462782"/>
            <a:ext cx="995248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세상이 바뀌고 있다</a:t>
            </a:r>
            <a:endParaRPr lang="ko-KR" sz="1450" dirty="0"/>
          </a:p>
        </p:txBody>
      </p:sp>
      <p:sp>
        <p:nvSpPr>
          <p:cNvPr id="6" name="Text 3"/>
          <p:cNvSpPr/>
          <p:nvPr/>
        </p:nvSpPr>
        <p:spPr>
          <a:xfrm>
            <a:off x="1409863" y="1775619"/>
            <a:ext cx="995248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OECD·WEF의 미래 역량과 수능이 측정하는 능력은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하나도 안 겹친다.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읽고 듣는 문화에서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쓰고 말하는 문화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로 전환 중이다.</a:t>
            </a:r>
            <a:endParaRPr lang="ko-KR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21917"/>
            <a:ext cx="10868745" cy="8930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6555" y="262890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09863" y="2489795"/>
            <a:ext cx="995248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지식의 벽이 무너졌다</a:t>
            </a:r>
            <a:endParaRPr lang="ko-KR" sz="1450" dirty="0"/>
          </a:p>
        </p:txBody>
      </p:sp>
      <p:sp>
        <p:nvSpPr>
          <p:cNvPr id="10" name="Text 6"/>
          <p:cNvSpPr/>
          <p:nvPr/>
        </p:nvSpPr>
        <p:spPr>
          <a:xfrm>
            <a:off x="1409863" y="2802632"/>
            <a:ext cx="995248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덕분에 누구나 교수 수준의 지식에 접근 가능.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"뭘 만드느냐"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 무기다. 하루 100개 질문이 새로운 공부법이다.</a:t>
            </a:r>
            <a:endParaRPr lang="ko-KR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48930"/>
            <a:ext cx="10868745" cy="8930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6555" y="3655913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409863" y="3516809"/>
            <a:ext cx="995248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코딩이 아니라 기획이다</a:t>
            </a:r>
            <a:endParaRPr lang="ko-KR" sz="1450" dirty="0"/>
          </a:p>
        </p:txBody>
      </p:sp>
      <p:sp>
        <p:nvSpPr>
          <p:cNvPr id="14" name="Text 9"/>
          <p:cNvSpPr/>
          <p:nvPr/>
        </p:nvSpPr>
        <p:spPr>
          <a:xfrm>
            <a:off x="1409863" y="3829645"/>
            <a:ext cx="995248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단순 코더의 시대는 끝났다.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아키텍처, 오케스트레이션, 기획, 디버깅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핵심. 전공 지식 + AI = 나만의 무기.</a:t>
            </a:r>
            <a:endParaRPr lang="ko-KR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75944"/>
            <a:ext cx="10868745" cy="8930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6555" y="4682927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409863" y="4543822"/>
            <a:ext cx="995248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만들어본 사람이 이긴다</a:t>
            </a:r>
            <a:endParaRPr lang="ko-KR" sz="1450" dirty="0"/>
          </a:p>
        </p:txBody>
      </p:sp>
      <p:sp>
        <p:nvSpPr>
          <p:cNvPr id="18" name="Text 12"/>
          <p:cNvSpPr/>
          <p:nvPr/>
        </p:nvSpPr>
        <p:spPr>
          <a:xfrm>
            <a:off x="1409863" y="4856659"/>
            <a:ext cx="995248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2032년 대입에서 세특 비중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35~40%.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"뭘 만들었는가"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 "시험 몇 점인가"보다 중요해진다.</a:t>
            </a:r>
            <a:endParaRPr lang="ko-KR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02957"/>
            <a:ext cx="10868745" cy="8930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6555" y="5709940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1409863" y="5570835"/>
            <a:ext cx="995248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실패는 연료다</a:t>
            </a:r>
            <a:endParaRPr lang="ko-KR" sz="1450" dirty="0"/>
          </a:p>
        </p:txBody>
      </p:sp>
      <p:sp>
        <p:nvSpPr>
          <p:cNvPr id="22" name="Text 15"/>
          <p:cNvSpPr/>
          <p:nvPr/>
        </p:nvSpPr>
        <p:spPr>
          <a:xfrm>
            <a:off x="1409863" y="5883672"/>
            <a:ext cx="995248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 마인드: 실패 = 데이터 수집 = 다음 시도의 연료. </a:t>
            </a:r>
            <a:pPr algn="l" indent="0" marL="0">
              <a:lnSpc>
                <a:spcPct val="127000"/>
              </a:lnSpc>
              <a:buNone/>
            </a:pPr>
            <a:r>
              <a:rPr lang="ko-KR" altLang="en-US" sz="11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100번 "다시 해보자"를 말할 수 있는 사람이 이긴다.</a:t>
            </a:r>
            <a:endParaRPr lang="ko-KR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8511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이 수업 전체 여정 — 프로와 똑같다</a:t>
            </a:r>
            <a:endParaRPr lang="ko-KR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2208213"/>
            <a:ext cx="10868745" cy="19050"/>
          </a:xfrm>
          <a:prstGeom prst="roundRect">
            <a:avLst>
              <a:gd name="adj" fmla="val 110695"/>
            </a:avLst>
          </a:prstGeom>
          <a:solidFill>
            <a:srgbClr val="CFD2D8"/>
          </a:solidFill>
          <a:ln/>
        </p:spPr>
      </p:sp>
      <p:sp>
        <p:nvSpPr>
          <p:cNvPr id="4" name="Shape 2"/>
          <p:cNvSpPr/>
          <p:nvPr/>
        </p:nvSpPr>
        <p:spPr>
          <a:xfrm>
            <a:off x="2780834" y="1786533"/>
            <a:ext cx="19050" cy="421680"/>
          </a:xfrm>
          <a:prstGeom prst="roundRect">
            <a:avLst>
              <a:gd name="adj" fmla="val 110695"/>
            </a:avLst>
          </a:prstGeom>
          <a:solidFill>
            <a:srgbClr val="CFD2D8"/>
          </a:solidFill>
          <a:ln/>
        </p:spPr>
      </p:sp>
      <p:sp>
        <p:nvSpPr>
          <p:cNvPr id="5" name="Shape 3"/>
          <p:cNvSpPr/>
          <p:nvPr/>
        </p:nvSpPr>
        <p:spPr>
          <a:xfrm>
            <a:off x="2632208" y="2050058"/>
            <a:ext cx="316301" cy="31630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6" name="Text 4"/>
          <p:cNvSpPr/>
          <p:nvPr/>
        </p:nvSpPr>
        <p:spPr>
          <a:xfrm>
            <a:off x="2684941" y="2076450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1965" y="1146671"/>
            <a:ext cx="397688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1일차 (오늘)</a:t>
            </a:r>
            <a:endParaRPr lang="ko-KR" sz="1350" dirty="0"/>
          </a:p>
        </p:txBody>
      </p:sp>
      <p:sp>
        <p:nvSpPr>
          <p:cNvPr id="8" name="Text 6"/>
          <p:cNvSpPr/>
          <p:nvPr/>
        </p:nvSpPr>
        <p:spPr>
          <a:xfrm>
            <a:off x="801965" y="1437878"/>
            <a:ext cx="397688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세상이 바뀌고 있다 → 나도 바뀌어야 한다</a:t>
            </a:r>
            <a:endParaRPr lang="ko-KR" sz="1100" dirty="0"/>
          </a:p>
        </p:txBody>
      </p:sp>
      <p:sp>
        <p:nvSpPr>
          <p:cNvPr id="9" name="Shape 7"/>
          <p:cNvSpPr/>
          <p:nvPr/>
        </p:nvSpPr>
        <p:spPr>
          <a:xfrm>
            <a:off x="4984427" y="2208213"/>
            <a:ext cx="19050" cy="421680"/>
          </a:xfrm>
          <a:prstGeom prst="roundRect">
            <a:avLst>
              <a:gd name="adj" fmla="val 110695"/>
            </a:avLst>
          </a:prstGeom>
          <a:solidFill>
            <a:srgbClr val="CFD2D8"/>
          </a:solidFill>
          <a:ln/>
        </p:spPr>
      </p:sp>
      <p:sp>
        <p:nvSpPr>
          <p:cNvPr id="10" name="Shape 8"/>
          <p:cNvSpPr/>
          <p:nvPr/>
        </p:nvSpPr>
        <p:spPr>
          <a:xfrm>
            <a:off x="4835801" y="2050058"/>
            <a:ext cx="316301" cy="31630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1" name="Text 9"/>
          <p:cNvSpPr/>
          <p:nvPr/>
        </p:nvSpPr>
        <p:spPr>
          <a:xfrm>
            <a:off x="4888534" y="2076450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005558" y="2770485"/>
            <a:ext cx="397688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2일차</a:t>
            </a:r>
            <a:endParaRPr lang="ko-KR" sz="1350" dirty="0"/>
          </a:p>
        </p:txBody>
      </p:sp>
      <p:sp>
        <p:nvSpPr>
          <p:cNvPr id="13" name="Text 11"/>
          <p:cNvSpPr/>
          <p:nvPr/>
        </p:nvSpPr>
        <p:spPr>
          <a:xfrm>
            <a:off x="3005558" y="3061692"/>
            <a:ext cx="397688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종이에 그리고, AI한테 처음으로 코드를 받는다</a:t>
            </a:r>
            <a:endParaRPr lang="ko-KR" sz="1100" dirty="0"/>
          </a:p>
        </p:txBody>
      </p:sp>
      <p:sp>
        <p:nvSpPr>
          <p:cNvPr id="14" name="Shape 12"/>
          <p:cNvSpPr/>
          <p:nvPr/>
        </p:nvSpPr>
        <p:spPr>
          <a:xfrm>
            <a:off x="7188020" y="1786533"/>
            <a:ext cx="19050" cy="421680"/>
          </a:xfrm>
          <a:prstGeom prst="roundRect">
            <a:avLst>
              <a:gd name="adj" fmla="val 110695"/>
            </a:avLst>
          </a:prstGeom>
          <a:solidFill>
            <a:srgbClr val="CFD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7039394" y="2050058"/>
            <a:ext cx="316301" cy="31630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6" name="Text 14"/>
          <p:cNvSpPr/>
          <p:nvPr/>
        </p:nvSpPr>
        <p:spPr>
          <a:xfrm>
            <a:off x="7092128" y="2076450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209152" y="1146671"/>
            <a:ext cx="397688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3일차</a:t>
            </a:r>
            <a:endParaRPr lang="ko-KR" sz="1350" dirty="0"/>
          </a:p>
        </p:txBody>
      </p:sp>
      <p:sp>
        <p:nvSpPr>
          <p:cNvPr id="18" name="Text 16"/>
          <p:cNvSpPr/>
          <p:nvPr/>
        </p:nvSpPr>
        <p:spPr>
          <a:xfrm>
            <a:off x="5209152" y="1437878"/>
            <a:ext cx="397688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팀이 각자 만든 걸 하나로 합친다</a:t>
            </a:r>
            <a:endParaRPr lang="ko-KR" sz="1100" dirty="0"/>
          </a:p>
        </p:txBody>
      </p:sp>
      <p:sp>
        <p:nvSpPr>
          <p:cNvPr id="19" name="Shape 17"/>
          <p:cNvSpPr/>
          <p:nvPr/>
        </p:nvSpPr>
        <p:spPr>
          <a:xfrm>
            <a:off x="9391613" y="2208213"/>
            <a:ext cx="19050" cy="421680"/>
          </a:xfrm>
          <a:prstGeom prst="roundRect">
            <a:avLst>
              <a:gd name="adj" fmla="val 110695"/>
            </a:avLst>
          </a:prstGeom>
          <a:solidFill>
            <a:srgbClr val="CFD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9242988" y="2050058"/>
            <a:ext cx="316301" cy="31630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21" name="Text 19"/>
          <p:cNvSpPr/>
          <p:nvPr/>
        </p:nvSpPr>
        <p:spPr>
          <a:xfrm>
            <a:off x="9295721" y="2076450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412745" y="2770485"/>
            <a:ext cx="397688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4일차</a:t>
            </a:r>
            <a:endParaRPr lang="ko-KR" sz="1350" dirty="0"/>
          </a:p>
        </p:txBody>
      </p:sp>
      <p:sp>
        <p:nvSpPr>
          <p:cNvPr id="23" name="Text 21"/>
          <p:cNvSpPr/>
          <p:nvPr/>
        </p:nvSpPr>
        <p:spPr>
          <a:xfrm>
            <a:off x="7412745" y="3061692"/>
            <a:ext cx="3976886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인터넷에 올리고, 사람들 앞에서 보여준다</a:t>
            </a:r>
            <a:endParaRPr lang="ko-KR" sz="11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404096"/>
            <a:ext cx="5434373" cy="562273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01965" y="4085828"/>
            <a:ext cx="515339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정하기</a:t>
            </a:r>
            <a:endParaRPr lang="ko-KR" sz="1350" dirty="0"/>
          </a:p>
        </p:txBody>
      </p:sp>
      <p:sp>
        <p:nvSpPr>
          <p:cNvPr id="26" name="Text 23"/>
          <p:cNvSpPr/>
          <p:nvPr/>
        </p:nvSpPr>
        <p:spPr>
          <a:xfrm>
            <a:off x="801965" y="4377035"/>
            <a:ext cx="515339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아이디어 기획</a:t>
            </a:r>
            <a:endParaRPr lang="ko-KR" sz="11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3404096"/>
            <a:ext cx="5434373" cy="56227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236338" y="4085828"/>
            <a:ext cx="515339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그리기</a:t>
            </a:r>
            <a:endParaRPr lang="ko-KR" sz="1350" dirty="0"/>
          </a:p>
        </p:txBody>
      </p:sp>
      <p:sp>
        <p:nvSpPr>
          <p:cNvPr id="29" name="Text 25"/>
          <p:cNvSpPr/>
          <p:nvPr/>
        </p:nvSpPr>
        <p:spPr>
          <a:xfrm>
            <a:off x="6236338" y="4377035"/>
            <a:ext cx="515339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설계 &amp; 설계도</a:t>
            </a:r>
            <a:endParaRPr lang="ko-KR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725591"/>
            <a:ext cx="5434373" cy="56227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01965" y="5407323"/>
            <a:ext cx="515339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만들기</a:t>
            </a:r>
            <a:endParaRPr lang="ko-KR" sz="1350" dirty="0"/>
          </a:p>
        </p:txBody>
      </p:sp>
      <p:sp>
        <p:nvSpPr>
          <p:cNvPr id="32" name="Text 27"/>
          <p:cNvSpPr/>
          <p:nvPr/>
        </p:nvSpPr>
        <p:spPr>
          <a:xfrm>
            <a:off x="801965" y="5698530"/>
            <a:ext cx="515339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개발 &amp; 구현</a:t>
            </a:r>
            <a:endParaRPr lang="ko-KR" sz="11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4725591"/>
            <a:ext cx="5434373" cy="56227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236338" y="5407323"/>
            <a:ext cx="515339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고치기</a:t>
            </a:r>
            <a:endParaRPr lang="ko-KR" sz="1350" dirty="0"/>
          </a:p>
        </p:txBody>
      </p:sp>
      <p:sp>
        <p:nvSpPr>
          <p:cNvPr id="35" name="Text 29"/>
          <p:cNvSpPr/>
          <p:nvPr/>
        </p:nvSpPr>
        <p:spPr>
          <a:xfrm>
            <a:off x="6236338" y="5698530"/>
            <a:ext cx="515339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ko-KR" alt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테스트 &amp; 배포</a:t>
            </a:r>
            <a:endParaRPr lang="ko-KR" sz="1100" dirty="0"/>
          </a:p>
        </p:txBody>
      </p:sp>
      <p:sp>
        <p:nvSpPr>
          <p:cNvPr id="36" name="Text 30"/>
          <p:cNvSpPr/>
          <p:nvPr/>
        </p:nvSpPr>
        <p:spPr>
          <a:xfrm>
            <a:off x="356682" y="6181427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ko-KR" altLang="en-US" sz="11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과정이 똑같다. 다른 건 규모뿐이다.</a:t>
            </a:r>
            <a:endParaRPr lang="ko-KR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4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Two-Word Test — 프로젝트 아이디어 만들기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082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프로젝트를 시작할 때 가장 어려운 건 "뭘 만들지?" 정하는 것.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두 단어면 아이디어가 나온다.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1단계: "내가 좋아하는 것" 한 단어 → 2단계: "해결하고 싶은 문제" 한 단어.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096095"/>
            <a:ext cx="10868745" cy="3381077"/>
          </a:xfrm>
          <a:prstGeom prst="roundRect">
            <a:avLst>
              <a:gd name="adj" fmla="val 73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58137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063478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545582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027686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509790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99189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34310" y="2208014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좋아하는 것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4452231" y="2208014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문제</a:t>
            </a:r>
            <a:endParaRPr lang="ko-KR" sz="1300" dirty="0"/>
          </a:p>
        </p:txBody>
      </p:sp>
      <p:sp>
        <p:nvSpPr>
          <p:cNvPr id="13" name="Text 11"/>
          <p:cNvSpPr/>
          <p:nvPr/>
        </p:nvSpPr>
        <p:spPr>
          <a:xfrm>
            <a:off x="8070152" y="2208014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프로젝트 아이디어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834310" y="2690118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축구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4452231" y="2690118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전술</a:t>
            </a:r>
            <a:endParaRPr lang="ko-KR" sz="1300" dirty="0"/>
          </a:p>
        </p:txBody>
      </p:sp>
      <p:sp>
        <p:nvSpPr>
          <p:cNvPr id="16" name="Text 14"/>
          <p:cNvSpPr/>
          <p:nvPr/>
        </p:nvSpPr>
        <p:spPr>
          <a:xfrm>
            <a:off x="8070152" y="2690118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경기 데이터 기반 전술 분석 앱</a:t>
            </a:r>
            <a:endParaRPr lang="ko-KR" sz="1300" dirty="0"/>
          </a:p>
        </p:txBody>
      </p:sp>
      <p:sp>
        <p:nvSpPr>
          <p:cNvPr id="17" name="Text 15"/>
          <p:cNvSpPr/>
          <p:nvPr/>
        </p:nvSpPr>
        <p:spPr>
          <a:xfrm>
            <a:off x="834310" y="3172222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음악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4452231" y="3172222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작곡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8070152" y="3172222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멜로디 생성 도우미</a:t>
            </a:r>
            <a:endParaRPr lang="ko-KR" sz="1300" dirty="0"/>
          </a:p>
        </p:txBody>
      </p:sp>
      <p:sp>
        <p:nvSpPr>
          <p:cNvPr id="20" name="Text 18"/>
          <p:cNvSpPr/>
          <p:nvPr/>
        </p:nvSpPr>
        <p:spPr>
          <a:xfrm>
            <a:off x="834310" y="3654326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요리</a:t>
            </a:r>
            <a:endParaRPr lang="ko-KR" sz="1300" dirty="0"/>
          </a:p>
        </p:txBody>
      </p:sp>
      <p:sp>
        <p:nvSpPr>
          <p:cNvPr id="21" name="Text 19"/>
          <p:cNvSpPr/>
          <p:nvPr/>
        </p:nvSpPr>
        <p:spPr>
          <a:xfrm>
            <a:off x="4452231" y="3654326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레시피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8070152" y="3654326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냉장고 재료 기반 추천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834310" y="4136430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K-pop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52231" y="4136430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가사</a:t>
            </a:r>
            <a:endParaRPr lang="ko-KR" sz="1300" dirty="0"/>
          </a:p>
        </p:txBody>
      </p:sp>
      <p:sp>
        <p:nvSpPr>
          <p:cNvPr id="25" name="Text 23"/>
          <p:cNvSpPr/>
          <p:nvPr/>
        </p:nvSpPr>
        <p:spPr>
          <a:xfrm>
            <a:off x="8070152" y="4136430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가사 분석/감정 분류기</a:t>
            </a:r>
            <a:endParaRPr lang="ko-KR" sz="1300" dirty="0"/>
          </a:p>
        </p:txBody>
      </p:sp>
      <p:sp>
        <p:nvSpPr>
          <p:cNvPr id="26" name="Text 24"/>
          <p:cNvSpPr/>
          <p:nvPr/>
        </p:nvSpPr>
        <p:spPr>
          <a:xfrm>
            <a:off x="834310" y="4618534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환경</a:t>
            </a:r>
            <a:endParaRPr lang="ko-KR" sz="1300" dirty="0"/>
          </a:p>
        </p:txBody>
      </p:sp>
      <p:sp>
        <p:nvSpPr>
          <p:cNvPr id="27" name="Text 25"/>
          <p:cNvSpPr/>
          <p:nvPr/>
        </p:nvSpPr>
        <p:spPr>
          <a:xfrm>
            <a:off x="4452231" y="4618534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분리수거</a:t>
            </a:r>
            <a:endParaRPr lang="ko-KR" sz="1300" dirty="0"/>
          </a:p>
        </p:txBody>
      </p:sp>
      <p:sp>
        <p:nvSpPr>
          <p:cNvPr id="28" name="Text 26"/>
          <p:cNvSpPr/>
          <p:nvPr/>
        </p:nvSpPr>
        <p:spPr>
          <a:xfrm>
            <a:off x="8070152" y="4618534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사진 찍으면 분리수거 방법 앱</a:t>
            </a:r>
            <a:endParaRPr lang="ko-KR" sz="1300" dirty="0"/>
          </a:p>
        </p:txBody>
      </p:sp>
      <p:sp>
        <p:nvSpPr>
          <p:cNvPr id="29" name="Text 27"/>
          <p:cNvSpPr/>
          <p:nvPr/>
        </p:nvSpPr>
        <p:spPr>
          <a:xfrm>
            <a:off x="834310" y="5100638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역사</a:t>
            </a:r>
            <a:endParaRPr lang="ko-KR" sz="1300" dirty="0"/>
          </a:p>
        </p:txBody>
      </p:sp>
      <p:sp>
        <p:nvSpPr>
          <p:cNvPr id="30" name="Text 28"/>
          <p:cNvSpPr/>
          <p:nvPr/>
        </p:nvSpPr>
        <p:spPr>
          <a:xfrm>
            <a:off x="4452231" y="5100638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인물</a:t>
            </a:r>
            <a:endParaRPr lang="ko-KR" sz="1300" dirty="0"/>
          </a:p>
        </p:txBody>
      </p:sp>
      <p:sp>
        <p:nvSpPr>
          <p:cNvPr id="31" name="Text 29"/>
          <p:cNvSpPr/>
          <p:nvPr/>
        </p:nvSpPr>
        <p:spPr>
          <a:xfrm>
            <a:off x="8070152" y="5100638"/>
            <a:ext cx="389691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역사 인물 AI 대화 챗봇</a:t>
            </a:r>
            <a:endParaRPr lang="ko-KR" sz="1300" dirty="0"/>
          </a:p>
        </p:txBody>
      </p:sp>
      <p:sp>
        <p:nvSpPr>
          <p:cNvPr id="32" name="Shape 30"/>
          <p:cNvSpPr/>
          <p:nvPr/>
        </p:nvSpPr>
        <p:spPr>
          <a:xfrm>
            <a:off x="661475" y="5663208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D7DFF4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902920"/>
            <a:ext cx="206667" cy="16529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98731" y="586978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지금 머릿속에서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좋아하는 것 + 문제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두 단어를 떠올려 보자. 그게 너의 첫 프로젝트 아이디어다.</a:t>
            </a:r>
            <a:endParaRPr lang="ko-K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8443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마지막 메시지</a:t>
            </a:r>
            <a:endParaRPr lang="ko-KR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1649214"/>
            <a:ext cx="19050" cy="901303"/>
          </a:xfrm>
          <a:prstGeom prst="roundRect">
            <a:avLst>
              <a:gd name="adj" fmla="val 59999"/>
            </a:avLst>
          </a:prstGeom>
          <a:solidFill>
            <a:srgbClr val="3257B8"/>
          </a:solidFill>
          <a:ln/>
        </p:spPr>
      </p:sp>
      <p:sp>
        <p:nvSpPr>
          <p:cNvPr id="5" name="Text 2"/>
          <p:cNvSpPr/>
          <p:nvPr/>
        </p:nvSpPr>
        <p:spPr>
          <a:xfrm>
            <a:off x="909516" y="1835249"/>
            <a:ext cx="604881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코딩을 잘하는 사람이 이기는 시대는 끝났다. 읽고 듣기만 하는 시대도 끝났다. 지식의 벽은 무너졌다.</a:t>
            </a:r>
            <a:endParaRPr lang="ko-KR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2736552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이제는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257B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쓰고, 말하고, 만들고, 보여주는 사람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이기는 시대다. AI한테 매일 100번 물어라. 기획하고, 설계하고, 지휘하고, 고쳐라.</a:t>
            </a:r>
            <a:endParaRPr lang="ko-KR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3451820"/>
            <a:ext cx="3065783" cy="952897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8" name="Text 5"/>
          <p:cNvSpPr/>
          <p:nvPr/>
        </p:nvSpPr>
        <p:spPr>
          <a:xfrm>
            <a:off x="826769" y="3617119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뭘 아는가</a:t>
            </a:r>
            <a:endParaRPr lang="ko-KR" sz="1600" dirty="0"/>
          </a:p>
        </p:txBody>
      </p:sp>
      <p:sp>
        <p:nvSpPr>
          <p:cNvPr id="9" name="Text 6"/>
          <p:cNvSpPr/>
          <p:nvPr/>
        </p:nvSpPr>
        <p:spPr>
          <a:xfrm>
            <a:off x="826769" y="3974802"/>
            <a:ext cx="273519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지식의 깊이와 연결 능력</a:t>
            </a:r>
            <a:endParaRPr lang="ko-KR" sz="1300" dirty="0"/>
          </a:p>
        </p:txBody>
      </p:sp>
      <p:sp>
        <p:nvSpPr>
          <p:cNvPr id="10" name="Shape 7"/>
          <p:cNvSpPr/>
          <p:nvPr/>
        </p:nvSpPr>
        <p:spPr>
          <a:xfrm>
            <a:off x="3892552" y="3451820"/>
            <a:ext cx="3065783" cy="952897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4057846" y="3617119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뭘 만드는가</a:t>
            </a:r>
            <a:endParaRPr lang="ko-KR" sz="1600" dirty="0"/>
          </a:p>
        </p:txBody>
      </p:sp>
      <p:sp>
        <p:nvSpPr>
          <p:cNvPr id="12" name="Text 9"/>
          <p:cNvSpPr/>
          <p:nvPr/>
        </p:nvSpPr>
        <p:spPr>
          <a:xfrm>
            <a:off x="4057846" y="3974802"/>
            <a:ext cx="273519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실제로 구현해낸 결과물</a:t>
            </a:r>
            <a:endParaRPr lang="ko-KR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570016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826769" y="4735314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누구에게 보여주는가</a:t>
            </a:r>
            <a:endParaRPr lang="ko-KR" sz="1600" dirty="0"/>
          </a:p>
        </p:txBody>
      </p:sp>
      <p:sp>
        <p:nvSpPr>
          <p:cNvPr id="15" name="Text 12"/>
          <p:cNvSpPr/>
          <p:nvPr/>
        </p:nvSpPr>
        <p:spPr>
          <a:xfrm>
            <a:off x="826769" y="5092998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세상과 연결하는 용기</a:t>
            </a:r>
            <a:endParaRPr lang="ko-KR" sz="1300" dirty="0"/>
          </a:p>
        </p:txBody>
      </p:sp>
      <p:sp>
        <p:nvSpPr>
          <p:cNvPr id="16" name="Text 13"/>
          <p:cNvSpPr/>
          <p:nvPr/>
        </p:nvSpPr>
        <p:spPr>
          <a:xfrm>
            <a:off x="356682" y="5708948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이것이 2032년의 경쟁력이다. 이 수업은 그 첫걸음이다.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2026-07-21T11:27:29Z</dcterms:created>
  <dcterms:modified xsi:type="dcterms:W3CDTF">2026-07-21T11:27:29Z</dcterms:modified>
</cp:coreProperties>
</file>