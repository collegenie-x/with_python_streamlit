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image" Target="../media/image-12-1.png"/><Relationship Id="rId8" Type="http://schemas.openxmlformats.org/officeDocument/2006/relationships/image" Target="../media/image-1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78199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IB의 한계, 그리고 KB가 나온 이유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546773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국제 바칼로레아(IB)의 정신은 가져오고, 비용·언어 장벽·엘리트 구조는 버린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한국형 바칼로레아(KB)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의 탄생 배경과 2032년 교육 대전환의 전체 그림을 살펴봅니다.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696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IB의 3대 한계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817118"/>
            <a:ext cx="3512653" cy="1223863"/>
          </a:xfrm>
          <a:prstGeom prst="roundRect">
            <a:avLst>
              <a:gd name="adj" fmla="val 202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826769" y="2982416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💸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비싸다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3346450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학교당 연 1,000~1,500만원 인증비. 전국 8개 교육청 누적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24.1억원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해외로 유출된다.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817118"/>
            <a:ext cx="3512752" cy="1223863"/>
          </a:xfrm>
          <a:prstGeom prst="roundRect">
            <a:avLst>
              <a:gd name="adj" fmla="val 202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4504716" y="2982416"/>
            <a:ext cx="318216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1%만 접근 가능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4504716" y="3346450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인증학교 106교 = 전국 학교의 약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1%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대다수 학생은 접근조차 불가능하다.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817118"/>
            <a:ext cx="3512653" cy="1223863"/>
          </a:xfrm>
          <a:prstGeom prst="roundRect">
            <a:avLst>
              <a:gd name="adj" fmla="val 2027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8182762" y="2982416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영어 장벽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8182762" y="3346450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영어로 수업하는 학교가 많아, 영어를 못하면 사실상 참여가 불가능하다.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227016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466729"/>
            <a:ext cx="206667" cy="16529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98731" y="443359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 = 명품 수입차. 성능은 검증됐지만 비싸고 매뉴얼이 영어. KB = 그 수입차를 뜯어보고 만든 국산차. 값은 무료, 매뉴얼은 한국어.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62038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KB(한국형 바칼로레아)란?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62681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IB의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"정신"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은 가져오고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"껍데기"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는 벗겨낸 것이다.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077468"/>
            <a:ext cx="6296860" cy="1918494"/>
          </a:xfrm>
          <a:prstGeom prst="roundRect">
            <a:avLst>
              <a:gd name="adj" fmla="val 1293"/>
            </a:avLst>
          </a:prstGeom>
          <a:solidFill>
            <a:srgbClr val="E9ECF2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3077468"/>
            <a:ext cx="3148430" cy="959247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5398655" y="3242766"/>
            <a:ext cx="281784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가져온 것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5398655" y="3606800"/>
            <a:ext cx="281784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IB의 서술형 평가, 탐구 학습, 비판적 사고</a:t>
            </a:r>
            <a:endParaRPr lang="ko-KR" sz="1300" dirty="0"/>
          </a:p>
        </p:txBody>
      </p:sp>
      <p:sp>
        <p:nvSpPr>
          <p:cNvPr id="9" name="Shape 6"/>
          <p:cNvSpPr/>
          <p:nvPr/>
        </p:nvSpPr>
        <p:spPr>
          <a:xfrm>
            <a:off x="8381790" y="3077468"/>
            <a:ext cx="3148430" cy="959247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3077468"/>
            <a:ext cx="19050" cy="959247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11" name="Text 8"/>
          <p:cNvSpPr/>
          <p:nvPr/>
        </p:nvSpPr>
        <p:spPr>
          <a:xfrm>
            <a:off x="8547085" y="3242766"/>
            <a:ext cx="281784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버린 것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8547085" y="3606800"/>
            <a:ext cx="281784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IBO 인증비, 영어 장벽, 1% 엘리트 구조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036715"/>
            <a:ext cx="6296860" cy="959247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036715"/>
            <a:ext cx="6296860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15" name="Text 12"/>
          <p:cNvSpPr/>
          <p:nvPr/>
        </p:nvSpPr>
        <p:spPr>
          <a:xfrm>
            <a:off x="5398655" y="4202013"/>
            <a:ext cx="59662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🇰🇷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KB의 원칙</a:t>
            </a:r>
            <a:endParaRPr lang="ko-KR" sz="1600" dirty="0"/>
          </a:p>
        </p:txBody>
      </p:sp>
      <p:sp>
        <p:nvSpPr>
          <p:cNvPr id="16" name="Text 13"/>
          <p:cNvSpPr/>
          <p:nvPr/>
        </p:nvSpPr>
        <p:spPr>
          <a:xfrm>
            <a:off x="5398655" y="4566047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한국어 100% · 비용 0원 · 전 학교 대상</a:t>
            </a:r>
            <a:endParaRPr lang="ko-KR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47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IB vs KB vs 수능 — 3자 비교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62175"/>
            <a:ext cx="10868745" cy="3381077"/>
          </a:xfrm>
          <a:prstGeom prst="roundRect">
            <a:avLst>
              <a:gd name="adj" fmla="val 73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64745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12955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11662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093766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57587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057973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8023" y="2168525"/>
            <a:ext cx="1660880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33317" y="2274094"/>
            <a:ext cx="1939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비교 항목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2328903" y="2168525"/>
            <a:ext cx="2244966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2494198" y="2274094"/>
            <a:ext cx="25239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수능 중심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4573870" y="2168525"/>
            <a:ext cx="2812781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739164" y="2274094"/>
            <a:ext cx="30917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86651" y="2168525"/>
            <a:ext cx="4137219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551945" y="2274094"/>
            <a:ext cx="44162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317" y="2756198"/>
            <a:ext cx="1939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운영 주체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2494198" y="2756198"/>
            <a:ext cx="25239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한국 교육부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4739164" y="2756198"/>
            <a:ext cx="30917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IBO (스위스)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7551945" y="2756198"/>
            <a:ext cx="44162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교육부 + 교육청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833317" y="3238302"/>
            <a:ext cx="1939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평가 방식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2494198" y="3238302"/>
            <a:ext cx="25239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객관식 70%</a:t>
            </a:r>
            <a:endParaRPr lang="ko-KR" sz="1300" dirty="0"/>
          </a:p>
        </p:txBody>
      </p:sp>
      <p:sp>
        <p:nvSpPr>
          <p:cNvPr id="24" name="Text 22"/>
          <p:cNvSpPr/>
          <p:nvPr/>
        </p:nvSpPr>
        <p:spPr>
          <a:xfrm>
            <a:off x="4739164" y="3238302"/>
            <a:ext cx="30917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서술형 100%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7551945" y="3238302"/>
            <a:ext cx="44162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논/서/구술형 70%+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833317" y="3720405"/>
            <a:ext cx="1939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수업 언어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2494198" y="3720405"/>
            <a:ext cx="25239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한국어</a:t>
            </a:r>
            <a:endParaRPr lang="ko-KR" sz="1300" dirty="0"/>
          </a:p>
        </p:txBody>
      </p:sp>
      <p:sp>
        <p:nvSpPr>
          <p:cNvPr id="28" name="Text 26"/>
          <p:cNvSpPr/>
          <p:nvPr/>
        </p:nvSpPr>
        <p:spPr>
          <a:xfrm>
            <a:off x="4739164" y="3720405"/>
            <a:ext cx="30917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영어 중심</a:t>
            </a:r>
            <a:endParaRPr lang="ko-KR" sz="1300" dirty="0"/>
          </a:p>
        </p:txBody>
      </p:sp>
      <p:sp>
        <p:nvSpPr>
          <p:cNvPr id="29" name="Text 27"/>
          <p:cNvSpPr/>
          <p:nvPr/>
        </p:nvSpPr>
        <p:spPr>
          <a:xfrm>
            <a:off x="7551945" y="3720405"/>
            <a:ext cx="44162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한국어 100%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833317" y="4202509"/>
            <a:ext cx="1939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비용</a:t>
            </a:r>
            <a:endParaRPr lang="ko-KR" sz="1300" dirty="0"/>
          </a:p>
        </p:txBody>
      </p:sp>
      <p:sp>
        <p:nvSpPr>
          <p:cNvPr id="31" name="Text 29"/>
          <p:cNvSpPr/>
          <p:nvPr/>
        </p:nvSpPr>
        <p:spPr>
          <a:xfrm>
            <a:off x="2494198" y="4202509"/>
            <a:ext cx="25239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무상</a:t>
            </a:r>
            <a:endParaRPr lang="ko-KR" sz="1300" dirty="0"/>
          </a:p>
        </p:txBody>
      </p:sp>
      <p:sp>
        <p:nvSpPr>
          <p:cNvPr id="32" name="Text 30"/>
          <p:cNvSpPr/>
          <p:nvPr/>
        </p:nvSpPr>
        <p:spPr>
          <a:xfrm>
            <a:off x="4739164" y="4202509"/>
            <a:ext cx="30917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연 1,000만원+</a:t>
            </a:r>
            <a:endParaRPr lang="ko-KR" sz="1300" dirty="0"/>
          </a:p>
        </p:txBody>
      </p:sp>
      <p:sp>
        <p:nvSpPr>
          <p:cNvPr id="33" name="Text 31"/>
          <p:cNvSpPr/>
          <p:nvPr/>
        </p:nvSpPr>
        <p:spPr>
          <a:xfrm>
            <a:off x="7551945" y="4202509"/>
            <a:ext cx="44162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무상</a:t>
            </a:r>
            <a:endParaRPr lang="ko-KR" sz="1300" dirty="0"/>
          </a:p>
        </p:txBody>
      </p:sp>
      <p:sp>
        <p:nvSpPr>
          <p:cNvPr id="34" name="Text 32"/>
          <p:cNvSpPr/>
          <p:nvPr/>
        </p:nvSpPr>
        <p:spPr>
          <a:xfrm>
            <a:off x="833317" y="4684613"/>
            <a:ext cx="1939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적용 범위</a:t>
            </a:r>
            <a:endParaRPr lang="ko-KR" sz="1300" dirty="0"/>
          </a:p>
        </p:txBody>
      </p:sp>
      <p:sp>
        <p:nvSpPr>
          <p:cNvPr id="35" name="Text 33"/>
          <p:cNvSpPr/>
          <p:nvPr/>
        </p:nvSpPr>
        <p:spPr>
          <a:xfrm>
            <a:off x="2494198" y="4684613"/>
            <a:ext cx="25239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전체 학교</a:t>
            </a:r>
            <a:endParaRPr lang="ko-KR" sz="1300" dirty="0"/>
          </a:p>
        </p:txBody>
      </p:sp>
      <p:sp>
        <p:nvSpPr>
          <p:cNvPr id="36" name="Text 34"/>
          <p:cNvSpPr/>
          <p:nvPr/>
        </p:nvSpPr>
        <p:spPr>
          <a:xfrm>
            <a:off x="4739164" y="4684613"/>
            <a:ext cx="30917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인증학교 (~1%)</a:t>
            </a:r>
            <a:endParaRPr lang="ko-KR" sz="1300" dirty="0"/>
          </a:p>
        </p:txBody>
      </p:sp>
      <p:sp>
        <p:nvSpPr>
          <p:cNvPr id="37" name="Text 35"/>
          <p:cNvSpPr/>
          <p:nvPr/>
        </p:nvSpPr>
        <p:spPr>
          <a:xfrm>
            <a:off x="7551945" y="4684613"/>
            <a:ext cx="44162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모든 공교육 학교</a:t>
            </a:r>
            <a:endParaRPr lang="ko-KR" sz="1300" dirty="0"/>
          </a:p>
        </p:txBody>
      </p:sp>
      <p:sp>
        <p:nvSpPr>
          <p:cNvPr id="38" name="Text 36"/>
          <p:cNvSpPr/>
          <p:nvPr/>
        </p:nvSpPr>
        <p:spPr>
          <a:xfrm>
            <a:off x="833317" y="5166717"/>
            <a:ext cx="1939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시대 적합성</a:t>
            </a:r>
            <a:endParaRPr lang="ko-KR" sz="1300" dirty="0"/>
          </a:p>
        </p:txBody>
      </p:sp>
      <p:sp>
        <p:nvSpPr>
          <p:cNvPr id="39" name="Text 37"/>
          <p:cNvSpPr/>
          <p:nvPr/>
        </p:nvSpPr>
        <p:spPr>
          <a:xfrm>
            <a:off x="2494198" y="5166717"/>
            <a:ext cx="25239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낮음 (암기 중심)</a:t>
            </a:r>
            <a:endParaRPr lang="ko-KR" sz="1300" dirty="0"/>
          </a:p>
        </p:txBody>
      </p:sp>
      <p:sp>
        <p:nvSpPr>
          <p:cNvPr id="40" name="Text 38"/>
          <p:cNvSpPr/>
          <p:nvPr/>
        </p:nvSpPr>
        <p:spPr>
          <a:xfrm>
            <a:off x="4739164" y="5166717"/>
            <a:ext cx="30917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높음 (비판적 사고)</a:t>
            </a:r>
            <a:endParaRPr lang="ko-KR" sz="1300" dirty="0"/>
          </a:p>
        </p:txBody>
      </p:sp>
      <p:sp>
        <p:nvSpPr>
          <p:cNvPr id="41" name="Text 39"/>
          <p:cNvSpPr/>
          <p:nvPr/>
        </p:nvSpPr>
        <p:spPr>
          <a:xfrm>
            <a:off x="7551945" y="5166717"/>
            <a:ext cx="44162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높음 (한국어+AI)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565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KB 3층 구조 — "교과서는 그대로, 평가만 바꾼다"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83085"/>
            <a:ext cx="1811391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450839" y="2314178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38161" y="2148384"/>
            <a:ext cx="87267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3층: KB 평가 시스템 (혁신)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2638161" y="2506067"/>
            <a:ext cx="87267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논술형 40~50% + 서술형 30~40% + 구술형 10~20% + 프로젝트 포트폴리오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2555513" y="2928045"/>
            <a:ext cx="8892060" cy="9525"/>
          </a:xfrm>
          <a:prstGeom prst="roundRect">
            <a:avLst>
              <a:gd name="adj" fmla="val 260458"/>
            </a:avLst>
          </a:prstGeom>
          <a:solidFill>
            <a:srgbClr val="CFD2D8"/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018631"/>
            <a:ext cx="3622882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2356585" y="3349724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49651" y="3183930"/>
            <a:ext cx="691527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2층: KB 수업 방법 (전환)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4449651" y="3541613"/>
            <a:ext cx="691527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탐구 기반 학습 / 다독(3권+) 수업 / 소크라틱 세미나(토론) / PBL(프로젝트 학습)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4367004" y="3963591"/>
            <a:ext cx="7080569" cy="9525"/>
          </a:xfrm>
          <a:prstGeom prst="roundRect">
            <a:avLst>
              <a:gd name="adj" fmla="val 260458"/>
            </a:avLst>
          </a:prstGeom>
          <a:solidFill>
            <a:srgbClr val="CFD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4054177"/>
            <a:ext cx="5434373" cy="121751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3262330" y="4517529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1142" y="4219476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1층: 국가 교육과정 (유지)</a:t>
            </a:r>
            <a:endParaRPr lang="ko-KR" sz="1600" dirty="0"/>
          </a:p>
        </p:txBody>
      </p:sp>
      <p:sp>
        <p:nvSpPr>
          <p:cNvPr id="16" name="Text 14"/>
          <p:cNvSpPr/>
          <p:nvPr/>
        </p:nvSpPr>
        <p:spPr>
          <a:xfrm>
            <a:off x="6261142" y="4577159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2022 개정 교육과정 / 국어·수학·영어·사회·과학 /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기존 교과 내용 그대로 유지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661475" y="545772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IB는 1층부터 통째로 교체 → 수능과 단절. KB는 1층 유지 → 수능 개편과 연결 가능. 바로 이 지점이 IB와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결정적으로 다르다.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1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교육 대전환 타임라인 — 2019 → 2032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086323" y="1383605"/>
            <a:ext cx="19050" cy="4938216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4" name="Shape 2"/>
          <p:cNvSpPr/>
          <p:nvPr/>
        </p:nvSpPr>
        <p:spPr>
          <a:xfrm>
            <a:off x="5432785" y="1560116"/>
            <a:ext cx="496081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5909817" y="1383605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6" name="Text 4"/>
          <p:cNvSpPr/>
          <p:nvPr/>
        </p:nvSpPr>
        <p:spPr>
          <a:xfrm>
            <a:off x="5971827" y="141461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1440458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2019~2021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1798141"/>
            <a:ext cx="46075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대구·제주 IB 공교육 도입 → 경북대사대부고·표선고 IB 인증. 공교육 IB가 가능하다는 증명.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262828" y="2552303"/>
            <a:ext cx="496081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10" name="Shape 8"/>
          <p:cNvSpPr/>
          <p:nvPr/>
        </p:nvSpPr>
        <p:spPr>
          <a:xfrm>
            <a:off x="5909817" y="2375793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5971827" y="240679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22716" y="2432645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2022~2025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2716" y="2790329"/>
            <a:ext cx="46075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서울교육감 KB 제안 → 전국 17개 교육청 모두 IB 도입. 전국으로 확산 중.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5432785" y="3407569"/>
            <a:ext cx="496081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9817" y="3231059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5971827" y="326206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1475" y="3287911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2026 (지금)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661475" y="3645595"/>
            <a:ext cx="46075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대구에서 KB 평가 시스템 최초 가동. </a:t>
            </a:r>
            <a:pPr algn="r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고등학교 갈 때 KB 학교가 늘어난다.</a:t>
            </a:r>
            <a:endParaRPr lang="ko-KR" sz="1300" dirty="0"/>
          </a:p>
        </p:txBody>
      </p:sp>
      <p:sp>
        <p:nvSpPr>
          <p:cNvPr id="19" name="Shape 17"/>
          <p:cNvSpPr/>
          <p:nvPr/>
        </p:nvSpPr>
        <p:spPr>
          <a:xfrm>
            <a:off x="6262828" y="4262934"/>
            <a:ext cx="496081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5909817" y="4086423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71827" y="411742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22716" y="4143276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2028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716" y="4500959"/>
            <a:ext cx="4607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수능 5등급제 개편, 세특 비중 35~40%.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현재 중2가 고1~고2일 때.</a:t>
            </a:r>
            <a:endParaRPr lang="ko-KR" sz="1300" dirty="0"/>
          </a:p>
        </p:txBody>
      </p:sp>
      <p:sp>
        <p:nvSpPr>
          <p:cNvPr id="24" name="Shape 22"/>
          <p:cNvSpPr/>
          <p:nvPr/>
        </p:nvSpPr>
        <p:spPr>
          <a:xfrm>
            <a:off x="5432785" y="5118298"/>
            <a:ext cx="496081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25" name="Shape 23"/>
          <p:cNvSpPr/>
          <p:nvPr/>
        </p:nvSpPr>
        <p:spPr>
          <a:xfrm>
            <a:off x="5909817" y="4941788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6" name="Text 24"/>
          <p:cNvSpPr/>
          <p:nvPr/>
        </p:nvSpPr>
        <p:spPr>
          <a:xfrm>
            <a:off x="5971827" y="497279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61475" y="4998641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2031~2032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475" y="5356324"/>
            <a:ext cx="46075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 학년 논·서술형 적용 완료 → 수능 서술형 본격화, KB 표준화. </a:t>
            </a:r>
            <a:pPr algn="r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현재 중2의 대입.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27176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2032년,</a:t>
            </a:r>
            <a:endParaRPr lang="ko-KR" sz="44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교육이 완전히 달라진다</a:t>
            </a:r>
            <a:endParaRPr lang="ko-KR" sz="4450" dirty="0"/>
          </a:p>
        </p:txBody>
      </p:sp>
      <p:sp>
        <p:nvSpPr>
          <p:cNvPr id="4" name="Text 1"/>
          <p:cNvSpPr/>
          <p:nvPr/>
        </p:nvSpPr>
        <p:spPr>
          <a:xfrm>
            <a:off x="661475" y="4001591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지금 중2인 여러분이 대입을 치르는 2032년에는 </a:t>
            </a:r>
            <a:endParaRPr lang="ko-KR" sz="13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"내가 뭘 탐구했고, 뭘 만들었고, 어떻게 성장했는가"</a:t>
            </a:r>
            <a:pPr algn="ctr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 핵심이 된다.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31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2028 수능 개편 — 이미 확정된 사실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220615"/>
            <a:ext cx="10868745" cy="2416870"/>
          </a:xfrm>
          <a:prstGeom prst="roundRect">
            <a:avLst>
              <a:gd name="adj" fmla="val 102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70589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18799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70102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15220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8023" y="2226965"/>
            <a:ext cx="2082153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33317" y="2332534"/>
            <a:ext cx="236114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항목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2750176" y="2226965"/>
            <a:ext cx="4386847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2915470" y="2332534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지금 (~2027)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7137023" y="2226965"/>
            <a:ext cx="4386847" cy="47892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7302317" y="2332534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2028학년도부터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833317" y="2814638"/>
            <a:ext cx="236114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내신 등급제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2915470" y="2814638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9등급 상대평가 (1등급 4%)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7302317" y="2814638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5등급 (1등급 10%)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2.5배 확대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833317" y="3296741"/>
            <a:ext cx="236114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수능 구조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2915470" y="3296741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국/수/탐 선택과목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7302317" y="3296741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선택과목 전면 폐지 → 통합형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833317" y="3778845"/>
            <a:ext cx="236114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내신 논/서술형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2915470" y="3778845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학교 자율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7302317" y="3778845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확대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833317" y="4260949"/>
            <a:ext cx="236114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세특 비중</a:t>
            </a:r>
            <a:endParaRPr lang="ko-KR" sz="1300" dirty="0"/>
          </a:p>
        </p:txBody>
      </p:sp>
      <p:sp>
        <p:nvSpPr>
          <p:cNvPr id="24" name="Text 22"/>
          <p:cNvSpPr/>
          <p:nvPr/>
        </p:nvSpPr>
        <p:spPr>
          <a:xfrm>
            <a:off x="2915470" y="4260949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약 20~25%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7302317" y="4260949"/>
            <a:ext cx="4665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35~40%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1475" y="4823520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063232"/>
            <a:ext cx="206667" cy="16529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98731" y="503009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1등급 범위 4% → 10% = 수능 변별력 약화. 세특 비중 확대 =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"뭘 만들었는가"가 더 중요해진다."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747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2032 대입 — 5대 메가 트렌드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44898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044898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리터러시 필수화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2402582"/>
            <a:ext cx="47108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활용 탐구가 세특의 핵심 소재로 자리잡는다.</a:t>
            </a:r>
            <a:endParaRPr lang="ko-KR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044898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19233" y="2044898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과정 중심 평가 정착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6819233" y="2402582"/>
            <a:ext cx="471098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"뭘 만들었나"보다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"어떻게 만들었나"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중요해진다.</a:t>
            </a:r>
            <a:endParaRPr lang="ko-KR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997895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1577" y="2997895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학령인구 급감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1281577" y="3355578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2028년 47만 → 2032년 37만 (21% 감소). 대학이 학생을 뽑기 위해 경쟁한다.</a:t>
            </a:r>
            <a:endParaRPr lang="ko-KR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132" y="2997895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19233" y="2997895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융합형 인재 선발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6819233" y="3355578"/>
            <a:ext cx="471098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문·이과 경계가 사라지고 여러 분야를 연결하는 능력이 중요해진다.</a:t>
            </a:r>
            <a:endParaRPr lang="ko-KR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215507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1577" y="4215507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디지털 포트폴리오</a:t>
            </a:r>
            <a:endParaRPr lang="ko-KR" sz="1600" dirty="0"/>
          </a:p>
        </p:txBody>
      </p:sp>
      <p:sp>
        <p:nvSpPr>
          <p:cNvPr id="17" name="Text 10"/>
          <p:cNvSpPr/>
          <p:nvPr/>
        </p:nvSpPr>
        <p:spPr>
          <a:xfrm>
            <a:off x="1281577" y="4573191"/>
            <a:ext cx="47108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GitHub·블로그·영상이 평가 자료. 수시 비중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85%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로 확대 예측.</a:t>
            </a:r>
            <a:endParaRPr lang="ko-KR" sz="1300" dirty="0"/>
          </a:p>
        </p:txBody>
      </p:sp>
      <p:sp>
        <p:nvSpPr>
          <p:cNvPr id="18" name="Shape 11"/>
          <p:cNvSpPr/>
          <p:nvPr/>
        </p:nvSpPr>
        <p:spPr>
          <a:xfrm>
            <a:off x="661475" y="5023842"/>
            <a:ext cx="19050" cy="636687"/>
          </a:xfrm>
          <a:prstGeom prst="roundRect">
            <a:avLst>
              <a:gd name="adj" fmla="val 59999"/>
            </a:avLst>
          </a:prstGeom>
          <a:solidFill>
            <a:srgbClr val="3257B8"/>
          </a:solidFill>
          <a:ln/>
        </p:spPr>
      </p:sp>
      <p:sp>
        <p:nvSpPr>
          <p:cNvPr id="19" name="Text 12"/>
          <p:cNvSpPr/>
          <p:nvPr/>
        </p:nvSpPr>
        <p:spPr>
          <a:xfrm>
            <a:off x="909516" y="5209877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"이 학생은 AI를 도구로 써서 실제로 뭔가를 만들어본 적이 있는가?"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97050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창직 — 직업을 "찾는" 시대에서 </a:t>
            </a:r>
            <a:endParaRPr lang="ko-KR" sz="3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          "만드는" 시대로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5114301" y="3078559"/>
            <a:ext cx="3184842" cy="1267123"/>
          </a:xfrm>
          <a:prstGeom prst="roundRect">
            <a:avLst>
              <a:gd name="adj" fmla="val 1958"/>
            </a:avLst>
          </a:prstGeom>
          <a:solidFill>
            <a:srgbClr val="3257B8"/>
          </a:solidFill>
          <a:ln/>
        </p:spPr>
      </p:sp>
      <p:sp>
        <p:nvSpPr>
          <p:cNvPr id="5" name="Text 2"/>
          <p:cNvSpPr/>
          <p:nvPr/>
        </p:nvSpPr>
        <p:spPr>
          <a:xfrm>
            <a:off x="5279595" y="3243858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취직 (就職)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5279595" y="3667621"/>
            <a:ext cx="285425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남이 만든 직업에 들어가기. "어디 뽑아주나?" 스펙 쌓기. 회사가 없어지면 실업.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8589847" y="324385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창직 (創職)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8589847" y="3667621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내가 직접 직업을 만들기. "내가 뭘 잘하지?" 경험 쌓기. 내가 곧 회사.</a:t>
            </a:r>
            <a:endParaRPr lang="ko-KR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4531717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창직의 공식: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요리+AI = AI 레시피 서비스 / 음악+AI = AI 작곡 도우미 / 의학+AI = AI 건강 상담 챗봇 / 축구+AI = 전술 분석 앱 / 환경+AI = 탄소 발자국 추적 앱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715816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기획과 아키텍처가</a:t>
            </a:r>
            <a:endParaRPr lang="ko-KR" sz="44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코딩보다 중요하다</a:t>
            </a:r>
            <a:endParaRPr lang="ko-KR" sz="4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48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단순 코더의 시대는 끝났다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3227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2020년: "코딩 배워라" → 파이썬 문법 외워라. 2026년: "코딩은 AI가 한다"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그러면 사람은 뭘 해야 하나?</a:t>
            </a:r>
            <a:endParaRPr lang="ko-KR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82924"/>
            <a:ext cx="5351725" cy="14870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13317" y="239494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45819" y="2963366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기획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3321050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"뭘 만들지? 누가 쓸 건데? 왜 필요해?"</a:t>
            </a:r>
            <a:endParaRPr lang="ko-KR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282924"/>
            <a:ext cx="5351725" cy="1487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0337" y="239494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6362838" y="2963366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아키텍처</a:t>
            </a:r>
            <a:endParaRPr lang="ko-KR" sz="1600" dirty="0"/>
          </a:p>
        </p:txBody>
      </p:sp>
      <p:sp>
        <p:nvSpPr>
          <p:cNvPr id="11" name="Text 7"/>
          <p:cNvSpPr/>
          <p:nvPr/>
        </p:nvSpPr>
        <p:spPr>
          <a:xfrm>
            <a:off x="6362838" y="3321050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"전체 구조를 어떻게 설계하지?"</a:t>
            </a:r>
            <a:endParaRPr lang="ko-KR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35313"/>
            <a:ext cx="5351725" cy="14870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13317" y="404733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45819" y="461575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오케스트레이션</a:t>
            </a:r>
            <a:endParaRPr lang="ko-KR" sz="1600" dirty="0"/>
          </a:p>
        </p:txBody>
      </p:sp>
      <p:sp>
        <p:nvSpPr>
          <p:cNvPr id="15" name="Text 10"/>
          <p:cNvSpPr/>
          <p:nvPr/>
        </p:nvSpPr>
        <p:spPr>
          <a:xfrm>
            <a:off x="845819" y="4973439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"어떤 AI를 어떻게 조합해서 쓰지?"</a:t>
            </a:r>
            <a:endParaRPr lang="ko-KR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3935313"/>
            <a:ext cx="5351725" cy="14870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30337" y="404733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6362838" y="461575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디버깅/판단</a:t>
            </a:r>
            <a:endParaRPr lang="ko-KR" sz="1600" dirty="0"/>
          </a:p>
        </p:txBody>
      </p:sp>
      <p:sp>
        <p:nvSpPr>
          <p:cNvPr id="19" name="Text 13"/>
          <p:cNvSpPr/>
          <p:nvPr/>
        </p:nvSpPr>
        <p:spPr>
          <a:xfrm>
            <a:off x="6362838" y="4973439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"이게 잘 되고 있나? 뭘 고쳐야 하나?"</a:t>
            </a:r>
            <a:endParaRPr lang="ko-KR" sz="1300" dirty="0"/>
          </a:p>
        </p:txBody>
      </p:sp>
      <p:sp>
        <p:nvSpPr>
          <p:cNvPr id="20" name="Text 14"/>
          <p:cNvSpPr/>
          <p:nvPr/>
        </p:nvSpPr>
        <p:spPr>
          <a:xfrm>
            <a:off x="661475" y="560843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단순 코더(BG)는 AI에 의해 가치 하락. 기획자+오케스트레이터(AG)는 AI 시대에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가치 폭등.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비유: 피아노 한 대 연주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오케스트라 지휘.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27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바이브 코딩 — 말하면서 만드는 시대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701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바이브 코딩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이란 코드를 외워서 치는 것이 아니라, AI에게 원하는 것을 정확히 설명하고 → 결과를 확인하고 → 다시 요청하며 다듬는 개발 방식이다.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020814"/>
            <a:ext cx="5470785" cy="1267123"/>
          </a:xfrm>
          <a:prstGeom prst="roundRect">
            <a:avLst>
              <a:gd name="adj" fmla="val 1958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1861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옛날 코딩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609876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파이썬 문법 → for문 → if문 → 에러 → 구글링 → 수정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몇 달. 대부분 포기.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1861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바이브 코딩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60987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"급식 별점 앱 만들어줘" → AI가 코드 생성 → "버튼 색 바꿔줘"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몇 시간이면 완성. 코딩 몰라도 됨.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4473972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713684"/>
            <a:ext cx="206667" cy="1652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8731" y="468054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코딩은 AI가 해준다. 하지만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"뭘 만들지 정하고, 써보고, 더 좋게 고치는 건 사람만 할 수 있다."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04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오케스트레이션 — 1인 회사 시스템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77852"/>
            <a:ext cx="10868745" cy="2898973"/>
          </a:xfrm>
          <a:prstGeom prst="roundRect">
            <a:avLst>
              <a:gd name="adj" fmla="val 85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66313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14523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2733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109442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591546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924" y="2184202"/>
            <a:ext cx="2713962" cy="47892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833218" y="228977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역할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3381886" y="2184202"/>
            <a:ext cx="2713962" cy="47892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180" y="228977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대신하는 AI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6095848" y="2184202"/>
            <a:ext cx="5428023" cy="47892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6261142" y="2289770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하는 일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833218" y="277187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CEO / 기획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3547180" y="277187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나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6261142" y="2771874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문제 정의, 의사결정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833218" y="3253978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기획팀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3547180" y="3253978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1142" y="3253978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기능 명세서, 데이터 설계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833218" y="3736082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개발팀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3547180" y="3736082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v0 + Claude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1142" y="3736082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생성 + 프론트엔드 로직</a:t>
            </a:r>
            <a:endParaRPr lang="ko-KR" sz="1300" dirty="0"/>
          </a:p>
        </p:txBody>
      </p:sp>
      <p:sp>
        <p:nvSpPr>
          <p:cNvPr id="24" name="Text 22"/>
          <p:cNvSpPr/>
          <p:nvPr/>
        </p:nvSpPr>
        <p:spPr>
          <a:xfrm>
            <a:off x="833218" y="4218186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디자인팀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3547180" y="4218186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Freepik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1142" y="4218186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이미지, 썸네일, 로고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833218" y="470029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영상팀</a:t>
            </a:r>
            <a:endParaRPr lang="ko-KR" sz="1300" dirty="0"/>
          </a:p>
        </p:txBody>
      </p:sp>
      <p:sp>
        <p:nvSpPr>
          <p:cNvPr id="28" name="Text 26"/>
          <p:cNvSpPr/>
          <p:nvPr/>
        </p:nvSpPr>
        <p:spPr>
          <a:xfrm>
            <a:off x="3547180" y="4700290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Kling AI + CapCut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1142" y="4700290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광고 영상 제작 및 편집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661475" y="526286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예전에는 이걸 하려면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7명짜리 회사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필요했다. 지금은 AI를 지휘할 줄 아는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1명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이면 된다. 이게 창직의 실체다.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221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아키텍처 &amp; 전공+AI = 진짜 실력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522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아키텍처란?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876054"/>
            <a:ext cx="5232666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건물 짓기 전 설계도처럼, 앱을 만들기 전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전체 구조를 설계하는 능력.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구조를 모르면 AI한테 뭘 시켜야 하는지도 모른다.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예시 — 급식 별점 앱: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메인화면 → 메뉴 선택 → 별점 입력 → 한줄평 → 제출 → 통계 대시보드(TOP 5, 추이)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24522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전공 + AI 공식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2876054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축구 + AI = 전술 분석 앱 (구독 서비스)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요리 + AI = 냉장고 재료 추천 앱 (광고+협찬)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음악 + AI = AI 작곡 보조 앱 (건당 과금)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환경 + AI = 쓰레기 분류 도우미 (환경 포인트)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동물 + AI = 펫 증상 AI 상담 (병원 연계 수수료)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674394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914106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8731" y="488096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AI만 잘 쓰는 사람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차별화 안 됨.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전공만 깊은 사람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만드는 데 시간이 너무 오래 걸림.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전공 + AI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이건 나만 할 수 있다. 이게 미래의 경쟁력이다.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715816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함께 발전하는</a:t>
            </a:r>
            <a:endParaRPr lang="ko-KR" sz="44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프로젝트식 공부</a:t>
            </a:r>
            <a:endParaRPr lang="ko-KR" sz="4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8178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외워서 공부 vs 만들면서 공부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646561"/>
            <a:ext cx="5470785" cy="1878905"/>
          </a:xfrm>
          <a:prstGeom prst="roundRect">
            <a:avLst>
              <a:gd name="adj" fmla="val 1320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81185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외워서 공부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235623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시험 끝나면 까먹음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혼자 함 / 정답이 정해져 있음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교과서 → 시험 → 끝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수동적 / AI가 대체 가능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81185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만들면서 공부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235623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 번 만들면 안 까먹음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팀이랑 함 / 내가 정답을 정함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기획 → 만들기 → 피드백 → 개선 → 런칭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능동적 / AI가 대체 불가능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471150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프로젝트를 만드는 과정 자체가 공부다.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급식 앱을 만들면서 데이터를 배우고, 추천 테스트를 만들면서 알고리즘을 배우고, 발표를 준비하면서 글쓰기를 배운다.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71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만드는 4단계 — 프로와 똑같은 과정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14612"/>
            <a:ext cx="5434373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2641402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정하기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826769" y="2999085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"누구한테, 어떤 문제를 풀어줄 건데?" 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사람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한다.</a:t>
            </a:r>
            <a:endParaRPr lang="ko-KR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814612"/>
            <a:ext cx="5434373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1142" y="2641402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그리기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6261142" y="2999085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"화면이 어떤 순서로 넘어가?" 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사람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종이에 그린다.</a:t>
            </a:r>
            <a:endParaRPr lang="ko-KR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29000"/>
            <a:ext cx="5434373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6769" y="425579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만들기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26769" y="4613473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AI한테 설명해서 코드를 받는다 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한다.</a:t>
            </a:r>
            <a:endParaRPr lang="ko-KR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429000"/>
            <a:ext cx="5434373" cy="6614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61142" y="425579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고치기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6261142" y="4613473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직접 써보고 불편한 곳을 고친다 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사람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한다.</a:t>
            </a:r>
            <a:endParaRPr lang="ko-KR" sz="1300" dirty="0"/>
          </a:p>
        </p:txBody>
      </p:sp>
      <p:sp>
        <p:nvSpPr>
          <p:cNvPr id="15" name="Shape 9"/>
          <p:cNvSpPr/>
          <p:nvPr/>
        </p:nvSpPr>
        <p:spPr>
          <a:xfrm>
            <a:off x="661475" y="5229423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69" y="5469136"/>
            <a:ext cx="206667" cy="1652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98731" y="543599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4단계 중 AI가 하는 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3단계 하나뿐.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나머지 3개는 전부 사람이 한다. 코딩 실력보다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"뭘 만들지 정하는 힘"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더 중요하다.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24670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사례 1: 고졸이 OpenAI에 들어갔다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08944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OpenAI(ChatGPT 만든 회사)에는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대학 졸업장 없이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들어간 사람이 있다. 그들이 가진 건 학벌이 아니라 직접 만든 프로젝트, GitHub에 올린 코드, 사람들이 실제로 쓴 서비스였다.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804716"/>
            <a:ext cx="6296860" cy="1905794"/>
          </a:xfrm>
          <a:prstGeom prst="roundRect">
            <a:avLst>
              <a:gd name="adj" fmla="val 1302"/>
            </a:avLst>
          </a:prstGeom>
          <a:solidFill>
            <a:srgbClr val="E9ECF2"/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2804716"/>
            <a:ext cx="6296860" cy="952897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826769" y="2970014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예전 회사가 본 것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327698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어느 대학? 성적이 몇 점? 자격증 있어? 인턴 했어?</a:t>
            </a:r>
            <a:endParaRPr lang="ko-KR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3757612"/>
            <a:ext cx="6296860" cy="952897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3757612"/>
            <a:ext cx="6296860" cy="19050"/>
          </a:xfrm>
          <a:prstGeom prst="roundRect">
            <a:avLst>
              <a:gd name="adj" fmla="val 130229"/>
            </a:avLst>
          </a:prstGeom>
          <a:solidFill>
            <a:srgbClr val="CFD2D8"/>
          </a:solidFill>
          <a:ln/>
        </p:spPr>
      </p:sp>
      <p:sp>
        <p:nvSpPr>
          <p:cNvPr id="11" name="Text 8"/>
          <p:cNvSpPr/>
          <p:nvPr/>
        </p:nvSpPr>
        <p:spPr>
          <a:xfrm>
            <a:off x="826769" y="3922911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지금 회사가 보는 것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826769" y="4280595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뭘 만들어봤어? 만든 걸 누가 써봤어? 문제를 어떻게 풀었어? 네 서비스 보여줘.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896545"/>
            <a:ext cx="19050" cy="636687"/>
          </a:xfrm>
          <a:prstGeom prst="roundRect">
            <a:avLst>
              <a:gd name="adj" fmla="val 59999"/>
            </a:avLst>
          </a:prstGeom>
          <a:solidFill>
            <a:srgbClr val="3257B8"/>
          </a:solidFill>
          <a:ln/>
        </p:spPr>
      </p:sp>
      <p:sp>
        <p:nvSpPr>
          <p:cNvPr id="14" name="Text 11"/>
          <p:cNvSpPr/>
          <p:nvPr/>
        </p:nvSpPr>
        <p:spPr>
          <a:xfrm>
            <a:off x="909516" y="5082580"/>
            <a:ext cx="66584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"만들고, 공유하고, 개선한 경험"이 학력을 이긴 사례다.</a:t>
            </a:r>
            <a:endParaRPr lang="ko-K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70098"/>
            <a:ext cx="6296860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사례 2: 표선고 — 사교육비 0원으로 서울대 합격</a:t>
            </a:r>
            <a:endParaRPr lang="ko-KR" sz="3050" dirty="0"/>
          </a:p>
        </p:txBody>
      </p:sp>
      <p:sp>
        <p:nvSpPr>
          <p:cNvPr id="4" name="Text 1"/>
          <p:cNvSpPr/>
          <p:nvPr/>
        </p:nvSpPr>
        <p:spPr>
          <a:xfrm>
            <a:off x="661475" y="1675805"/>
            <a:ext cx="629686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표선고등학교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(제주도 서귀포시 표선면) — 2019년 학생 240명, 폐교 위기 → IB 도입 후 학생 461명, 지역 인구 500명+ 증가. 사교육비 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0원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수능 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안 봄.</a:t>
            </a:r>
            <a:endParaRPr lang="ko-KR" sz="1200" dirty="0"/>
          </a:p>
        </p:txBody>
      </p:sp>
      <p:sp>
        <p:nvSpPr>
          <p:cNvPr id="5" name="Text 2"/>
          <p:cNvSpPr/>
          <p:nvPr/>
        </p:nvSpPr>
        <p:spPr>
          <a:xfrm>
            <a:off x="818931" y="2412504"/>
            <a:ext cx="5981947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2024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661475" y="3121422"/>
            <a:ext cx="629686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대입 결과</a:t>
            </a:r>
            <a:endParaRPr lang="ko-KR" sz="1500" dirty="0"/>
          </a:p>
        </p:txBody>
      </p:sp>
      <p:sp>
        <p:nvSpPr>
          <p:cNvPr id="7" name="Text 4"/>
          <p:cNvSpPr/>
          <p:nvPr/>
        </p:nvSpPr>
        <p:spPr>
          <a:xfrm>
            <a:off x="661475" y="3456484"/>
            <a:ext cx="629686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서울대 1, 연세대 1, 고려대 1, UNIST 2, DGIST 2</a:t>
            </a:r>
            <a:endParaRPr lang="ko-KR" sz="1200" dirty="0"/>
          </a:p>
        </p:txBody>
      </p:sp>
      <p:sp>
        <p:nvSpPr>
          <p:cNvPr id="8" name="Text 5"/>
          <p:cNvSpPr/>
          <p:nvPr/>
        </p:nvSpPr>
        <p:spPr>
          <a:xfrm>
            <a:off x="818931" y="4078585"/>
            <a:ext cx="5981947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2025</a:t>
            </a:r>
            <a:endParaRPr lang="en-US" sz="4050" dirty="0"/>
          </a:p>
        </p:txBody>
      </p:sp>
      <p:sp>
        <p:nvSpPr>
          <p:cNvPr id="9" name="Text 6"/>
          <p:cNvSpPr/>
          <p:nvPr/>
        </p:nvSpPr>
        <p:spPr>
          <a:xfrm>
            <a:off x="661475" y="4787503"/>
            <a:ext cx="629686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대입 결과</a:t>
            </a:r>
            <a:endParaRPr lang="ko-KR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5122565"/>
            <a:ext cx="629686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서울대 1, 연세대 2, 고려대 2, KAIST 1</a:t>
            </a:r>
            <a:endParaRPr lang="ko-KR" sz="1200" dirty="0"/>
          </a:p>
        </p:txBody>
      </p:sp>
      <p:sp>
        <p:nvSpPr>
          <p:cNvPr id="11" name="Shape 8"/>
          <p:cNvSpPr/>
          <p:nvPr/>
        </p:nvSpPr>
        <p:spPr>
          <a:xfrm>
            <a:off x="661475" y="5535613"/>
            <a:ext cx="6296860" cy="852289"/>
          </a:xfrm>
          <a:prstGeom prst="roundRect">
            <a:avLst>
              <a:gd name="adj" fmla="val 2765"/>
            </a:avLst>
          </a:prstGeom>
          <a:solidFill>
            <a:srgbClr val="B6FCB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34" y="5759450"/>
            <a:ext cx="196349" cy="1570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1943" y="5724029"/>
            <a:ext cx="562933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수능 없이, 학원 없이, 학종만으로. IB 방식으로 공부하면 생기부가 압도적으로 풍부해지고, 그 생기부가 입학사정관의 눈에 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완전히 다르게 보인다.</a:t>
            </a:r>
            <a:endParaRPr lang="ko-K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2026-07-21T11:26:09Z</dcterms:created>
  <dcterms:modified xsi:type="dcterms:W3CDTF">2026-07-21T11:26:09Z</dcterms:modified>
</cp:coreProperties>
</file>