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7-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1.png"/><Relationship Id="rId6" Type="http://schemas.openxmlformats.org/officeDocument/2006/relationships/image" Target="../media/image-19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85690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종합 비교표</a:t>
            </a:r>
            <a:endParaRPr lang="ko-KR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759273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10가지 프로젝트 아이디어를 난이도, 바이럴 가능성, 실용성 기준으로 한눈에 비교합니다.</a:t>
            </a:r>
            <a:endParaRPr lang="ko-KR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0653"/>
            <a:ext cx="8151763" cy="3982120"/>
          </a:xfrm>
          <a:prstGeom prst="roundRect">
            <a:avLst>
              <a:gd name="adj" fmla="val 46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6119" y="944612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306190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667768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02934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390924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752502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114080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475658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83723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419881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15343" y="580653"/>
            <a:ext cx="7753" cy="39821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84859" y="580653"/>
            <a:ext cx="7753" cy="39821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00626" y="580653"/>
            <a:ext cx="7753" cy="39821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14790" y="580653"/>
            <a:ext cx="7753" cy="39821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8955" y="580653"/>
            <a:ext cx="7753" cy="39821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1179" y="585415"/>
            <a:ext cx="814164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9" name="Text 17"/>
          <p:cNvSpPr/>
          <p:nvPr/>
        </p:nvSpPr>
        <p:spPr>
          <a:xfrm>
            <a:off x="625153" y="664592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#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15343" y="585415"/>
            <a:ext cx="1369516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21" name="Text 19"/>
          <p:cNvSpPr/>
          <p:nvPr/>
        </p:nvSpPr>
        <p:spPr>
          <a:xfrm>
            <a:off x="1441698" y="664592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프로젝트</a:t>
            </a:r>
            <a:endParaRPr lang="ko-KR" sz="950" dirty="0"/>
          </a:p>
        </p:txBody>
      </p:sp>
      <p:sp>
        <p:nvSpPr>
          <p:cNvPr id="22" name="Shape 20"/>
          <p:cNvSpPr/>
          <p:nvPr/>
        </p:nvSpPr>
        <p:spPr>
          <a:xfrm>
            <a:off x="2684859" y="585415"/>
            <a:ext cx="3515767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23" name="Text 21"/>
          <p:cNvSpPr/>
          <p:nvPr/>
        </p:nvSpPr>
        <p:spPr>
          <a:xfrm>
            <a:off x="2811214" y="664592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설명</a:t>
            </a:r>
            <a:endParaRPr lang="ko-KR" sz="950" dirty="0"/>
          </a:p>
        </p:txBody>
      </p:sp>
      <p:sp>
        <p:nvSpPr>
          <p:cNvPr id="24" name="Shape 22"/>
          <p:cNvSpPr/>
          <p:nvPr/>
        </p:nvSpPr>
        <p:spPr>
          <a:xfrm>
            <a:off x="6200626" y="585415"/>
            <a:ext cx="814164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25" name="Text 23"/>
          <p:cNvSpPr/>
          <p:nvPr/>
        </p:nvSpPr>
        <p:spPr>
          <a:xfrm>
            <a:off x="6326981" y="664592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난이도</a:t>
            </a:r>
            <a:endParaRPr lang="ko-KR" sz="950" dirty="0"/>
          </a:p>
        </p:txBody>
      </p:sp>
      <p:sp>
        <p:nvSpPr>
          <p:cNvPr id="26" name="Shape 24"/>
          <p:cNvSpPr/>
          <p:nvPr/>
        </p:nvSpPr>
        <p:spPr>
          <a:xfrm>
            <a:off x="7014790" y="585415"/>
            <a:ext cx="814164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146" y="664592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바이럴</a:t>
            </a:r>
            <a:endParaRPr lang="ko-KR" sz="950" dirty="0"/>
          </a:p>
        </p:txBody>
      </p:sp>
      <p:sp>
        <p:nvSpPr>
          <p:cNvPr id="28" name="Shape 26"/>
          <p:cNvSpPr/>
          <p:nvPr/>
        </p:nvSpPr>
        <p:spPr>
          <a:xfrm>
            <a:off x="7828955" y="585415"/>
            <a:ext cx="814164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310" y="664592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실용성</a:t>
            </a:r>
            <a:endParaRPr lang="ko-KR" sz="950" dirty="0"/>
          </a:p>
        </p:txBody>
      </p:sp>
      <p:sp>
        <p:nvSpPr>
          <p:cNvPr id="30" name="Text 28"/>
          <p:cNvSpPr/>
          <p:nvPr/>
        </p:nvSpPr>
        <p:spPr>
          <a:xfrm>
            <a:off x="625153" y="1026170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①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41698" y="1026170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감정 방탈출</a:t>
            </a:r>
            <a:endParaRPr lang="ko-KR" sz="950" dirty="0"/>
          </a:p>
        </p:txBody>
      </p:sp>
      <p:sp>
        <p:nvSpPr>
          <p:cNvPr id="32" name="Text 30"/>
          <p:cNvSpPr/>
          <p:nvPr/>
        </p:nvSpPr>
        <p:spPr>
          <a:xfrm>
            <a:off x="2811214" y="1026170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감정 입력 → 스토리 분기 → 유형 결과</a:t>
            </a:r>
            <a:endParaRPr lang="ko-KR" sz="950" dirty="0"/>
          </a:p>
        </p:txBody>
      </p:sp>
      <p:sp>
        <p:nvSpPr>
          <p:cNvPr id="33" name="Text 31"/>
          <p:cNvSpPr/>
          <p:nvPr/>
        </p:nvSpPr>
        <p:spPr>
          <a:xfrm>
            <a:off x="6326981" y="1026170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41146" y="1026170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55310" y="1026170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5153" y="1387748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②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441698" y="1387748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설문 리서치</a:t>
            </a:r>
            <a:endParaRPr lang="ko-KR" sz="950" dirty="0"/>
          </a:p>
        </p:txBody>
      </p:sp>
      <p:sp>
        <p:nvSpPr>
          <p:cNvPr id="38" name="Text 36"/>
          <p:cNvSpPr/>
          <p:nvPr/>
        </p:nvSpPr>
        <p:spPr>
          <a:xfrm>
            <a:off x="2811214" y="1387748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설문 만들기 → 응답 → 차트</a:t>
            </a:r>
            <a:endParaRPr lang="ko-KR" sz="950" dirty="0"/>
          </a:p>
        </p:txBody>
      </p:sp>
      <p:sp>
        <p:nvSpPr>
          <p:cNvPr id="39" name="Text 37"/>
          <p:cNvSpPr/>
          <p:nvPr/>
        </p:nvSpPr>
        <p:spPr>
          <a:xfrm>
            <a:off x="6326981" y="1387748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41146" y="1387748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55310" y="1387748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5153" y="1749326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③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441698" y="1749326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취향 추천 테스트</a:t>
            </a:r>
            <a:endParaRPr lang="ko-KR" sz="950" dirty="0"/>
          </a:p>
        </p:txBody>
      </p:sp>
      <p:sp>
        <p:nvSpPr>
          <p:cNvPr id="44" name="Text 42"/>
          <p:cNvSpPr/>
          <p:nvPr/>
        </p:nvSpPr>
        <p:spPr>
          <a:xfrm>
            <a:off x="2811214" y="1749326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질문 5개 → 유형 → 추천</a:t>
            </a:r>
            <a:endParaRPr lang="ko-KR" sz="950" dirty="0"/>
          </a:p>
        </p:txBody>
      </p:sp>
      <p:sp>
        <p:nvSpPr>
          <p:cNvPr id="45" name="Text 43"/>
          <p:cNvSpPr/>
          <p:nvPr/>
        </p:nvSpPr>
        <p:spPr>
          <a:xfrm>
            <a:off x="6326981" y="1749326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41146" y="1749326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955310" y="1749326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5153" y="2110904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④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441698" y="2110904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급식 별점</a:t>
            </a:r>
            <a:endParaRPr lang="ko-KR" sz="950" dirty="0"/>
          </a:p>
        </p:txBody>
      </p:sp>
      <p:sp>
        <p:nvSpPr>
          <p:cNvPr id="50" name="Text 48"/>
          <p:cNvSpPr/>
          <p:nvPr/>
        </p:nvSpPr>
        <p:spPr>
          <a:xfrm>
            <a:off x="2811214" y="2110904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별점 + 리뷰 → 랭킹</a:t>
            </a:r>
            <a:endParaRPr lang="ko-KR" sz="950" dirty="0"/>
          </a:p>
        </p:txBody>
      </p:sp>
      <p:sp>
        <p:nvSpPr>
          <p:cNvPr id="51" name="Text 49"/>
          <p:cNvSpPr/>
          <p:nvPr/>
        </p:nvSpPr>
        <p:spPr>
          <a:xfrm>
            <a:off x="6326981" y="2110904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41146" y="2110904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955310" y="2110904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5153" y="2472482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⑤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441698" y="2472482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공부 타이머</a:t>
            </a:r>
            <a:endParaRPr lang="ko-KR" sz="950" dirty="0"/>
          </a:p>
        </p:txBody>
      </p:sp>
      <p:sp>
        <p:nvSpPr>
          <p:cNvPr id="56" name="Text 54"/>
          <p:cNvSpPr/>
          <p:nvPr/>
        </p:nvSpPr>
        <p:spPr>
          <a:xfrm>
            <a:off x="2811214" y="2472482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뽀모도로 → 주간 차트</a:t>
            </a:r>
            <a:endParaRPr lang="ko-KR" sz="950" dirty="0"/>
          </a:p>
        </p:txBody>
      </p:sp>
      <p:sp>
        <p:nvSpPr>
          <p:cNvPr id="57" name="Text 55"/>
          <p:cNvSpPr/>
          <p:nvPr/>
        </p:nvSpPr>
        <p:spPr>
          <a:xfrm>
            <a:off x="6326981" y="2472482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141146" y="2472482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955310" y="2472482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5153" y="2834060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⑥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441698" y="2834060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과목 튜터</a:t>
            </a:r>
            <a:endParaRPr lang="ko-KR" sz="950" dirty="0"/>
          </a:p>
        </p:txBody>
      </p:sp>
      <p:sp>
        <p:nvSpPr>
          <p:cNvPr id="62" name="Text 60"/>
          <p:cNvSpPr/>
          <p:nvPr/>
        </p:nvSpPr>
        <p:spPr>
          <a:xfrm>
            <a:off x="2811214" y="2834060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질문 → AI 단계별 풀이</a:t>
            </a:r>
            <a:endParaRPr lang="ko-KR" sz="950" dirty="0"/>
          </a:p>
        </p:txBody>
      </p:sp>
      <p:sp>
        <p:nvSpPr>
          <p:cNvPr id="63" name="Text 61"/>
          <p:cNvSpPr/>
          <p:nvPr/>
        </p:nvSpPr>
        <p:spPr>
          <a:xfrm>
            <a:off x="6326981" y="2834060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141146" y="2834060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955310" y="2834060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25153" y="3195637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⑦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441698" y="3195637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플레이리스트 추천</a:t>
            </a:r>
            <a:endParaRPr lang="ko-KR" sz="950" dirty="0"/>
          </a:p>
        </p:txBody>
      </p:sp>
      <p:sp>
        <p:nvSpPr>
          <p:cNvPr id="68" name="Text 66"/>
          <p:cNvSpPr/>
          <p:nvPr/>
        </p:nvSpPr>
        <p:spPr>
          <a:xfrm>
            <a:off x="2811214" y="3195637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무드 → 노래 5곡 추천</a:t>
            </a:r>
            <a:endParaRPr lang="ko-KR" sz="950" dirty="0"/>
          </a:p>
        </p:txBody>
      </p:sp>
      <p:sp>
        <p:nvSpPr>
          <p:cNvPr id="69" name="Text 67"/>
          <p:cNvSpPr/>
          <p:nvPr/>
        </p:nvSpPr>
        <p:spPr>
          <a:xfrm>
            <a:off x="6326981" y="3195637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★☆☆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141146" y="3195637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955310" y="3195637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25153" y="3557215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⑧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441698" y="3557215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용돈 가계부</a:t>
            </a:r>
            <a:endParaRPr lang="ko-KR" sz="950" dirty="0"/>
          </a:p>
        </p:txBody>
      </p:sp>
      <p:sp>
        <p:nvSpPr>
          <p:cNvPr id="74" name="Text 72"/>
          <p:cNvSpPr/>
          <p:nvPr/>
        </p:nvSpPr>
        <p:spPr>
          <a:xfrm>
            <a:off x="2811214" y="3557215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지출 기록 → 카테고리 차트</a:t>
            </a:r>
            <a:endParaRPr lang="ko-KR" sz="950" dirty="0"/>
          </a:p>
        </p:txBody>
      </p:sp>
      <p:sp>
        <p:nvSpPr>
          <p:cNvPr id="75" name="Text 73"/>
          <p:cNvSpPr/>
          <p:nvPr/>
        </p:nvSpPr>
        <p:spPr>
          <a:xfrm>
            <a:off x="6326981" y="3557215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141146" y="3557215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★☆☆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955310" y="3557215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25153" y="3918793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⑨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441698" y="3918793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시간표 알리미</a:t>
            </a:r>
            <a:endParaRPr lang="ko-KR" sz="950" dirty="0"/>
          </a:p>
        </p:txBody>
      </p:sp>
      <p:sp>
        <p:nvSpPr>
          <p:cNvPr id="80" name="Text 78"/>
          <p:cNvSpPr/>
          <p:nvPr/>
        </p:nvSpPr>
        <p:spPr>
          <a:xfrm>
            <a:off x="2811214" y="3918793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내일 시간표 + 준비물 체크</a:t>
            </a:r>
            <a:endParaRPr lang="ko-KR" sz="950" dirty="0"/>
          </a:p>
        </p:txBody>
      </p:sp>
      <p:sp>
        <p:nvSpPr>
          <p:cNvPr id="81" name="Text 79"/>
          <p:cNvSpPr/>
          <p:nvPr/>
        </p:nvSpPr>
        <p:spPr>
          <a:xfrm>
            <a:off x="6326981" y="3918793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★☆☆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7141146" y="3918793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955310" y="3918793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25153" y="4280371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⑩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1441698" y="4280371"/>
            <a:ext cx="157400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환경 대시보드</a:t>
            </a:r>
            <a:endParaRPr lang="ko-KR" sz="950" dirty="0"/>
          </a:p>
        </p:txBody>
      </p:sp>
      <p:sp>
        <p:nvSpPr>
          <p:cNvPr id="86" name="Text 84"/>
          <p:cNvSpPr/>
          <p:nvPr/>
        </p:nvSpPr>
        <p:spPr>
          <a:xfrm>
            <a:off x="2811214" y="4280371"/>
            <a:ext cx="37202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10년 기후 데이터 시각화</a:t>
            </a:r>
            <a:endParaRPr lang="ko-KR" sz="950" dirty="0"/>
          </a:p>
        </p:txBody>
      </p:sp>
      <p:sp>
        <p:nvSpPr>
          <p:cNvPr id="87" name="Text 85"/>
          <p:cNvSpPr/>
          <p:nvPr/>
        </p:nvSpPr>
        <p:spPr>
          <a:xfrm>
            <a:off x="6326981" y="4280371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★★☆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7141146" y="4280371"/>
            <a:ext cx="10186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★☆☆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7955310" y="4280371"/>
            <a:ext cx="102103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★★★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4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41114"/>
            <a:ext cx="4722763" cy="30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"우리 팀은 어떤 걸 고를까?" 선택 가이드</a:t>
            </a:r>
            <a:endParaRPr lang="ko-KR" sz="1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816099"/>
            <a:ext cx="4722763" cy="9095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6660" y="950491"/>
            <a:ext cx="439682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🌱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처음 만들어보는 팀</a:t>
            </a:r>
            <a:endParaRPr lang="ko-KR" sz="1150" dirty="0"/>
          </a:p>
        </p:txBody>
      </p:sp>
      <p:sp>
        <p:nvSpPr>
          <p:cNvPr id="6" name="Text 2"/>
          <p:cNvSpPr/>
          <p:nvPr/>
        </p:nvSpPr>
        <p:spPr>
          <a:xfrm>
            <a:off x="4116660" y="1212800"/>
            <a:ext cx="439682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추천: 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⑦ 플레이리스트 → ⑨ 시간표 → ③ 취향 테스트</a:t>
            </a:r>
            <a:endParaRPr lang="ko-KR" sz="9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화면이 단순하고, 로직이 직관적이며, 데이터 구조가 간단하다.</a:t>
            </a:r>
            <a:endParaRPr lang="ko-KR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842046"/>
            <a:ext cx="4722763" cy="9095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6660" y="1976438"/>
            <a:ext cx="439682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🔥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재미있는 거 하고 싶어!</a:t>
            </a:r>
            <a:endParaRPr lang="ko-KR" sz="1150" dirty="0"/>
          </a:p>
        </p:txBody>
      </p:sp>
      <p:sp>
        <p:nvSpPr>
          <p:cNvPr id="9" name="Text 4"/>
          <p:cNvSpPr/>
          <p:nvPr/>
        </p:nvSpPr>
        <p:spPr>
          <a:xfrm>
            <a:off x="4116660" y="2238747"/>
            <a:ext cx="439682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추천: 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① 방탈출 → ③ 취향 테스트 → ④ 급식 별점</a:t>
            </a:r>
            <a:endParaRPr lang="ko-KR" sz="9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결과를 캡처해서 공유하고 싶어지는 구조.</a:t>
            </a:r>
            <a:endParaRPr lang="ko-KR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867992"/>
            <a:ext cx="4722763" cy="9095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6660" y="3002384"/>
            <a:ext cx="439682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진짜 쓸모 있는 걸 만들고 싶어</a:t>
            </a:r>
            <a:endParaRPr lang="ko-KR" sz="1150" dirty="0"/>
          </a:p>
        </p:txBody>
      </p:sp>
      <p:sp>
        <p:nvSpPr>
          <p:cNvPr id="12" name="Text 6"/>
          <p:cNvSpPr/>
          <p:nvPr/>
        </p:nvSpPr>
        <p:spPr>
          <a:xfrm>
            <a:off x="4116660" y="3264694"/>
            <a:ext cx="439682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추천: 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⑤ 공부 타이머 → ⑧ 용돈 가계부 → ⑨ 시간표</a:t>
            </a:r>
            <a:endParaRPr lang="ko-KR" sz="9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매일 실제로 쓸 수 있는 도구.</a:t>
            </a:r>
            <a:endParaRPr lang="ko-KR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93939"/>
            <a:ext cx="4722763" cy="9095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16660" y="4028331"/>
            <a:ext cx="439682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좀 도전적인 거!</a:t>
            </a:r>
            <a:endParaRPr lang="ko-KR" sz="1150" dirty="0"/>
          </a:p>
        </p:txBody>
      </p:sp>
      <p:sp>
        <p:nvSpPr>
          <p:cNvPr id="15" name="Text 8"/>
          <p:cNvSpPr/>
          <p:nvPr/>
        </p:nvSpPr>
        <p:spPr>
          <a:xfrm>
            <a:off x="4116660" y="4290640"/>
            <a:ext cx="439682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추천: 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⑥ AI 튜터 → ② 설문 리서치 → ⑩ 환경 대시보드</a:t>
            </a:r>
            <a:endParaRPr lang="ko-KR" sz="9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API 연결, 데이터 분석 등 추가 기술 경험 가능.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6312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10개에 없는 아이디어를 만들고 싶다면?</a:t>
            </a:r>
            <a:endParaRPr lang="ko-KR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84572"/>
            <a:ext cx="860896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Two-Word Test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를 써봐.</a:t>
            </a:r>
            <a:endParaRPr lang="ko-KR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04702"/>
            <a:ext cx="2717229" cy="48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6223" y="1901726"/>
            <a:ext cx="247702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1단계</a:t>
            </a:r>
            <a:endParaRPr lang="ko-KR" sz="1150" dirty="0"/>
          </a:p>
        </p:txBody>
      </p:sp>
      <p:sp>
        <p:nvSpPr>
          <p:cNvPr id="6" name="Text 3"/>
          <p:cNvSpPr/>
          <p:nvPr/>
        </p:nvSpPr>
        <p:spPr>
          <a:xfrm>
            <a:off x="616223" y="2159273"/>
            <a:ext cx="2477021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"내가 좋아하는 것" 한 단어</a:t>
            </a:r>
            <a:endParaRPr lang="ko-KR" sz="9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예: 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축구</a:t>
            </a:r>
            <a:endParaRPr lang="ko-KR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304702"/>
            <a:ext cx="2717229" cy="480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3452" y="1901726"/>
            <a:ext cx="247702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2단계</a:t>
            </a:r>
            <a:endParaRPr lang="ko-KR" sz="1150" dirty="0"/>
          </a:p>
        </p:txBody>
      </p:sp>
      <p:sp>
        <p:nvSpPr>
          <p:cNvPr id="9" name="Text 5"/>
          <p:cNvSpPr/>
          <p:nvPr/>
        </p:nvSpPr>
        <p:spPr>
          <a:xfrm>
            <a:off x="3333452" y="2159273"/>
            <a:ext cx="2477021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"해결하고 싶은 문제" 한 단어</a:t>
            </a:r>
            <a:endParaRPr lang="ko-KR" sz="9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예: 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전술</a:t>
            </a:r>
            <a:endParaRPr lang="ko-KR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304702"/>
            <a:ext cx="2717229" cy="480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0682" y="1901726"/>
            <a:ext cx="247702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결합!</a:t>
            </a:r>
            <a:endParaRPr lang="ko-KR" sz="1150" dirty="0"/>
          </a:p>
        </p:txBody>
      </p:sp>
      <p:sp>
        <p:nvSpPr>
          <p:cNvPr id="12" name="Text 7"/>
          <p:cNvSpPr/>
          <p:nvPr/>
        </p:nvSpPr>
        <p:spPr>
          <a:xfrm>
            <a:off x="6050682" y="2159273"/>
            <a:ext cx="2477021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두 단어를 합치면</a:t>
            </a:r>
            <a:endParaRPr lang="ko-KR" sz="9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"축구 전술"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프로젝트 아이디어</a:t>
            </a:r>
            <a:endParaRPr lang="ko-KR" sz="900" dirty="0"/>
          </a:p>
        </p:txBody>
      </p:sp>
      <p:sp>
        <p:nvSpPr>
          <p:cNvPr id="13" name="Shape 8"/>
          <p:cNvSpPr/>
          <p:nvPr/>
        </p:nvSpPr>
        <p:spPr>
          <a:xfrm>
            <a:off x="496119" y="2788741"/>
            <a:ext cx="8151763" cy="1377255"/>
          </a:xfrm>
          <a:prstGeom prst="roundRect">
            <a:avLst>
              <a:gd name="adj" fmla="val 13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6119" y="3134246"/>
            <a:ext cx="8151763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496119" y="3477369"/>
            <a:ext cx="8151763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496119" y="3820492"/>
            <a:ext cx="8151763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01774" y="2793504"/>
            <a:ext cx="2713509" cy="34074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3"/>
          <p:cNvSpPr/>
          <p:nvPr/>
        </p:nvSpPr>
        <p:spPr>
          <a:xfrm>
            <a:off x="621878" y="2868067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좋아하는 것</a:t>
            </a:r>
            <a:endParaRPr lang="ko-KR" sz="900" dirty="0"/>
          </a:p>
        </p:txBody>
      </p:sp>
      <p:sp>
        <p:nvSpPr>
          <p:cNvPr id="19" name="Shape 14"/>
          <p:cNvSpPr/>
          <p:nvPr/>
        </p:nvSpPr>
        <p:spPr>
          <a:xfrm>
            <a:off x="3215283" y="2793504"/>
            <a:ext cx="2713509" cy="34074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5"/>
          <p:cNvSpPr/>
          <p:nvPr/>
        </p:nvSpPr>
        <p:spPr>
          <a:xfrm>
            <a:off x="3335387" y="2868067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문제</a:t>
            </a:r>
            <a:endParaRPr lang="ko-KR" sz="900" dirty="0"/>
          </a:p>
        </p:txBody>
      </p:sp>
      <p:sp>
        <p:nvSpPr>
          <p:cNvPr id="21" name="Shape 16"/>
          <p:cNvSpPr/>
          <p:nvPr/>
        </p:nvSpPr>
        <p:spPr>
          <a:xfrm>
            <a:off x="5928792" y="2793504"/>
            <a:ext cx="2713509" cy="34074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7"/>
          <p:cNvSpPr/>
          <p:nvPr/>
        </p:nvSpPr>
        <p:spPr>
          <a:xfrm>
            <a:off x="6048896" y="2868067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프로젝트 아이디어</a:t>
            </a:r>
            <a:endParaRPr lang="ko-KR" sz="900" dirty="0"/>
          </a:p>
        </p:txBody>
      </p:sp>
      <p:sp>
        <p:nvSpPr>
          <p:cNvPr id="23" name="Text 18"/>
          <p:cNvSpPr/>
          <p:nvPr/>
        </p:nvSpPr>
        <p:spPr>
          <a:xfrm>
            <a:off x="621878" y="3211190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웹툰</a:t>
            </a:r>
            <a:endParaRPr lang="ko-KR" sz="900" dirty="0"/>
          </a:p>
        </p:txBody>
      </p:sp>
      <p:sp>
        <p:nvSpPr>
          <p:cNvPr id="24" name="Text 19"/>
          <p:cNvSpPr/>
          <p:nvPr/>
        </p:nvSpPr>
        <p:spPr>
          <a:xfrm>
            <a:off x="3335387" y="3211190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캐릭터</a:t>
            </a:r>
            <a:endParaRPr lang="ko-KR" sz="900" dirty="0"/>
          </a:p>
        </p:txBody>
      </p:sp>
      <p:sp>
        <p:nvSpPr>
          <p:cNvPr id="25" name="Text 20"/>
          <p:cNvSpPr/>
          <p:nvPr/>
        </p:nvSpPr>
        <p:spPr>
          <a:xfrm>
            <a:off x="6048896" y="3211190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캐릭터 디자인 생성기</a:t>
            </a:r>
            <a:endParaRPr lang="ko-KR" sz="900" dirty="0"/>
          </a:p>
        </p:txBody>
      </p:sp>
      <p:sp>
        <p:nvSpPr>
          <p:cNvPr id="26" name="Text 21"/>
          <p:cNvSpPr/>
          <p:nvPr/>
        </p:nvSpPr>
        <p:spPr>
          <a:xfrm>
            <a:off x="621878" y="3554313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요리</a:t>
            </a:r>
            <a:endParaRPr lang="ko-KR" sz="900" dirty="0"/>
          </a:p>
        </p:txBody>
      </p:sp>
      <p:sp>
        <p:nvSpPr>
          <p:cNvPr id="27" name="Text 22"/>
          <p:cNvSpPr/>
          <p:nvPr/>
        </p:nvSpPr>
        <p:spPr>
          <a:xfrm>
            <a:off x="3335387" y="3554313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레시피</a:t>
            </a:r>
            <a:endParaRPr lang="ko-KR" sz="900" dirty="0"/>
          </a:p>
        </p:txBody>
      </p:sp>
      <p:sp>
        <p:nvSpPr>
          <p:cNvPr id="28" name="Text 23"/>
          <p:cNvSpPr/>
          <p:nvPr/>
        </p:nvSpPr>
        <p:spPr>
          <a:xfrm>
            <a:off x="6048896" y="3554313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냉장고 재료 기반 추천 앱</a:t>
            </a:r>
            <a:endParaRPr lang="ko-KR" sz="900" dirty="0"/>
          </a:p>
        </p:txBody>
      </p:sp>
      <p:sp>
        <p:nvSpPr>
          <p:cNvPr id="29" name="Text 24"/>
          <p:cNvSpPr/>
          <p:nvPr/>
        </p:nvSpPr>
        <p:spPr>
          <a:xfrm>
            <a:off x="621878" y="3897437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게임</a:t>
            </a:r>
            <a:endParaRPr lang="ko-KR" sz="900" dirty="0"/>
          </a:p>
        </p:txBody>
      </p:sp>
      <p:sp>
        <p:nvSpPr>
          <p:cNvPr id="30" name="Text 25"/>
          <p:cNvSpPr/>
          <p:nvPr/>
        </p:nvSpPr>
        <p:spPr>
          <a:xfrm>
            <a:off x="3335387" y="3897437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밸런스</a:t>
            </a:r>
            <a:endParaRPr lang="ko-KR" sz="900" dirty="0"/>
          </a:p>
        </p:txBody>
      </p:sp>
      <p:sp>
        <p:nvSpPr>
          <p:cNvPr id="31" name="Text 26"/>
          <p:cNvSpPr/>
          <p:nvPr/>
        </p:nvSpPr>
        <p:spPr>
          <a:xfrm>
            <a:off x="6048896" y="3897437"/>
            <a:ext cx="293050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게임 캐릭터 능력치 계산기</a:t>
            </a:r>
            <a:endParaRPr lang="ko-KR" sz="900" dirty="0"/>
          </a:p>
        </p:txBody>
      </p:sp>
      <p:sp>
        <p:nvSpPr>
          <p:cNvPr id="32" name="Shape 27"/>
          <p:cNvSpPr/>
          <p:nvPr/>
        </p:nvSpPr>
        <p:spPr>
          <a:xfrm>
            <a:off x="496119" y="4296891"/>
            <a:ext cx="8151763" cy="470297"/>
          </a:xfrm>
          <a:prstGeom prst="roundRect">
            <a:avLst>
              <a:gd name="adj" fmla="val 3833"/>
            </a:avLst>
          </a:prstGeom>
          <a:solidFill>
            <a:srgbClr val="D7DFF4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3" y="4465662"/>
            <a:ext cx="150168" cy="12010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86495" y="4443264"/>
            <a:ext cx="809848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규칙:</a:t>
            </a:r>
            <a:pPr algn="l" indent="0" marL="0">
              <a:lnSpc>
                <a:spcPct val="131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Python + Streamlit으로 만들 수 있어야 한다. 잘 모르겠으면 AI한테 물어봐: "이 아이디어를 Streamlit으로 만들 수 있어?"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967433"/>
            <a:ext cx="464344" cy="188565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2004640"/>
            <a:ext cx="7727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4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220555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팀 토론 — 프로젝트를 정하자</a:t>
            </a:r>
            <a:endParaRPr lang="ko-KR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277914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지금부터 팀이 함께 프로젝트를 선택합니다. 토론을 통해 모두가 납득할 수 있는 하나의 아이디어를 결정합니다.</a:t>
            </a:r>
            <a:endParaRPr lang="ko-KR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1000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팀 구성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42752"/>
            <a:ext cx="8151763" cy="52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5명 = 1팀</a:t>
            </a:r>
            <a:endParaRPr lang="ko-KR" sz="3300" dirty="0"/>
          </a:p>
        </p:txBody>
      </p:sp>
      <p:sp>
        <p:nvSpPr>
          <p:cNvPr id="4" name="Shape 2"/>
          <p:cNvSpPr/>
          <p:nvPr/>
        </p:nvSpPr>
        <p:spPr>
          <a:xfrm>
            <a:off x="496119" y="1649537"/>
            <a:ext cx="2637086" cy="1187202"/>
          </a:xfrm>
          <a:prstGeom prst="roundRect">
            <a:avLst>
              <a:gd name="adj" fmla="val 1543"/>
            </a:avLst>
          </a:prstGeom>
          <a:solidFill>
            <a:srgbClr val="E9ECF2"/>
          </a:solidFill>
          <a:ln/>
        </p:spPr>
      </p:sp>
      <p:sp>
        <p:nvSpPr>
          <p:cNvPr id="5" name="Shape 3"/>
          <p:cNvSpPr/>
          <p:nvPr/>
        </p:nvSpPr>
        <p:spPr>
          <a:xfrm>
            <a:off x="618158" y="1771576"/>
            <a:ext cx="366266" cy="36626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840" y="1872258"/>
            <a:ext cx="164827" cy="1648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8158" y="2258020"/>
            <a:ext cx="23930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PM (진행)</a:t>
            </a:r>
            <a:endParaRPr lang="ko-KR" sz="1200" dirty="0"/>
          </a:p>
        </p:txBody>
      </p:sp>
      <p:sp>
        <p:nvSpPr>
          <p:cNvPr id="8" name="Text 5"/>
          <p:cNvSpPr/>
          <p:nvPr/>
        </p:nvSpPr>
        <p:spPr>
          <a:xfrm>
            <a:off x="618158" y="2520851"/>
            <a:ext cx="23930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토론 진행, 시간 관리, 의견 조율</a:t>
            </a:r>
            <a:endParaRPr lang="ko-KR" sz="950" dirty="0"/>
          </a:p>
        </p:txBody>
      </p:sp>
      <p:sp>
        <p:nvSpPr>
          <p:cNvPr id="9" name="Shape 6"/>
          <p:cNvSpPr/>
          <p:nvPr/>
        </p:nvSpPr>
        <p:spPr>
          <a:xfrm>
            <a:off x="3253383" y="1649537"/>
            <a:ext cx="2637160" cy="1187202"/>
          </a:xfrm>
          <a:prstGeom prst="roundRect">
            <a:avLst>
              <a:gd name="adj" fmla="val 1543"/>
            </a:avLst>
          </a:prstGeom>
          <a:solidFill>
            <a:srgbClr val="E9ECF2"/>
          </a:solidFill>
          <a:ln/>
        </p:spPr>
      </p:sp>
      <p:sp>
        <p:nvSpPr>
          <p:cNvPr id="10" name="Shape 7"/>
          <p:cNvSpPr/>
          <p:nvPr/>
        </p:nvSpPr>
        <p:spPr>
          <a:xfrm>
            <a:off x="3375422" y="1771576"/>
            <a:ext cx="366266" cy="36626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6104" y="1872258"/>
            <a:ext cx="164827" cy="1648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5422" y="2258020"/>
            <a:ext cx="239308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기획</a:t>
            </a:r>
            <a:endParaRPr lang="ko-KR" sz="1200" dirty="0"/>
          </a:p>
        </p:txBody>
      </p:sp>
      <p:sp>
        <p:nvSpPr>
          <p:cNvPr id="13" name="Text 9"/>
          <p:cNvSpPr/>
          <p:nvPr/>
        </p:nvSpPr>
        <p:spPr>
          <a:xfrm>
            <a:off x="3375422" y="2520851"/>
            <a:ext cx="23930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구체화, 한 줄 기획서 작성</a:t>
            </a:r>
            <a:endParaRPr lang="ko-KR" sz="950" dirty="0"/>
          </a:p>
        </p:txBody>
      </p:sp>
      <p:sp>
        <p:nvSpPr>
          <p:cNvPr id="14" name="Shape 10"/>
          <p:cNvSpPr/>
          <p:nvPr/>
        </p:nvSpPr>
        <p:spPr>
          <a:xfrm>
            <a:off x="6010721" y="1649537"/>
            <a:ext cx="2637160" cy="1187202"/>
          </a:xfrm>
          <a:prstGeom prst="roundRect">
            <a:avLst>
              <a:gd name="adj" fmla="val 1543"/>
            </a:avLst>
          </a:prstGeom>
          <a:solidFill>
            <a:srgbClr val="E9ECF2"/>
          </a:solidFill>
          <a:ln/>
        </p:spPr>
      </p:sp>
      <p:sp>
        <p:nvSpPr>
          <p:cNvPr id="15" name="Shape 11"/>
          <p:cNvSpPr/>
          <p:nvPr/>
        </p:nvSpPr>
        <p:spPr>
          <a:xfrm>
            <a:off x="6132761" y="1771576"/>
            <a:ext cx="366266" cy="36626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3443" y="1872258"/>
            <a:ext cx="164827" cy="1648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2761" y="2258020"/>
            <a:ext cx="239308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담당</a:t>
            </a:r>
            <a:endParaRPr lang="ko-KR" sz="1200" dirty="0"/>
          </a:p>
        </p:txBody>
      </p:sp>
      <p:sp>
        <p:nvSpPr>
          <p:cNvPr id="18" name="Text 13"/>
          <p:cNvSpPr/>
          <p:nvPr/>
        </p:nvSpPr>
        <p:spPr>
          <a:xfrm>
            <a:off x="6132761" y="2520851"/>
            <a:ext cx="23930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구성 스케치, UI 아이디어</a:t>
            </a:r>
            <a:endParaRPr lang="ko-KR" sz="950" dirty="0"/>
          </a:p>
        </p:txBody>
      </p:sp>
      <p:sp>
        <p:nvSpPr>
          <p:cNvPr id="19" name="Shape 14"/>
          <p:cNvSpPr/>
          <p:nvPr/>
        </p:nvSpPr>
        <p:spPr>
          <a:xfrm>
            <a:off x="496119" y="2956917"/>
            <a:ext cx="4015755" cy="1187202"/>
          </a:xfrm>
          <a:prstGeom prst="roundRect">
            <a:avLst>
              <a:gd name="adj" fmla="val 1543"/>
            </a:avLst>
          </a:prstGeom>
          <a:solidFill>
            <a:srgbClr val="E9EC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18158" y="3078956"/>
            <a:ext cx="366266" cy="36626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840" y="3179638"/>
            <a:ext cx="164827" cy="1648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8158" y="3565401"/>
            <a:ext cx="377167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데이터 담당</a:t>
            </a:r>
            <a:endParaRPr lang="ko-KR" sz="1200" dirty="0"/>
          </a:p>
        </p:txBody>
      </p:sp>
      <p:sp>
        <p:nvSpPr>
          <p:cNvPr id="23" name="Text 17"/>
          <p:cNvSpPr/>
          <p:nvPr/>
        </p:nvSpPr>
        <p:spPr>
          <a:xfrm>
            <a:off x="618158" y="3828231"/>
            <a:ext cx="377167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어떤 데이터를 저장하고 보여줄지 정리</a:t>
            </a:r>
            <a:endParaRPr lang="ko-KR" sz="950" dirty="0"/>
          </a:p>
        </p:txBody>
      </p:sp>
      <p:sp>
        <p:nvSpPr>
          <p:cNvPr id="24" name="Shape 18"/>
          <p:cNvSpPr/>
          <p:nvPr/>
        </p:nvSpPr>
        <p:spPr>
          <a:xfrm>
            <a:off x="4632052" y="2956917"/>
            <a:ext cx="4015829" cy="1187202"/>
          </a:xfrm>
          <a:prstGeom prst="roundRect">
            <a:avLst>
              <a:gd name="adj" fmla="val 1543"/>
            </a:avLst>
          </a:prstGeom>
          <a:solidFill>
            <a:srgbClr val="E9ECF2"/>
          </a:solidFill>
          <a:ln/>
        </p:spPr>
      </p:sp>
      <p:sp>
        <p:nvSpPr>
          <p:cNvPr id="25" name="Shape 19"/>
          <p:cNvSpPr/>
          <p:nvPr/>
        </p:nvSpPr>
        <p:spPr>
          <a:xfrm>
            <a:off x="4754091" y="3078956"/>
            <a:ext cx="366266" cy="36626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4773" y="3179638"/>
            <a:ext cx="164827" cy="1648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091" y="3565401"/>
            <a:ext cx="37717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발표 담당</a:t>
            </a:r>
            <a:endParaRPr lang="ko-KR" sz="1200" dirty="0"/>
          </a:p>
        </p:txBody>
      </p:sp>
      <p:sp>
        <p:nvSpPr>
          <p:cNvPr id="28" name="Text 21"/>
          <p:cNvSpPr/>
          <p:nvPr/>
        </p:nvSpPr>
        <p:spPr>
          <a:xfrm>
            <a:off x="4754091" y="3828231"/>
            <a:ext cx="3771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매 수업 산출물 기록, 최종 발표 준비</a:t>
            </a:r>
            <a:endParaRPr lang="ko-KR" sz="950" dirty="0"/>
          </a:p>
        </p:txBody>
      </p:sp>
      <p:sp>
        <p:nvSpPr>
          <p:cNvPr id="29" name="Shape 22"/>
          <p:cNvSpPr/>
          <p:nvPr/>
        </p:nvSpPr>
        <p:spPr>
          <a:xfrm>
            <a:off x="496119" y="4279329"/>
            <a:ext cx="8151763" cy="483171"/>
          </a:xfrm>
          <a:prstGeom prst="roundRect">
            <a:avLst>
              <a:gd name="adj" fmla="val 3791"/>
            </a:avLst>
          </a:prstGeom>
          <a:solidFill>
            <a:srgbClr val="D7DFF4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58" y="4453682"/>
            <a:ext cx="152623" cy="12203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2820" y="4430018"/>
            <a:ext cx="809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역할은 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책임 영역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이지, 코딩 면제가 아님. 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바이브 코딩은 전원이 직접 한다.</a:t>
            </a:r>
            <a:endParaRPr lang="ko-KR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556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토론 Step 1 — 개인 투표 (3분)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3113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각자 종이에 적는다:</a:t>
            </a:r>
            <a:endParaRPr lang="ko-KR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369121"/>
            <a:ext cx="2634555" cy="743248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507382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1순위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2775645"/>
            <a:ext cx="23580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___번</a:t>
            </a:r>
            <a:endParaRPr lang="ko-KR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2369121"/>
            <a:ext cx="2634630" cy="743248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2909" y="2507382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2순위</a:t>
            </a:r>
            <a:endParaRPr lang="ko-KR" sz="1200" dirty="0"/>
          </a:p>
        </p:txBody>
      </p:sp>
      <p:sp>
        <p:nvSpPr>
          <p:cNvPr id="9" name="Text 7"/>
          <p:cNvSpPr/>
          <p:nvPr/>
        </p:nvSpPr>
        <p:spPr>
          <a:xfrm>
            <a:off x="3392909" y="2775645"/>
            <a:ext cx="23581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___번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2369121"/>
            <a:ext cx="2634555" cy="743248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1513" y="2507382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이유</a:t>
            </a:r>
            <a:endParaRPr lang="ko-KR" sz="1200" dirty="0"/>
          </a:p>
        </p:txBody>
      </p:sp>
      <p:sp>
        <p:nvSpPr>
          <p:cNvPr id="12" name="Text 10"/>
          <p:cNvSpPr/>
          <p:nvPr/>
        </p:nvSpPr>
        <p:spPr>
          <a:xfrm>
            <a:off x="6151513" y="2775645"/>
            <a:ext cx="23580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_______________________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251895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431679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406825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종이를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테이블 가운데에 모은다.</a:t>
            </a:r>
            <a:endParaRPr lang="ko-KR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203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토론 Step 2 — 결과 공개 &amp; 토론 (7분)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3760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PM이 진행한다.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"1순위 결과 발표합니다"</a:t>
            </a:r>
            <a:endParaRPr lang="ko-KR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375595"/>
            <a:ext cx="4103191" cy="1365796"/>
          </a:xfrm>
          <a:prstGeom prst="roundRect">
            <a:avLst>
              <a:gd name="adj" fmla="val 1362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49956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결과 처리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817391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같은 번호가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3표 이상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이면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바로 확정</a:t>
            </a:r>
            <a:endParaRPr lang="ko-KR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의견이 갈리면 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토론</a:t>
            </a:r>
            <a:endParaRPr lang="ko-KR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49956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토론할 때 물어볼 질문 3가지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817391"/>
            <a:ext cx="3924598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"이거 만들면 누가 쓸까?"</a:t>
            </a:r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대답 못 하면 그 아이디어는 빠진다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"3일 안에 핵심 기능을 만들 수 있을까?"</a:t>
            </a:r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너무 어려우면 더 쉬운 것으로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"만들었을 때 뿌듯할까? 보여주고 싶을까?"</a:t>
            </a:r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재미없으면 동기가 안 생긴다</a:t>
            </a:r>
            <a:endParaRPr lang="ko-KR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162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토론 Step 3 — 최종 확정 (2분)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014040"/>
            <a:ext cx="14288" cy="464269"/>
          </a:xfrm>
          <a:prstGeom prst="roundRect">
            <a:avLst>
              <a:gd name="adj" fmla="val 59998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679252" y="1149251"/>
            <a:ext cx="84258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PM: "그러면 우리 팀은 [___번 / 자유 아이디어]로 하겠습니다."</a:t>
            </a:r>
            <a:endParaRPr lang="ko-KR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613520"/>
            <a:ext cx="8151763" cy="705520"/>
          </a:xfrm>
          <a:prstGeom prst="roundRect">
            <a:avLst>
              <a:gd name="adj" fmla="val 2596"/>
            </a:avLst>
          </a:prstGeom>
          <a:solidFill>
            <a:srgbClr val="E9ECF2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613520"/>
            <a:ext cx="4075881" cy="705520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618158" y="1735559"/>
            <a:ext cx="3831803" cy="195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전원 동의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618158" y="2003152"/>
            <a:ext cx="38318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확정!</a:t>
            </a:r>
            <a:endParaRPr lang="ko-KR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613520"/>
            <a:ext cx="4075881" cy="705520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613520"/>
            <a:ext cx="14288" cy="705520"/>
          </a:xfrm>
          <a:prstGeom prst="roundRect">
            <a:avLst>
              <a:gd name="adj" fmla="val 128193"/>
            </a:avLst>
          </a:prstGeom>
          <a:solidFill>
            <a:srgbClr val="CFD2D8"/>
          </a:solidFill>
          <a:ln/>
        </p:spPr>
      </p:sp>
      <p:sp>
        <p:nvSpPr>
          <p:cNvPr id="11" name="Text 9"/>
          <p:cNvSpPr/>
          <p:nvPr/>
        </p:nvSpPr>
        <p:spPr>
          <a:xfrm>
            <a:off x="4694039" y="1735559"/>
            <a:ext cx="3831803" cy="195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동의 안 하는 팀원 있음</a:t>
            </a:r>
            <a:endParaRPr lang="ko-KR" sz="1200" dirty="0"/>
          </a:p>
        </p:txBody>
      </p:sp>
      <p:sp>
        <p:nvSpPr>
          <p:cNvPr id="12" name="Text 10"/>
          <p:cNvSpPr/>
          <p:nvPr/>
        </p:nvSpPr>
        <p:spPr>
          <a:xfrm>
            <a:off x="4694039" y="2003152"/>
            <a:ext cx="38318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그 사람의 의견을 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3분 더 듣고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다수결</a:t>
            </a:r>
            <a:endParaRPr lang="ko-KR" sz="950" dirty="0"/>
          </a:p>
        </p:txBody>
      </p:sp>
      <p:sp>
        <p:nvSpPr>
          <p:cNvPr id="13" name="Text 11"/>
          <p:cNvSpPr/>
          <p:nvPr/>
        </p:nvSpPr>
        <p:spPr>
          <a:xfrm>
            <a:off x="496119" y="2499271"/>
            <a:ext cx="8151763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토론이 막힐 때 — 도움 질문</a:t>
            </a:r>
            <a:endParaRPr lang="ko-KR" sz="1900" dirty="0"/>
          </a:p>
        </p:txBody>
      </p:sp>
      <p:sp>
        <p:nvSpPr>
          <p:cNvPr id="14" name="Shape 12"/>
          <p:cNvSpPr/>
          <p:nvPr/>
        </p:nvSpPr>
        <p:spPr>
          <a:xfrm>
            <a:off x="496119" y="2984748"/>
            <a:ext cx="8151763" cy="1766515"/>
          </a:xfrm>
          <a:prstGeom prst="roundRect">
            <a:avLst>
              <a:gd name="adj" fmla="val 10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119" y="3339480"/>
            <a:ext cx="8151763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6119" y="3691830"/>
            <a:ext cx="8151763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6119" y="4044181"/>
            <a:ext cx="8151763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6119" y="4396532"/>
            <a:ext cx="8151763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2920" y="3066380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상황</a:t>
            </a:r>
            <a:endParaRPr lang="ko-KR" sz="950" dirty="0"/>
          </a:p>
        </p:txBody>
      </p:sp>
      <p:sp>
        <p:nvSpPr>
          <p:cNvPr id="20" name="Text 18"/>
          <p:cNvSpPr/>
          <p:nvPr/>
        </p:nvSpPr>
        <p:spPr>
          <a:xfrm>
            <a:off x="4694039" y="3066380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질문</a:t>
            </a:r>
            <a:endParaRPr lang="ko-KR" sz="950" dirty="0"/>
          </a:p>
        </p:txBody>
      </p:sp>
      <p:sp>
        <p:nvSpPr>
          <p:cNvPr id="21" name="Text 19"/>
          <p:cNvSpPr/>
          <p:nvPr/>
        </p:nvSpPr>
        <p:spPr>
          <a:xfrm>
            <a:off x="622920" y="3418731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아무도 의견이 없을 때</a:t>
            </a:r>
            <a:endParaRPr lang="ko-KR" sz="950" dirty="0"/>
          </a:p>
        </p:txBody>
      </p:sp>
      <p:sp>
        <p:nvSpPr>
          <p:cNvPr id="22" name="Text 20"/>
          <p:cNvSpPr/>
          <p:nvPr/>
        </p:nvSpPr>
        <p:spPr>
          <a:xfrm>
            <a:off x="4694039" y="3418731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"10개 중 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'이건 절대 안 하고 싶다'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하는 거 하나만 말해봐"</a:t>
            </a:r>
            <a:endParaRPr lang="ko-KR" sz="950" dirty="0"/>
          </a:p>
        </p:txBody>
      </p:sp>
      <p:sp>
        <p:nvSpPr>
          <p:cNvPr id="23" name="Text 21"/>
          <p:cNvSpPr/>
          <p:nvPr/>
        </p:nvSpPr>
        <p:spPr>
          <a:xfrm>
            <a:off x="622920" y="3771081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2개로 좁혀졌는데 못 고를 때</a:t>
            </a:r>
            <a:endParaRPr lang="ko-KR" sz="950" dirty="0"/>
          </a:p>
        </p:txBody>
      </p:sp>
      <p:sp>
        <p:nvSpPr>
          <p:cNvPr id="24" name="Text 22"/>
          <p:cNvSpPr/>
          <p:nvPr/>
        </p:nvSpPr>
        <p:spPr>
          <a:xfrm>
            <a:off x="4694039" y="3771081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"둘 다 만든다고 치면, 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내일 친구한테 보여주고 싶은 거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뭐야?"</a:t>
            </a:r>
            <a:endParaRPr lang="ko-KR" sz="950" dirty="0"/>
          </a:p>
        </p:txBody>
      </p:sp>
      <p:sp>
        <p:nvSpPr>
          <p:cNvPr id="25" name="Text 23"/>
          <p:cNvSpPr/>
          <p:nvPr/>
        </p:nvSpPr>
        <p:spPr>
          <a:xfrm>
            <a:off x="622920" y="4123432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 명이 강하게 밀 때</a:t>
            </a:r>
            <a:endParaRPr lang="ko-KR" sz="950" dirty="0"/>
          </a:p>
        </p:txBody>
      </p:sp>
      <p:sp>
        <p:nvSpPr>
          <p:cNvPr id="26" name="Text 24"/>
          <p:cNvSpPr/>
          <p:nvPr/>
        </p:nvSpPr>
        <p:spPr>
          <a:xfrm>
            <a:off x="4694039" y="4123432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"그 아이디어를 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쓰는 사람이 누구인지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30초만 설명해봐"</a:t>
            </a:r>
            <a:endParaRPr lang="ko-KR" sz="950" dirty="0"/>
          </a:p>
        </p:txBody>
      </p:sp>
      <p:sp>
        <p:nvSpPr>
          <p:cNvPr id="27" name="Text 25"/>
          <p:cNvSpPr/>
          <p:nvPr/>
        </p:nvSpPr>
        <p:spPr>
          <a:xfrm>
            <a:off x="622920" y="4475783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전혀 다른 걸 하고 싶다고 할 때</a:t>
            </a:r>
            <a:endParaRPr lang="ko-KR" sz="950" dirty="0"/>
          </a:p>
        </p:txBody>
      </p:sp>
      <p:sp>
        <p:nvSpPr>
          <p:cNvPr id="28" name="Text 26"/>
          <p:cNvSpPr/>
          <p:nvPr/>
        </p:nvSpPr>
        <p:spPr>
          <a:xfrm>
            <a:off x="4694039" y="4475783"/>
            <a:ext cx="42842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"좋아! 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Two-Word Test</a:t>
            </a:r>
            <a:pPr algn="l" indent="0" marL="0">
              <a:lnSpc>
                <a:spcPct val="132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해보자. 좋아하는 거 + 문제, 두 단어 말해봐"</a:t>
            </a:r>
            <a:endParaRPr lang="ko-KR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967433"/>
            <a:ext cx="464344" cy="188565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2004640"/>
            <a:ext cx="7727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5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220555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한 줄 기획서 &amp; 역할 분담 작성</a:t>
            </a:r>
            <a:endParaRPr lang="ko-KR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277914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프로젝트를 정했다면, 이제 팀의 방향을 하나의 문장으로 정리합니다. 한 줄 기획서는 프로젝트 전체의 나침반이 됩니다.</a:t>
            </a:r>
            <a:endParaRPr lang="ko-KR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849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한 줄 기획서 양식</a:t>
            </a:r>
            <a:endParaRPr lang="ko-KR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04070"/>
            <a:ext cx="4013895" cy="743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530" y="1742331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팀명</a:t>
            </a:r>
            <a:endParaRPr lang="ko-KR" sz="1200" dirty="0"/>
          </a:p>
        </p:txBody>
      </p:sp>
      <p:sp>
        <p:nvSpPr>
          <p:cNvPr id="5" name="Text 2"/>
          <p:cNvSpPr/>
          <p:nvPr/>
        </p:nvSpPr>
        <p:spPr>
          <a:xfrm>
            <a:off x="691530" y="2010594"/>
            <a:ext cx="36802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604070"/>
            <a:ext cx="4013895" cy="7432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29398" y="1742331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선택한 프로젝트</a:t>
            </a:r>
            <a:endParaRPr lang="ko-KR" sz="1200" dirty="0"/>
          </a:p>
        </p:txBody>
      </p:sp>
      <p:sp>
        <p:nvSpPr>
          <p:cNvPr id="8" name="Text 4"/>
          <p:cNvSpPr/>
          <p:nvPr/>
        </p:nvSpPr>
        <p:spPr>
          <a:xfrm>
            <a:off x="4829398" y="2010594"/>
            <a:ext cx="36802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___번 (또는 자유 아이디어)</a:t>
            </a:r>
            <a:endParaRPr lang="ko-KR" sz="950" dirty="0"/>
          </a:p>
        </p:txBody>
      </p:sp>
      <p:sp>
        <p:nvSpPr>
          <p:cNvPr id="9" name="Shape 5"/>
          <p:cNvSpPr/>
          <p:nvPr/>
        </p:nvSpPr>
        <p:spPr>
          <a:xfrm>
            <a:off x="496119" y="2486844"/>
            <a:ext cx="2634555" cy="714673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10" name="Text 6"/>
          <p:cNvSpPr/>
          <p:nvPr/>
        </p:nvSpPr>
        <p:spPr>
          <a:xfrm>
            <a:off x="620092" y="261081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누가</a:t>
            </a:r>
            <a:endParaRPr lang="ko-KR" sz="1200" dirty="0"/>
          </a:p>
        </p:txBody>
      </p:sp>
      <p:sp>
        <p:nvSpPr>
          <p:cNvPr id="11" name="Text 7"/>
          <p:cNvSpPr/>
          <p:nvPr/>
        </p:nvSpPr>
        <p:spPr>
          <a:xfrm>
            <a:off x="620092" y="2879080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______________________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54648" y="2486844"/>
            <a:ext cx="2634630" cy="714673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13" name="Text 9"/>
          <p:cNvSpPr/>
          <p:nvPr/>
        </p:nvSpPr>
        <p:spPr>
          <a:xfrm>
            <a:off x="3378622" y="2610817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무엇을</a:t>
            </a:r>
            <a:endParaRPr lang="ko-KR" sz="1200" dirty="0"/>
          </a:p>
        </p:txBody>
      </p:sp>
      <p:sp>
        <p:nvSpPr>
          <p:cNvPr id="14" name="Text 10"/>
          <p:cNvSpPr/>
          <p:nvPr/>
        </p:nvSpPr>
        <p:spPr>
          <a:xfrm>
            <a:off x="3378622" y="2879080"/>
            <a:ext cx="23866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______________________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13252" y="2486844"/>
            <a:ext cx="2634555" cy="714673"/>
          </a:xfrm>
          <a:prstGeom prst="roundRect">
            <a:avLst>
              <a:gd name="adj" fmla="val 2604"/>
            </a:avLst>
          </a:prstGeom>
          <a:solidFill>
            <a:srgbClr val="E9ECF2"/>
          </a:solidFill>
          <a:ln/>
        </p:spPr>
      </p:sp>
      <p:sp>
        <p:nvSpPr>
          <p:cNvPr id="16" name="Text 12"/>
          <p:cNvSpPr/>
          <p:nvPr/>
        </p:nvSpPr>
        <p:spPr>
          <a:xfrm>
            <a:off x="6137225" y="2610817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왜 쓰는</a:t>
            </a:r>
            <a:endParaRPr lang="ko-KR" sz="1200" dirty="0"/>
          </a:p>
        </p:txBody>
      </p:sp>
      <p:sp>
        <p:nvSpPr>
          <p:cNvPr id="17" name="Text 13"/>
          <p:cNvSpPr/>
          <p:nvPr/>
        </p:nvSpPr>
        <p:spPr>
          <a:xfrm>
            <a:off x="6137225" y="2879080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______________________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67519" y="334104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앱을 만든다.</a:t>
            </a:r>
            <a:endParaRPr lang="ko-KR" sz="950" dirty="0"/>
          </a:p>
        </p:txBody>
      </p:sp>
      <p:sp>
        <p:nvSpPr>
          <p:cNvPr id="19" name="Shape 15"/>
          <p:cNvSpPr/>
          <p:nvPr/>
        </p:nvSpPr>
        <p:spPr>
          <a:xfrm>
            <a:off x="496119" y="3679031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92" y="3858816"/>
            <a:ext cx="155004" cy="1239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9071" y="3833961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"누가"가 가장 중요하다.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"누가 쓸지" 못 정하면 → 만들다가 방향을 잃는다.</a:t>
            </a:r>
            <a:endParaRPr lang="ko-KR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98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한 줄 기획서 예시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88554"/>
            <a:ext cx="8151763" cy="3201888"/>
          </a:xfrm>
          <a:prstGeom prst="roundRect">
            <a:avLst>
              <a:gd name="adj" fmla="val 58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65251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21255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97105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729558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15283" y="1288554"/>
            <a:ext cx="7753" cy="32018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28792" y="1288554"/>
            <a:ext cx="7753" cy="320188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774" y="1293316"/>
            <a:ext cx="2713509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1" name="Text 9"/>
          <p:cNvSpPr/>
          <p:nvPr/>
        </p:nvSpPr>
        <p:spPr>
          <a:xfrm>
            <a:off x="625748" y="1372493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팀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3215283" y="1293316"/>
            <a:ext cx="2713509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3" name="Text 11"/>
          <p:cNvSpPr/>
          <p:nvPr/>
        </p:nvSpPr>
        <p:spPr>
          <a:xfrm>
            <a:off x="3341638" y="1372493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프로젝트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5928792" y="1293316"/>
            <a:ext cx="2713509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5" name="Text 13"/>
          <p:cNvSpPr/>
          <p:nvPr/>
        </p:nvSpPr>
        <p:spPr>
          <a:xfrm>
            <a:off x="6055147" y="1372493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줄 기획서</a:t>
            </a:r>
            <a:endParaRPr lang="ko-KR" sz="950" dirty="0"/>
          </a:p>
        </p:txBody>
      </p:sp>
      <p:sp>
        <p:nvSpPr>
          <p:cNvPr id="16" name="Text 14"/>
          <p:cNvSpPr/>
          <p:nvPr/>
        </p:nvSpPr>
        <p:spPr>
          <a:xfrm>
            <a:off x="625748" y="1734071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A팀</a:t>
            </a:r>
            <a:endParaRPr lang="ko-KR" sz="950" dirty="0"/>
          </a:p>
        </p:txBody>
      </p:sp>
      <p:sp>
        <p:nvSpPr>
          <p:cNvPr id="17" name="Text 15"/>
          <p:cNvSpPr/>
          <p:nvPr/>
        </p:nvSpPr>
        <p:spPr>
          <a:xfrm>
            <a:off x="3341638" y="1734071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④ 급식 별점</a:t>
            </a:r>
            <a:endParaRPr lang="ko-KR" sz="950" dirty="0"/>
          </a:p>
        </p:txBody>
      </p:sp>
      <p:sp>
        <p:nvSpPr>
          <p:cNvPr id="18" name="Text 16"/>
          <p:cNvSpPr/>
          <p:nvPr/>
        </p:nvSpPr>
        <p:spPr>
          <a:xfrm>
            <a:off x="6055147" y="1734071"/>
            <a:ext cx="246318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우리 반 친구들이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매일 급식에 별점을 매기고 /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어떤 급식이 인기 있는지 알기 위한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앱을 만든다</a:t>
            </a:r>
            <a:endParaRPr lang="ko-KR" sz="950" dirty="0"/>
          </a:p>
        </p:txBody>
      </p:sp>
      <p:sp>
        <p:nvSpPr>
          <p:cNvPr id="19" name="Text 17"/>
          <p:cNvSpPr/>
          <p:nvPr/>
        </p:nvSpPr>
        <p:spPr>
          <a:xfrm>
            <a:off x="625748" y="2294111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B팀</a:t>
            </a:r>
            <a:endParaRPr lang="ko-KR" sz="950" dirty="0"/>
          </a:p>
        </p:txBody>
      </p:sp>
      <p:sp>
        <p:nvSpPr>
          <p:cNvPr id="20" name="Text 18"/>
          <p:cNvSpPr/>
          <p:nvPr/>
        </p:nvSpPr>
        <p:spPr>
          <a:xfrm>
            <a:off x="3341638" y="2294111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③ 취향 테스트</a:t>
            </a:r>
            <a:endParaRPr lang="ko-KR" sz="950" dirty="0"/>
          </a:p>
        </p:txBody>
      </p:sp>
      <p:sp>
        <p:nvSpPr>
          <p:cNvPr id="21" name="Text 19"/>
          <p:cNvSpPr/>
          <p:nvPr/>
        </p:nvSpPr>
        <p:spPr>
          <a:xfrm>
            <a:off x="6055147" y="2294111"/>
            <a:ext cx="246318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K-pop 좋아하는 친구들이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5개 질문에 답하면 /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딱 맞는 아이돌을 추천받을 수 있는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테스트를 만든다</a:t>
            </a:r>
            <a:endParaRPr lang="ko-KR" sz="950" dirty="0"/>
          </a:p>
        </p:txBody>
      </p:sp>
      <p:sp>
        <p:nvSpPr>
          <p:cNvPr id="22" name="Text 20"/>
          <p:cNvSpPr/>
          <p:nvPr/>
        </p:nvSpPr>
        <p:spPr>
          <a:xfrm>
            <a:off x="625748" y="3052614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C팀</a:t>
            </a:r>
            <a:endParaRPr lang="ko-KR" sz="950" dirty="0"/>
          </a:p>
        </p:txBody>
      </p:sp>
      <p:sp>
        <p:nvSpPr>
          <p:cNvPr id="23" name="Text 21"/>
          <p:cNvSpPr/>
          <p:nvPr/>
        </p:nvSpPr>
        <p:spPr>
          <a:xfrm>
            <a:off x="3341638" y="3052614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① 방탈출</a:t>
            </a:r>
            <a:endParaRPr lang="ko-KR" sz="950" dirty="0"/>
          </a:p>
        </p:txBody>
      </p:sp>
      <p:sp>
        <p:nvSpPr>
          <p:cNvPr id="24" name="Text 22"/>
          <p:cNvSpPr/>
          <p:nvPr/>
        </p:nvSpPr>
        <p:spPr>
          <a:xfrm>
            <a:off x="6055147" y="3052614"/>
            <a:ext cx="246318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쉬는 시간에 심심한 친구들이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3분 만에 즐기고 /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자기 유형을 알 수 있는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감정 방탈출 게임을 만든다</a:t>
            </a:r>
            <a:endParaRPr lang="ko-KR" sz="950" dirty="0"/>
          </a:p>
        </p:txBody>
      </p:sp>
      <p:sp>
        <p:nvSpPr>
          <p:cNvPr id="25" name="Text 23"/>
          <p:cNvSpPr/>
          <p:nvPr/>
        </p:nvSpPr>
        <p:spPr>
          <a:xfrm>
            <a:off x="625748" y="3811116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D팀</a:t>
            </a:r>
            <a:endParaRPr lang="ko-KR" sz="950" dirty="0"/>
          </a:p>
        </p:txBody>
      </p:sp>
      <p:sp>
        <p:nvSpPr>
          <p:cNvPr id="26" name="Text 24"/>
          <p:cNvSpPr/>
          <p:nvPr/>
        </p:nvSpPr>
        <p:spPr>
          <a:xfrm>
            <a:off x="3341638" y="3811116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자유</a:t>
            </a:r>
            <a:endParaRPr lang="ko-KR" sz="950" dirty="0"/>
          </a:p>
        </p:txBody>
      </p:sp>
      <p:sp>
        <p:nvSpPr>
          <p:cNvPr id="27" name="Text 25"/>
          <p:cNvSpPr/>
          <p:nvPr/>
        </p:nvSpPr>
        <p:spPr>
          <a:xfrm>
            <a:off x="6055147" y="3811116"/>
            <a:ext cx="246318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우리 반 친구들이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매일 감정을 기록하고 /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한 달간 내 감정 패턴을 볼 수 있는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감정 일기 앱을 만든다</a:t>
            </a:r>
            <a:endParaRPr lang="ko-KR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139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역할 분담표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4696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팀명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_________________</a:t>
            </a:r>
            <a:endParaRPr lang="ko-KR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84958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150046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PM (진행)</a:t>
            </a:r>
            <a:endParaRPr lang="ko-KR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418308"/>
            <a:ext cx="2613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1684958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2150046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기획</a:t>
            </a:r>
            <a:endParaRPr lang="ko-KR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2418308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1684958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2150046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담당</a:t>
            </a:r>
            <a:endParaRPr lang="ko-KR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2418308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64793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329880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데이터 담당</a:t>
            </a:r>
            <a:endParaRPr lang="ko-KR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3598143"/>
            <a:ext cx="2613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4991" y="2864793"/>
            <a:ext cx="310083" cy="31008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4991" y="3329880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발표 담당</a:t>
            </a:r>
            <a:endParaRPr lang="ko-KR" sz="1200" dirty="0"/>
          </a:p>
        </p:txBody>
      </p:sp>
      <p:sp>
        <p:nvSpPr>
          <p:cNvPr id="18" name="Text 11"/>
          <p:cNvSpPr/>
          <p:nvPr/>
        </p:nvSpPr>
        <p:spPr>
          <a:xfrm>
            <a:off x="3264991" y="3598143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96119" y="3936132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92" y="4115916"/>
            <a:ext cx="155004" cy="12397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99071" y="4091062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바이브 코딩은 전원이 한다.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역할은 "책임 영역"이지 "이것만 한다"가 아님.</a:t>
            </a:r>
            <a:endParaRPr lang="ko-KR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681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역할별 2~4일차 일정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02383"/>
            <a:ext cx="8151763" cy="2174230"/>
          </a:xfrm>
          <a:prstGeom prst="roundRect">
            <a:avLst>
              <a:gd name="adj" fmla="val 8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166342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527920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889498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25107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612654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36552" y="1802383"/>
            <a:ext cx="7753" cy="21742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74" y="1802383"/>
            <a:ext cx="7753" cy="21742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07597" y="1802383"/>
            <a:ext cx="7753" cy="21742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1030" y="1807146"/>
            <a:ext cx="2035522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3" name="Text 11"/>
          <p:cNvSpPr/>
          <p:nvPr/>
        </p:nvSpPr>
        <p:spPr>
          <a:xfrm>
            <a:off x="625004" y="188632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역할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2536552" y="1807146"/>
            <a:ext cx="2035522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5" name="Text 13"/>
          <p:cNvSpPr/>
          <p:nvPr/>
        </p:nvSpPr>
        <p:spPr>
          <a:xfrm>
            <a:off x="2662907" y="1886322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2일차</a:t>
            </a:r>
            <a:endParaRPr lang="ko-KR" sz="950" dirty="0"/>
          </a:p>
        </p:txBody>
      </p:sp>
      <p:sp>
        <p:nvSpPr>
          <p:cNvPr id="16" name="Shape 14"/>
          <p:cNvSpPr/>
          <p:nvPr/>
        </p:nvSpPr>
        <p:spPr>
          <a:xfrm>
            <a:off x="4572074" y="1807146"/>
            <a:ext cx="2035522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7" name="Text 15"/>
          <p:cNvSpPr/>
          <p:nvPr/>
        </p:nvSpPr>
        <p:spPr>
          <a:xfrm>
            <a:off x="4698429" y="1886322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3일차</a:t>
            </a:r>
            <a:endParaRPr lang="ko-KR" sz="950" dirty="0"/>
          </a:p>
        </p:txBody>
      </p:sp>
      <p:sp>
        <p:nvSpPr>
          <p:cNvPr id="18" name="Shape 16"/>
          <p:cNvSpPr/>
          <p:nvPr/>
        </p:nvSpPr>
        <p:spPr>
          <a:xfrm>
            <a:off x="6607597" y="1807146"/>
            <a:ext cx="2035522" cy="35919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19" name="Text 17"/>
          <p:cNvSpPr/>
          <p:nvPr/>
        </p:nvSpPr>
        <p:spPr>
          <a:xfrm>
            <a:off x="6733952" y="188632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4일차</a:t>
            </a:r>
            <a:endParaRPr lang="ko-KR" sz="950" dirty="0"/>
          </a:p>
        </p:txBody>
      </p:sp>
      <p:sp>
        <p:nvSpPr>
          <p:cNvPr id="20" name="Text 18"/>
          <p:cNvSpPr/>
          <p:nvPr/>
        </p:nvSpPr>
        <p:spPr>
          <a:xfrm>
            <a:off x="625004" y="2247900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62907" y="2247900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팀 진행 관리, 시간 체크</a:t>
            </a:r>
            <a:endParaRPr lang="ko-KR" sz="950" dirty="0"/>
          </a:p>
        </p:txBody>
      </p:sp>
      <p:sp>
        <p:nvSpPr>
          <p:cNvPr id="22" name="Text 20"/>
          <p:cNvSpPr/>
          <p:nvPr/>
        </p:nvSpPr>
        <p:spPr>
          <a:xfrm>
            <a:off x="4698429" y="2247900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통합 테스트 진행</a:t>
            </a:r>
            <a:endParaRPr lang="ko-KR" sz="950" dirty="0"/>
          </a:p>
        </p:txBody>
      </p:sp>
      <p:sp>
        <p:nvSpPr>
          <p:cNvPr id="23" name="Text 21"/>
          <p:cNvSpPr/>
          <p:nvPr/>
        </p:nvSpPr>
        <p:spPr>
          <a:xfrm>
            <a:off x="6733952" y="2247900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발표 리허설 진행</a:t>
            </a:r>
            <a:endParaRPr lang="ko-KR" sz="950" dirty="0"/>
          </a:p>
        </p:txBody>
      </p:sp>
      <p:sp>
        <p:nvSpPr>
          <p:cNvPr id="24" name="Text 22"/>
          <p:cNvSpPr/>
          <p:nvPr/>
        </p:nvSpPr>
        <p:spPr>
          <a:xfrm>
            <a:off x="625004" y="2609478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기획</a:t>
            </a:r>
            <a:endParaRPr lang="ko-KR" sz="950" dirty="0"/>
          </a:p>
        </p:txBody>
      </p:sp>
      <p:sp>
        <p:nvSpPr>
          <p:cNvPr id="25" name="Text 23"/>
          <p:cNvSpPr/>
          <p:nvPr/>
        </p:nvSpPr>
        <p:spPr>
          <a:xfrm>
            <a:off x="2662907" y="2609478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흐름도 작성</a:t>
            </a:r>
            <a:endParaRPr lang="ko-KR" sz="950" dirty="0"/>
          </a:p>
        </p:txBody>
      </p:sp>
      <p:sp>
        <p:nvSpPr>
          <p:cNvPr id="26" name="Text 24"/>
          <p:cNvSpPr/>
          <p:nvPr/>
        </p:nvSpPr>
        <p:spPr>
          <a:xfrm>
            <a:off x="4698429" y="2609478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콘텐츠(텍스트/문항) 입력</a:t>
            </a:r>
            <a:endParaRPr lang="ko-KR" sz="950" dirty="0"/>
          </a:p>
        </p:txBody>
      </p:sp>
      <p:sp>
        <p:nvSpPr>
          <p:cNvPr id="27" name="Text 25"/>
          <p:cNvSpPr/>
          <p:nvPr/>
        </p:nvSpPr>
        <p:spPr>
          <a:xfrm>
            <a:off x="6733952" y="2609478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시연 시나리오 준비</a:t>
            </a:r>
            <a:endParaRPr lang="ko-KR" sz="950" dirty="0"/>
          </a:p>
        </p:txBody>
      </p:sp>
      <p:sp>
        <p:nvSpPr>
          <p:cNvPr id="28" name="Text 26"/>
          <p:cNvSpPr/>
          <p:nvPr/>
        </p:nvSpPr>
        <p:spPr>
          <a:xfrm>
            <a:off x="625004" y="2971056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화면</a:t>
            </a:r>
            <a:endParaRPr lang="ko-KR" sz="950" dirty="0"/>
          </a:p>
        </p:txBody>
      </p:sp>
      <p:sp>
        <p:nvSpPr>
          <p:cNvPr id="29" name="Text 27"/>
          <p:cNvSpPr/>
          <p:nvPr/>
        </p:nvSpPr>
        <p:spPr>
          <a:xfrm>
            <a:off x="2662907" y="2971056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첫 화면 바이브 코딩</a:t>
            </a:r>
            <a:endParaRPr lang="ko-KR" sz="950" dirty="0"/>
          </a:p>
        </p:txBody>
      </p:sp>
      <p:sp>
        <p:nvSpPr>
          <p:cNvPr id="30" name="Text 28"/>
          <p:cNvSpPr/>
          <p:nvPr/>
        </p:nvSpPr>
        <p:spPr>
          <a:xfrm>
            <a:off x="4698429" y="2971056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다듬기 (색, 이모지, 배치)</a:t>
            </a:r>
            <a:endParaRPr lang="ko-KR" sz="950" dirty="0"/>
          </a:p>
        </p:txBody>
      </p:sp>
      <p:sp>
        <p:nvSpPr>
          <p:cNvPr id="31" name="Text 29"/>
          <p:cNvSpPr/>
          <p:nvPr/>
        </p:nvSpPr>
        <p:spPr>
          <a:xfrm>
            <a:off x="6733952" y="2971056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최종 화면 점검</a:t>
            </a:r>
            <a:endParaRPr lang="ko-KR" sz="950" dirty="0"/>
          </a:p>
        </p:txBody>
      </p:sp>
      <p:sp>
        <p:nvSpPr>
          <p:cNvPr id="32" name="Text 30"/>
          <p:cNvSpPr/>
          <p:nvPr/>
        </p:nvSpPr>
        <p:spPr>
          <a:xfrm>
            <a:off x="625004" y="3332634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데이터</a:t>
            </a:r>
            <a:endParaRPr lang="ko-KR" sz="950" dirty="0"/>
          </a:p>
        </p:txBody>
      </p:sp>
      <p:sp>
        <p:nvSpPr>
          <p:cNvPr id="33" name="Text 31"/>
          <p:cNvSpPr/>
          <p:nvPr/>
        </p:nvSpPr>
        <p:spPr>
          <a:xfrm>
            <a:off x="2662907" y="3332634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JSON/데이터 구조 설계</a:t>
            </a:r>
            <a:endParaRPr lang="ko-KR" sz="950" dirty="0"/>
          </a:p>
        </p:txBody>
      </p:sp>
      <p:sp>
        <p:nvSpPr>
          <p:cNvPr id="34" name="Text 32"/>
          <p:cNvSpPr/>
          <p:nvPr/>
        </p:nvSpPr>
        <p:spPr>
          <a:xfrm>
            <a:off x="4698429" y="3332634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저장/불러오기 로직 확인</a:t>
            </a:r>
            <a:endParaRPr lang="ko-KR" sz="950" dirty="0"/>
          </a:p>
        </p:txBody>
      </p:sp>
      <p:sp>
        <p:nvSpPr>
          <p:cNvPr id="35" name="Text 33"/>
          <p:cNvSpPr/>
          <p:nvPr/>
        </p:nvSpPr>
        <p:spPr>
          <a:xfrm>
            <a:off x="6733952" y="3332634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데모 데이터 준비</a:t>
            </a:r>
            <a:endParaRPr lang="ko-KR" sz="950" dirty="0"/>
          </a:p>
        </p:txBody>
      </p:sp>
      <p:sp>
        <p:nvSpPr>
          <p:cNvPr id="36" name="Text 34"/>
          <p:cNvSpPr/>
          <p:nvPr/>
        </p:nvSpPr>
        <p:spPr>
          <a:xfrm>
            <a:off x="625004" y="369421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발표</a:t>
            </a:r>
            <a:endParaRPr lang="ko-KR" sz="950" dirty="0"/>
          </a:p>
        </p:txBody>
      </p:sp>
      <p:sp>
        <p:nvSpPr>
          <p:cNvPr id="37" name="Text 35"/>
          <p:cNvSpPr/>
          <p:nvPr/>
        </p:nvSpPr>
        <p:spPr>
          <a:xfrm>
            <a:off x="2662907" y="3694212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매 단계 기록 (사진/메모)</a:t>
            </a:r>
            <a:endParaRPr lang="ko-KR" sz="950" dirty="0"/>
          </a:p>
        </p:txBody>
      </p:sp>
      <p:sp>
        <p:nvSpPr>
          <p:cNvPr id="38" name="Text 36"/>
          <p:cNvSpPr/>
          <p:nvPr/>
        </p:nvSpPr>
        <p:spPr>
          <a:xfrm>
            <a:off x="4698429" y="3694212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발표 자료 정리</a:t>
            </a:r>
            <a:endParaRPr lang="ko-KR" sz="950" dirty="0"/>
          </a:p>
        </p:txBody>
      </p:sp>
      <p:sp>
        <p:nvSpPr>
          <p:cNvPr id="39" name="Text 37"/>
          <p:cNvSpPr/>
          <p:nvPr/>
        </p:nvSpPr>
        <p:spPr>
          <a:xfrm>
            <a:off x="6733952" y="369421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3분 발표</a:t>
            </a:r>
            <a:endParaRPr lang="ko-KR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266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흐름도 스케치 — 종이에 그리기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4823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프로젝트를 정했으면,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종이에 화면 흐름을 그린다.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코드를 짜기 전에 "어떤 화면이 어떤 순서로 나오는지"를 먼저 정해야 한다.</a:t>
            </a:r>
            <a:endParaRPr lang="ko-KR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28622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482676"/>
            <a:ext cx="2634555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573238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A4 종이를 가로로 놓는다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3254648" y="228622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482676"/>
            <a:ext cx="2634630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9" name="Text 7"/>
          <p:cNvSpPr/>
          <p:nvPr/>
        </p:nvSpPr>
        <p:spPr>
          <a:xfrm>
            <a:off x="3254648" y="2573238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네모칸을 그린다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3254648" y="2841501"/>
            <a:ext cx="26346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네모칸 1개 = 화면 1개</a:t>
            </a:r>
            <a:endParaRPr lang="ko-KR" sz="950" dirty="0"/>
          </a:p>
        </p:txBody>
      </p:sp>
      <p:sp>
        <p:nvSpPr>
          <p:cNvPr id="11" name="Text 9"/>
          <p:cNvSpPr/>
          <p:nvPr/>
        </p:nvSpPr>
        <p:spPr>
          <a:xfrm>
            <a:off x="6013252" y="228622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2495029"/>
            <a:ext cx="2634555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3" name="Text 11"/>
          <p:cNvSpPr/>
          <p:nvPr/>
        </p:nvSpPr>
        <p:spPr>
          <a:xfrm>
            <a:off x="6013252" y="2573238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안에 "뭐가 보이는지" 간단히 적는다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496119" y="325695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440981"/>
            <a:ext cx="4013820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543970"/>
            <a:ext cx="40138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화면과 화면 사이에 화살표를 그린다</a:t>
            </a:r>
            <a:endParaRPr lang="ko-KR" sz="1200" dirty="0"/>
          </a:p>
        </p:txBody>
      </p:sp>
      <p:sp>
        <p:nvSpPr>
          <p:cNvPr id="17" name="Text 15"/>
          <p:cNvSpPr/>
          <p:nvPr/>
        </p:nvSpPr>
        <p:spPr>
          <a:xfrm>
            <a:off x="4633913" y="325695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33913" y="3440981"/>
            <a:ext cx="4013895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9" name="Text 17"/>
          <p:cNvSpPr/>
          <p:nvPr/>
        </p:nvSpPr>
        <p:spPr>
          <a:xfrm>
            <a:off x="4633913" y="3543970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화살표 위에 "어떤 행동을 하면 넘어가는지" 적는다</a:t>
            </a:r>
            <a:endParaRPr lang="ko-KR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607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흐름도 예시 — 급식 별점 앱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51645"/>
            <a:ext cx="8151763" cy="1440210"/>
          </a:xfrm>
          <a:prstGeom prst="roundRect">
            <a:avLst>
              <a:gd name="adj" fmla="val 1292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851645"/>
            <a:ext cx="2717229" cy="1440210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1975619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1 — 별점 입력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620092" y="2243882"/>
            <a:ext cx="2469282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오늘 급식 메뉴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별점 슬라이더 (1~5)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한줄평 입력칸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제출 버튼</a:t>
            </a:r>
            <a:endParaRPr lang="ko-KR" sz="950" dirty="0"/>
          </a:p>
        </p:txBody>
      </p:sp>
      <p:sp>
        <p:nvSpPr>
          <p:cNvPr id="7" name="Shape 5"/>
          <p:cNvSpPr/>
          <p:nvPr/>
        </p:nvSpPr>
        <p:spPr>
          <a:xfrm>
            <a:off x="3213348" y="1851645"/>
            <a:ext cx="2717229" cy="1440210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8" name="Shape 6"/>
          <p:cNvSpPr/>
          <p:nvPr/>
        </p:nvSpPr>
        <p:spPr>
          <a:xfrm>
            <a:off x="3213348" y="1851645"/>
            <a:ext cx="14288" cy="1440210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</p:sp>
      <p:sp>
        <p:nvSpPr>
          <p:cNvPr id="9" name="Text 7"/>
          <p:cNvSpPr/>
          <p:nvPr/>
        </p:nvSpPr>
        <p:spPr>
          <a:xfrm>
            <a:off x="3337322" y="1975619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→ 버튼 클릭 →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3337322" y="2243882"/>
            <a:ext cx="24692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전환</a:t>
            </a:r>
            <a:endParaRPr lang="ko-KR" sz="950" dirty="0"/>
          </a:p>
        </p:txBody>
      </p:sp>
      <p:sp>
        <p:nvSpPr>
          <p:cNvPr id="11" name="Shape 9"/>
          <p:cNvSpPr/>
          <p:nvPr/>
        </p:nvSpPr>
        <p:spPr>
          <a:xfrm>
            <a:off x="5930578" y="1851645"/>
            <a:ext cx="2717229" cy="1440210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0578" y="1851645"/>
            <a:ext cx="14288" cy="1440210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</p:sp>
      <p:sp>
        <p:nvSpPr>
          <p:cNvPr id="13" name="Text 11"/>
          <p:cNvSpPr/>
          <p:nvPr/>
        </p:nvSpPr>
        <p:spPr>
          <a:xfrm>
            <a:off x="6054551" y="1975619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2 — 대시보드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6054551" y="2243882"/>
            <a:ext cx="2469282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이달 TOP 5 차트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WORST 3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요일별 추이</a:t>
            </a:r>
            <a:endParaRPr lang="ko-KR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431381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611166"/>
            <a:ext cx="155004" cy="12397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9071" y="3586311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이 종이 스케치가 있으면 → AI한테 "이거 만들어줘"라고 정확하게 말할 수 있다.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스케치 없이 "앱 만들어줘"라고 하면 → AI도 뭘 만들지 모른다.</a:t>
            </a:r>
            <a:endParaRPr lang="ko-KR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826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화면 흐름도 예시 — 방탈출 게임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19870"/>
            <a:ext cx="4013895" cy="123974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2067818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인트로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336081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감정 입력 → 감정에 따라 분기</a:t>
            </a:r>
            <a:endParaRPr lang="ko-KR" sz="950" dirty="0"/>
          </a:p>
        </p:txBody>
      </p:sp>
      <p:sp>
        <p:nvSpPr>
          <p:cNvPr id="6" name="Shape 4"/>
          <p:cNvSpPr/>
          <p:nvPr/>
        </p:nvSpPr>
        <p:spPr>
          <a:xfrm>
            <a:off x="4633987" y="1633835"/>
            <a:ext cx="4013895" cy="123974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4757961" y="1881783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1번째 방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4757961" y="2150046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스토리 + 선택지 2개 → 선택지 A or B</a:t>
            </a:r>
            <a:endParaRPr lang="ko-KR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968526"/>
            <a:ext cx="4013895" cy="123974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620092" y="3216473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2번째 방</a:t>
            </a:r>
            <a:endParaRPr lang="ko-KR" sz="1200" dirty="0"/>
          </a:p>
        </p:txBody>
      </p:sp>
      <p:sp>
        <p:nvSpPr>
          <p:cNvPr id="11" name="Text 9"/>
          <p:cNvSpPr/>
          <p:nvPr/>
        </p:nvSpPr>
        <p:spPr>
          <a:xfrm>
            <a:off x="620092" y="3484736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스토리 + 선택지 2개 → 마지막 선택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4633987" y="2782491"/>
            <a:ext cx="4013895" cy="123974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7961" y="3030438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엔딩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4757961" y="3298701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유형 결과 + 공유 버튼</a:t>
            </a:r>
            <a:endParaRPr lang="ko-KR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394669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종이에 네모칸 4개와 화살표만 그리면 끝!</a:t>
            </a:r>
            <a:endParaRPr lang="ko-KR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967433"/>
            <a:ext cx="464344" cy="188565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70533" y="2004640"/>
            <a:ext cx="7727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6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220555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2교시 마무리</a:t>
            </a:r>
            <a:endParaRPr lang="ko-KR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277914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오늘 수업에서 팀이 함께 프로젝트를 선택하고, 한 줄 기획서를 작성하고, 화면 흐름도를 그렸습니다. 다음 시간부터 진짜 만들기 시작합니다.</a:t>
            </a:r>
            <a:endParaRPr lang="ko-KR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359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오늘 확인 사항 체크리스트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11151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오늘 완료한 것</a:t>
            </a:r>
            <a:endParaRPr lang="ko-KR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033736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93040" indent="-193040">
              <a:lnSpc>
                <a:spcPct val="133000"/>
              </a:lnSpc>
              <a:buSzPct val="100000"/>
              <a:buChar char="​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바이브 코딩 데모를 봤다 ("말만 했는데 앱이 나오네")</a:t>
            </a:r>
            <a:endParaRPr lang="ko-KR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070869"/>
            <a:ext cx="123974" cy="123974"/>
          </a:xfrm>
          <a:prstGeom prst="roundRect">
            <a:avLst>
              <a:gd name="adj" fmla="val 15009"/>
            </a:avLst>
          </a:prstGeom>
          <a:solidFill>
            <a:srgbClr val="3257B8"/>
          </a:solidFill>
          <a:ln w="14288">
            <a:solidFill>
              <a:srgbClr val="3257B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98" y="2101825"/>
            <a:ext cx="74414" cy="619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275582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93040" indent="-193040">
              <a:lnSpc>
                <a:spcPct val="133000"/>
              </a:lnSpc>
              <a:buSzPct val="100000"/>
              <a:buChar char="​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10가지 아이디어를 살펴봤다</a:t>
            </a:r>
            <a:endParaRPr lang="ko-KR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2312715"/>
            <a:ext cx="123974" cy="123974"/>
          </a:xfrm>
          <a:prstGeom prst="roundRect">
            <a:avLst>
              <a:gd name="adj" fmla="val 15009"/>
            </a:avLst>
          </a:prstGeom>
          <a:solidFill>
            <a:srgbClr val="3257B8"/>
          </a:solidFill>
          <a:ln w="14288">
            <a:solidFill>
              <a:srgbClr val="3257B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98" y="2343671"/>
            <a:ext cx="74414" cy="619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6119" y="2517428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93040" indent="-193040">
              <a:lnSpc>
                <a:spcPct val="133000"/>
              </a:lnSpc>
              <a:buSzPct val="100000"/>
              <a:buChar char="​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팀이 프로젝트를 하나 골랐다</a:t>
            </a:r>
            <a:endParaRPr lang="ko-KR" sz="950" dirty="0"/>
          </a:p>
        </p:txBody>
      </p:sp>
      <p:sp>
        <p:nvSpPr>
          <p:cNvPr id="11" name="Shape 7"/>
          <p:cNvSpPr/>
          <p:nvPr/>
        </p:nvSpPr>
        <p:spPr>
          <a:xfrm>
            <a:off x="496119" y="2554560"/>
            <a:ext cx="123974" cy="123974"/>
          </a:xfrm>
          <a:prstGeom prst="roundRect">
            <a:avLst>
              <a:gd name="adj" fmla="val 15009"/>
            </a:avLst>
          </a:prstGeom>
          <a:solidFill>
            <a:srgbClr val="3257B8"/>
          </a:solidFill>
          <a:ln w="14288">
            <a:solidFill>
              <a:srgbClr val="3257B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8" y="2585517"/>
            <a:ext cx="74414" cy="619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119" y="2759273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93040" indent="-193040">
              <a:lnSpc>
                <a:spcPct val="133000"/>
              </a:lnSpc>
              <a:buSzPct val="100000"/>
              <a:buChar char="​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 줄 기획서를 작성했다 (누가 / 무엇을 / 왜)</a:t>
            </a:r>
            <a:endParaRPr lang="ko-KR" sz="950" dirty="0"/>
          </a:p>
        </p:txBody>
      </p:sp>
      <p:sp>
        <p:nvSpPr>
          <p:cNvPr id="14" name="Shape 9"/>
          <p:cNvSpPr/>
          <p:nvPr/>
        </p:nvSpPr>
        <p:spPr>
          <a:xfrm>
            <a:off x="496119" y="2796406"/>
            <a:ext cx="123974" cy="123974"/>
          </a:xfrm>
          <a:prstGeom prst="roundRect">
            <a:avLst>
              <a:gd name="adj" fmla="val 15009"/>
            </a:avLst>
          </a:prstGeom>
          <a:solidFill>
            <a:srgbClr val="3257B8"/>
          </a:solidFill>
          <a:ln w="14288">
            <a:solidFill>
              <a:srgbClr val="3257B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98" y="2827362"/>
            <a:ext cx="74414" cy="619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6119" y="3001119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93040" indent="-193040">
              <a:lnSpc>
                <a:spcPct val="133000"/>
              </a:lnSpc>
              <a:buSzPct val="100000"/>
              <a:buChar char="​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역할을 정했다 (PM / 기획 / 화면 / 데이터 / 발표)</a:t>
            </a:r>
            <a:endParaRPr lang="ko-KR" sz="950" dirty="0"/>
          </a:p>
        </p:txBody>
      </p:sp>
      <p:sp>
        <p:nvSpPr>
          <p:cNvPr id="17" name="Shape 11"/>
          <p:cNvSpPr/>
          <p:nvPr/>
        </p:nvSpPr>
        <p:spPr>
          <a:xfrm>
            <a:off x="496119" y="3038252"/>
            <a:ext cx="123974" cy="123974"/>
          </a:xfrm>
          <a:prstGeom prst="roundRect">
            <a:avLst>
              <a:gd name="adj" fmla="val 15009"/>
            </a:avLst>
          </a:prstGeom>
          <a:solidFill>
            <a:srgbClr val="3257B8"/>
          </a:solidFill>
          <a:ln w="14288">
            <a:solidFill>
              <a:srgbClr val="3257B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898" y="3069208"/>
            <a:ext cx="74414" cy="6198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119" y="3242965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93040" indent="-193040">
              <a:lnSpc>
                <a:spcPct val="133000"/>
              </a:lnSpc>
              <a:buSzPct val="100000"/>
              <a:buChar char="​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흐름도를 종이에 그렸다 (스케치)</a:t>
            </a:r>
            <a:endParaRPr lang="ko-KR" sz="950" dirty="0"/>
          </a:p>
        </p:txBody>
      </p:sp>
      <p:sp>
        <p:nvSpPr>
          <p:cNvPr id="20" name="Shape 13"/>
          <p:cNvSpPr/>
          <p:nvPr/>
        </p:nvSpPr>
        <p:spPr>
          <a:xfrm>
            <a:off x="496119" y="3280097"/>
            <a:ext cx="123974" cy="123974"/>
          </a:xfrm>
          <a:prstGeom prst="roundRect">
            <a:avLst>
              <a:gd name="adj" fmla="val 15009"/>
            </a:avLst>
          </a:prstGeom>
          <a:solidFill>
            <a:srgbClr val="3257B8"/>
          </a:solidFill>
          <a:ln w="14288">
            <a:solidFill>
              <a:srgbClr val="3257B8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98" y="3311054"/>
            <a:ext cx="74414" cy="6198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28046" y="1711151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다음 시간 (2일차)에 할 것</a:t>
            </a:r>
            <a:endParaRPr lang="ko-KR" sz="1200" dirty="0"/>
          </a:p>
        </p:txBody>
      </p:sp>
      <p:sp>
        <p:nvSpPr>
          <p:cNvPr id="23" name="Text 15"/>
          <p:cNvSpPr/>
          <p:nvPr/>
        </p:nvSpPr>
        <p:spPr>
          <a:xfrm>
            <a:off x="4728046" y="2033736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흐름도를 바탕으로 → </a:t>
            </a:r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첫 번째 화면을 바이브 코딩으로 만든다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AI에게 "이거 만들어줘"라고 말한다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결과를 보고 "이거 바꿔줘"라고 다시 말한다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ko-KR" alt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핵심 기능 하나가 작동하는 걸 확인한다</a:t>
            </a:r>
            <a:endParaRPr lang="ko-KR" sz="950" dirty="0"/>
          </a:p>
        </p:txBody>
      </p:sp>
      <p:sp>
        <p:nvSpPr>
          <p:cNvPr id="24" name="Text 16"/>
          <p:cNvSpPr/>
          <p:nvPr/>
        </p:nvSpPr>
        <p:spPr>
          <a:xfrm>
            <a:off x="4728046" y="3081710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🎒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준비물</a:t>
            </a:r>
            <a:endParaRPr lang="ko-KR" sz="1200" dirty="0"/>
          </a:p>
        </p:txBody>
      </p:sp>
      <p:sp>
        <p:nvSpPr>
          <p:cNvPr id="25" name="Text 17"/>
          <p:cNvSpPr/>
          <p:nvPr/>
        </p:nvSpPr>
        <p:spPr>
          <a:xfrm>
            <a:off x="4728046" y="3404295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노트북 (또는 학교 컴퓨터)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오늘 작성한 한 줄 기획서 + 화면 흐름도</a:t>
            </a:r>
            <a:endParaRPr lang="ko-KR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도구 접속 (Claude / ChatGPT)</a:t>
            </a:r>
            <a:endParaRPr lang="ko-KR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7290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2교시 핵심 요약</a:t>
            </a:r>
            <a:endParaRPr lang="ko-KR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942082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540432" y="964220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74737" y="982712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코딩 몰라도 된다</a:t>
            </a:r>
            <a:endParaRPr lang="ko-KR" sz="1150" dirty="0"/>
          </a:p>
        </p:txBody>
      </p:sp>
      <p:sp>
        <p:nvSpPr>
          <p:cNvPr id="6" name="Text 4"/>
          <p:cNvSpPr/>
          <p:nvPr/>
        </p:nvSpPr>
        <p:spPr>
          <a:xfrm>
            <a:off x="874737" y="1234976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AI한테 한국어로 말하면 된다 (바이브 코딩)</a:t>
            </a:r>
            <a:endParaRPr lang="ko-KR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644997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540432" y="1667135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4737" y="1685627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중요한 건 "뭘 만들지" 정하는 것</a:t>
            </a:r>
            <a:endParaRPr lang="ko-KR" sz="1150" dirty="0"/>
          </a:p>
        </p:txBody>
      </p:sp>
      <p:sp>
        <p:nvSpPr>
          <p:cNvPr id="10" name="Text 8"/>
          <p:cNvSpPr/>
          <p:nvPr/>
        </p:nvSpPr>
        <p:spPr>
          <a:xfrm>
            <a:off x="874737" y="1937891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코드는 AI가 짠다. 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기획은 사람이 한다.</a:t>
            </a:r>
            <a:endParaRPr lang="ko-KR" sz="900" dirty="0"/>
          </a:p>
        </p:txBody>
      </p:sp>
      <p:sp>
        <p:nvSpPr>
          <p:cNvPr id="11" name="Shape 9"/>
          <p:cNvSpPr/>
          <p:nvPr/>
        </p:nvSpPr>
        <p:spPr>
          <a:xfrm>
            <a:off x="496119" y="2347912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540432" y="2370051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4737" y="2388543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한 줄 기획서가 프로젝트의 방향타</a:t>
            </a:r>
            <a:endParaRPr lang="ko-KR" sz="1150" dirty="0"/>
          </a:p>
        </p:txBody>
      </p:sp>
      <p:sp>
        <p:nvSpPr>
          <p:cNvPr id="14" name="Text 12"/>
          <p:cNvSpPr/>
          <p:nvPr/>
        </p:nvSpPr>
        <p:spPr>
          <a:xfrm>
            <a:off x="874737" y="2640806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[누가] [무엇을] [왜]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이 세 가지가 명확하면 길을 잃지 않는다</a:t>
            </a:r>
            <a:endParaRPr lang="ko-KR" sz="900" dirty="0"/>
          </a:p>
        </p:txBody>
      </p:sp>
      <p:sp>
        <p:nvSpPr>
          <p:cNvPr id="15" name="Shape 13"/>
          <p:cNvSpPr/>
          <p:nvPr/>
        </p:nvSpPr>
        <p:spPr>
          <a:xfrm>
            <a:off x="496119" y="3050828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540432" y="3072966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4737" y="3091458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종이 스케치가 있어야 AI한테 정확히 요청할 수 있다</a:t>
            </a:r>
            <a:endParaRPr lang="ko-KR" sz="1150" dirty="0"/>
          </a:p>
        </p:txBody>
      </p:sp>
      <p:sp>
        <p:nvSpPr>
          <p:cNvPr id="18" name="Text 16"/>
          <p:cNvSpPr/>
          <p:nvPr/>
        </p:nvSpPr>
        <p:spPr>
          <a:xfrm>
            <a:off x="874737" y="3343721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머릿속으로만 생각하면 AI도 뭘 만들지 모른다</a:t>
            </a:r>
            <a:endParaRPr lang="ko-KR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3753743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540432" y="3775881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4737" y="3794373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다음 시간부터 진짜 만든다</a:t>
            </a:r>
            <a:endParaRPr lang="ko-KR" sz="1150" dirty="0"/>
          </a:p>
        </p:txBody>
      </p:sp>
      <p:sp>
        <p:nvSpPr>
          <p:cNvPr id="22" name="Text 20"/>
          <p:cNvSpPr/>
          <p:nvPr/>
        </p:nvSpPr>
        <p:spPr>
          <a:xfrm>
            <a:off x="874737" y="4046637"/>
            <a:ext cx="777314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오늘 정한 프로젝트를, 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9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바이브 코딩으로, 3일 수업 안에 완성한다</a:t>
            </a:r>
            <a:endParaRPr lang="ko-KR" sz="900" dirty="0"/>
          </a:p>
        </p:txBody>
      </p:sp>
      <p:sp>
        <p:nvSpPr>
          <p:cNvPr id="23" name="Shape 21"/>
          <p:cNvSpPr/>
          <p:nvPr/>
        </p:nvSpPr>
        <p:spPr>
          <a:xfrm>
            <a:off x="496119" y="4358060"/>
            <a:ext cx="14288" cy="438150"/>
          </a:xfrm>
          <a:prstGeom prst="roundRect">
            <a:avLst>
              <a:gd name="adj" fmla="val 59998"/>
            </a:avLst>
          </a:prstGeom>
          <a:solidFill>
            <a:srgbClr val="3257B8"/>
          </a:solidFill>
          <a:ln/>
        </p:spPr>
      </p:sp>
      <p:sp>
        <p:nvSpPr>
          <p:cNvPr id="24" name="Text 22"/>
          <p:cNvSpPr/>
          <p:nvPr/>
        </p:nvSpPr>
        <p:spPr>
          <a:xfrm>
            <a:off x="673447" y="4484787"/>
            <a:ext cx="843163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"코딩을 몰라도 된다. 대신 '뭘 만들지' 정확히 정하는 것이 진짜 실력이다."</a:t>
            </a:r>
            <a:endParaRPr lang="ko-K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2026-07-21T11:09:22Z</dcterms:created>
  <dcterms:modified xsi:type="dcterms:W3CDTF">2026-07-21T11:09:22Z</dcterms:modified>
</cp:coreProperties>
</file>