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embeddedFontLst>
    <p:embeddedFont>
      <p:font typeface="Roboto Light"/>
      <p:regular r:id="rId201314"/>
    </p:embeddedFont>
    <p:embeddedFont>
      <p:font typeface="Roboto"/>
      <p:regular r:id="rId201315"/>
    </p:embeddedFont>
    <p:embeddedFont>
      <p:font typeface="Roboto Thin"/>
      <p:regular r:id="rId201316"/>
    </p:embeddedFont>
    <p:embeddedFont>
      <p:font typeface="Roboto ExtraLight"/>
      <p:regular r:id="rId201317"/>
    </p:embeddedFont>
    <p:embeddedFont>
      <p:font typeface="Roboto Medium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ExtraBold"/>
      <p:regular r:id="rId201321"/>
    </p:embeddedFont>
    <p:embeddedFont>
      <p:font typeface="Roboto Black"/>
      <p:regular r:id="rId201322"/>
    </p:embeddedFont>
    <p:embeddedFont>
      <p:font typeface="Roboto Slab Thin"/>
      <p:regular r:id="rId201323"/>
    </p:embeddedFont>
    <p:embeddedFont>
      <p:font typeface="Roboto Slab ExtraLight"/>
      <p:regular r:id="rId201324"/>
    </p:embeddedFont>
    <p:embeddedFont>
      <p:font typeface="Roboto Slab Light"/>
      <p:regular r:id="rId201325"/>
    </p:embeddedFont>
    <p:embeddedFont>
      <p:font typeface="Roboto Slab"/>
      <p:regular r:id="rId201326"/>
    </p:embeddedFont>
    <p:embeddedFont>
      <p:font typeface="Roboto Slab Medium"/>
      <p:regular r:id="rId201327"/>
    </p:embeddedFont>
    <p:embeddedFont>
      <p:font typeface="Roboto Slab SemiBold"/>
      <p:regular r:id="rId201328"/>
    </p:embeddedFont>
    <p:embeddedFont>
      <p:font typeface="Roboto Slab Bold"/>
      <p:regular r:id="rId201329"/>
    </p:embeddedFont>
    <p:embeddedFont>
      <p:font typeface="Roboto Slab ExtraBold"/>
      <p:regular r:id="rId201330"/>
    </p:embeddedFont>
    <p:embeddedFont>
      <p:font typeface="Roboto Slab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7.png"/><Relationship Id="rId10" Type="http://schemas.openxmlformats.org/officeDocument/2006/relationships/image" Target="../media/image-6-8.svg"/><Relationship Id="rId11" Type="http://schemas.openxmlformats.org/officeDocument/2006/relationships/image" Target="../media/image-6-7.png"/><Relationship Id="rId12" Type="http://schemas.openxmlformats.org/officeDocument/2006/relationships/image" Target="../media/image-6-8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image" Target="../media/image-14-2.png"/><Relationship Id="rId5" Type="http://schemas.openxmlformats.org/officeDocument/2006/relationships/image" Target="../media/image-14-3.svg"/><Relationship Id="rId6" Type="http://schemas.openxmlformats.org/officeDocument/2006/relationships/image" Target="../media/image-14-2.png"/><Relationship Id="rId7" Type="http://schemas.openxmlformats.org/officeDocument/2006/relationships/image" Target="../media/image-14-3.sv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53381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10가지 프로젝트 중 하나를 고르자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2418159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1일차 2교시 — 팀이 직접 토론해서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3257B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"우리가 만들 프로젝트"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를 결정한다</a:t>
            </a:r>
            <a:endParaRPr lang="ko-KR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2868811"/>
            <a:ext cx="3065783" cy="1217513"/>
          </a:xfrm>
          <a:prstGeom prst="roundRect">
            <a:avLst>
              <a:gd name="adj" fmla="val 2038"/>
            </a:avLst>
          </a:prstGeom>
          <a:solidFill>
            <a:srgbClr val="E9ECF2"/>
          </a:solidFill>
          <a:ln/>
        </p:spPr>
      </p:sp>
      <p:sp>
        <p:nvSpPr>
          <p:cNvPr id="6" name="Text 3"/>
          <p:cNvSpPr/>
          <p:nvPr/>
        </p:nvSpPr>
        <p:spPr>
          <a:xfrm>
            <a:off x="826769" y="3034109"/>
            <a:ext cx="27351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대상</a:t>
            </a:r>
            <a:endParaRPr lang="ko-KR" sz="1600" dirty="0"/>
          </a:p>
        </p:txBody>
      </p:sp>
      <p:sp>
        <p:nvSpPr>
          <p:cNvPr id="7" name="Text 4"/>
          <p:cNvSpPr/>
          <p:nvPr/>
        </p:nvSpPr>
        <p:spPr>
          <a:xfrm>
            <a:off x="826769" y="3391793"/>
            <a:ext cx="273519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중학교 2학년</a:t>
            </a:r>
            <a:endParaRPr lang="ko-KR" sz="1300" dirty="0"/>
          </a:p>
        </p:txBody>
      </p:sp>
      <p:sp>
        <p:nvSpPr>
          <p:cNvPr id="8" name="Shape 5"/>
          <p:cNvSpPr/>
          <p:nvPr/>
        </p:nvSpPr>
        <p:spPr>
          <a:xfrm>
            <a:off x="3892552" y="2868811"/>
            <a:ext cx="3065783" cy="1217513"/>
          </a:xfrm>
          <a:prstGeom prst="roundRect">
            <a:avLst>
              <a:gd name="adj" fmla="val 2038"/>
            </a:avLst>
          </a:prstGeom>
          <a:solidFill>
            <a:srgbClr val="E9ECF2"/>
          </a:solidFill>
          <a:ln/>
        </p:spPr>
      </p:sp>
      <p:sp>
        <p:nvSpPr>
          <p:cNvPr id="9" name="Text 6"/>
          <p:cNvSpPr/>
          <p:nvPr/>
        </p:nvSpPr>
        <p:spPr>
          <a:xfrm>
            <a:off x="4057846" y="3034109"/>
            <a:ext cx="27351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산출물</a:t>
            </a:r>
            <a:endParaRPr lang="ko-KR" sz="1600" dirty="0"/>
          </a:p>
        </p:txBody>
      </p:sp>
      <p:sp>
        <p:nvSpPr>
          <p:cNvPr id="10" name="Text 7"/>
          <p:cNvSpPr/>
          <p:nvPr/>
        </p:nvSpPr>
        <p:spPr>
          <a:xfrm>
            <a:off x="4057846" y="3391793"/>
            <a:ext cx="273519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팀별 한 줄 기획서 + 역할 분담표 + 화면 흐름도</a:t>
            </a:r>
            <a:endParaRPr lang="ko-KR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4251623"/>
            <a:ext cx="6296860" cy="952897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</p:sp>
      <p:sp>
        <p:nvSpPr>
          <p:cNvPr id="12" name="Text 9"/>
          <p:cNvSpPr/>
          <p:nvPr/>
        </p:nvSpPr>
        <p:spPr>
          <a:xfrm>
            <a:off x="826769" y="4416921"/>
            <a:ext cx="59662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핵심</a:t>
            </a:r>
            <a:endParaRPr lang="ko-KR" sz="1600" dirty="0"/>
          </a:p>
        </p:txBody>
      </p:sp>
      <p:sp>
        <p:nvSpPr>
          <p:cNvPr id="13" name="Text 10"/>
          <p:cNvSpPr/>
          <p:nvPr/>
        </p:nvSpPr>
        <p:spPr>
          <a:xfrm>
            <a:off x="826769" y="4774605"/>
            <a:ext cx="59662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선생님이 정해주는 게 아니라, 팀원이 직접 토론해서 고른다 (학생 주도성)</a:t>
            </a:r>
            <a:endParaRPr lang="ko-KR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6573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이 시간의 흐름</a:t>
            </a:r>
            <a:endParaRPr lang="ko-KR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913162"/>
            <a:ext cx="3622882" cy="6614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6769" y="3739952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1교시에서 배운 것</a:t>
            </a:r>
            <a:endParaRPr lang="ko-KR" sz="1600" dirty="0"/>
          </a:p>
        </p:txBody>
      </p:sp>
      <p:sp>
        <p:nvSpPr>
          <p:cNvPr id="5" name="Text 2"/>
          <p:cNvSpPr/>
          <p:nvPr/>
        </p:nvSpPr>
        <p:spPr>
          <a:xfrm>
            <a:off x="826769" y="4097635"/>
            <a:ext cx="329229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세상이 바뀌고 있다 / AI 시대 공부법 / 기획 &gt; 코딩</a:t>
            </a:r>
            <a:endParaRPr lang="ko-KR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2913162"/>
            <a:ext cx="3622882" cy="6614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49651" y="3739952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2교시 — 지금</a:t>
            </a:r>
            <a:endParaRPr lang="ko-KR" sz="1600" dirty="0"/>
          </a:p>
        </p:txBody>
      </p:sp>
      <p:sp>
        <p:nvSpPr>
          <p:cNvPr id="8" name="Text 4"/>
          <p:cNvSpPr/>
          <p:nvPr/>
        </p:nvSpPr>
        <p:spPr>
          <a:xfrm>
            <a:off x="4449651" y="4097635"/>
            <a:ext cx="329229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"그래서 우리가 직접 만들어볼 거야" — 10가지 아이디어 소개 → 팀 토론 → 프로젝트 확정</a:t>
            </a:r>
            <a:endParaRPr lang="ko-KR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2913162"/>
            <a:ext cx="3622882" cy="6614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72533" y="3739952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2~4일차</a:t>
            </a:r>
            <a:endParaRPr lang="ko-KR" sz="1600" dirty="0"/>
          </a:p>
        </p:txBody>
      </p:sp>
      <p:sp>
        <p:nvSpPr>
          <p:cNvPr id="11" name="Text 6"/>
          <p:cNvSpPr/>
          <p:nvPr/>
        </p:nvSpPr>
        <p:spPr>
          <a:xfrm>
            <a:off x="8072533" y="4097635"/>
            <a:ext cx="329229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선택한 프로젝트를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바이브 코딩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으로 실제로 만든다</a:t>
            </a:r>
            <a:endParaRPr lang="ko-KR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2913658"/>
            <a:ext cx="619110" cy="251420"/>
          </a:xfrm>
          <a:prstGeom prst="roundRect">
            <a:avLst>
              <a:gd name="adj" fmla="val 7894"/>
            </a:avLst>
          </a:prstGeom>
          <a:solidFill>
            <a:srgbClr val="D7DFF4"/>
          </a:solidFill>
          <a:ln/>
        </p:spPr>
      </p:sp>
      <p:sp>
        <p:nvSpPr>
          <p:cNvPr id="4" name="Text 1"/>
          <p:cNvSpPr/>
          <p:nvPr/>
        </p:nvSpPr>
        <p:spPr>
          <a:xfrm>
            <a:off x="5332577" y="2963267"/>
            <a:ext cx="103026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233360" y="3231158"/>
            <a:ext cx="6296860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바이브 코딩 라이브 데모</a:t>
            </a:r>
            <a:endParaRPr lang="ko-KR" sz="4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8043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"말만 했는데 앱이 나왔어?"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2785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2교시 시작하자마자, 선생님이 직접 보여준다.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678509"/>
            <a:ext cx="19050" cy="636687"/>
          </a:xfrm>
          <a:prstGeom prst="roundRect">
            <a:avLst>
              <a:gd name="adj" fmla="val 59999"/>
            </a:avLst>
          </a:prstGeom>
          <a:solidFill>
            <a:srgbClr val="3257B8"/>
          </a:solidFill>
          <a:ln/>
        </p:spPr>
      </p:sp>
      <p:sp>
        <p:nvSpPr>
          <p:cNvPr id="5" name="Text 3"/>
          <p:cNvSpPr/>
          <p:nvPr/>
        </p:nvSpPr>
        <p:spPr>
          <a:xfrm>
            <a:off x="909516" y="2864545"/>
            <a:ext cx="112302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선생님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"급식 별점 앱 만들어줘. 오늘 메뉴가 위에 보이고, 별점을 1~5점으로 매기는 슬라이더가 있고, 제출 버튼이 있어. Python Streamlit으로 만들어줘."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3501231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3763169"/>
            <a:ext cx="3512653" cy="1905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3883918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AI가 코드를 만든다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661475" y="4241602"/>
            <a:ext cx="351265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30초</a:t>
            </a:r>
            <a:endParaRPr lang="ko-KR" sz="1300" dirty="0"/>
          </a:p>
        </p:txBody>
      </p:sp>
      <p:sp>
        <p:nvSpPr>
          <p:cNvPr id="10" name="Text 8"/>
          <p:cNvSpPr/>
          <p:nvPr/>
        </p:nvSpPr>
        <p:spPr>
          <a:xfrm>
            <a:off x="4339422" y="3501231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9422" y="3763169"/>
            <a:ext cx="3512752" cy="1905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12" name="Text 10"/>
          <p:cNvSpPr/>
          <p:nvPr/>
        </p:nvSpPr>
        <p:spPr>
          <a:xfrm>
            <a:off x="4339422" y="3883918"/>
            <a:ext cx="351275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터미널에서 실행한다</a:t>
            </a:r>
            <a:endParaRPr lang="ko-KR" sz="1600" dirty="0"/>
          </a:p>
        </p:txBody>
      </p:sp>
      <p:sp>
        <p:nvSpPr>
          <p:cNvPr id="13" name="Text 11"/>
          <p:cNvSpPr/>
          <p:nvPr/>
        </p:nvSpPr>
        <p:spPr>
          <a:xfrm>
            <a:off x="4339422" y="4241602"/>
            <a:ext cx="351275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10초</a:t>
            </a:r>
            <a:endParaRPr lang="ko-KR" sz="1300" dirty="0"/>
          </a:p>
        </p:txBody>
      </p:sp>
      <p:sp>
        <p:nvSpPr>
          <p:cNvPr id="14" name="Text 12"/>
          <p:cNvSpPr/>
          <p:nvPr/>
        </p:nvSpPr>
        <p:spPr>
          <a:xfrm>
            <a:off x="8017468" y="3501231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17468" y="3763169"/>
            <a:ext cx="3512653" cy="1905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16" name="Text 14"/>
          <p:cNvSpPr/>
          <p:nvPr/>
        </p:nvSpPr>
        <p:spPr>
          <a:xfrm>
            <a:off x="8017468" y="3883918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브라우저에 앱이 뜬다</a:t>
            </a:r>
            <a:endParaRPr lang="ko-KR" sz="1600" dirty="0"/>
          </a:p>
        </p:txBody>
      </p:sp>
      <p:sp>
        <p:nvSpPr>
          <p:cNvPr id="17" name="Text 15"/>
          <p:cNvSpPr/>
          <p:nvPr/>
        </p:nvSpPr>
        <p:spPr>
          <a:xfrm>
            <a:off x="8017468" y="4241602"/>
            <a:ext cx="351265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"와, 말만 했는데 앱이 나왔어?"</a:t>
            </a:r>
            <a:endParaRPr lang="ko-KR" sz="1300" dirty="0"/>
          </a:p>
        </p:txBody>
      </p:sp>
      <p:sp>
        <p:nvSpPr>
          <p:cNvPr id="18" name="Shape 16"/>
          <p:cNvSpPr/>
          <p:nvPr/>
        </p:nvSpPr>
        <p:spPr>
          <a:xfrm>
            <a:off x="661475" y="4799707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D7DFF4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5039420"/>
            <a:ext cx="206667" cy="16529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98731" y="5022850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"나도 할 수 있겠는데?"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이 자신감이 나머지 3일의 연료다.</a:t>
            </a:r>
            <a:endParaRPr lang="ko-KR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1518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바이브 코딩이란 — 30초 복습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462609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AI에게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"원하는 것"을 말로 설명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하면 AI가 코드를 만들어주는 것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2913261"/>
            <a:ext cx="5470785" cy="1878905"/>
          </a:xfrm>
          <a:prstGeom prst="roundRect">
            <a:avLst>
              <a:gd name="adj" fmla="val 1320"/>
            </a:avLst>
          </a:prstGeom>
          <a:solidFill>
            <a:srgbClr val="3257B8"/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3078559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사람이 하는 것</a:t>
            </a:r>
            <a:endParaRPr lang="ko-KR" sz="1600" dirty="0"/>
          </a:p>
        </p:txBody>
      </p:sp>
      <p:sp>
        <p:nvSpPr>
          <p:cNvPr id="6" name="Text 4"/>
          <p:cNvSpPr/>
          <p:nvPr/>
        </p:nvSpPr>
        <p:spPr>
          <a:xfrm>
            <a:off x="707710" y="3502323"/>
            <a:ext cx="514019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"뭘 만들지?" 정하기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"누가 쓸 건데?" 생각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"이거 괜찮아?" 판단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전체 구조 설계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307855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AI가 하는 것</a:t>
            </a:r>
            <a:endParaRPr lang="ko-KR" sz="1600" dirty="0"/>
          </a:p>
        </p:txBody>
      </p:sp>
      <p:sp>
        <p:nvSpPr>
          <p:cNvPr id="8" name="Text 6"/>
          <p:cNvSpPr/>
          <p:nvPr/>
        </p:nvSpPr>
        <p:spPr>
          <a:xfrm>
            <a:off x="6303904" y="3502323"/>
            <a:ext cx="523266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코드 작성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에러 수정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반복 작업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세부 구현</a:t>
            </a:r>
            <a:endParaRPr lang="ko-KR" sz="1300" dirty="0"/>
          </a:p>
        </p:txBody>
      </p:sp>
      <p:sp>
        <p:nvSpPr>
          <p:cNvPr id="9" name="Text 7"/>
          <p:cNvSpPr/>
          <p:nvPr/>
        </p:nvSpPr>
        <p:spPr>
          <a:xfrm>
            <a:off x="661475" y="4978202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코딩 문법을 외울 필요 없다.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한국어로 말하면 된다.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대신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"뭘 만들지 정확히 정하는 것"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 중요하다. 그래서 지금부터 할 것이 →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프로젝트를 고르는 것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이다.</a:t>
            </a:r>
            <a:endParaRPr lang="ko-KR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1979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우리가 쓸 도구 — Python + Streamlit</a:t>
            </a:r>
            <a:endParaRPr lang="ko-KR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867223"/>
            <a:ext cx="413434" cy="413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1577" y="2867223"/>
            <a:ext cx="28649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Python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81577" y="3224907"/>
            <a:ext cx="286496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프로그래밍 언어. 요리 재료에 해당한다.</a:t>
            </a:r>
            <a:endParaRPr lang="ko-KR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3213" y="2867223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73315" y="2867223"/>
            <a:ext cx="286506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973315" y="3224907"/>
            <a:ext cx="286506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Python으로 웹앱을 쉽게 만드는 도구. 레고 블록처럼 조립만 하면 앱이 된다.</a:t>
            </a:r>
            <a:endParaRPr lang="ko-KR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5050" y="2867223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65152" y="2867223"/>
            <a:ext cx="286506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(Claude / ChatGPT)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665152" y="3224907"/>
            <a:ext cx="286506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코드를 대신 짜주는 도우미. 메뉴만 정하면 만들어주는 전문 요리사.</a:t>
            </a:r>
            <a:endParaRPr lang="ko-KR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940175"/>
            <a:ext cx="3512653" cy="89793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2017" y="4124523"/>
            <a:ext cx="306776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Python만 → 까만 화면에 글자만 나옴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(재미없음)</a:t>
            </a:r>
            <a:endParaRPr lang="ko-KR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9422" y="3940175"/>
            <a:ext cx="3512752" cy="89793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599964" y="4124523"/>
            <a:ext cx="30678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+ Streamlit → 버튼, 슬라이더, 차트가 있는 웹앱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(재미있음)</a:t>
            </a:r>
            <a:endParaRPr lang="ko-KR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17468" y="3940175"/>
            <a:ext cx="3512653" cy="89793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278010" y="4124523"/>
            <a:ext cx="306776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+ Streamlit + AI → 말만 하면 웹앱이 나옴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(마법)</a:t>
            </a:r>
            <a:endParaRPr lang="ko-KR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9923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프론트엔드만으로 할 수 있는 것 vs 서버가 필요한 것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2564011"/>
            <a:ext cx="5470785" cy="1647428"/>
          </a:xfrm>
          <a:prstGeom prst="roundRect">
            <a:avLst>
              <a:gd name="adj" fmla="val 1506"/>
            </a:avLst>
          </a:prstGeom>
          <a:solidFill>
            <a:srgbClr val="3257B8"/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2729309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서버 없이 가능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3153073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"나만 쓰고, 내 컴퓨터에만 저장하면 되면"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707710" y="3566517"/>
            <a:ext cx="5140196" cy="58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나만 공부 기록 볼래 → 내 브라우저에 저장하면 끝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혼자 하는 방탈출 게임 → 내 화면에서만 돌아가면 됨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272930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서버 필요</a:t>
            </a:r>
            <a:endParaRPr lang="ko-KR" sz="1600" dirty="0"/>
          </a:p>
        </p:txBody>
      </p:sp>
      <p:sp>
        <p:nvSpPr>
          <p:cNvPr id="8" name="Text 6"/>
          <p:cNvSpPr/>
          <p:nvPr/>
        </p:nvSpPr>
        <p:spPr>
          <a:xfrm>
            <a:off x="6303904" y="3153073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"여러 사람이 동시에 쓰고, 데이터를 모아야 하면"</a:t>
            </a:r>
            <a:endParaRPr lang="ko-KR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3566517"/>
            <a:ext cx="5232666" cy="58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친구랑 공부 시간 비교 → 친구 데이터를 모아야 하니까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전교생 급식 별점 수집 → 여러 명의 별점을 합쳐야 하니까</a:t>
            </a:r>
            <a:endParaRPr lang="ko-KR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4397474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D7DFF4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4637187"/>
            <a:ext cx="206667" cy="16529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98731" y="4604048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이 수업에서는 서버 없이 만들 수 있는 프로젝트를 한다.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핵심 기능을 먼저 만들고 → 나중에 서버를 붙이면 진짜 서비스가 된다.</a:t>
            </a:r>
            <a:endParaRPr lang="ko-KR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2557066"/>
            <a:ext cx="619110" cy="251420"/>
          </a:xfrm>
          <a:prstGeom prst="roundRect">
            <a:avLst>
              <a:gd name="adj" fmla="val 7894"/>
            </a:avLst>
          </a:prstGeom>
          <a:solidFill>
            <a:srgbClr val="D7DFF4"/>
          </a:solidFill>
          <a:ln/>
        </p:spPr>
      </p:sp>
      <p:sp>
        <p:nvSpPr>
          <p:cNvPr id="4" name="Text 1"/>
          <p:cNvSpPr/>
          <p:nvPr/>
        </p:nvSpPr>
        <p:spPr>
          <a:xfrm>
            <a:off x="5332577" y="2606675"/>
            <a:ext cx="103026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233360" y="2874566"/>
            <a:ext cx="6296860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10가지 프로젝트 아이디어 소개</a:t>
            </a:r>
            <a:endParaRPr lang="ko-KR" sz="4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2912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소개 전 안내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76549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지금부터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10가지 아이디어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를 보여줄 거야. 전부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Python + Streamlit + 바이브 코딩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으로 만들 수 있어. 코딩 몰라도 돼.</a:t>
            </a:r>
            <a:endParaRPr lang="ko-KR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527201"/>
            <a:ext cx="5351725" cy="14681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38121" y="265122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45819" y="3188692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하나를 골라도 되고</a:t>
            </a:r>
            <a:endParaRPr lang="ko-KR" sz="1600" dirty="0"/>
          </a:p>
        </p:txBody>
      </p:sp>
      <p:sp>
        <p:nvSpPr>
          <p:cNvPr id="7" name="Text 4"/>
          <p:cNvSpPr/>
          <p:nvPr/>
        </p:nvSpPr>
        <p:spPr>
          <a:xfrm>
            <a:off x="845819" y="3546376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10개 중 팀이 원하는 아이디어를 선택</a:t>
            </a:r>
            <a:endParaRPr lang="ko-KR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2527201"/>
            <a:ext cx="5351725" cy="14681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55141" y="265122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362838" y="3188692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직접 만들어도 돼</a:t>
            </a:r>
            <a:endParaRPr lang="ko-KR" sz="1600" dirty="0"/>
          </a:p>
        </p:txBody>
      </p:sp>
      <p:sp>
        <p:nvSpPr>
          <p:cNvPr id="11" name="Text 7"/>
          <p:cNvSpPr/>
          <p:nvPr/>
        </p:nvSpPr>
        <p:spPr>
          <a:xfrm>
            <a:off x="6362838" y="3546376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10개에 없는 새로운 아이디어도 OK</a:t>
            </a:r>
            <a:endParaRPr lang="ko-KR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60639"/>
            <a:ext cx="5351725" cy="14681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38121" y="4284663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845819" y="4822130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2개를 합쳐도 돼</a:t>
            </a:r>
            <a:endParaRPr lang="ko-KR" sz="1600" dirty="0"/>
          </a:p>
        </p:txBody>
      </p:sp>
      <p:sp>
        <p:nvSpPr>
          <p:cNvPr id="15" name="Text 10"/>
          <p:cNvSpPr/>
          <p:nvPr/>
        </p:nvSpPr>
        <p:spPr>
          <a:xfrm>
            <a:off x="845819" y="5179814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두 아이디어를 결합해서 새로운 것을 만들어도 됨</a:t>
            </a:r>
            <a:endParaRPr lang="ko-KR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8495" y="4160639"/>
            <a:ext cx="5351725" cy="14681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55141" y="4284663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6362838" y="4822130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이유가 있어야 해</a:t>
            </a:r>
            <a:endParaRPr lang="ko-KR" sz="1600" dirty="0"/>
          </a:p>
        </p:txBody>
      </p:sp>
      <p:sp>
        <p:nvSpPr>
          <p:cNvPr id="19" name="Text 13"/>
          <p:cNvSpPr/>
          <p:nvPr/>
        </p:nvSpPr>
        <p:spPr>
          <a:xfrm>
            <a:off x="6362838" y="5179814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"우리 팀이 왜 이걸 만드는가"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이유가 핵심</a:t>
            </a:r>
            <a:endParaRPr lang="ko-KR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517823"/>
            <a:ext cx="753349" cy="222647"/>
          </a:xfrm>
          <a:prstGeom prst="roundRect">
            <a:avLst>
              <a:gd name="adj" fmla="val 7897"/>
            </a:avLst>
          </a:prstGeom>
          <a:solidFill>
            <a:srgbClr val="D7DFF4"/>
          </a:solidFill>
          <a:ln/>
        </p:spPr>
      </p:sp>
      <p:sp>
        <p:nvSpPr>
          <p:cNvPr id="4" name="Text 1"/>
          <p:cNvSpPr/>
          <p:nvPr/>
        </p:nvSpPr>
        <p:spPr>
          <a:xfrm>
            <a:off x="5321266" y="561777"/>
            <a:ext cx="1187123" cy="134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아이디어 ①</a:t>
            </a:r>
            <a:endParaRPr lang="ko-KR" sz="900" dirty="0"/>
          </a:p>
        </p:txBody>
      </p:sp>
      <p:sp>
        <p:nvSpPr>
          <p:cNvPr id="5" name="Text 2"/>
          <p:cNvSpPr/>
          <p:nvPr/>
        </p:nvSpPr>
        <p:spPr>
          <a:xfrm>
            <a:off x="5233360" y="792361"/>
            <a:ext cx="6296860" cy="457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감정 방탈출 게임</a:t>
            </a:r>
            <a:endParaRPr lang="ko-KR" sz="2850" dirty="0"/>
          </a:p>
        </p:txBody>
      </p:sp>
      <p:sp>
        <p:nvSpPr>
          <p:cNvPr id="6" name="Text 3"/>
          <p:cNvSpPr/>
          <p:nvPr/>
        </p:nvSpPr>
        <p:spPr>
          <a:xfrm>
            <a:off x="5233360" y="1444923"/>
            <a:ext cx="6906444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ko-KR" altLang="en-US" sz="11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한 줄 설명</a:t>
            </a:r>
            <a:pPr algn="l" indent="0" marL="0">
              <a:lnSpc>
                <a:spcPct val="126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감정을 입력하면 스토리가 갈라지는 텍스트 방탈출 게임 | </a:t>
            </a:r>
            <a:pPr algn="l" indent="0" marL="0">
              <a:lnSpc>
                <a:spcPct val="126000"/>
              </a:lnSpc>
              <a:buNone/>
            </a:pPr>
            <a:r>
              <a:rPr lang="ko-KR" altLang="en-US" sz="11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서버 필요</a:t>
            </a:r>
            <a:pPr algn="l" indent="0" marL="0">
              <a:lnSpc>
                <a:spcPct val="126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아니오</a:t>
            </a:r>
            <a:endParaRPr lang="ko-KR" sz="1150" dirty="0"/>
          </a:p>
        </p:txBody>
      </p:sp>
      <p:sp>
        <p:nvSpPr>
          <p:cNvPr id="7" name="Shape 4"/>
          <p:cNvSpPr/>
          <p:nvPr/>
        </p:nvSpPr>
        <p:spPr>
          <a:xfrm>
            <a:off x="5233360" y="1811933"/>
            <a:ext cx="3083542" cy="820738"/>
          </a:xfrm>
          <a:prstGeom prst="roundRect">
            <a:avLst>
              <a:gd name="adj" fmla="val 2678"/>
            </a:avLst>
          </a:prstGeom>
          <a:solidFill>
            <a:srgbClr val="E9ECF2"/>
          </a:solidFill>
          <a:ln/>
        </p:spPr>
      </p:sp>
      <p:sp>
        <p:nvSpPr>
          <p:cNvPr id="8" name="Text 5"/>
          <p:cNvSpPr/>
          <p:nvPr/>
        </p:nvSpPr>
        <p:spPr>
          <a:xfrm>
            <a:off x="5379804" y="1958380"/>
            <a:ext cx="2790656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화면 수</a:t>
            </a:r>
            <a:endParaRPr lang="ko-KR" sz="1400" dirty="0"/>
          </a:p>
        </p:txBody>
      </p:sp>
      <p:sp>
        <p:nvSpPr>
          <p:cNvPr id="9" name="Text 6"/>
          <p:cNvSpPr/>
          <p:nvPr/>
        </p:nvSpPr>
        <p:spPr>
          <a:xfrm>
            <a:off x="5379804" y="2265164"/>
            <a:ext cx="2790656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35개 (인트로 → 방 23개 → 엔딩)</a:t>
            </a:r>
            <a:endParaRPr lang="ko-KR" sz="1150" dirty="0"/>
          </a:p>
        </p:txBody>
      </p:sp>
      <p:sp>
        <p:nvSpPr>
          <p:cNvPr id="10" name="Shape 7"/>
          <p:cNvSpPr/>
          <p:nvPr/>
        </p:nvSpPr>
        <p:spPr>
          <a:xfrm>
            <a:off x="8446678" y="1811933"/>
            <a:ext cx="3083542" cy="820738"/>
          </a:xfrm>
          <a:prstGeom prst="roundRect">
            <a:avLst>
              <a:gd name="adj" fmla="val 2678"/>
            </a:avLst>
          </a:prstGeom>
          <a:solidFill>
            <a:srgbClr val="E9ECF2"/>
          </a:solidFill>
          <a:ln/>
        </p:spPr>
      </p:sp>
      <p:sp>
        <p:nvSpPr>
          <p:cNvPr id="11" name="Text 8"/>
          <p:cNvSpPr/>
          <p:nvPr/>
        </p:nvSpPr>
        <p:spPr>
          <a:xfrm>
            <a:off x="8593121" y="1958380"/>
            <a:ext cx="2790656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핵심 로직</a:t>
            </a:r>
            <a:endParaRPr lang="ko-KR" sz="1400" dirty="0"/>
          </a:p>
        </p:txBody>
      </p:sp>
      <p:sp>
        <p:nvSpPr>
          <p:cNvPr id="12" name="Text 9"/>
          <p:cNvSpPr/>
          <p:nvPr/>
        </p:nvSpPr>
        <p:spPr>
          <a:xfrm>
            <a:off x="8593121" y="2265164"/>
            <a:ext cx="2790656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선택지를 고르면 다음 방으로 이동 (상태 머신)</a:t>
            </a:r>
            <a:endParaRPr lang="ko-KR" sz="1150" dirty="0"/>
          </a:p>
        </p:txBody>
      </p:sp>
      <p:sp>
        <p:nvSpPr>
          <p:cNvPr id="13" name="Shape 10"/>
          <p:cNvSpPr/>
          <p:nvPr/>
        </p:nvSpPr>
        <p:spPr>
          <a:xfrm>
            <a:off x="5233360" y="2762448"/>
            <a:ext cx="6296860" cy="820738"/>
          </a:xfrm>
          <a:prstGeom prst="roundRect">
            <a:avLst>
              <a:gd name="adj" fmla="val 2678"/>
            </a:avLst>
          </a:prstGeom>
          <a:solidFill>
            <a:srgbClr val="E9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5379804" y="2908895"/>
            <a:ext cx="600397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바이럴 포인트</a:t>
            </a:r>
            <a:endParaRPr lang="ko-KR" sz="1400" dirty="0"/>
          </a:p>
        </p:txBody>
      </p:sp>
      <p:sp>
        <p:nvSpPr>
          <p:cNvPr id="15" name="Text 12"/>
          <p:cNvSpPr/>
          <p:nvPr/>
        </p:nvSpPr>
        <p:spPr>
          <a:xfrm>
            <a:off x="5379804" y="3215680"/>
            <a:ext cx="6003973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"나는 용감한 탐험가래ㅋㅋ" 결과 캡처 공유</a:t>
            </a:r>
            <a:endParaRPr lang="ko-KR" sz="11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066" y="3729137"/>
            <a:ext cx="4399349" cy="261104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244062" y="5734532"/>
            <a:ext cx="1093556" cy="21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엔딩 결과</a:t>
            </a:r>
            <a:endParaRPr lang="ko-KR" sz="1300" dirty="0"/>
          </a:p>
        </p:txBody>
      </p:sp>
      <p:sp>
        <p:nvSpPr>
          <p:cNvPr id="18" name="Text 14"/>
          <p:cNvSpPr/>
          <p:nvPr/>
        </p:nvSpPr>
        <p:spPr>
          <a:xfrm>
            <a:off x="7865882" y="5734532"/>
            <a:ext cx="1093556" cy="21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방 선택</a:t>
            </a:r>
            <a:endParaRPr lang="ko-KR" sz="1300" dirty="0"/>
          </a:p>
        </p:txBody>
      </p:sp>
      <p:sp>
        <p:nvSpPr>
          <p:cNvPr id="19" name="Text 15"/>
          <p:cNvSpPr/>
          <p:nvPr/>
        </p:nvSpPr>
        <p:spPr>
          <a:xfrm>
            <a:off x="6465232" y="5734532"/>
            <a:ext cx="1093556" cy="21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감정 입력</a:t>
            </a:r>
            <a:endParaRPr lang="ko-KR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0173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아이디어 ② 우리 학교 설문 리서치 툴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84916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한 줄 설명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5분 만에 설문을 만들고, 결과를 실시간 차트로 보는 도구 |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누가 쓰나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반장, 동아리 회장, 학급 회의 |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서버 필요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MVP는 아니오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3299817"/>
            <a:ext cx="5470785" cy="1556445"/>
          </a:xfrm>
          <a:prstGeom prst="roundRect">
            <a:avLst>
              <a:gd name="adj" fmla="val 1594"/>
            </a:avLst>
          </a:prstGeom>
          <a:solidFill>
            <a:srgbClr val="3257B8"/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3465116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핵심 스펙</a:t>
            </a:r>
            <a:endParaRPr lang="ko-KR" sz="1600" dirty="0"/>
          </a:p>
        </p:txBody>
      </p:sp>
      <p:sp>
        <p:nvSpPr>
          <p:cNvPr id="6" name="Text 4"/>
          <p:cNvSpPr/>
          <p:nvPr/>
        </p:nvSpPr>
        <p:spPr>
          <a:xfrm>
            <a:off x="707710" y="3888879"/>
            <a:ext cx="514019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화면 수: 3개 (설문 만들기 → 응답하기 → 결과 대시보드)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핵심 로직: 질문 입력 → JSON 저장 → 응답 수집 → 차트 생성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바이럴: "반장이 5분 만에 설문 만듦, 결과가 실시간 차트!"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346511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플레이 흐름</a:t>
            </a:r>
            <a:endParaRPr lang="ko-KR" sz="1600" dirty="0"/>
          </a:p>
        </p:txBody>
      </p:sp>
      <p:sp>
        <p:nvSpPr>
          <p:cNvPr id="8" name="Text 6"/>
          <p:cNvSpPr/>
          <p:nvPr/>
        </p:nvSpPr>
        <p:spPr>
          <a:xfrm>
            <a:off x="6303904" y="3888879"/>
            <a:ext cx="523266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설문 제작자: 질문 5개 입력 → 유형 선택 (객관식/별점/주관식)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응답자: 폼에 답변 → 제출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결과: 문항별 바 차트 + AI 요약 코멘트</a:t>
            </a:r>
            <a:endParaRPr lang="ko-KR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08794"/>
            <a:ext cx="850283" cy="251420"/>
          </a:xfrm>
          <a:prstGeom prst="roundRect">
            <a:avLst>
              <a:gd name="adj" fmla="val 7894"/>
            </a:avLst>
          </a:prstGeom>
          <a:solidFill>
            <a:srgbClr val="D7DFF4"/>
          </a:solidFill>
          <a:ln/>
        </p:spPr>
      </p:sp>
      <p:sp>
        <p:nvSpPr>
          <p:cNvPr id="4" name="Text 1"/>
          <p:cNvSpPr/>
          <p:nvPr/>
        </p:nvSpPr>
        <p:spPr>
          <a:xfrm>
            <a:off x="760691" y="558403"/>
            <a:ext cx="126143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아이디어 ③</a:t>
            </a:r>
            <a:endParaRPr lang="ko-KR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826294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취향 추천 테스트 (MBTI 스타일)</a:t>
            </a:r>
            <a:endParaRPr lang="ko-KR" sz="3250" dirty="0"/>
          </a:p>
        </p:txBody>
      </p:sp>
      <p:sp>
        <p:nvSpPr>
          <p:cNvPr id="6" name="Text 3"/>
          <p:cNvSpPr/>
          <p:nvPr/>
        </p:nvSpPr>
        <p:spPr>
          <a:xfrm>
            <a:off x="661475" y="1591072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한 줄 설명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5개 질문에 답하면 나에게 딱 맞는 웹툰/노래/영화를 추천 |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서버 필요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아니오</a:t>
            </a:r>
            <a:endParaRPr lang="ko-KR" sz="1300" dirty="0"/>
          </a:p>
        </p:txBody>
      </p:sp>
      <p:sp>
        <p:nvSpPr>
          <p:cNvPr id="7" name="Shape 4"/>
          <p:cNvSpPr/>
          <p:nvPr/>
        </p:nvSpPr>
        <p:spPr>
          <a:xfrm>
            <a:off x="661475" y="2041723"/>
            <a:ext cx="6296860" cy="952897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</p:sp>
      <p:sp>
        <p:nvSpPr>
          <p:cNvPr id="8" name="Text 5"/>
          <p:cNvSpPr/>
          <p:nvPr/>
        </p:nvSpPr>
        <p:spPr>
          <a:xfrm>
            <a:off x="826769" y="2207022"/>
            <a:ext cx="59662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화면 수</a:t>
            </a:r>
            <a:endParaRPr lang="ko-KR" sz="1600" dirty="0"/>
          </a:p>
        </p:txBody>
      </p:sp>
      <p:sp>
        <p:nvSpPr>
          <p:cNvPr id="9" name="Text 6"/>
          <p:cNvSpPr/>
          <p:nvPr/>
        </p:nvSpPr>
        <p:spPr>
          <a:xfrm>
            <a:off x="826769" y="2564705"/>
            <a:ext cx="59662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3개 (시작 → 질문 5개 → 결과 카드)</a:t>
            </a:r>
            <a:endParaRPr lang="ko-KR" sz="1300" dirty="0"/>
          </a:p>
        </p:txBody>
      </p:sp>
      <p:sp>
        <p:nvSpPr>
          <p:cNvPr id="10" name="Shape 7"/>
          <p:cNvSpPr/>
          <p:nvPr/>
        </p:nvSpPr>
        <p:spPr>
          <a:xfrm>
            <a:off x="661475" y="3159919"/>
            <a:ext cx="6296860" cy="952897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</p:sp>
      <p:sp>
        <p:nvSpPr>
          <p:cNvPr id="11" name="Text 8"/>
          <p:cNvSpPr/>
          <p:nvPr/>
        </p:nvSpPr>
        <p:spPr>
          <a:xfrm>
            <a:off x="826769" y="3325217"/>
            <a:ext cx="59662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핵심 로직</a:t>
            </a:r>
            <a:endParaRPr lang="ko-KR" sz="1600" dirty="0"/>
          </a:p>
        </p:txBody>
      </p:sp>
      <p:sp>
        <p:nvSpPr>
          <p:cNvPr id="12" name="Text 9"/>
          <p:cNvSpPr/>
          <p:nvPr/>
        </p:nvSpPr>
        <p:spPr>
          <a:xfrm>
            <a:off x="826769" y="3682901"/>
            <a:ext cx="59662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선택지마다 유형별 점수 → 합산 → 최고 점수 유형 = 결과</a:t>
            </a:r>
            <a:endParaRPr lang="ko-KR" sz="1300" dirty="0"/>
          </a:p>
        </p:txBody>
      </p:sp>
      <p:sp>
        <p:nvSpPr>
          <p:cNvPr id="13" name="Shape 10"/>
          <p:cNvSpPr/>
          <p:nvPr/>
        </p:nvSpPr>
        <p:spPr>
          <a:xfrm>
            <a:off x="661475" y="4278114"/>
            <a:ext cx="6296860" cy="952897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826769" y="4443413"/>
            <a:ext cx="59662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바이럴 포인트</a:t>
            </a:r>
            <a:endParaRPr lang="ko-KR" sz="1600" dirty="0"/>
          </a:p>
        </p:txBody>
      </p:sp>
      <p:sp>
        <p:nvSpPr>
          <p:cNvPr id="15" name="Text 12"/>
          <p:cNvSpPr/>
          <p:nvPr/>
        </p:nvSpPr>
        <p:spPr>
          <a:xfrm>
            <a:off x="826769" y="4801096"/>
            <a:ext cx="59662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"나 감성 힐링형이래ㅋㅋ 너도 해봐" 카톡 공유</a:t>
            </a:r>
            <a:endParaRPr lang="ko-KR" sz="1300" dirty="0"/>
          </a:p>
        </p:txBody>
      </p:sp>
      <p:sp>
        <p:nvSpPr>
          <p:cNvPr id="16" name="Shape 13"/>
          <p:cNvSpPr/>
          <p:nvPr/>
        </p:nvSpPr>
        <p:spPr>
          <a:xfrm>
            <a:off x="661475" y="5396309"/>
            <a:ext cx="6296860" cy="952897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</p:sp>
      <p:sp>
        <p:nvSpPr>
          <p:cNvPr id="17" name="Text 14"/>
          <p:cNvSpPr/>
          <p:nvPr/>
        </p:nvSpPr>
        <p:spPr>
          <a:xfrm>
            <a:off x="826769" y="5561608"/>
            <a:ext cx="59662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확장성</a:t>
            </a:r>
            <a:endParaRPr lang="ko-KR" sz="1600" dirty="0"/>
          </a:p>
        </p:txBody>
      </p:sp>
      <p:sp>
        <p:nvSpPr>
          <p:cNvPr id="18" name="Text 15"/>
          <p:cNvSpPr/>
          <p:nvPr/>
        </p:nvSpPr>
        <p:spPr>
          <a:xfrm>
            <a:off x="826769" y="5919291"/>
            <a:ext cx="59662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웹툰/K-pop/영화/공부법 등 테스트 주제 무한 확장</a:t>
            </a:r>
            <a:endParaRPr lang="ko-KR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6024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아이디어 ④ 급식 별점 &amp; 리뷰판 / ⑤ 공부 타이머 &amp; 집중 기록기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711053"/>
            <a:ext cx="850283" cy="251420"/>
          </a:xfrm>
          <a:prstGeom prst="roundRect">
            <a:avLst>
              <a:gd name="adj" fmla="val 7894"/>
            </a:avLst>
          </a:prstGeom>
          <a:solidFill>
            <a:srgbClr val="D7DFF4"/>
          </a:solidFill>
          <a:ln/>
        </p:spPr>
      </p:sp>
      <p:sp>
        <p:nvSpPr>
          <p:cNvPr id="4" name="Text 2"/>
          <p:cNvSpPr/>
          <p:nvPr/>
        </p:nvSpPr>
        <p:spPr>
          <a:xfrm>
            <a:off x="760691" y="2760662"/>
            <a:ext cx="126143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아이디어 ④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661475" y="302855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급식 별점 &amp; 리뷰판</a:t>
            </a:r>
            <a:endParaRPr lang="ko-KR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3452316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매일 급식에 별점을 매기고, 이달의 메뉴 TOP 5를 보는 앱. 누가 쓰나: 점심 먹고 "오늘 급식 쩐다/별로" 하는 모든 학생. 서버 필요: MVP는 아니오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4130377"/>
            <a:ext cx="523266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화면 수: 2개 (별점 입력 → 대시보드)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핵심 로직: 별점 저장 → 메뉴별 평균 → 랭킹 정렬 → 추이 차트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바이럴: "치킨이 1등이래ㅋㅋ" 급식표 올라오는 날 단톡 공유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6303904" y="2711053"/>
            <a:ext cx="850283" cy="251420"/>
          </a:xfrm>
          <a:prstGeom prst="roundRect">
            <a:avLst>
              <a:gd name="adj" fmla="val 7894"/>
            </a:avLst>
          </a:prstGeom>
          <a:solidFill>
            <a:srgbClr val="D7DFF4"/>
          </a:solidFill>
          <a:ln/>
        </p:spPr>
      </p:sp>
      <p:sp>
        <p:nvSpPr>
          <p:cNvPr id="9" name="Text 7"/>
          <p:cNvSpPr/>
          <p:nvPr/>
        </p:nvSpPr>
        <p:spPr>
          <a:xfrm>
            <a:off x="6403120" y="2760662"/>
            <a:ext cx="126143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아이디어 ⑤</a:t>
            </a:r>
            <a:endParaRPr lang="ko-KR" sz="1000" dirty="0"/>
          </a:p>
        </p:txBody>
      </p:sp>
      <p:sp>
        <p:nvSpPr>
          <p:cNvPr id="10" name="Text 8"/>
          <p:cNvSpPr/>
          <p:nvPr/>
        </p:nvSpPr>
        <p:spPr>
          <a:xfrm>
            <a:off x="6303904" y="302855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공부 타이머 &amp; 집중 기록기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6303904" y="3452316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과목별 공부 시간을 타이머로 기록하고, 주간 패턴을 차트로 보는 앱. 누가 쓰나: "오늘 진짜 몇 시간 공부했지?" 궁금한 학생. 서버 필요: 아니오</a:t>
            </a:r>
            <a:endParaRPr lang="ko-KR" sz="1300" dirty="0"/>
          </a:p>
        </p:txBody>
      </p:sp>
      <p:sp>
        <p:nvSpPr>
          <p:cNvPr id="12" name="Text 10"/>
          <p:cNvSpPr/>
          <p:nvPr/>
        </p:nvSpPr>
        <p:spPr>
          <a:xfrm>
            <a:off x="6303904" y="4130377"/>
            <a:ext cx="523266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화면 수: 2개 (타이머 → 주간 리포트)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핵심 로직: 25분 뽀모도로 타이머 → 과목/시간/날짜 저장 → 차트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동기부여: 연속 공부 일수(스트릭) + 주간 차트의 성장</a:t>
            </a:r>
            <a:endParaRPr lang="ko-KR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635298"/>
            <a:ext cx="637365" cy="188516"/>
          </a:xfrm>
          <a:prstGeom prst="roundRect">
            <a:avLst>
              <a:gd name="adj" fmla="val 7896"/>
            </a:avLst>
          </a:prstGeom>
          <a:solidFill>
            <a:srgbClr val="D7DFF4"/>
          </a:solidFill>
          <a:ln/>
        </p:spPr>
      </p:sp>
      <p:sp>
        <p:nvSpPr>
          <p:cNvPr id="4" name="Text 1"/>
          <p:cNvSpPr/>
          <p:nvPr/>
        </p:nvSpPr>
        <p:spPr>
          <a:xfrm>
            <a:off x="5307773" y="672505"/>
            <a:ext cx="1098126" cy="11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아이디어 ⑥</a:t>
            </a:r>
            <a:endParaRPr lang="ko-KR" sz="750" dirty="0"/>
          </a:p>
        </p:txBody>
      </p:sp>
      <p:sp>
        <p:nvSpPr>
          <p:cNvPr id="5" name="Text 2"/>
          <p:cNvSpPr/>
          <p:nvPr/>
        </p:nvSpPr>
        <p:spPr>
          <a:xfrm>
            <a:off x="5233360" y="861020"/>
            <a:ext cx="6296860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과목 튜터 챗봇</a:t>
            </a:r>
            <a:endParaRPr lang="ko-KR" sz="2400" dirty="0"/>
          </a:p>
        </p:txBody>
      </p:sp>
      <p:sp>
        <p:nvSpPr>
          <p:cNvPr id="6" name="Text 3"/>
          <p:cNvSpPr/>
          <p:nvPr/>
        </p:nvSpPr>
        <p:spPr>
          <a:xfrm>
            <a:off x="5233360" y="1388170"/>
            <a:ext cx="690644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한 줄 설명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"이 문제 어떻게 풀어?" 물으면 단계별로 친절하게 알려주는 AI 튜터 | 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서버 필요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아니오 (AI API 키만 필요)</a:t>
            </a:r>
            <a:endParaRPr lang="ko-KR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666379"/>
            <a:ext cx="6296860" cy="6966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20879" y="1803102"/>
            <a:ext cx="597262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화면 수 &amp; 핵심 로직</a:t>
            </a:r>
            <a:endParaRPr lang="ko-KR" sz="1200" dirty="0"/>
          </a:p>
        </p:txBody>
      </p:sp>
      <p:sp>
        <p:nvSpPr>
          <p:cNvPr id="9" name="Text 5"/>
          <p:cNvSpPr/>
          <p:nvPr/>
        </p:nvSpPr>
        <p:spPr>
          <a:xfrm>
            <a:off x="5420879" y="2052638"/>
            <a:ext cx="597262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1개 (채팅 화면) — 시스템 프롬프트("중2 튜터") + 대화 이력 관리 + AI 호출</a:t>
            </a:r>
            <a:endParaRPr lang="ko-KR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455962"/>
            <a:ext cx="6296860" cy="69661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20879" y="2592685"/>
            <a:ext cx="597262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차별점</a:t>
            </a:r>
            <a:endParaRPr lang="ko-KR" sz="1200" dirty="0"/>
          </a:p>
        </p:txBody>
      </p:sp>
      <p:sp>
        <p:nvSpPr>
          <p:cNvPr id="12" name="Text 7"/>
          <p:cNvSpPr/>
          <p:nvPr/>
        </p:nvSpPr>
        <p:spPr>
          <a:xfrm>
            <a:off x="5420879" y="2842220"/>
            <a:ext cx="597262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"아깝다! 거의 다 됐어!" 격려하는 톤 + 확인 퀴즈 제공</a:t>
            </a:r>
            <a:endParaRPr lang="ko-KR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3245545"/>
            <a:ext cx="6296860" cy="69661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20879" y="3382268"/>
            <a:ext cx="597262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난이도</a:t>
            </a:r>
            <a:endParaRPr lang="ko-KR" sz="1200" dirty="0"/>
          </a:p>
        </p:txBody>
      </p:sp>
      <p:sp>
        <p:nvSpPr>
          <p:cNvPr id="15" name="Text 9"/>
          <p:cNvSpPr/>
          <p:nvPr/>
        </p:nvSpPr>
        <p:spPr>
          <a:xfrm>
            <a:off x="5420879" y="3631803"/>
            <a:ext cx="597262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★★★ — AI API 연결이 필요해서 약간 어려움</a:t>
            </a:r>
            <a:endParaRPr lang="ko-KR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8671" y="4046736"/>
            <a:ext cx="3666140" cy="217586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00342" y="5717898"/>
            <a:ext cx="911297" cy="17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확인 퀴즈</a:t>
            </a:r>
            <a:endParaRPr lang="ko-KR" sz="1100" dirty="0"/>
          </a:p>
        </p:txBody>
      </p:sp>
      <p:sp>
        <p:nvSpPr>
          <p:cNvPr id="18" name="Text 11"/>
          <p:cNvSpPr/>
          <p:nvPr/>
        </p:nvSpPr>
        <p:spPr>
          <a:xfrm>
            <a:off x="7951858" y="5717898"/>
            <a:ext cx="911297" cy="17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단계별 풀이</a:t>
            </a:r>
            <a:endParaRPr lang="ko-KR" sz="1100" dirty="0"/>
          </a:p>
        </p:txBody>
      </p:sp>
      <p:sp>
        <p:nvSpPr>
          <p:cNvPr id="19" name="Text 12"/>
          <p:cNvSpPr/>
          <p:nvPr/>
        </p:nvSpPr>
        <p:spPr>
          <a:xfrm>
            <a:off x="6784649" y="5717898"/>
            <a:ext cx="911297" cy="17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과목 선택</a:t>
            </a:r>
            <a:endParaRPr lang="ko-KR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01874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아이디어 ⑦ 플레이리스트 무드 추천기 / ⑧ 용돈 가계부 &amp; 소비 분석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969419"/>
            <a:ext cx="850283" cy="251420"/>
          </a:xfrm>
          <a:prstGeom prst="roundRect">
            <a:avLst>
              <a:gd name="adj" fmla="val 7894"/>
            </a:avLst>
          </a:prstGeom>
          <a:solidFill>
            <a:srgbClr val="D7DFF4"/>
          </a:solidFill>
          <a:ln/>
        </p:spPr>
      </p:sp>
      <p:sp>
        <p:nvSpPr>
          <p:cNvPr id="4" name="Text 2"/>
          <p:cNvSpPr/>
          <p:nvPr/>
        </p:nvSpPr>
        <p:spPr>
          <a:xfrm>
            <a:off x="760691" y="3019028"/>
            <a:ext cx="126143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아이디어 ⑦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661475" y="328691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플레이리스트 무드 추천기</a:t>
            </a:r>
            <a:endParaRPr lang="ko-KR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3710682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"지금 기분"을 고르면 딱 맞는 노래 5곡을 추천. 등하교길 이어폰 끼는 친구들에게 딱. 서버 필요: 아니오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4388743"/>
            <a:ext cx="523266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화면 수: 2개 (무드 선택 → 추천 리스트)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핵심 로직: 무드 → 태그 매핑 → JSON 곡 목록 필터 → 랜덤 5곡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난이도 ★☆☆ — 처음 만들어보는 팀에게 추천!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6184844" y="2783384"/>
            <a:ext cx="5470785" cy="2572742"/>
          </a:xfrm>
          <a:prstGeom prst="roundRect">
            <a:avLst>
              <a:gd name="adj" fmla="val 964"/>
            </a:avLst>
          </a:prstGeom>
          <a:solidFill>
            <a:srgbClr val="3257B8"/>
          </a:solidFill>
          <a:ln/>
        </p:spPr>
      </p:sp>
      <p:sp>
        <p:nvSpPr>
          <p:cNvPr id="9" name="Shape 7"/>
          <p:cNvSpPr/>
          <p:nvPr/>
        </p:nvSpPr>
        <p:spPr>
          <a:xfrm>
            <a:off x="6350139" y="2969419"/>
            <a:ext cx="850283" cy="251420"/>
          </a:xfrm>
          <a:prstGeom prst="roundRect">
            <a:avLst>
              <a:gd name="adj" fmla="val 7894"/>
            </a:avLst>
          </a:prstGeom>
          <a:solidFill>
            <a:srgbClr val="101C3C"/>
          </a:solidFill>
          <a:ln/>
        </p:spPr>
      </p:sp>
      <p:sp>
        <p:nvSpPr>
          <p:cNvPr id="10" name="Text 8"/>
          <p:cNvSpPr/>
          <p:nvPr/>
        </p:nvSpPr>
        <p:spPr>
          <a:xfrm>
            <a:off x="6449355" y="3019028"/>
            <a:ext cx="126143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아이디어 ⑧</a:t>
            </a:r>
            <a:endParaRPr lang="ko-KR" sz="1000" dirty="0"/>
          </a:p>
        </p:txBody>
      </p:sp>
      <p:sp>
        <p:nvSpPr>
          <p:cNvPr id="11" name="Text 9"/>
          <p:cNvSpPr/>
          <p:nvPr/>
        </p:nvSpPr>
        <p:spPr>
          <a:xfrm>
            <a:off x="6350139" y="3286919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용돈 가계부 &amp; 소비 분석</a:t>
            </a:r>
            <a:endParaRPr lang="ko-KR" sz="1600" dirty="0"/>
          </a:p>
        </p:txBody>
      </p:sp>
      <p:sp>
        <p:nvSpPr>
          <p:cNvPr id="12" name="Text 10"/>
          <p:cNvSpPr/>
          <p:nvPr/>
        </p:nvSpPr>
        <p:spPr>
          <a:xfrm>
            <a:off x="6350139" y="3710682"/>
            <a:ext cx="514019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용돈 지출을 기록하면 "어디에 가장 많이 썼는지" 차트로 보여주는 앱. 월말에 "용돈이 왜 다 사라졌지?" 하는 학생에게 딱. 서버 필요: 아니오</a:t>
            </a:r>
            <a:endParaRPr lang="ko-KR" sz="1300" dirty="0"/>
          </a:p>
        </p:txBody>
      </p:sp>
      <p:sp>
        <p:nvSpPr>
          <p:cNvPr id="13" name="Text 11"/>
          <p:cNvSpPr/>
          <p:nvPr/>
        </p:nvSpPr>
        <p:spPr>
          <a:xfrm>
            <a:off x="6350139" y="4388743"/>
            <a:ext cx="514019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화면 수: 2개 (지출 입력 → 월간 리포트)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핵심 로직: 금액+카테고리 저장 → 카테고리별 합산 → 파이 차트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동기부여: "편의점 45%면 너무 많다..." 데이터로 보면 절약 동기 생김</a:t>
            </a:r>
            <a:endParaRPr lang="ko-KR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061541"/>
            <a:ext cx="850283" cy="251420"/>
          </a:xfrm>
          <a:prstGeom prst="roundRect">
            <a:avLst>
              <a:gd name="adj" fmla="val 7894"/>
            </a:avLst>
          </a:prstGeom>
          <a:solidFill>
            <a:srgbClr val="D7DFF4"/>
          </a:solidFill>
          <a:ln/>
        </p:spPr>
      </p:sp>
      <p:sp>
        <p:nvSpPr>
          <p:cNvPr id="4" name="Text 1"/>
          <p:cNvSpPr/>
          <p:nvPr/>
        </p:nvSpPr>
        <p:spPr>
          <a:xfrm>
            <a:off x="760691" y="1111151"/>
            <a:ext cx="126143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아이디어 ⑨</a:t>
            </a:r>
            <a:endParaRPr lang="ko-KR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1379041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시간표 &amp; 준비물 알리미</a:t>
            </a:r>
            <a:endParaRPr lang="ko-KR" sz="3250" dirty="0"/>
          </a:p>
        </p:txBody>
      </p:sp>
      <p:sp>
        <p:nvSpPr>
          <p:cNvPr id="6" name="Text 3"/>
          <p:cNvSpPr/>
          <p:nvPr/>
        </p:nvSpPr>
        <p:spPr>
          <a:xfrm>
            <a:off x="661475" y="2143820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한 줄 설명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"내일 뭐 가져가야 하지?" 시간표+준비물을 한눈에 보여주는 앱 |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서버 필요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MVP는 아니오</a:t>
            </a:r>
            <a:endParaRPr lang="ko-KR" sz="1300" dirty="0"/>
          </a:p>
        </p:txBody>
      </p:sp>
      <p:sp>
        <p:nvSpPr>
          <p:cNvPr id="7" name="Text 4"/>
          <p:cNvSpPr/>
          <p:nvPr/>
        </p:nvSpPr>
        <p:spPr>
          <a:xfrm>
            <a:off x="661475" y="3024386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핵심 스펙</a:t>
            </a:r>
            <a:endParaRPr lang="ko-KR" sz="1600" dirty="0"/>
          </a:p>
        </p:txBody>
      </p:sp>
      <p:sp>
        <p:nvSpPr>
          <p:cNvPr id="8" name="Text 5"/>
          <p:cNvSpPr/>
          <p:nvPr/>
        </p:nvSpPr>
        <p:spPr>
          <a:xfrm>
            <a:off x="661475" y="3448149"/>
            <a:ext cx="2946723" cy="2290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화면 수: 1개 (시간표 + 준비물 체크리스트)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핵심 로직: 오늘 요일 → 시간표 JSON 조회 → 과목별 준비물 매핑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난이도 ★☆☆ — 쉬움! 실용적이라 바로 쓸 수 있음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확장성: 변경 알림 → 반 전체 공유 → 학교 SaaS</a:t>
            </a:r>
            <a:endParaRPr lang="ko-KR" sz="1300" dirty="0"/>
          </a:p>
        </p:txBody>
      </p:sp>
      <p:sp>
        <p:nvSpPr>
          <p:cNvPr id="9" name="Text 6"/>
          <p:cNvSpPr/>
          <p:nvPr/>
        </p:nvSpPr>
        <p:spPr>
          <a:xfrm>
            <a:off x="4017961" y="3024386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플레이 흐름</a:t>
            </a:r>
            <a:endParaRPr lang="ko-KR" sz="1600" dirty="0"/>
          </a:p>
        </p:txBody>
      </p:sp>
      <p:sp>
        <p:nvSpPr>
          <p:cNvPr id="10" name="Text 7"/>
          <p:cNvSpPr/>
          <p:nvPr/>
        </p:nvSpPr>
        <p:spPr>
          <a:xfrm>
            <a:off x="4017961" y="3448149"/>
            <a:ext cx="2946723" cy="149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앱 접속 → 자동으로 "내일" 시간표 표시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1교시: 체육 — 체육복, 실내화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2교시: 미술 — 물감, 붓, 스케치북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하나씩 "챙겼다" 체크 → "다 챙겼어요!" 완료</a:t>
            </a:r>
            <a:endParaRPr lang="ko-KR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478532"/>
            <a:ext cx="765354" cy="226219"/>
          </a:xfrm>
          <a:prstGeom prst="roundRect">
            <a:avLst>
              <a:gd name="adj" fmla="val 7896"/>
            </a:avLst>
          </a:prstGeom>
          <a:solidFill>
            <a:srgbClr val="D7DFF4"/>
          </a:solidFill>
          <a:ln/>
        </p:spPr>
      </p:sp>
      <p:sp>
        <p:nvSpPr>
          <p:cNvPr id="4" name="Text 1"/>
          <p:cNvSpPr/>
          <p:nvPr/>
        </p:nvSpPr>
        <p:spPr>
          <a:xfrm>
            <a:off x="750769" y="523180"/>
            <a:ext cx="1196350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아이디어 ⑩</a:t>
            </a:r>
            <a:endParaRPr lang="ko-KR" sz="900" dirty="0"/>
          </a:p>
        </p:txBody>
      </p:sp>
      <p:sp>
        <p:nvSpPr>
          <p:cNvPr id="5" name="Text 2"/>
          <p:cNvSpPr/>
          <p:nvPr/>
        </p:nvSpPr>
        <p:spPr>
          <a:xfrm>
            <a:off x="661475" y="758329"/>
            <a:ext cx="6296860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환경/기후 데이터 대시보드</a:t>
            </a:r>
            <a:endParaRPr lang="ko-KR" sz="2900" dirty="0"/>
          </a:p>
        </p:txBody>
      </p:sp>
      <p:sp>
        <p:nvSpPr>
          <p:cNvPr id="6" name="Text 3"/>
          <p:cNvSpPr/>
          <p:nvPr/>
        </p:nvSpPr>
        <p:spPr>
          <a:xfrm>
            <a:off x="661475" y="1424384"/>
            <a:ext cx="629686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1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한 줄 설명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우리 동네 10년간 기온/미세먼지 변화를 차트로 보여주는 대시보드 | 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1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서버 필요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아니오 (공공데이터 CSV 활용)</a:t>
            </a:r>
            <a:endParaRPr lang="ko-KR" sz="1150" dirty="0"/>
          </a:p>
        </p:txBody>
      </p:sp>
      <p:sp>
        <p:nvSpPr>
          <p:cNvPr id="7" name="Shape 4"/>
          <p:cNvSpPr/>
          <p:nvPr/>
        </p:nvSpPr>
        <p:spPr>
          <a:xfrm>
            <a:off x="661475" y="2027535"/>
            <a:ext cx="6296860" cy="836712"/>
          </a:xfrm>
          <a:prstGeom prst="roundRect">
            <a:avLst>
              <a:gd name="adj" fmla="val 2669"/>
            </a:avLst>
          </a:prstGeom>
          <a:solidFill>
            <a:srgbClr val="E9ECF2"/>
          </a:solidFill>
          <a:ln/>
        </p:spPr>
      </p:sp>
      <p:sp>
        <p:nvSpPr>
          <p:cNvPr id="8" name="Text 5"/>
          <p:cNvSpPr/>
          <p:nvPr/>
        </p:nvSpPr>
        <p:spPr>
          <a:xfrm>
            <a:off x="810299" y="2176363"/>
            <a:ext cx="599921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화면 수</a:t>
            </a:r>
            <a:endParaRPr lang="ko-KR" sz="1450" dirty="0"/>
          </a:p>
        </p:txBody>
      </p:sp>
      <p:sp>
        <p:nvSpPr>
          <p:cNvPr id="9" name="Text 6"/>
          <p:cNvSpPr/>
          <p:nvPr/>
        </p:nvSpPr>
        <p:spPr>
          <a:xfrm>
            <a:off x="810299" y="2489200"/>
            <a:ext cx="599921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1개 (필터 + 차트 + AI 코멘트)</a:t>
            </a:r>
            <a:endParaRPr lang="ko-KR" sz="1150" dirty="0"/>
          </a:p>
        </p:txBody>
      </p:sp>
      <p:sp>
        <p:nvSpPr>
          <p:cNvPr id="10" name="Shape 7"/>
          <p:cNvSpPr/>
          <p:nvPr/>
        </p:nvSpPr>
        <p:spPr>
          <a:xfrm>
            <a:off x="661475" y="2998192"/>
            <a:ext cx="6296860" cy="836712"/>
          </a:xfrm>
          <a:prstGeom prst="roundRect">
            <a:avLst>
              <a:gd name="adj" fmla="val 2669"/>
            </a:avLst>
          </a:prstGeom>
          <a:solidFill>
            <a:srgbClr val="E9ECF2"/>
          </a:solidFill>
          <a:ln/>
        </p:spPr>
      </p:sp>
      <p:sp>
        <p:nvSpPr>
          <p:cNvPr id="11" name="Text 8"/>
          <p:cNvSpPr/>
          <p:nvPr/>
        </p:nvSpPr>
        <p:spPr>
          <a:xfrm>
            <a:off x="810299" y="3147020"/>
            <a:ext cx="599921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핵심 로직</a:t>
            </a:r>
            <a:endParaRPr lang="ko-KR" sz="1450" dirty="0"/>
          </a:p>
        </p:txBody>
      </p:sp>
      <p:sp>
        <p:nvSpPr>
          <p:cNvPr id="12" name="Text 9"/>
          <p:cNvSpPr/>
          <p:nvPr/>
        </p:nvSpPr>
        <p:spPr>
          <a:xfrm>
            <a:off x="810299" y="3459857"/>
            <a:ext cx="599921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CSV 파싱 → 지역/기간 필터 → 꺾은선 차트 → AI 해석</a:t>
            </a:r>
            <a:endParaRPr lang="ko-KR" sz="1150" dirty="0"/>
          </a:p>
        </p:txBody>
      </p:sp>
      <p:sp>
        <p:nvSpPr>
          <p:cNvPr id="13" name="Shape 10"/>
          <p:cNvSpPr/>
          <p:nvPr/>
        </p:nvSpPr>
        <p:spPr>
          <a:xfrm>
            <a:off x="661475" y="3968849"/>
            <a:ext cx="6296860" cy="836712"/>
          </a:xfrm>
          <a:prstGeom prst="roundRect">
            <a:avLst>
              <a:gd name="adj" fmla="val 2669"/>
            </a:avLst>
          </a:prstGeom>
          <a:solidFill>
            <a:srgbClr val="E9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810299" y="4117677"/>
            <a:ext cx="599921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실용성</a:t>
            </a:r>
            <a:endParaRPr lang="ko-KR" sz="1450" dirty="0"/>
          </a:p>
        </p:txBody>
      </p:sp>
      <p:sp>
        <p:nvSpPr>
          <p:cNvPr id="15" name="Text 12"/>
          <p:cNvSpPr/>
          <p:nvPr/>
        </p:nvSpPr>
        <p:spPr>
          <a:xfrm>
            <a:off x="810299" y="4430514"/>
            <a:ext cx="599921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수행평가 자료로 바로 활용 가능</a:t>
            </a:r>
            <a:endParaRPr lang="ko-KR" sz="1150" dirty="0"/>
          </a:p>
        </p:txBody>
      </p:sp>
      <p:sp>
        <p:nvSpPr>
          <p:cNvPr id="16" name="Shape 13"/>
          <p:cNvSpPr/>
          <p:nvPr/>
        </p:nvSpPr>
        <p:spPr>
          <a:xfrm>
            <a:off x="661475" y="4939506"/>
            <a:ext cx="6296860" cy="836712"/>
          </a:xfrm>
          <a:prstGeom prst="roundRect">
            <a:avLst>
              <a:gd name="adj" fmla="val 2669"/>
            </a:avLst>
          </a:prstGeom>
          <a:solidFill>
            <a:srgbClr val="E9ECF2"/>
          </a:solidFill>
          <a:ln/>
        </p:spPr>
      </p:sp>
      <p:sp>
        <p:nvSpPr>
          <p:cNvPr id="17" name="Text 14"/>
          <p:cNvSpPr/>
          <p:nvPr/>
        </p:nvSpPr>
        <p:spPr>
          <a:xfrm>
            <a:off x="810299" y="5088334"/>
            <a:ext cx="599921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확장성</a:t>
            </a:r>
            <a:endParaRPr lang="ko-KR" sz="1450" dirty="0"/>
          </a:p>
        </p:txBody>
      </p:sp>
      <p:sp>
        <p:nvSpPr>
          <p:cNvPr id="18" name="Text 15"/>
          <p:cNvSpPr/>
          <p:nvPr/>
        </p:nvSpPr>
        <p:spPr>
          <a:xfrm>
            <a:off x="810299" y="5401171"/>
            <a:ext cx="599921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교사 수업 자료 → 교육청 납품 → ESG 기업 대시보드</a:t>
            </a:r>
            <a:endParaRPr lang="ko-KR" sz="1150" dirty="0"/>
          </a:p>
        </p:txBody>
      </p:sp>
      <p:sp>
        <p:nvSpPr>
          <p:cNvPr id="19" name="Text 16"/>
          <p:cNvSpPr/>
          <p:nvPr/>
        </p:nvSpPr>
        <p:spPr>
          <a:xfrm>
            <a:off x="661475" y="5926931"/>
            <a:ext cx="629686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지역 선택 → 항목 선택 (기온/미세먼지/강수량) → 10년간 추이 차트 → 두 지역 비교 → AI 해석: 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15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"서울 평균 기온 10년간 1.2도 상승"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리포트 다운로드 (발표용)</a:t>
            </a:r>
            <a:endParaRPr lang="ko-KR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9680"/>
            <a:ext cx="10868745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10가지 아이디어 한눈에 보기</a:t>
            </a:r>
            <a:endParaRPr lang="ko-KR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11920"/>
            <a:ext cx="975335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915888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지금부터 팀 토론 시작!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1680666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10가지 아이디어를 봤으니, 이제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3257B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팀이 직접 골라야 할 시간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이다.</a:t>
            </a:r>
            <a:endParaRPr lang="ko-KR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2131318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6" name="Text 3"/>
          <p:cNvSpPr/>
          <p:nvPr/>
        </p:nvSpPr>
        <p:spPr>
          <a:xfrm>
            <a:off x="723485" y="216232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198830" y="2188170"/>
            <a:ext cx="57595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아이디어 고르기</a:t>
            </a:r>
            <a:endParaRPr lang="ko-KR" sz="1600" dirty="0"/>
          </a:p>
        </p:txBody>
      </p:sp>
      <p:sp>
        <p:nvSpPr>
          <p:cNvPr id="8" name="Text 5"/>
          <p:cNvSpPr/>
          <p:nvPr/>
        </p:nvSpPr>
        <p:spPr>
          <a:xfrm>
            <a:off x="1198830" y="2545854"/>
            <a:ext cx="575950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10개 중 하나, 또는 합치거나 새로 만들어도 OK</a:t>
            </a:r>
            <a:endParaRPr lang="ko-KR" sz="1300" dirty="0"/>
          </a:p>
        </p:txBody>
      </p:sp>
      <p:sp>
        <p:nvSpPr>
          <p:cNvPr id="9" name="Shape 6"/>
          <p:cNvSpPr/>
          <p:nvPr/>
        </p:nvSpPr>
        <p:spPr>
          <a:xfrm>
            <a:off x="661475" y="3141166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10" name="Text 7"/>
          <p:cNvSpPr/>
          <p:nvPr/>
        </p:nvSpPr>
        <p:spPr>
          <a:xfrm>
            <a:off x="723485" y="3172172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198830" y="3198019"/>
            <a:ext cx="57595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이유 정하기</a:t>
            </a:r>
            <a:endParaRPr lang="ko-KR" sz="1600" dirty="0"/>
          </a:p>
        </p:txBody>
      </p:sp>
      <p:sp>
        <p:nvSpPr>
          <p:cNvPr id="12" name="Text 9"/>
          <p:cNvSpPr/>
          <p:nvPr/>
        </p:nvSpPr>
        <p:spPr>
          <a:xfrm>
            <a:off x="1198830" y="3555702"/>
            <a:ext cx="575950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"우리 팀이 왜 이걸 만드는가" — 한 줄로 정리</a:t>
            </a:r>
            <a:endParaRPr lang="ko-KR" sz="1300" dirty="0"/>
          </a:p>
        </p:txBody>
      </p:sp>
      <p:sp>
        <p:nvSpPr>
          <p:cNvPr id="13" name="Shape 10"/>
          <p:cNvSpPr/>
          <p:nvPr/>
        </p:nvSpPr>
        <p:spPr>
          <a:xfrm>
            <a:off x="661475" y="4151015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723485" y="418202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198830" y="4207867"/>
            <a:ext cx="57595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산출물 작성</a:t>
            </a:r>
            <a:endParaRPr lang="ko-KR" sz="1600" dirty="0"/>
          </a:p>
        </p:txBody>
      </p:sp>
      <p:sp>
        <p:nvSpPr>
          <p:cNvPr id="16" name="Text 13"/>
          <p:cNvSpPr/>
          <p:nvPr/>
        </p:nvSpPr>
        <p:spPr>
          <a:xfrm>
            <a:off x="1198830" y="4565551"/>
            <a:ext cx="575950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한 줄 기획서 + 역할 분담표 + 화면 흐름도 제출</a:t>
            </a:r>
            <a:endParaRPr lang="ko-KR" sz="1300" dirty="0"/>
          </a:p>
        </p:txBody>
      </p:sp>
      <p:sp>
        <p:nvSpPr>
          <p:cNvPr id="17" name="Shape 14"/>
          <p:cNvSpPr/>
          <p:nvPr/>
        </p:nvSpPr>
        <p:spPr>
          <a:xfrm>
            <a:off x="661475" y="5016202"/>
            <a:ext cx="6296860" cy="925909"/>
          </a:xfrm>
          <a:prstGeom prst="roundRect">
            <a:avLst>
              <a:gd name="adj" fmla="val 2679"/>
            </a:avLst>
          </a:prstGeom>
          <a:solidFill>
            <a:srgbClr val="D7DFF4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69" y="5255915"/>
            <a:ext cx="206667" cy="16529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198731" y="5222776"/>
            <a:ext cx="559430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선생님이 정해주는 게 아니다.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팀원이 직접 토론해서 고른다.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이것이 이 수업의 핵심이다.</a:t>
            </a:r>
            <a:endParaRPr lang="ko-KR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2026-07-21T11:46:11Z</dcterms:created>
  <dcterms:modified xsi:type="dcterms:W3CDTF">2026-07-21T11:46:11Z</dcterms:modified>
</cp:coreProperties>
</file>