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8421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시대, 공부가 바뀐다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048992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1일차 1교시 — 세상이 바뀌고 있고, 나도 바뀌어야 한다</a:t>
            </a:r>
            <a:endParaRPr lang="ko-KR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499644"/>
            <a:ext cx="1190099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3549253"/>
            <a:ext cx="160125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중학교 2학년 대상</a:t>
            </a:r>
            <a:endParaRPr lang="ko-KR" sz="1000" dirty="0"/>
          </a:p>
        </p:txBody>
      </p:sp>
      <p:sp>
        <p:nvSpPr>
          <p:cNvPr id="7" name="Shape 4"/>
          <p:cNvSpPr/>
          <p:nvPr/>
        </p:nvSpPr>
        <p:spPr>
          <a:xfrm>
            <a:off x="661475" y="3937099"/>
            <a:ext cx="19050" cy="636687"/>
          </a:xfrm>
          <a:prstGeom prst="roundRect">
            <a:avLst>
              <a:gd name="adj" fmla="val 59999"/>
            </a:avLst>
          </a:prstGeom>
          <a:solidFill>
            <a:srgbClr val="3257B8"/>
          </a:solidFill>
          <a:ln/>
        </p:spPr>
      </p:sp>
      <p:sp>
        <p:nvSpPr>
          <p:cNvPr id="8" name="Text 5"/>
          <p:cNvSpPr/>
          <p:nvPr/>
        </p:nvSpPr>
        <p:spPr>
          <a:xfrm>
            <a:off x="909516" y="4123134"/>
            <a:ext cx="66584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코딩을 잘하는 사람이 아니라,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전공 지식 + AI를 쓸 줄 아는 사람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이기는 시대다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9579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이 수업을 왜 하는가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060575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2026년 지금, 너희는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중학교 2학년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이다. 2032년, 너희가 대학에 갈 때 — 세상은 완전히 다르다.</a:t>
            </a:r>
            <a:endParaRPr lang="ko-KR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775843"/>
            <a:ext cx="3065783" cy="121751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826769" y="2941141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시험 점수의 시대 종료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826769" y="3298825"/>
            <a:ext cx="27351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점수만으로 대학 가는 시대는 끝나간다</a:t>
            </a:r>
            <a:endParaRPr lang="ko-KR" sz="1300" dirty="0"/>
          </a:p>
        </p:txBody>
      </p:sp>
      <p:sp>
        <p:nvSpPr>
          <p:cNvPr id="8" name="Shape 5"/>
          <p:cNvSpPr/>
          <p:nvPr/>
        </p:nvSpPr>
        <p:spPr>
          <a:xfrm>
            <a:off x="3892552" y="2775843"/>
            <a:ext cx="3065783" cy="121751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4057846" y="2941141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"내가 뭘 만들었는가"</a:t>
            </a:r>
            <a:endParaRPr lang="ko-KR" sz="1600" dirty="0"/>
          </a:p>
        </p:txBody>
      </p:sp>
      <p:sp>
        <p:nvSpPr>
          <p:cNvPr id="10" name="Text 7"/>
          <p:cNvSpPr/>
          <p:nvPr/>
        </p:nvSpPr>
        <p:spPr>
          <a:xfrm>
            <a:off x="4057846" y="3298825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직접 만든 결과물을 보여줘야 하는 시대가 온다</a:t>
            </a:r>
            <a:endParaRPr lang="ko-KR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158655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826769" y="4323953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세특 비중 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35~40%</a:t>
            </a:r>
            <a:endParaRPr lang="ko-KR" sz="1600" dirty="0"/>
          </a:p>
        </p:txBody>
      </p:sp>
      <p:sp>
        <p:nvSpPr>
          <p:cNvPr id="13" name="Text 10"/>
          <p:cNvSpPr/>
          <p:nvPr/>
        </p:nvSpPr>
        <p:spPr>
          <a:xfrm>
            <a:off x="826769" y="4681637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세부능력특기사항의 비중이 대폭 커진다</a:t>
            </a:r>
            <a:endParaRPr lang="ko-KR" sz="1300" dirty="0"/>
          </a:p>
        </p:txBody>
      </p:sp>
      <p:sp>
        <p:nvSpPr>
          <p:cNvPr id="14" name="Text 11"/>
          <p:cNvSpPr/>
          <p:nvPr/>
        </p:nvSpPr>
        <p:spPr>
          <a:xfrm>
            <a:off x="661475" y="5297587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수업은 그 준비를 시작하는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첫 번째 시간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이다.</a:t>
            </a:r>
            <a:endParaRPr lang="ko-K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847949"/>
            <a:ext cx="619110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332577" y="1897559"/>
            <a:ext cx="103026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2165449"/>
            <a:ext cx="6296860" cy="206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6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세상이 바뀌고 있다</a:t>
            </a:r>
            <a:endParaRPr lang="ko-KR" sz="6500" dirty="0"/>
          </a:p>
        </p:txBody>
      </p:sp>
      <p:sp>
        <p:nvSpPr>
          <p:cNvPr id="6" name="Text 3"/>
          <p:cNvSpPr/>
          <p:nvPr/>
        </p:nvSpPr>
        <p:spPr>
          <a:xfrm>
            <a:off x="5233360" y="448081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 세계 교육 기관과 경제 포럼이 공통으로 말하는 것 — 미래 인재의 기준이 근본적으로 달라지고 있다.</a:t>
            </a:r>
            <a:endParaRPr lang="ko-KR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98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OECD가 말하는 미래 인재상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3729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OECD(경제협력개발기구)는 전 세계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38개 선진국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모인 곳이다.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OECD Education 2030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은 "2030년에 어떤 사람이 필요한가?"를 연구한 결과다.</a:t>
            </a:r>
            <a:endParaRPr lang="ko-KR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87948"/>
            <a:ext cx="3512653" cy="1732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8585" y="291197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45819" y="3449439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새로운 가치 창조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3807123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남이 안 해본 것을 만들어내는 능력 (Creating New Value)</a:t>
            </a:r>
            <a:endParaRPr lang="ko-KR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787948"/>
            <a:ext cx="3512752" cy="17327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96532" y="291197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523766" y="3449439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긴장과 딜레마 조정</a:t>
            </a:r>
            <a:endParaRPr lang="ko-KR" sz="1600" dirty="0"/>
          </a:p>
        </p:txBody>
      </p:sp>
      <p:sp>
        <p:nvSpPr>
          <p:cNvPr id="11" name="Text 7"/>
          <p:cNvSpPr/>
          <p:nvPr/>
        </p:nvSpPr>
        <p:spPr>
          <a:xfrm>
            <a:off x="4523766" y="3807123"/>
            <a:ext cx="3144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서로 다른 의견을 조율하는 능력 (Reconciling Tensions)</a:t>
            </a:r>
            <a:endParaRPr lang="ko-KR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787948"/>
            <a:ext cx="3512653" cy="17327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4578" y="291197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201812" y="3449439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책임감</a:t>
            </a:r>
            <a:endParaRPr lang="ko-KR" sz="1600" dirty="0"/>
          </a:p>
        </p:txBody>
      </p:sp>
      <p:sp>
        <p:nvSpPr>
          <p:cNvPr id="15" name="Text 10"/>
          <p:cNvSpPr/>
          <p:nvPr/>
        </p:nvSpPr>
        <p:spPr>
          <a:xfrm>
            <a:off x="8201812" y="3807123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내가 한 일에 대해 끝까지 책임지는 태도 (Taking Responsibility)</a:t>
            </a:r>
            <a:endParaRPr lang="ko-KR" sz="1300" dirty="0"/>
          </a:p>
        </p:txBody>
      </p:sp>
      <p:sp>
        <p:nvSpPr>
          <p:cNvPr id="16" name="Shape 11"/>
          <p:cNvSpPr/>
          <p:nvPr/>
        </p:nvSpPr>
        <p:spPr>
          <a:xfrm>
            <a:off x="661475" y="4706739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69" y="4946452"/>
            <a:ext cx="206667" cy="1652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98731" y="491331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모든 것의 바탕에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학생 주도성(Student Agency)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있다 — "내가 내 학습의 주인공이 되는 것."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04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OECD 2030 vs 수능 — 뭘 키우나?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7785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수능이 측정하는 능력과 OECD가 말하는 미래 역량이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하나도 안 겹친다.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이게 교육이 바뀌어야 하는 이유다.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28503"/>
            <a:ext cx="10868745" cy="2898973"/>
          </a:xfrm>
          <a:prstGeom prst="roundRect">
            <a:avLst>
              <a:gd name="adj" fmla="val 85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3113782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595886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07799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56009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04219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9015" y="2634853"/>
            <a:ext cx="3617921" cy="47892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834310" y="2740422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OECD 미래 역량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4286937" y="2634853"/>
            <a:ext cx="3617921" cy="47892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4452231" y="2740422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수능이 측정하는 것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7904858" y="2634853"/>
            <a:ext cx="3617921" cy="47892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/>
          <p:nvPr/>
        </p:nvSpPr>
        <p:spPr>
          <a:xfrm>
            <a:off x="8070152" y="2740422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겹치나?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834310" y="3222526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4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새로운 가치 창조</a:t>
            </a:r>
            <a:endParaRPr lang="ko-KR" sz="1300" dirty="0"/>
          </a:p>
        </p:txBody>
      </p:sp>
      <p:sp>
        <p:nvSpPr>
          <p:cNvPr id="17" name="Text 15"/>
          <p:cNvSpPr/>
          <p:nvPr/>
        </p:nvSpPr>
        <p:spPr>
          <a:xfrm>
            <a:off x="4452231" y="3222526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정답 맞히기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8070152" y="3222526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안 겹침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834310" y="3704630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4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긴장과 딜레마 조정</a:t>
            </a:r>
            <a:endParaRPr 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4452231" y="3704630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시간 내 문제 풀기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8070152" y="3704630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안 겹침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834310" y="418673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4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책임감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4452231" y="418673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등급 받기</a:t>
            </a:r>
            <a:endParaRPr lang="ko-KR" sz="1300" dirty="0"/>
          </a:p>
        </p:txBody>
      </p:sp>
      <p:sp>
        <p:nvSpPr>
          <p:cNvPr id="24" name="Text 22"/>
          <p:cNvSpPr/>
          <p:nvPr/>
        </p:nvSpPr>
        <p:spPr>
          <a:xfrm>
            <a:off x="8070152" y="418673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안 겹침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834310" y="466883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4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학생 주도성</a:t>
            </a:r>
            <a:endParaRPr lang="ko-KR" sz="1300" dirty="0"/>
          </a:p>
        </p:txBody>
      </p:sp>
      <p:sp>
        <p:nvSpPr>
          <p:cNvPr id="26" name="Text 24"/>
          <p:cNvSpPr/>
          <p:nvPr/>
        </p:nvSpPr>
        <p:spPr>
          <a:xfrm>
            <a:off x="4452231" y="466883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교사가 시키는 대로</a:t>
            </a:r>
            <a:endParaRPr 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8070152" y="466883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정반대</a:t>
            </a:r>
            <a:endParaRPr lang="ko-KR" sz="1300" dirty="0"/>
          </a:p>
        </p:txBody>
      </p:sp>
      <p:sp>
        <p:nvSpPr>
          <p:cNvPr id="28" name="Text 26"/>
          <p:cNvSpPr/>
          <p:nvPr/>
        </p:nvSpPr>
        <p:spPr>
          <a:xfrm>
            <a:off x="834310" y="5150941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4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협업과 공감</a:t>
            </a:r>
            <a:endParaRPr lang="ko-KR" sz="1300" dirty="0"/>
          </a:p>
        </p:txBody>
      </p:sp>
      <p:sp>
        <p:nvSpPr>
          <p:cNvPr id="29" name="Text 27"/>
          <p:cNvSpPr/>
          <p:nvPr/>
        </p:nvSpPr>
        <p:spPr>
          <a:xfrm>
            <a:off x="4452231" y="5150941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혼자 시험 보기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8070152" y="5150941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정반대</a:t>
            </a:r>
            <a:endParaRPr lang="ko-K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575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WEF — 2030년 핵심 역량 TOP 10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5318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WEF(세계경제포럼)는 2025년 보고서에서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2030년에 가장 중요한 능력 10가지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를 발표했다. 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10개 중 수능으로 키울 수 있는 건 1번 하나, 그것도 "일부".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나머지 9개는 프로젝트, 토론, 협업, 실패 경험에서만 키울 수 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168452"/>
            <a:ext cx="3512653" cy="959247"/>
          </a:xfrm>
          <a:prstGeom prst="roundRect">
            <a:avLst>
              <a:gd name="adj" fmla="val 2586"/>
            </a:avLst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3333750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분석적 사고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3697784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"왜?"를 파고드는 능력 — 수능으로 일부 가능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3168452"/>
            <a:ext cx="3512752" cy="959247"/>
          </a:xfrm>
          <a:prstGeom prst="roundRect">
            <a:avLst>
              <a:gd name="adj" fmla="val 2586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4504716" y="3333750"/>
            <a:ext cx="318216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창의적 사고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4504716" y="3697784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남들이 안 한 걸 생각하는 능력 — 수능 불가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3168452"/>
            <a:ext cx="3512653" cy="959247"/>
          </a:xfrm>
          <a:prstGeom prst="roundRect">
            <a:avLst>
              <a:gd name="adj" fmla="val 2586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8182762" y="3333750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AI와 빅데이터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8182762" y="3697784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AI를 도구로 쓸 줄 아는 능력 — 수능 불가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292997"/>
            <a:ext cx="5351626" cy="959247"/>
          </a:xfrm>
          <a:prstGeom prst="roundRect">
            <a:avLst>
              <a:gd name="adj" fmla="val 2586"/>
            </a:avLst>
          </a:prstGeom>
          <a:solidFill>
            <a:srgbClr val="E9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826769" y="4458295"/>
            <a:ext cx="5021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회복탄력성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826769" y="4822329"/>
            <a:ext cx="5021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실패해도 다시 일어나는 힘 — 수능 불가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178395" y="4292997"/>
            <a:ext cx="5351725" cy="959247"/>
          </a:xfrm>
          <a:prstGeom prst="roundRect">
            <a:avLst>
              <a:gd name="adj" fmla="val 2586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6343690" y="4458295"/>
            <a:ext cx="502113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공감과 경청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6343690" y="4822329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남의 말을 진심으로 듣는 능력 — 수능 불가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847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BG vs AG — AI 이전과 이후, 모든 것이 바뀌었다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5589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BG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Before Gen-AI (AI 이전) |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After Gen-AI (AI 이후)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406551"/>
            <a:ext cx="10868745" cy="3342977"/>
          </a:xfrm>
          <a:prstGeom prst="roundRect">
            <a:avLst>
              <a:gd name="adj" fmla="val 74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412901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7924" y="2412901"/>
            <a:ext cx="1285347" cy="47575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833218" y="2518470"/>
            <a:ext cx="15611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구분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1953271" y="2412901"/>
            <a:ext cx="2546782" cy="47575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2121740" y="2518470"/>
            <a:ext cx="28194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BG (AI 이전)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4500053" y="2412901"/>
            <a:ext cx="7023817" cy="47575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4668522" y="2518470"/>
            <a:ext cx="72996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 (AI 이후)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7825" y="2888655"/>
            <a:ext cx="10856046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33218" y="2994223"/>
            <a:ext cx="15611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목표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2121740" y="2994223"/>
            <a:ext cx="28194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좋은 직장에 취업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4668522" y="2994223"/>
            <a:ext cx="72996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직접 직업을 만든다 (창직)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67825" y="3364409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3218" y="3469977"/>
            <a:ext cx="15611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무기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2121740" y="3469977"/>
            <a:ext cx="28194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스펙 (학점, 토익, 자격증)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4668522" y="3469977"/>
            <a:ext cx="72996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포트폴리오 (내가 만든 것)</a:t>
            </a:r>
            <a:endParaRPr lang="ko-KR" sz="1300" dirty="0"/>
          </a:p>
        </p:txBody>
      </p:sp>
      <p:sp>
        <p:nvSpPr>
          <p:cNvPr id="20" name="Shape 18"/>
          <p:cNvSpPr/>
          <p:nvPr/>
        </p:nvSpPr>
        <p:spPr>
          <a:xfrm>
            <a:off x="667825" y="3840163"/>
            <a:ext cx="10856046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33218" y="3945731"/>
            <a:ext cx="15611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 방식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2121740" y="3945731"/>
            <a:ext cx="28194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강의 → 암기 → 시험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4668522" y="3945731"/>
            <a:ext cx="72996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문제 발견 → 만들기 → 런칭</a:t>
            </a:r>
            <a:endParaRPr lang="ko-KR" sz="1300" dirty="0"/>
          </a:p>
        </p:txBody>
      </p:sp>
      <p:sp>
        <p:nvSpPr>
          <p:cNvPr id="24" name="Shape 22"/>
          <p:cNvSpPr/>
          <p:nvPr/>
        </p:nvSpPr>
        <p:spPr>
          <a:xfrm>
            <a:off x="667825" y="4315916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3218" y="4421485"/>
            <a:ext cx="15611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실패 해석</a:t>
            </a:r>
            <a:endParaRPr lang="ko-KR" sz="1300" dirty="0"/>
          </a:p>
        </p:txBody>
      </p:sp>
      <p:sp>
        <p:nvSpPr>
          <p:cNvPr id="26" name="Text 24"/>
          <p:cNvSpPr/>
          <p:nvPr/>
        </p:nvSpPr>
        <p:spPr>
          <a:xfrm>
            <a:off x="2121740" y="4421485"/>
            <a:ext cx="28194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좌절, 경로 이탈</a:t>
            </a:r>
            <a:endParaRPr 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4668522" y="4421485"/>
            <a:ext cx="72996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데이터 수집, 다시 도전</a:t>
            </a:r>
            <a:endParaRPr lang="ko-KR" sz="1300" dirty="0"/>
          </a:p>
        </p:txBody>
      </p:sp>
      <p:sp>
        <p:nvSpPr>
          <p:cNvPr id="28" name="Shape 26"/>
          <p:cNvSpPr/>
          <p:nvPr/>
        </p:nvSpPr>
        <p:spPr>
          <a:xfrm>
            <a:off x="667825" y="4791670"/>
            <a:ext cx="10856046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3218" y="4897239"/>
            <a:ext cx="15611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핵심 역량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2121740" y="4897239"/>
            <a:ext cx="28194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지식 암기량</a:t>
            </a:r>
            <a:endParaRPr lang="ko-KR" sz="1300" dirty="0"/>
          </a:p>
        </p:txBody>
      </p:sp>
      <p:sp>
        <p:nvSpPr>
          <p:cNvPr id="31" name="Text 29"/>
          <p:cNvSpPr/>
          <p:nvPr/>
        </p:nvSpPr>
        <p:spPr>
          <a:xfrm>
            <a:off x="4668522" y="4897239"/>
            <a:ext cx="72996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문제 정의력 + AI 활용력</a:t>
            </a:r>
            <a:endParaRPr lang="ko-KR" sz="1300" dirty="0"/>
          </a:p>
        </p:txBody>
      </p:sp>
      <p:sp>
        <p:nvSpPr>
          <p:cNvPr id="32" name="Shape 30"/>
          <p:cNvSpPr/>
          <p:nvPr/>
        </p:nvSpPr>
        <p:spPr>
          <a:xfrm>
            <a:off x="667825" y="5267424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33218" y="5372993"/>
            <a:ext cx="15611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코딩</a:t>
            </a:r>
            <a:endParaRPr lang="ko-KR" sz="1300" dirty="0"/>
          </a:p>
        </p:txBody>
      </p:sp>
      <p:sp>
        <p:nvSpPr>
          <p:cNvPr id="34" name="Text 32"/>
          <p:cNvSpPr/>
          <p:nvPr/>
        </p:nvSpPr>
        <p:spPr>
          <a:xfrm>
            <a:off x="2121740" y="5372993"/>
            <a:ext cx="28194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문법을 외워서 직접 짠다</a:t>
            </a:r>
            <a:endParaRPr lang="ko-KR" sz="1300" dirty="0"/>
          </a:p>
        </p:txBody>
      </p:sp>
      <p:sp>
        <p:nvSpPr>
          <p:cNvPr id="35" name="Text 33"/>
          <p:cNvSpPr/>
          <p:nvPr/>
        </p:nvSpPr>
        <p:spPr>
          <a:xfrm>
            <a:off x="4668522" y="5372993"/>
            <a:ext cx="72996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AI한테 말해서 만든다 (바이브 코딩)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412"/>
            <a:ext cx="10868745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교육 패러다임 전환 3단계</a:t>
            </a:r>
            <a:endParaRPr lang="ko-KR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636" y="1118295"/>
            <a:ext cx="9238424" cy="4157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41339" y="1308729"/>
            <a:ext cx="1616713" cy="249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산업화 시대</a:t>
            </a:r>
            <a:endParaRPr lang="ko-KR" sz="1550" dirty="0"/>
          </a:p>
        </p:txBody>
      </p:sp>
      <p:sp>
        <p:nvSpPr>
          <p:cNvPr id="5" name="Text 2"/>
          <p:cNvSpPr/>
          <p:nvPr/>
        </p:nvSpPr>
        <p:spPr>
          <a:xfrm>
            <a:off x="3241339" y="1629637"/>
            <a:ext cx="1616713" cy="364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ko-KR" alt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1970~2010 암기·객관식 중심</a:t>
            </a:r>
            <a:endParaRPr lang="ko-KR" sz="1250" dirty="0"/>
          </a:p>
        </p:txBody>
      </p:sp>
      <p:sp>
        <p:nvSpPr>
          <p:cNvPr id="6" name="Text 3"/>
          <p:cNvSpPr/>
          <p:nvPr/>
        </p:nvSpPr>
        <p:spPr>
          <a:xfrm>
            <a:off x="5284438" y="4426753"/>
            <a:ext cx="1625595" cy="249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정보화 시대</a:t>
            </a:r>
            <a:endParaRPr lang="ko-KR" sz="1550" dirty="0"/>
          </a:p>
        </p:txBody>
      </p:sp>
      <p:sp>
        <p:nvSpPr>
          <p:cNvPr id="7" name="Text 4"/>
          <p:cNvSpPr/>
          <p:nvPr/>
        </p:nvSpPr>
        <p:spPr>
          <a:xfrm>
            <a:off x="5284438" y="4747661"/>
            <a:ext cx="1625595" cy="364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ko-KR" alt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2010~2022 자기주도·검색</a:t>
            </a:r>
            <a:endParaRPr lang="ko-KR" sz="1250" dirty="0"/>
          </a:p>
        </p:txBody>
      </p:sp>
      <p:sp>
        <p:nvSpPr>
          <p:cNvPr id="8" name="Text 5"/>
          <p:cNvSpPr/>
          <p:nvPr/>
        </p:nvSpPr>
        <p:spPr>
          <a:xfrm>
            <a:off x="7265355" y="1277638"/>
            <a:ext cx="1616713" cy="249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시대</a:t>
            </a:r>
            <a:endParaRPr lang="ko-KR" sz="1550" dirty="0"/>
          </a:p>
        </p:txBody>
      </p:sp>
      <p:sp>
        <p:nvSpPr>
          <p:cNvPr id="9" name="Text 6"/>
          <p:cNvSpPr/>
          <p:nvPr/>
        </p:nvSpPr>
        <p:spPr>
          <a:xfrm>
            <a:off x="7265355" y="1598546"/>
            <a:ext cx="1616713" cy="364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ko-KR" alt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2023~현재 프로젝트·AI지휘</a:t>
            </a:r>
            <a:endParaRPr lang="ko-KR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01766"/>
            <a:ext cx="3548172" cy="9877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2847" y="5556945"/>
            <a:ext cx="3161626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1단계: 산업화 시대 (1970~2010)</a:t>
            </a:r>
            <a:endParaRPr lang="ko-KR" sz="1300" dirty="0"/>
          </a:p>
        </p:txBody>
      </p:sp>
      <p:sp>
        <p:nvSpPr>
          <p:cNvPr id="12" name="Text 8"/>
          <p:cNvSpPr/>
          <p:nvPr/>
        </p:nvSpPr>
        <p:spPr>
          <a:xfrm>
            <a:off x="892847" y="5837039"/>
            <a:ext cx="3161626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암기 중심, 객관식 평가. 교사가 정답을 알려준다. </a:t>
            </a:r>
            <a:pPr algn="l" indent="0" marL="0">
              <a:lnSpc>
                <a:spcPct val="122000"/>
              </a:lnSpc>
              <a:buNone/>
            </a:pPr>
            <a:r>
              <a:rPr lang="ko-KR" alt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"외워라, 시험에 나온다"</a:t>
            </a:r>
            <a:endParaRPr lang="ko-KR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1761" y="5401766"/>
            <a:ext cx="3548172" cy="9877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53134" y="5556945"/>
            <a:ext cx="3161626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2단계: 정보화 시대 (2010~2022)</a:t>
            </a:r>
            <a:endParaRPr lang="ko-KR" sz="1300" dirty="0"/>
          </a:p>
        </p:txBody>
      </p:sp>
      <p:sp>
        <p:nvSpPr>
          <p:cNvPr id="15" name="Text 10"/>
          <p:cNvSpPr/>
          <p:nvPr/>
        </p:nvSpPr>
        <p:spPr>
          <a:xfrm>
            <a:off x="4553134" y="5837039"/>
            <a:ext cx="3161626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자기주도학습, 수행평가 도입. 학생이 정보를 검색한다. </a:t>
            </a:r>
            <a:pPr algn="l" indent="0" marL="0">
              <a:lnSpc>
                <a:spcPct val="122000"/>
              </a:lnSpc>
              <a:buNone/>
            </a:pPr>
            <a:r>
              <a:rPr lang="ko-KR" alt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"검색해봐, 답이 있다"</a:t>
            </a:r>
            <a:endParaRPr lang="ko-KR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2048" y="5401766"/>
            <a:ext cx="3548172" cy="98772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13420" y="5556945"/>
            <a:ext cx="3161626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3단계: AI 시대 (2023~현재)</a:t>
            </a:r>
            <a:endParaRPr lang="ko-KR" sz="1300" dirty="0"/>
          </a:p>
        </p:txBody>
      </p:sp>
      <p:sp>
        <p:nvSpPr>
          <p:cNvPr id="18" name="Text 12"/>
          <p:cNvSpPr/>
          <p:nvPr/>
        </p:nvSpPr>
        <p:spPr>
          <a:xfrm>
            <a:off x="8213420" y="5837039"/>
            <a:ext cx="3161626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프로젝트 기반, 논술/서술/구술. 학생이 AI를 지휘하여 가치를 만든다. </a:t>
            </a:r>
            <a:pPr algn="l" indent="0" marL="0">
              <a:lnSpc>
                <a:spcPct val="122000"/>
              </a:lnSpc>
              <a:buNone/>
            </a:pPr>
            <a:r>
              <a:rPr lang="ko-KR" alt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"질문해라, 만들어라, 보여줘라"</a:t>
            </a:r>
            <a:endParaRPr lang="ko-KR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048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AI가 대체하는 것 vs 대체 못 하는 것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455267"/>
            <a:ext cx="5470785" cy="2712145"/>
          </a:xfrm>
          <a:prstGeom prst="roundRect">
            <a:avLst>
              <a:gd name="adj" fmla="val 915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620566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위험 영역 — AI가 대체하는 능력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050679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정보 검색/요약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번역/문법 교정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단순 코딩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데이터 정리/분석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객관식 문제 풀이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4753967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전통 수능 교육이 주로 가르치는 것. AI에 의해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가치가 사라지는 중.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620566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안전 영역 — AI가 대체 못 하는 능력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050679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문제 정의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"무엇이 문제인가?"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윤리적 판단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"이것이 옳은가?"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공감/설득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"왜 해야 하는가?"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오케스트레이션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"어떤 AI를 어떻게 쓸까?"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가치 판단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"무엇을 만들 것인가?"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4753967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IB/KB/프로젝트 교육이 가르치는 것. AI 시대에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가치가 폭등하는 중.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0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대체 가능성 — 구체적 수치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738511"/>
            <a:ext cx="10868745" cy="3381077"/>
          </a:xfrm>
          <a:prstGeom prst="roundRect">
            <a:avLst>
              <a:gd name="adj" fmla="val 73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22379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70589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18799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670102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5220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634309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8023" y="1744861"/>
            <a:ext cx="2713962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33317" y="1850430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능력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3381985" y="1744861"/>
            <a:ext cx="2713962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279" y="1850430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대체율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6095947" y="1744861"/>
            <a:ext cx="2713962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6261241" y="1850430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2030년 가치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8809909" y="1744861"/>
            <a:ext cx="2713962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8975203" y="1850430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어디서 키우나?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833317" y="2332534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지식 암기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3547279" y="2332534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100% 대체</a:t>
            </a:r>
            <a:endParaRPr 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6261241" y="2332534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75203" y="2332534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수능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833317" y="2814638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4지선다 풀이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3547279" y="2814638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90%+ 대체</a:t>
            </a:r>
            <a:endParaRPr lang="ko-KR" sz="1300" dirty="0"/>
          </a:p>
        </p:txBody>
      </p:sp>
      <p:sp>
        <p:nvSpPr>
          <p:cNvPr id="24" name="Text 22"/>
          <p:cNvSpPr/>
          <p:nvPr/>
        </p:nvSpPr>
        <p:spPr>
          <a:xfrm>
            <a:off x="6261241" y="2814638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75203" y="2814638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수능</a:t>
            </a:r>
            <a:endParaRPr lang="ko-KR" sz="1300" dirty="0"/>
          </a:p>
        </p:txBody>
      </p:sp>
      <p:sp>
        <p:nvSpPr>
          <p:cNvPr id="26" name="Text 24"/>
          <p:cNvSpPr/>
          <p:nvPr/>
        </p:nvSpPr>
        <p:spPr>
          <a:xfrm>
            <a:off x="833317" y="3296741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비판적 분석/논증</a:t>
            </a:r>
            <a:endParaRPr 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3547279" y="3296741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보조, 인간 필수</a:t>
            </a:r>
            <a:endParaRPr lang="ko-KR" sz="1300" dirty="0"/>
          </a:p>
        </p:txBody>
      </p:sp>
      <p:sp>
        <p:nvSpPr>
          <p:cNvPr id="28" name="Text 26"/>
          <p:cNvSpPr/>
          <p:nvPr/>
        </p:nvSpPr>
        <p:spPr>
          <a:xfrm>
            <a:off x="6261241" y="3296741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75203" y="3296741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IB/KB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3317" y="3778845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독창적 문제 정의</a:t>
            </a:r>
            <a:endParaRPr lang="ko-KR" sz="1300" dirty="0"/>
          </a:p>
        </p:txBody>
      </p:sp>
      <p:sp>
        <p:nvSpPr>
          <p:cNvPr id="31" name="Text 29"/>
          <p:cNvSpPr/>
          <p:nvPr/>
        </p:nvSpPr>
        <p:spPr>
          <a:xfrm>
            <a:off x="3547279" y="3778845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대체 불가</a:t>
            </a:r>
            <a:endParaRPr lang="ko-KR" sz="1300" dirty="0"/>
          </a:p>
        </p:txBody>
      </p:sp>
      <p:sp>
        <p:nvSpPr>
          <p:cNvPr id="32" name="Text 30"/>
          <p:cNvSpPr/>
          <p:nvPr/>
        </p:nvSpPr>
        <p:spPr>
          <a:xfrm>
            <a:off x="6261241" y="3778845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75203" y="3778845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프로젝트</a:t>
            </a:r>
            <a:endParaRPr lang="ko-KR" sz="1300" dirty="0"/>
          </a:p>
        </p:txBody>
      </p:sp>
      <p:sp>
        <p:nvSpPr>
          <p:cNvPr id="34" name="Text 32"/>
          <p:cNvSpPr/>
          <p:nvPr/>
        </p:nvSpPr>
        <p:spPr>
          <a:xfrm>
            <a:off x="833317" y="4260949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윤리적 가치 판단</a:t>
            </a:r>
            <a:endParaRPr lang="ko-KR" sz="1300" dirty="0"/>
          </a:p>
        </p:txBody>
      </p:sp>
      <p:sp>
        <p:nvSpPr>
          <p:cNvPr id="35" name="Text 33"/>
          <p:cNvSpPr/>
          <p:nvPr/>
        </p:nvSpPr>
        <p:spPr>
          <a:xfrm>
            <a:off x="3547279" y="4260949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대체 불가</a:t>
            </a:r>
            <a:endParaRPr lang="ko-KR" sz="1300" dirty="0"/>
          </a:p>
        </p:txBody>
      </p:sp>
      <p:sp>
        <p:nvSpPr>
          <p:cNvPr id="36" name="Text 34"/>
          <p:cNvSpPr/>
          <p:nvPr/>
        </p:nvSpPr>
        <p:spPr>
          <a:xfrm>
            <a:off x="6261241" y="4260949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975203" y="4260949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토론</a:t>
            </a:r>
            <a:endParaRPr lang="ko-KR" sz="1300" dirty="0"/>
          </a:p>
        </p:txBody>
      </p:sp>
      <p:sp>
        <p:nvSpPr>
          <p:cNvPr id="38" name="Text 36"/>
          <p:cNvSpPr/>
          <p:nvPr/>
        </p:nvSpPr>
        <p:spPr>
          <a:xfrm>
            <a:off x="833317" y="4743053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오케스트레이션</a:t>
            </a:r>
            <a:endParaRPr lang="ko-KR" sz="1300" dirty="0"/>
          </a:p>
        </p:txBody>
      </p:sp>
      <p:sp>
        <p:nvSpPr>
          <p:cNvPr id="39" name="Text 37"/>
          <p:cNvSpPr/>
          <p:nvPr/>
        </p:nvSpPr>
        <p:spPr>
          <a:xfrm>
            <a:off x="3547279" y="4743053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인간만 가능</a:t>
            </a:r>
            <a:endParaRPr lang="ko-KR" sz="1300" dirty="0"/>
          </a:p>
        </p:txBody>
      </p:sp>
      <p:sp>
        <p:nvSpPr>
          <p:cNvPr id="40" name="Text 38"/>
          <p:cNvSpPr/>
          <p:nvPr/>
        </p:nvSpPr>
        <p:spPr>
          <a:xfrm>
            <a:off x="6261241" y="4743053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975203" y="4743053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바이브 코딩</a:t>
            </a:r>
            <a:endParaRPr lang="ko-KR" sz="1300" dirty="0"/>
          </a:p>
        </p:txBody>
      </p:sp>
      <p:sp>
        <p:nvSpPr>
          <p:cNvPr id="42" name="Shape 40"/>
          <p:cNvSpPr/>
          <p:nvPr/>
        </p:nvSpPr>
        <p:spPr>
          <a:xfrm>
            <a:off x="661475" y="5305623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545336"/>
            <a:ext cx="206667" cy="16529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198731" y="551219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결론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수능이 측정하는 역량은 AI에 의해 대체된다. IB/KB가 훈련하는 역량은 AI가 대체할 수 없다.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557066"/>
            <a:ext cx="619110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332577" y="2606675"/>
            <a:ext cx="103026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2874566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읽고 듣는 시대에서,</a:t>
            </a:r>
            <a:endParaRPr lang="ko-KR" sz="44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쓰고 말하는 시대로</a:t>
            </a:r>
            <a:endParaRPr lang="ko-KR" sz="4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081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학생의 역할이 바뀐다 — 소비자에서 생산자로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55577"/>
            <a:ext cx="3622882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338236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과거 — 소비자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826769" y="3740051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읽기, 듣기, 외우기. 객관식 평가. 학생 발언 시간 하루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5~10분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주인공: 선생님.</a:t>
            </a:r>
            <a:endParaRPr lang="ko-KR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555577"/>
            <a:ext cx="3622882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9651" y="338236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현재 — 탐구자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449651" y="3740051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읽기 + 질문하기 + 정리하기. 서술형 + 수행평가. 전환기의 학생.</a:t>
            </a:r>
            <a:endParaRPr lang="ko-KR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555577"/>
            <a:ext cx="3622882" cy="661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533" y="338236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미래 — 생산자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072533" y="3740051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쓰기, 말하기, 만들기, 발표하기.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논술 + 구술 + 프로젝트. 학생 발언 시간 하루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120~180분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주인공: 학생.</a:t>
            </a:r>
            <a:endParaRPr lang="ko-KR" sz="1300" dirty="0"/>
          </a:p>
        </p:txBody>
      </p:sp>
      <p:sp>
        <p:nvSpPr>
          <p:cNvPr id="12" name="Text 7"/>
          <p:cNvSpPr/>
          <p:nvPr/>
        </p:nvSpPr>
        <p:spPr>
          <a:xfrm>
            <a:off x="661475" y="488523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정보 방향도 바뀐다 — 선생님→학생의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일방향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에서, 학생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학생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선생님의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다방향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으로.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71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수업이 어떻게 바뀌나 — 실제 데이터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0461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대구/제주 IB 학교 기준. 교사 강의가 80%에서 20%로, 학생 발언이 10분에서 3시간으로.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이게 교실의 혁명이다.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537916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80%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3290391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기존 교사 강의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648075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IB/KB에서는 20%로 감소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199132" y="2537916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80%</a:t>
            </a:r>
            <a:endParaRPr lang="en-US" sz="4250" dirty="0"/>
          </a:p>
        </p:txBody>
      </p:sp>
      <p:sp>
        <p:nvSpPr>
          <p:cNvPr id="8" name="Text 6"/>
          <p:cNvSpPr/>
          <p:nvPr/>
        </p:nvSpPr>
        <p:spPr>
          <a:xfrm>
            <a:off x="6199132" y="3290391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 학생 탐구/토론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199132" y="3648075"/>
            <a:ext cx="53310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기존 수업에서는 20%에 불과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4326037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0%</a:t>
            </a:r>
            <a:endParaRPr lang="en-US" sz="4250" dirty="0"/>
          </a:p>
        </p:txBody>
      </p:sp>
      <p:sp>
        <p:nvSpPr>
          <p:cNvPr id="11" name="Text 9"/>
          <p:cNvSpPr/>
          <p:nvPr/>
        </p:nvSpPr>
        <p:spPr>
          <a:xfrm>
            <a:off x="661475" y="5078512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 객관식 평가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661475" y="5436195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서술/논술/구술형 100%</a:t>
            </a:r>
            <a:endParaRPr 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6199132" y="4326037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ko-KR" alt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3시간</a:t>
            </a:r>
            <a:endParaRPr lang="ko-KR" sz="4250" dirty="0"/>
          </a:p>
        </p:txBody>
      </p:sp>
      <p:sp>
        <p:nvSpPr>
          <p:cNvPr id="14" name="Text 12"/>
          <p:cNvSpPr/>
          <p:nvPr/>
        </p:nvSpPr>
        <p:spPr>
          <a:xfrm>
            <a:off x="6199132" y="5078512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 학생 발언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6199132" y="5436195"/>
            <a:ext cx="53310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기존 수업에서는 하루 5~10분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25662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지식의 벽이 무너지고 있다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255738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과거 — 지식에는 벽이 있었다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5233360" y="2679502"/>
            <a:ext cx="2946723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좋은 대학 교수님만 아는 지식이 있었다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비싼 교과서를 사야 배울 수 있었다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영어를 못하면 해외 논문을 읽을 수 없었다</a:t>
            </a:r>
            <a:endParaRPr lang="ko-KR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4002484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지식을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"가진 사람"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이겼다. 그래서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"암기"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 중요했다.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8589847" y="2255738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현재 — 지식의 벽이 사라졌다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8589847" y="2679502"/>
            <a:ext cx="2946723" cy="20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AI한테 물어보면 대학 교수 수준의 설명을 받는다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한국어로 물어봐도 영어 논문을 요약해준다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서울이든 제주든, 인터넷만 되면 같은 정보를 얻는다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무료다.</a:t>
            </a:r>
            <a:endParaRPr lang="ko-KR" sz="1300" dirty="0"/>
          </a:p>
        </p:txBody>
      </p:sp>
      <p:sp>
        <p:nvSpPr>
          <p:cNvPr id="9" name="Text 6"/>
          <p:cNvSpPr/>
          <p:nvPr/>
        </p:nvSpPr>
        <p:spPr>
          <a:xfrm>
            <a:off x="8589847" y="4854178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지식을 아는 것은 더 이상 힘이 아니다. 지식을 가지고 뭘 만드느냐가 힘이다.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796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AI로 맞춤형 질문과 답변이 가능한 시대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95388"/>
            <a:ext cx="10868745" cy="2867223"/>
          </a:xfrm>
          <a:prstGeom prst="roundRect">
            <a:avLst>
              <a:gd name="adj" fmla="val 8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001738"/>
            <a:ext cx="10854954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4310" y="210730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구분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4455406" y="2107307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학원/과외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8073327" y="210730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학습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67825" y="2477492"/>
            <a:ext cx="10854954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4310" y="2583061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비용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4455406" y="2583061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월 30~100만원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8073327" y="2583061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무료~월 3만원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7825" y="2953246"/>
            <a:ext cx="10854954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34310" y="3058815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시간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4455406" y="3058815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정해진 시간에만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8073327" y="3058815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24시간 아무 때나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67825" y="3429000"/>
            <a:ext cx="10854954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4310" y="3534569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수준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4455406" y="3534569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반 전체 같은 수준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8073327" y="3534569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나에게 맞춘 수준</a:t>
            </a:r>
            <a:endParaRPr lang="ko-KR" sz="1300" dirty="0"/>
          </a:p>
        </p:txBody>
      </p:sp>
      <p:sp>
        <p:nvSpPr>
          <p:cNvPr id="20" name="Shape 18"/>
          <p:cNvSpPr/>
          <p:nvPr/>
        </p:nvSpPr>
        <p:spPr>
          <a:xfrm>
            <a:off x="667825" y="3904754"/>
            <a:ext cx="10854954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34310" y="4010323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질문 횟수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4455406" y="4010323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제한적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8073327" y="4010323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무제한 (모델 제한)</a:t>
            </a:r>
            <a:endParaRPr lang="ko-KR" sz="1300" dirty="0"/>
          </a:p>
        </p:txBody>
      </p:sp>
      <p:sp>
        <p:nvSpPr>
          <p:cNvPr id="24" name="Shape 22"/>
          <p:cNvSpPr/>
          <p:nvPr/>
        </p:nvSpPr>
        <p:spPr>
          <a:xfrm>
            <a:off x="667825" y="4380508"/>
            <a:ext cx="10854954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4310" y="448607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반복 설명</a:t>
            </a:r>
            <a:endParaRPr lang="ko-KR" sz="1300" dirty="0"/>
          </a:p>
        </p:txBody>
      </p:sp>
      <p:sp>
        <p:nvSpPr>
          <p:cNvPr id="26" name="Text 24"/>
          <p:cNvSpPr/>
          <p:nvPr/>
        </p:nvSpPr>
        <p:spPr>
          <a:xfrm>
            <a:off x="4455406" y="4486077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눈치 보임</a:t>
            </a:r>
            <a:endParaRPr 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8073327" y="448607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100번 물어봐도 OK</a:t>
            </a:r>
            <a:endParaRPr lang="ko-KR" sz="1300" dirty="0"/>
          </a:p>
        </p:txBody>
      </p:sp>
      <p:sp>
        <p:nvSpPr>
          <p:cNvPr id="28" name="Shape 26"/>
          <p:cNvSpPr/>
          <p:nvPr/>
        </p:nvSpPr>
        <p:spPr>
          <a:xfrm>
            <a:off x="661475" y="5048647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288359"/>
            <a:ext cx="206667" cy="16529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98731" y="525522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시대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모르면 → AI에 바로 질문(24시간, 무료) → "더 쉽게 설명해줘" → "파이썬으로 만들어봐" 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포기할 이유가 사라진다</a:t>
            </a:r>
            <a:endParaRPr 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85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하루 100개 질문 — AI 시대의 새로운 공부법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8596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피타고라스 정리 하나로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100개 질문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가능하다. 10개 질문 만에 수학 공식 → 실생활 → 역사 → 코딩 → 앱 아이디어까지 간다.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985022"/>
            <a:ext cx="10868745" cy="19050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2394485" y="3488928"/>
            <a:ext cx="19050" cy="496094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6" name="Shape 4"/>
          <p:cNvSpPr/>
          <p:nvPr/>
        </p:nvSpPr>
        <p:spPr>
          <a:xfrm>
            <a:off x="2217980" y="379898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2279990" y="382999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26769" y="2436614"/>
            <a:ext cx="315448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Q1 — 수학 기초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826769" y="2794298"/>
            <a:ext cx="315448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"피타고라스 정리가 뭐야? 12살이 이해할 수 있게"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4240305" y="3985022"/>
            <a:ext cx="19050" cy="496094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11" name="Shape 9"/>
          <p:cNvSpPr/>
          <p:nvPr/>
        </p:nvSpPr>
        <p:spPr>
          <a:xfrm>
            <a:off x="4063799" y="379898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4125809" y="382999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672589" y="4646513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Q5 — 게임 개발</a:t>
            </a:r>
            <a:endParaRPr lang="ko-KR" sz="1600" dirty="0"/>
          </a:p>
        </p:txBody>
      </p:sp>
      <p:sp>
        <p:nvSpPr>
          <p:cNvPr id="14" name="Text 12"/>
          <p:cNvSpPr/>
          <p:nvPr/>
        </p:nvSpPr>
        <p:spPr>
          <a:xfrm>
            <a:off x="2672589" y="5004197"/>
            <a:ext cx="31545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"게임에서 캐릭터 사이 거리 구할 때 쓴다고?"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086224" y="3488928"/>
            <a:ext cx="19050" cy="496094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5909718" y="379898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5971728" y="382999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518507" y="2436614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Q6 — 코딩</a:t>
            </a:r>
            <a:endParaRPr lang="ko-KR" sz="1600" dirty="0"/>
          </a:p>
        </p:txBody>
      </p:sp>
      <p:sp>
        <p:nvSpPr>
          <p:cNvPr id="19" name="Text 17"/>
          <p:cNvSpPr/>
          <p:nvPr/>
        </p:nvSpPr>
        <p:spPr>
          <a:xfrm>
            <a:off x="4518507" y="2794298"/>
            <a:ext cx="31545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"파이썬으로 거리 계산 코드 보여줘"</a:t>
            </a:r>
            <a:endParaRPr lang="ko-KR" sz="1300" dirty="0"/>
          </a:p>
        </p:txBody>
      </p:sp>
      <p:sp>
        <p:nvSpPr>
          <p:cNvPr id="20" name="Shape 18"/>
          <p:cNvSpPr/>
          <p:nvPr/>
        </p:nvSpPr>
        <p:spPr>
          <a:xfrm>
            <a:off x="7932142" y="3985022"/>
            <a:ext cx="19050" cy="496094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55636" y="379898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7817647" y="382999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364426" y="4646513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Q50 — 심화 수학</a:t>
            </a:r>
            <a:endParaRPr lang="ko-KR" sz="1600" dirty="0"/>
          </a:p>
        </p:txBody>
      </p:sp>
      <p:sp>
        <p:nvSpPr>
          <p:cNvPr id="24" name="Text 22"/>
          <p:cNvSpPr/>
          <p:nvPr/>
        </p:nvSpPr>
        <p:spPr>
          <a:xfrm>
            <a:off x="6364426" y="5004197"/>
            <a:ext cx="31545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"3D로 확장하면?"</a:t>
            </a:r>
            <a:endParaRPr lang="ko-KR" sz="1300" dirty="0"/>
          </a:p>
        </p:txBody>
      </p:sp>
      <p:sp>
        <p:nvSpPr>
          <p:cNvPr id="25" name="Shape 23"/>
          <p:cNvSpPr/>
          <p:nvPr/>
        </p:nvSpPr>
        <p:spPr>
          <a:xfrm>
            <a:off x="9778061" y="3488928"/>
            <a:ext cx="19050" cy="496094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555" y="379898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27" name="Text 25"/>
          <p:cNvSpPr/>
          <p:nvPr/>
        </p:nvSpPr>
        <p:spPr>
          <a:xfrm>
            <a:off x="9663565" y="382999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210345" y="2436614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Q100 — 기획</a:t>
            </a:r>
            <a:endParaRPr lang="ko-KR" sz="1600" dirty="0"/>
          </a:p>
        </p:txBody>
      </p:sp>
      <p:sp>
        <p:nvSpPr>
          <p:cNvPr id="29" name="Text 27"/>
          <p:cNvSpPr/>
          <p:nvPr/>
        </p:nvSpPr>
        <p:spPr>
          <a:xfrm>
            <a:off x="8210345" y="2794298"/>
            <a:ext cx="31545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"이 개념으로 앱 기획서 만들어줘"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661475" y="545484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매일 100개씩 하면 1달이면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3,000개 질문.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질문하는 능력 자체가 실력이 되는 시대다.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08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AI한테 잘 물어보는 법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68302"/>
            <a:ext cx="10868745" cy="2946102"/>
          </a:xfrm>
          <a:prstGeom prst="roundRect">
            <a:avLst>
              <a:gd name="adj" fmla="val 84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45358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93568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68240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164509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8023" y="1974652"/>
            <a:ext cx="1925788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33317" y="2080220"/>
            <a:ext cx="2204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나쁜 질문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2593811" y="1974652"/>
            <a:ext cx="4465030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2759105" y="2080220"/>
            <a:ext cx="47440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좋은 질문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7058841" y="1974652"/>
            <a:ext cx="4465030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7224135" y="2080220"/>
            <a:ext cx="47440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왜 다른가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833317" y="2562324"/>
            <a:ext cx="2204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"피타고라스 알려줘"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2759105" y="2562324"/>
            <a:ext cx="47440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"피타고라스 정리를 12살이 이해할 수 있게 비유로 설명해줘"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7224135" y="2562324"/>
            <a:ext cx="47440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구체적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일수록 답이 좋다</a:t>
            </a:r>
            <a:endParaRPr lang="ko-KR" sz="1300" dirty="0"/>
          </a:p>
        </p:txBody>
      </p:sp>
      <p:sp>
        <p:nvSpPr>
          <p:cNvPr id="17" name="Text 15"/>
          <p:cNvSpPr/>
          <p:nvPr/>
        </p:nvSpPr>
        <p:spPr>
          <a:xfrm>
            <a:off x="833317" y="3044428"/>
            <a:ext cx="2204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"코드 짜줘"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2759105" y="3044428"/>
            <a:ext cx="41344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"급식 별점 앱인데, 별점은 1~5점이고, 제출 버튼이 있어. Python Streamlit으로"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7224135" y="3044428"/>
            <a:ext cx="47440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맥락과 조건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을 알려줘야</a:t>
            </a:r>
            <a:endParaRPr 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833317" y="3791148"/>
            <a:ext cx="2204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"이거 왜 안 돼?"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2759105" y="3791148"/>
            <a:ext cx="47440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"이 에러 메시지가 떴는데, 원인이 뭐고 어떻게 고쳐?"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7224135" y="3791148"/>
            <a:ext cx="47440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문제를 정확히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설명해야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833317" y="4273252"/>
            <a:ext cx="2204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"작문해줘"</a:t>
            </a:r>
            <a:endParaRPr lang="ko-KR" sz="1300" dirty="0"/>
          </a:p>
        </p:txBody>
      </p:sp>
      <p:sp>
        <p:nvSpPr>
          <p:cNvPr id="24" name="Text 22"/>
          <p:cNvSpPr/>
          <p:nvPr/>
        </p:nvSpPr>
        <p:spPr>
          <a:xfrm>
            <a:off x="2759105" y="4273252"/>
            <a:ext cx="41344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"환경 문제 찬반 논점 3개씩, 내 입장 논증하는 에세이 구조 잡아줘"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7224135" y="4273252"/>
            <a:ext cx="47440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AI를 도구로 쓰되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생각은 내가</a:t>
            </a:r>
            <a:endParaRPr lang="ko-KR" sz="1300" dirty="0"/>
          </a:p>
        </p:txBody>
      </p:sp>
      <p:sp>
        <p:nvSpPr>
          <p:cNvPr id="26" name="Shape 24"/>
          <p:cNvSpPr/>
          <p:nvPr/>
        </p:nvSpPr>
        <p:spPr>
          <a:xfrm>
            <a:off x="661475" y="5100439"/>
            <a:ext cx="19050" cy="636687"/>
          </a:xfrm>
          <a:prstGeom prst="roundRect">
            <a:avLst>
              <a:gd name="adj" fmla="val 59999"/>
            </a:avLst>
          </a:prstGeom>
          <a:solidFill>
            <a:srgbClr val="3257B8"/>
          </a:solidFill>
          <a:ln/>
        </p:spPr>
      </p:sp>
      <p:sp>
        <p:nvSpPr>
          <p:cNvPr id="27" name="Text 25"/>
          <p:cNvSpPr/>
          <p:nvPr/>
        </p:nvSpPr>
        <p:spPr>
          <a:xfrm>
            <a:off x="909516" y="5286474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AI는 네가 물어보는 만큼만 알려준다. 잘 물어보는 사람이 더 많이 배운다.</a:t>
            </a:r>
            <a:endParaRPr lang="ko-KR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557066"/>
            <a:ext cx="619110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332577" y="2606675"/>
            <a:ext cx="103026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2874566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IB에 열광하고,</a:t>
            </a:r>
            <a:endParaRPr lang="ko-KR" sz="44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KB로 바뀌려는 이유</a:t>
            </a:r>
            <a:endParaRPr lang="ko-KR" sz="4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78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IB(국제 바칼로레아)란 무엇인가?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8788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 기본 정보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711648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만든 곳: 스위스 IBO (1968년 설립)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사용 국가: 전 세계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160개국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5,700개+ 학교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한국 현황: 전국 386교 도입 (인증 106교)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평가 방식: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서술형 100%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객관식 단 하나도 없다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10894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왜 IB에 열광하나?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4532709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 졸업생의 대학 중퇴율이 일반 학생보다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30~40% 낮다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 졸업생의 대학 1학년 GPA가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0.3~0.5점 높다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수능 없이 서울대에 합격한 사례가 나왔다 (표선고)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2122587"/>
            <a:ext cx="5470785" cy="3377505"/>
          </a:xfrm>
          <a:prstGeom prst="roundRect">
            <a:avLst>
              <a:gd name="adj" fmla="val 735"/>
            </a:avLst>
          </a:prstGeom>
          <a:solidFill>
            <a:srgbClr val="3257B8"/>
          </a:solidFill>
          <a:ln/>
        </p:spPr>
      </p:sp>
      <p:sp>
        <p:nvSpPr>
          <p:cNvPr id="8" name="Text 6"/>
          <p:cNvSpPr/>
          <p:nvPr/>
        </p:nvSpPr>
        <p:spPr>
          <a:xfrm>
            <a:off x="6350139" y="228788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IB의 핵심 3가지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2711648"/>
            <a:ext cx="5140196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EE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(Extended Essay)</a:t>
            </a:r>
            <a:endParaRPr lang="ko-KR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4,000단어 연구 논문 — 대학 졸업 논문의 고등학생 버전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TOK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(Theory of Knowledge)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"우리는 어떻게 아는가?" 탐구 — 정답이 아니라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"좋은 질문"을 만드는 훈련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CAS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(Creativity, Activity, Service)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18개월 창의/활동/봉사 — 만들고, 움직이고, 도우며 성장하기</a:t>
            </a:r>
            <a:endParaRPr lang="ko-KR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796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 학생의 하루 vs 일반고 학생의 하루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95388"/>
            <a:ext cx="10868745" cy="2867223"/>
          </a:xfrm>
          <a:prstGeom prst="roundRect">
            <a:avLst>
              <a:gd name="adj" fmla="val 8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001738"/>
            <a:ext cx="10854954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4310" y="210730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시간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4455406" y="2107307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일반고 학생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8073327" y="210730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IB 학생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67825" y="2477492"/>
            <a:ext cx="10854954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4310" y="2583061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오전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4455406" y="2583061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선생님 강의를 듣는다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8073327" y="2583061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토론하고 발표한다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7825" y="2953246"/>
            <a:ext cx="10854954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34310" y="3058815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오후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4455406" y="3058815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문제집을 푼다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8073327" y="3058815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실험하고 에세이를 쓴다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67825" y="3429000"/>
            <a:ext cx="10854954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4310" y="3534569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방과후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4455406" y="3534569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학원에 간다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8073327" y="3534569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CAS 프로젝트를 한다</a:t>
            </a:r>
            <a:endParaRPr lang="ko-KR" sz="1300" dirty="0"/>
          </a:p>
        </p:txBody>
      </p:sp>
      <p:sp>
        <p:nvSpPr>
          <p:cNvPr id="20" name="Shape 18"/>
          <p:cNvSpPr/>
          <p:nvPr/>
        </p:nvSpPr>
        <p:spPr>
          <a:xfrm>
            <a:off x="667825" y="3904754"/>
            <a:ext cx="10854954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34310" y="4010323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저녁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4455406" y="4010323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인강을 듣는다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8073327" y="4010323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AI한테 물어보며 EE를 쓴다</a:t>
            </a:r>
            <a:endParaRPr lang="ko-KR" sz="1300" dirty="0"/>
          </a:p>
        </p:txBody>
      </p:sp>
      <p:sp>
        <p:nvSpPr>
          <p:cNvPr id="24" name="Shape 22"/>
          <p:cNvSpPr/>
          <p:nvPr/>
        </p:nvSpPr>
        <p:spPr>
          <a:xfrm>
            <a:off x="667825" y="4380508"/>
            <a:ext cx="10854954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4310" y="448607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시험</a:t>
            </a:r>
            <a:endParaRPr lang="ko-KR" sz="1300" dirty="0"/>
          </a:p>
        </p:txBody>
      </p:sp>
      <p:sp>
        <p:nvSpPr>
          <p:cNvPr id="26" name="Text 24"/>
          <p:cNvSpPr/>
          <p:nvPr/>
        </p:nvSpPr>
        <p:spPr>
          <a:xfrm>
            <a:off x="4455406" y="4486077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객관식을 찍는다</a:t>
            </a:r>
            <a:endParaRPr 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8073327" y="448607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논술로 논증한다</a:t>
            </a:r>
            <a:endParaRPr lang="ko-KR" sz="1300" dirty="0"/>
          </a:p>
        </p:txBody>
      </p:sp>
      <p:sp>
        <p:nvSpPr>
          <p:cNvPr id="28" name="Shape 26"/>
          <p:cNvSpPr/>
          <p:nvPr/>
        </p:nvSpPr>
        <p:spPr>
          <a:xfrm>
            <a:off x="661475" y="5048647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288359"/>
            <a:ext cx="206667" cy="16529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98731" y="525522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시대의 공부는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읽고 외우는 것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아니라,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질문하고, 만들고, 보여주는 것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이다. 지금 이 수업이 그 첫걸음이다.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2026-07-21T11:14:33Z</dcterms:created>
  <dcterms:modified xsi:type="dcterms:W3CDTF">2026-07-21T11:14:33Z</dcterms:modified>
</cp:coreProperties>
</file>