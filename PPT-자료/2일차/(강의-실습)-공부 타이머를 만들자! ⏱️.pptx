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y="5143500" cx="9144000"/>
  <p:notesSz cx="5143500" cy="9144000"/>
  <p:embeddedFontLst>
    <p:embeddedFont>
      <p:font typeface="Roboto Slab"/>
      <p:regular r:id="rId45"/>
      <p:bold r:id="rId46"/>
    </p:embeddedFont>
    <p:embeddedFont>
      <p:font typeface="Roboto Slab Light"/>
      <p:regular r:id="rId47"/>
      <p:bold r:id="rId48"/>
    </p:embeddedFont>
    <p:embeddedFont>
      <p:font typeface="Roboto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font" Target="fonts/RobotoSlab-bold.fntdata"/><Relationship Id="rId45" Type="http://schemas.openxmlformats.org/officeDocument/2006/relationships/font" Target="fonts/RobotoSlab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RobotoSlabLight-bold.fntdata"/><Relationship Id="rId47" Type="http://schemas.openxmlformats.org/officeDocument/2006/relationships/font" Target="fonts/RobotoSlabLight-regular.fntdata"/><Relationship Id="rId49" Type="http://schemas.openxmlformats.org/officeDocument/2006/relationships/font" Target="fonts/Robot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Roboto-italic.fntdata"/><Relationship Id="rId50" Type="http://schemas.openxmlformats.org/officeDocument/2006/relationships/font" Target="fonts/Roboto-bold.fntdata"/><Relationship Id="rId52" Type="http://schemas.openxmlformats.org/officeDocument/2006/relationships/font" Target="fonts/Roboto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f59a37937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g3f59a37937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g3f59a37937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f59a379371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g3f59a379371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g3f59a379371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f59a379371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g3f59a379371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g3f59a379371_0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f59a379371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g3f59a379371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g3f59a379371_0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f59a379371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5" name="Google Shape;685;g3f59a379371_0_1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g3f59a379371_0_1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f59a379371_0_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4" name="Google Shape;714;g3f59a379371_0_1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g3f59a379371_0_1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f59a379371_0_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1" name="Google Shape;741;g3f59a379371_0_1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g3f59a379371_0_1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f59a379371_0_1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9" name="Google Shape;769;g3f59a379371_0_1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g3f59a379371_0_1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f59a379371_0_2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0" name="Google Shape;810;g3f59a379371_0_2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g3f59a379371_0_2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f59a379371_0_2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0" name="Google Shape;840;g3f59a379371_0_2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g3f59a379371_0_2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f59a379371_0_2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0" name="Google Shape;870;g3f59a379371_0_2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g3f59a379371_0_2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3f59a379371_0_3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4" name="Google Shape;894;g3f59a379371_0_3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g3f59a379371_0_3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f59a379371_0_3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5" name="Google Shape;915;g3f59a379371_0_3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g3f59a379371_0_3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f59a379371_0_3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0" name="Google Shape;940;g3f59a379371_0_3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g3f59a379371_0_3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3f59a379371_0_3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9" name="Google Shape;969;g3f59a379371_0_3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g3f59a379371_0_3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f59a379371_0_4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7" name="Google Shape;1007;g3f59a379371_0_4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g3f59a379371_0_4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3f59a379371_0_4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6" name="Google Shape;1046;g3f59a379371_0_4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g3f59a379371_0_4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f59a379371_0_4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2" name="Google Shape;1082;g3f59a379371_0_4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g3f59a379371_0_4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3f59a379371_0_5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9" name="Google Shape;1109;g3f59a379371_0_5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g3f59a379371_0_5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3f59a379371_0_5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6" name="Google Shape;1136;g3f59a379371_0_5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g3f59a379371_0_5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jp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jp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6.jpg"/><Relationship Id="rId4" Type="http://schemas.openxmlformats.org/officeDocument/2006/relationships/image" Target="../media/image22.png"/><Relationship Id="rId5" Type="http://schemas.openxmlformats.org/officeDocument/2006/relationships/image" Target="../media/image18.png"/><Relationship Id="rId6" Type="http://schemas.openxmlformats.org/officeDocument/2006/relationships/image" Target="../media/image23.png"/><Relationship Id="rId7" Type="http://schemas.openxmlformats.org/officeDocument/2006/relationships/image" Target="../media/image19.png"/><Relationship Id="rId8" Type="http://schemas.openxmlformats.org/officeDocument/2006/relationships/image" Target="../media/image5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3.jpg"/><Relationship Id="rId4" Type="http://schemas.openxmlformats.org/officeDocument/2006/relationships/image" Target="../media/image3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jpg"/><Relationship Id="rId4" Type="http://schemas.openxmlformats.org/officeDocument/2006/relationships/image" Target="../media/image3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2.png"/><Relationship Id="rId4" Type="http://schemas.openxmlformats.org/officeDocument/2006/relationships/image" Target="../media/image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4.png"/><Relationship Id="rId4" Type="http://schemas.openxmlformats.org/officeDocument/2006/relationships/image" Target="../media/image4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7.jpg"/><Relationship Id="rId4" Type="http://schemas.openxmlformats.org/officeDocument/2006/relationships/image" Target="../media/image6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3.jpg"/><Relationship Id="rId4" Type="http://schemas.openxmlformats.org/officeDocument/2006/relationships/image" Target="../media/image37.png"/><Relationship Id="rId5" Type="http://schemas.openxmlformats.org/officeDocument/2006/relationships/image" Target="../media/image60.png"/><Relationship Id="rId6" Type="http://schemas.openxmlformats.org/officeDocument/2006/relationships/image" Target="../media/image52.png"/><Relationship Id="rId7" Type="http://schemas.openxmlformats.org/officeDocument/2006/relationships/image" Target="../media/image46.png"/><Relationship Id="rId8" Type="http://schemas.openxmlformats.org/officeDocument/2006/relationships/image" Target="../media/image5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5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8.png"/><Relationship Id="rId7" Type="http://schemas.openxmlformats.org/officeDocument/2006/relationships/image" Target="../media/image59.png"/><Relationship Id="rId8" Type="http://schemas.openxmlformats.org/officeDocument/2006/relationships/image" Target="../media/image5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8.jpg"/><Relationship Id="rId4" Type="http://schemas.openxmlformats.org/officeDocument/2006/relationships/image" Target="../media/image50.png"/><Relationship Id="rId5" Type="http://schemas.openxmlformats.org/officeDocument/2006/relationships/image" Target="../media/image56.png"/><Relationship Id="rId6" Type="http://schemas.openxmlformats.org/officeDocument/2006/relationships/image" Target="../media/image49.png"/><Relationship Id="rId7" Type="http://schemas.openxmlformats.org/officeDocument/2006/relationships/image" Target="../media/image62.png"/><Relationship Id="rId8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3925119" y="377800"/>
            <a:ext cx="4722763" cy="372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50"/>
              <a:buFont typeface="Roboto Slab"/>
              <a:buNone/>
            </a:pPr>
            <a:r>
              <a:rPr b="1" i="0" lang="ko-KR" sz="26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공부 타이머를 만들자! </a:t>
            </a:r>
            <a:r>
              <a:rPr b="1" i="0" lang="ko-KR" sz="26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⏱️</a:t>
            </a:r>
            <a:endParaRPr b="1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3925119" y="1213396"/>
            <a:ext cx="4722763" cy="669280"/>
          </a:xfrm>
          <a:prstGeom prst="roundRect">
            <a:avLst>
              <a:gd fmla="val 260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4041353" y="1329630"/>
            <a:ext cx="4490293" cy="19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Slab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👥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대상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4041353" y="1619682"/>
            <a:ext cx="44904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중학교 1~2학년 5명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3925119" y="1991692"/>
            <a:ext cx="4722763" cy="669280"/>
          </a:xfrm>
          <a:prstGeom prst="roundRect">
            <a:avLst>
              <a:gd fmla="val 260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4041353" y="2107927"/>
            <a:ext cx="4490293" cy="19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Slab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⏰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시간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041353" y="2397979"/>
            <a:ext cx="44904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2시간 (1교시 + 2교시)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3925119" y="2769989"/>
            <a:ext cx="4722763" cy="669280"/>
          </a:xfrm>
          <a:prstGeom prst="roundRect">
            <a:avLst>
              <a:gd fmla="val 260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4041353" y="2886224"/>
            <a:ext cx="4490293" cy="19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Slab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🛠️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도구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041353" y="3176276"/>
            <a:ext cx="44904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VSCode + Python(Flask) + HTML/CSS/JS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925119" y="3548286"/>
            <a:ext cx="4722763" cy="669280"/>
          </a:xfrm>
          <a:prstGeom prst="roundRect">
            <a:avLst>
              <a:gd fmla="val 260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4041353" y="3664521"/>
            <a:ext cx="4490293" cy="19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 Slab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🎯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핵심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041353" y="3954572"/>
            <a:ext cx="44904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lang="ko-KR" sz="1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가짜 </a:t>
            </a:r>
            <a:r>
              <a:rPr b="1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데이터로 화면 완성!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925119" y="4340200"/>
            <a:ext cx="14288" cy="425500"/>
          </a:xfrm>
          <a:prstGeom prst="roundRect">
            <a:avLst>
              <a:gd fmla="val 5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4099545" y="4462835"/>
            <a:ext cx="5005536" cy="180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1" i="0" lang="ko-KR" sz="13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💡</a:t>
            </a:r>
            <a:r>
              <a:rPr b="1" i="0" lang="ko-KR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"오늘은 </a:t>
            </a:r>
            <a:r>
              <a:rPr b="1" i="0" lang="ko-KR" sz="13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화면을 직접</a:t>
            </a:r>
            <a:r>
              <a:rPr b="1" i="0" lang="ko-KR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만든다!"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496119" y="348183"/>
            <a:ext cx="8151763" cy="347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050"/>
              <a:buFont typeface="Roboto Slab"/>
              <a:buNone/>
            </a:pPr>
            <a:r>
              <a:rPr b="1" i="0" lang="ko-KR" sz="20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1일차에서 한 것 </a:t>
            </a:r>
            <a:r>
              <a:rPr b="1" i="0" lang="ko-KR" sz="20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🔍</a:t>
            </a:r>
            <a:endParaRPr b="1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496119" y="878756"/>
            <a:ext cx="640482" cy="161851"/>
          </a:xfrm>
          <a:prstGeom prst="roundRect">
            <a:avLst>
              <a:gd fmla="val 7904" name="adj"/>
            </a:avLst>
          </a:prstGeom>
          <a:noFill/>
          <a:ln cap="flat" cmpd="sng" w="952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560040" y="910679"/>
            <a:ext cx="969838" cy="98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650"/>
              <a:buFont typeface="Roboto"/>
              <a:buNone/>
            </a:pPr>
            <a:r>
              <a:rPr b="0" i="0" lang="ko-KR" sz="6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지난 시간 복습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" name="Google Shape;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2407" y="1154752"/>
            <a:ext cx="6339183" cy="2901254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/>
          <p:nvPr/>
        </p:nvSpPr>
        <p:spPr>
          <a:xfrm>
            <a:off x="6256361" y="3076962"/>
            <a:ext cx="1190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1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대시보드 구경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4756456" y="3076962"/>
            <a:ext cx="1190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1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타이머 선택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3264702" y="3076962"/>
            <a:ext cx="1190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1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AI 시대 이해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1740341" y="3076962"/>
            <a:ext cx="11901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1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1일차 복습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560044" y="3778478"/>
            <a:ext cx="86091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1일차에는 AI 시대에 코딩이 어떻게 달라졌는지 배우고, 만들 프로젝트로 </a:t>
            </a:r>
            <a:r>
              <a:rPr b="1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b="1" i="0" lang="ko-KR" sz="11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공부 타이머</a:t>
            </a:r>
            <a:r>
              <a:rPr b="1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를 선택했어요. </a:t>
            </a:r>
            <a:b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그리고 완성된 통계 대시보드 화면이 어떻게 생겼는지 구경했죠.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496119" y="4409405"/>
            <a:ext cx="8151763" cy="385837"/>
          </a:xfrm>
          <a:prstGeom prst="roundRect">
            <a:avLst>
              <a:gd fmla="val 414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" name="Google Shape;5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679" y="4558903"/>
            <a:ext cx="133201" cy="106561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5"/>
          <p:cNvSpPr/>
          <p:nvPr/>
        </p:nvSpPr>
        <p:spPr>
          <a:xfrm>
            <a:off x="842442" y="4527649"/>
            <a:ext cx="8156079" cy="15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oboto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오늘은 지난 시간에 구경만 했던 것을 </a:t>
            </a:r>
            <a:r>
              <a:rPr b="1" i="0" lang="ko-KR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진짜로 만들어본다!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/>
          <p:nvPr/>
        </p:nvSpPr>
        <p:spPr>
          <a:xfrm>
            <a:off x="496119" y="352648"/>
            <a:ext cx="8151763" cy="385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350"/>
              <a:buFont typeface="Roboto Slab"/>
              <a:buNone/>
            </a:pPr>
            <a:r>
              <a:rPr b="1" i="0" lang="ko-KR" sz="2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오늘 할 것 4가지 </a:t>
            </a:r>
            <a:r>
              <a:rPr b="1" i="0" lang="ko-KR" sz="23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🎯</a:t>
            </a:r>
            <a:endParaRPr b="1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496119" y="970434"/>
            <a:ext cx="609823" cy="182538"/>
          </a:xfrm>
          <a:prstGeom prst="roundRect">
            <a:avLst>
              <a:gd fmla="val 7900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568151" y="1006450"/>
            <a:ext cx="922958" cy="1105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오늘의 목표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" name="Google Shape;6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283866"/>
            <a:ext cx="4017690" cy="1072307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6"/>
          <p:cNvSpPr/>
          <p:nvPr/>
        </p:nvSpPr>
        <p:spPr>
          <a:xfrm>
            <a:off x="2414811" y="1365721"/>
            <a:ext cx="180231" cy="22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630510" y="1774999"/>
            <a:ext cx="3748906" cy="187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1" i="0" lang="ko-KR" sz="1650" u="none" cap="none" strike="noStrike">
                <a:solidFill>
                  <a:srgbClr val="D73A49"/>
                </a:solidFill>
                <a:latin typeface="Roboto Slab"/>
                <a:ea typeface="Roboto Slab"/>
                <a:cs typeface="Roboto Slab"/>
                <a:sym typeface="Roboto Slab"/>
              </a:rPr>
              <a:t>기획</a:t>
            </a:r>
            <a:endParaRPr b="1" i="0" sz="1650" u="none" cap="none" strike="noStrike">
              <a:solidFill>
                <a:srgbClr val="D73A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19353" y="2054861"/>
            <a:ext cx="37488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페르소나 → 벤치마킹 → 유저 시나리오를 정한다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0192" y="1283866"/>
            <a:ext cx="4017690" cy="1072307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6"/>
          <p:cNvSpPr/>
          <p:nvPr/>
        </p:nvSpPr>
        <p:spPr>
          <a:xfrm>
            <a:off x="6548884" y="1365721"/>
            <a:ext cx="180231" cy="22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4764584" y="1774999"/>
            <a:ext cx="3748906" cy="187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1" i="0" lang="ko-KR" sz="1650" u="none" cap="none" strike="noStrike">
                <a:solidFill>
                  <a:srgbClr val="D73A49"/>
                </a:solidFill>
                <a:latin typeface="Roboto Slab"/>
                <a:ea typeface="Roboto Slab"/>
                <a:cs typeface="Roboto Slab"/>
                <a:sym typeface="Roboto Slab"/>
              </a:rPr>
              <a:t>셋팅</a:t>
            </a:r>
            <a:endParaRPr b="1" i="0" sz="1650" u="none" cap="none" strike="noStrike">
              <a:solidFill>
                <a:srgbClr val="D73A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4753427" y="2054861"/>
            <a:ext cx="37488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개발 환경을 셋팅하고 기본 서버를 실행한다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" name="Google Shape;6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472556"/>
            <a:ext cx="4017690" cy="1072307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6"/>
          <p:cNvSpPr/>
          <p:nvPr/>
        </p:nvSpPr>
        <p:spPr>
          <a:xfrm>
            <a:off x="2414811" y="2554412"/>
            <a:ext cx="180231" cy="22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630510" y="2963689"/>
            <a:ext cx="3748906" cy="187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1" i="0" lang="ko-KR" sz="1650" u="none" cap="none" strike="noStrike">
                <a:solidFill>
                  <a:srgbClr val="D73A49"/>
                </a:solidFill>
                <a:latin typeface="Roboto Slab"/>
                <a:ea typeface="Roboto Slab"/>
                <a:cs typeface="Roboto Slab"/>
                <a:sym typeface="Roboto Slab"/>
              </a:rPr>
              <a:t>개발</a:t>
            </a:r>
            <a:endParaRPr b="1" i="0" sz="1650" u="none" cap="none" strike="noStrike">
              <a:solidFill>
                <a:srgbClr val="D73A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619353" y="3243551"/>
            <a:ext cx="37488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더미 데이터로 프론트엔드 화면을 완성한다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" name="Google Shape;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0192" y="2472556"/>
            <a:ext cx="4017690" cy="1072307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6"/>
          <p:cNvSpPr/>
          <p:nvPr/>
        </p:nvSpPr>
        <p:spPr>
          <a:xfrm>
            <a:off x="6548884" y="2554412"/>
            <a:ext cx="180231" cy="225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0" i="0" lang="ko-KR" sz="14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4764584" y="2963689"/>
            <a:ext cx="3748906" cy="187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1" i="0" lang="ko-KR" sz="1650" u="none" cap="none" strike="noStrike">
                <a:solidFill>
                  <a:srgbClr val="D73A49"/>
                </a:solidFill>
                <a:latin typeface="Roboto Slab"/>
                <a:ea typeface="Roboto Slab"/>
                <a:cs typeface="Roboto Slab"/>
                <a:sym typeface="Roboto Slab"/>
              </a:rPr>
              <a:t>사이클</a:t>
            </a:r>
            <a:endParaRPr b="1" i="0" sz="1650" u="none" cap="none" strike="noStrike">
              <a:solidFill>
                <a:srgbClr val="D73A4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4753427" y="3243551"/>
            <a:ext cx="37488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"개발 → 테스트" 사이클을 반복 체험한다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409575" y="3675749"/>
            <a:ext cx="4102500" cy="1204500"/>
          </a:xfrm>
          <a:prstGeom prst="roundRect">
            <a:avLst>
              <a:gd fmla="val 1616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529679" y="3792141"/>
            <a:ext cx="3862164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✅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오늘 하는 것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529679" y="4101033"/>
            <a:ext cx="3862164" cy="649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1930" lvl="0" marL="18288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Char char="•"/>
            </a:pPr>
            <a:r>
              <a:rPr b="0" i="0" lang="ko-KR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화면(프론트엔드) 만들기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1930" lvl="0" marL="18288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Char char="•"/>
            </a:pPr>
            <a:r>
              <a:rPr b="0" i="0" lang="ko-KR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더미 데이터로 테스트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1930" lvl="0" marL="18288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Char char="•"/>
            </a:pPr>
            <a:r>
              <a:rPr b="0" i="0" lang="ko-KR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2개의 서버 실행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723358" y="3792141"/>
            <a:ext cx="3929286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❌</a:t>
            </a:r>
            <a:r>
              <a:rPr b="0" i="0" lang="ko-KR" sz="11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오늘 안 하는 것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4723350" y="4101024"/>
            <a:ext cx="39294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1930" lvl="0" marL="18288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"/>
              <a:buChar char="•"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데이터 저장 (백엔드)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1930" lvl="0" marL="18288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"/>
              <a:buChar char="•"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진짜 데이터 연동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1930" lvl="0" marL="18288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"/>
              <a:buChar char="•"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데이터베이스 연결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"/>
          <p:cNvSpPr/>
          <p:nvPr/>
        </p:nvSpPr>
        <p:spPr>
          <a:xfrm>
            <a:off x="496119" y="250400"/>
            <a:ext cx="8151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1" i="0" lang="ko-KR" sz="21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프론트엔드 vs 백엔드 </a:t>
            </a:r>
            <a:r>
              <a:rPr b="1" i="0" lang="ko-KR" sz="21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🍽️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496119" y="601712"/>
            <a:ext cx="429369" cy="94283"/>
          </a:xfrm>
          <a:prstGeom prst="roundRect">
            <a:avLst>
              <a:gd fmla="val 7894" name="adj"/>
            </a:avLst>
          </a:prstGeom>
          <a:noFill/>
          <a:ln cap="flat" cmpd="sng" w="952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533326" y="620316"/>
            <a:ext cx="812155" cy="57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350"/>
              <a:buFont typeface="Roboto"/>
              <a:buNone/>
            </a:pPr>
            <a:r>
              <a:rPr b="0" i="0" lang="ko-KR" sz="3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식당에 비유하면?</a:t>
            </a:r>
            <a:endParaRPr b="0" i="0" sz="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" name="Google Shape;8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730821"/>
            <a:ext cx="73152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7"/>
          <p:cNvSpPr/>
          <p:nvPr/>
        </p:nvSpPr>
        <p:spPr>
          <a:xfrm>
            <a:off x="496119" y="4880446"/>
            <a:ext cx="8608963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오늘은 </a:t>
            </a:r>
            <a:r>
              <a:rPr b="1" i="0" lang="ko-KR" sz="4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프론트엔드</a:t>
            </a:r>
            <a:r>
              <a:rPr b="0" i="0" lang="ko-KR" sz="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만 집중해요! 더미 데이터로 화면을 완성하고, 다음 시간에 백엔드를 연결하면 진짜로 동작하게 됩니다.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/>
          <p:nvPr/>
        </p:nvSpPr>
        <p:spPr>
          <a:xfrm>
            <a:off x="503269" y="694496"/>
            <a:ext cx="81519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9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더미 데이터란? </a:t>
            </a:r>
            <a:r>
              <a:rPr b="1" i="0" lang="ko-KR" sz="29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🎭</a:t>
            </a:r>
            <a:endParaRPr b="1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" name="Google Shape;97;p8"/>
          <p:cNvGrpSpPr/>
          <p:nvPr/>
        </p:nvGrpSpPr>
        <p:grpSpPr>
          <a:xfrm>
            <a:off x="496114" y="1483064"/>
            <a:ext cx="2614800" cy="261841"/>
            <a:chOff x="496119" y="1650504"/>
            <a:chExt cx="1883048" cy="188565"/>
          </a:xfrm>
        </p:grpSpPr>
        <p:sp>
          <p:nvSpPr>
            <p:cNvPr id="98" name="Google Shape;98;p8"/>
            <p:cNvSpPr/>
            <p:nvPr/>
          </p:nvSpPr>
          <p:spPr>
            <a:xfrm>
              <a:off x="496119" y="1650504"/>
              <a:ext cx="1500262" cy="188565"/>
            </a:xfrm>
            <a:prstGeom prst="roundRect">
              <a:avLst>
                <a:gd fmla="val 7894" name="adj"/>
              </a:avLst>
            </a:prstGeom>
            <a:solidFill>
              <a:srgbClr val="D7DFF4"/>
            </a:solidFill>
            <a:ln>
              <a:noFill/>
            </a:ln>
          </p:spPr>
          <p:txBody>
            <a:bodyPr anchorCtr="0" anchor="ctr" bIns="126950" lIns="126950" spcFirstLastPara="1" rIns="126950" wrap="square" tIns="126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570533" y="1687711"/>
              <a:ext cx="1808634" cy="1141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1041"/>
                <a:buFont typeface="Roboto"/>
                <a:buNone/>
              </a:pPr>
              <a:r>
                <a:rPr b="0" i="0" lang="ko-KR" sz="1041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가짜 데이터로 화면을 테스트한다</a:t>
              </a:r>
              <a:endParaRPr b="0" i="0" sz="104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8"/>
          <p:cNvSpPr/>
          <p:nvPr/>
        </p:nvSpPr>
        <p:spPr>
          <a:xfrm>
            <a:off x="496119" y="1978596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더미 데이터(dummy data)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= 화면이 잘 보이는지 확인하기 위해 미리 만들어 놓은 </a:t>
            </a:r>
            <a:r>
              <a:rPr b="1" i="0" lang="ko-KR" sz="12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가짜 데이터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8"/>
          <p:cNvSpPr/>
          <p:nvPr/>
        </p:nvSpPr>
        <p:spPr>
          <a:xfrm>
            <a:off x="496119" y="2316584"/>
            <a:ext cx="8151763" cy="1190774"/>
          </a:xfrm>
          <a:prstGeom prst="roundRect">
            <a:avLst>
              <a:gd fmla="val 1563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/>
          <p:cNvSpPr/>
          <p:nvPr/>
        </p:nvSpPr>
        <p:spPr>
          <a:xfrm>
            <a:off x="496119" y="2316584"/>
            <a:ext cx="4075881" cy="1190774"/>
          </a:xfrm>
          <a:prstGeom prst="rect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620092" y="2440558"/>
            <a:ext cx="382793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🎭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오늘 (더미)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620092" y="2713583"/>
            <a:ext cx="3827934" cy="669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JavaScript 변수에 가짜 숫자 저장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수학 25분, 영어 30분, 총 3시간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55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화면 테스트용 확인 숫자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4572000" y="2316584"/>
            <a:ext cx="4075881" cy="1190774"/>
          </a:xfrm>
          <a:prstGeom prst="rect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4572000" y="2316584"/>
            <a:ext cx="14288" cy="1190774"/>
          </a:xfrm>
          <a:prstGeom prst="roundRect">
            <a:avLst>
              <a:gd fmla="val 13022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4695974" y="2440558"/>
            <a:ext cx="382793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✅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다음 시간 (진짜)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4695974" y="2713583"/>
            <a:ext cx="3827934" cy="669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서버에 저장된 진짜 기록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타이머로 실제 잰 시간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55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자동 계산된 합계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496125" y="3646872"/>
            <a:ext cx="8151900" cy="669900"/>
          </a:xfrm>
          <a:prstGeom prst="roundRect">
            <a:avLst>
              <a:gd fmla="val 3752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0" name="Google Shape;11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3826669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8"/>
          <p:cNvSpPr/>
          <p:nvPr/>
        </p:nvSpPr>
        <p:spPr>
          <a:xfrm>
            <a:off x="899071" y="3801814"/>
            <a:ext cx="8082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💡 </a:t>
            </a:r>
            <a:r>
              <a:rPr b="1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비유: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가구 매장의 "모델 하우스" — 실제로 살지는 않지만 어떻게 보이는지 확인할 수 있어요. </a:t>
            </a:r>
            <a:b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       화면 구조는 더미나 진짜나 </a:t>
            </a:r>
            <a:r>
              <a:rPr b="1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똑같이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보입니다!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/>
          <p:nvPr/>
        </p:nvSpPr>
        <p:spPr>
          <a:xfrm>
            <a:off x="496119" y="254535"/>
            <a:ext cx="8151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800"/>
              <a:buFont typeface="Roboto Slab"/>
              <a:buNone/>
            </a:pPr>
            <a:r>
              <a:rPr b="1" i="0" lang="ko-KR" sz="2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오늘의 수업 흐름 📅</a:t>
            </a:r>
            <a:endParaRPr b="1" i="0" sz="2200" u="none" cap="none" strike="noStrike">
              <a:solidFill>
                <a:srgbClr val="3257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" name="Google Shape;118;p9"/>
          <p:cNvGrpSpPr/>
          <p:nvPr/>
        </p:nvGrpSpPr>
        <p:grpSpPr>
          <a:xfrm>
            <a:off x="496119" y="713804"/>
            <a:ext cx="1464212" cy="219829"/>
            <a:chOff x="496119" y="783580"/>
            <a:chExt cx="941858" cy="141387"/>
          </a:xfrm>
        </p:grpSpPr>
        <p:sp>
          <p:nvSpPr>
            <p:cNvPr id="119" name="Google Shape;119;p9"/>
            <p:cNvSpPr/>
            <p:nvPr/>
          </p:nvSpPr>
          <p:spPr>
            <a:xfrm>
              <a:off x="496119" y="783580"/>
              <a:ext cx="540469" cy="141387"/>
            </a:xfrm>
            <a:prstGeom prst="roundRect">
              <a:avLst>
                <a:gd fmla="val 7896" name="adj"/>
              </a:avLst>
            </a:prstGeom>
            <a:solidFill>
              <a:srgbClr val="D7DFF4"/>
            </a:solidFill>
            <a:ln>
              <a:noFill/>
            </a:ln>
          </p:spPr>
          <p:txBody>
            <a:bodyPr anchorCtr="0" anchor="ctr" bIns="142125" lIns="142125" spcFirstLastPara="1" rIns="142125" wrap="square" tIns="142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9"/>
            <p:cNvSpPr/>
            <p:nvPr/>
          </p:nvSpPr>
          <p:spPr>
            <a:xfrm>
              <a:off x="551929" y="811485"/>
              <a:ext cx="886048" cy="855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855"/>
                <a:buFont typeface="Roboto"/>
                <a:buNone/>
              </a:pPr>
              <a:r>
                <a:rPr b="0" i="0" lang="ko-KR" sz="855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전체 타임라인</a:t>
              </a:r>
              <a:endParaRPr b="0" i="0" sz="85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9"/>
          <p:cNvSpPr/>
          <p:nvPr/>
        </p:nvSpPr>
        <p:spPr>
          <a:xfrm>
            <a:off x="429146" y="1003399"/>
            <a:ext cx="4096345" cy="3796308"/>
          </a:xfrm>
          <a:prstGeom prst="roundRect">
            <a:avLst>
              <a:gd fmla="val 36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22" name="Google Shape;122;p9"/>
          <p:cNvSpPr/>
          <p:nvPr/>
        </p:nvSpPr>
        <p:spPr>
          <a:xfrm>
            <a:off x="522163" y="1073125"/>
            <a:ext cx="3910310" cy="1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 Slab"/>
              <a:buNone/>
            </a:pP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1교시 (50분)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522163" y="1296888"/>
            <a:ext cx="186035" cy="116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 Slab Light"/>
              <a:buNone/>
            </a:pPr>
            <a:r>
              <a:rPr b="0" i="0" lang="ko-KR" sz="1000" u="none" cap="none" strike="noStrik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522163" y="1445419"/>
            <a:ext cx="3910310" cy="9525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25" name="Google Shape;125;p9"/>
          <p:cNvSpPr/>
          <p:nvPr/>
        </p:nvSpPr>
        <p:spPr>
          <a:xfrm>
            <a:off x="522163" y="1510978"/>
            <a:ext cx="3910310" cy="1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 Slab"/>
              <a:buNone/>
            </a:pP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복습 + 목표 확인 (5분)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522163" y="1726034"/>
            <a:ext cx="3910310" cy="1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0" i="0" lang="ko-KR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"오늘은 화면을 직접 만든다!"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522163" y="1995711"/>
            <a:ext cx="186035" cy="116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 Slab Light"/>
              <a:buNone/>
            </a:pPr>
            <a:r>
              <a:rPr b="0" i="0" lang="ko-KR" sz="1000" u="none" cap="none" strike="noStrik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522163" y="2134939"/>
            <a:ext cx="3910310" cy="9525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29" name="Google Shape;129;p9"/>
          <p:cNvSpPr/>
          <p:nvPr/>
        </p:nvSpPr>
        <p:spPr>
          <a:xfrm>
            <a:off x="522163" y="2209800"/>
            <a:ext cx="3910310" cy="1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 Slab"/>
              <a:buNone/>
            </a:pP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페르소나 만들기 (10분)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522163" y="2424857"/>
            <a:ext cx="3910310" cy="1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0" i="0" lang="ko-KR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"누가 이 앱을 쓸까?"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522163" y="2694533"/>
            <a:ext cx="186035" cy="116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 Slab Light"/>
              <a:buNone/>
            </a:pPr>
            <a:r>
              <a:rPr b="0" i="0" lang="ko-KR" sz="1000" u="none" cap="none" strike="noStrik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522163" y="2824460"/>
            <a:ext cx="3910310" cy="9525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3" name="Google Shape;133;p9"/>
          <p:cNvSpPr/>
          <p:nvPr/>
        </p:nvSpPr>
        <p:spPr>
          <a:xfrm>
            <a:off x="522163" y="2908622"/>
            <a:ext cx="3910310" cy="1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 Slab"/>
              <a:buNone/>
            </a:pP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벤치마킹 (10분)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522163" y="3123679"/>
            <a:ext cx="3910310" cy="1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0" i="0" lang="ko-KR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"잘 만든 앱은 뭐가 다르지?"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522163" y="3393356"/>
            <a:ext cx="186035" cy="116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 Slab Light"/>
              <a:buNone/>
            </a:pPr>
            <a:r>
              <a:rPr b="0" i="0" lang="ko-KR" sz="1000" u="none" cap="none" strike="noStrik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522163" y="3513981"/>
            <a:ext cx="3910310" cy="9525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37" name="Google Shape;137;p9"/>
          <p:cNvSpPr/>
          <p:nvPr/>
        </p:nvSpPr>
        <p:spPr>
          <a:xfrm>
            <a:off x="522163" y="3607445"/>
            <a:ext cx="3910310" cy="1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 Slab"/>
              <a:buNone/>
            </a:pP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유저 시나리오 (10분)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522163" y="3822502"/>
            <a:ext cx="3910310" cy="1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0" i="0" lang="ko-KR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"사용자가 어떤 순서로 쓸까?"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522163" y="4092178"/>
            <a:ext cx="186035" cy="116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 Slab Light"/>
              <a:buNone/>
            </a:pPr>
            <a:r>
              <a:rPr b="0" i="0" lang="ko-KR" sz="1000" u="none" cap="none" strike="noStrike">
                <a:solidFill>
                  <a:srgbClr val="FFFFF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522163" y="4203502"/>
            <a:ext cx="3910310" cy="9525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41" name="Google Shape;141;p9"/>
          <p:cNvSpPr/>
          <p:nvPr/>
        </p:nvSpPr>
        <p:spPr>
          <a:xfrm>
            <a:off x="522163" y="4306267"/>
            <a:ext cx="3910310" cy="145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 Slab"/>
              <a:buNone/>
            </a:pP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환경 셋팅 (15분)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522163" y="4521324"/>
            <a:ext cx="3910310" cy="1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0" i="0" lang="ko-KR" sz="1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"내 컴퓨터에서 서버를 돌려보자!"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4690244" y="995024"/>
            <a:ext cx="39624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900"/>
              <a:buFont typeface="Roboto Slab"/>
              <a:buNone/>
            </a:pPr>
            <a:r>
              <a:rPr b="0" i="0" lang="ko-KR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2교시 (50분)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4690244" y="1341517"/>
            <a:ext cx="186000" cy="1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 Slab Light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4690244" y="1536557"/>
            <a:ext cx="3962400" cy="96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46" name="Google Shape;146;p9"/>
          <p:cNvSpPr/>
          <p:nvPr/>
        </p:nvSpPr>
        <p:spPr>
          <a:xfrm>
            <a:off x="4690244" y="1555607"/>
            <a:ext cx="39624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대시보드 app.py 실행 (10분)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4690244" y="1770663"/>
            <a:ext cx="39624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"완성된 대시보드를 내 서버로!"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4690244" y="2084969"/>
            <a:ext cx="186000" cy="1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 Slab Light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4690244" y="2261404"/>
            <a:ext cx="3962400" cy="96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50" name="Google Shape;150;p9"/>
          <p:cNvSpPr/>
          <p:nvPr/>
        </p:nvSpPr>
        <p:spPr>
          <a:xfrm>
            <a:off x="4690244" y="2299058"/>
            <a:ext cx="39624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프론트엔드 개발 1차 (15분)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4690244" y="2514115"/>
            <a:ext cx="39624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 선택 + 타이머 개선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4690244" y="2839577"/>
            <a:ext cx="186000" cy="1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 Slab Light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4690244" y="2997409"/>
            <a:ext cx="3962400" cy="96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54" name="Google Shape;154;p9"/>
          <p:cNvSpPr/>
          <p:nvPr/>
        </p:nvSpPr>
        <p:spPr>
          <a:xfrm>
            <a:off x="4690244" y="3053666"/>
            <a:ext cx="39624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프론트엔드 개발 2차 (15분)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4690244" y="3268723"/>
            <a:ext cx="39624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기록 표시 + 통계 개발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4690244" y="3583030"/>
            <a:ext cx="186000" cy="1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 Slab Light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4690244" y="3722258"/>
            <a:ext cx="3962400" cy="96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58" name="Google Shape;158;p9"/>
          <p:cNvSpPr/>
          <p:nvPr/>
        </p:nvSpPr>
        <p:spPr>
          <a:xfrm>
            <a:off x="4690244" y="3797119"/>
            <a:ext cx="3962400" cy="1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오늘 정리 + 예고 (10분)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4690244" y="4012176"/>
            <a:ext cx="39624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백엔드 개발 예고!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5" name="Google Shape;16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/>
          <p:cNvSpPr/>
          <p:nvPr/>
        </p:nvSpPr>
        <p:spPr>
          <a:xfrm>
            <a:off x="3925119" y="353467"/>
            <a:ext cx="4722763" cy="300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800"/>
              <a:buFont typeface="Roboto Slab"/>
              <a:buNone/>
            </a:pPr>
            <a:r>
              <a:rPr b="0" i="0" lang="ko-KR" sz="23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선생님과 학생의 역할 </a:t>
            </a:r>
            <a:r>
              <a:rPr b="0" i="0" lang="ko-KR" sz="23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🤝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3925119" y="825298"/>
            <a:ext cx="558900" cy="141300"/>
          </a:xfrm>
          <a:prstGeom prst="roundRect">
            <a:avLst>
              <a:gd fmla="val 7896" name="adj"/>
            </a:avLst>
          </a:prstGeom>
          <a:noFill/>
          <a:ln cap="flat" cmpd="sng" w="952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3980929" y="853203"/>
            <a:ext cx="904500" cy="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550"/>
              <a:buFont typeface="Roboto"/>
              <a:buNone/>
            </a:pPr>
            <a:r>
              <a:rPr b="0" i="0" lang="ko-KR" sz="5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수업 운영 방식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3925119" y="1045117"/>
            <a:ext cx="4722900" cy="508200"/>
          </a:xfrm>
          <a:prstGeom prst="roundRect">
            <a:avLst>
              <a:gd fmla="val 274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"/>
          <p:cNvSpPr/>
          <p:nvPr/>
        </p:nvSpPr>
        <p:spPr>
          <a:xfrm>
            <a:off x="4018136" y="1138134"/>
            <a:ext cx="45366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👩‍🏫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선생님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4018136" y="1330048"/>
            <a:ext cx="45366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1" i="0" lang="ko-KR" sz="1000" u="none" cap="none" strike="noStrike">
                <a:solidFill>
                  <a:srgbClr val="D73A49"/>
                </a:solidFill>
                <a:latin typeface="Roboto"/>
                <a:ea typeface="Roboto"/>
                <a:cs typeface="Roboto"/>
                <a:sym typeface="Roboto"/>
              </a:rPr>
              <a:t>AI(Claude Code</a:t>
            </a: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)에게 프롬프트를 입력해서 코드를 생성하고 화면에 공유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3925119" y="1623016"/>
            <a:ext cx="4722900" cy="508200"/>
          </a:xfrm>
          <a:prstGeom prst="roundRect">
            <a:avLst>
              <a:gd fmla="val 274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4018136" y="1716034"/>
            <a:ext cx="45366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🧑‍💻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학생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4018136" y="1907948"/>
            <a:ext cx="4536600" cy="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코드를 </a:t>
            </a:r>
            <a:r>
              <a:rPr b="1" i="0" lang="ko-KR" sz="10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VSCode</a:t>
            </a: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에 붙여넣기 → 실행 → 테스트 → 수정 요청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2142679"/>
            <a:ext cx="4722763" cy="230847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0"/>
          <p:cNvSpPr/>
          <p:nvPr/>
        </p:nvSpPr>
        <p:spPr>
          <a:xfrm>
            <a:off x="4282683" y="2936947"/>
            <a:ext cx="1101003" cy="137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AI로 코드 생성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6646171" y="2408465"/>
            <a:ext cx="1101004" cy="137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학생에게 공유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7189257" y="3494788"/>
            <a:ext cx="1101004" cy="137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VSCode에 붙여넣기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4820952" y="4033057"/>
            <a:ext cx="1101004" cy="137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테스트·수정 반복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3925125" y="4529567"/>
            <a:ext cx="47226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잘 안 되는 부분이 있으면 선생님에게 말해요! 함께 </a:t>
            </a:r>
            <a:r>
              <a:rPr b="1" i="0" lang="ko-KR" sz="11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프롬프트를 수정해서 AI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에게 다시 요청하면 됩니다. 반복할수록 실력이 늘어납니다. </a:t>
            </a:r>
            <a:r>
              <a:rPr b="0" i="0" lang="ko-KR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💪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"/>
          <p:cNvSpPr/>
          <p:nvPr/>
        </p:nvSpPr>
        <p:spPr>
          <a:xfrm>
            <a:off x="496125" y="284437"/>
            <a:ext cx="8151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1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왜 바로 코딩하지 않을까? </a:t>
            </a:r>
            <a:r>
              <a:rPr b="1" i="0" lang="ko-KR" sz="26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🤔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7" name="Google Shape;187;p11"/>
          <p:cNvGrpSpPr/>
          <p:nvPr/>
        </p:nvGrpSpPr>
        <p:grpSpPr>
          <a:xfrm>
            <a:off x="496133" y="773465"/>
            <a:ext cx="1804546" cy="231625"/>
            <a:chOff x="496119" y="601712"/>
            <a:chExt cx="734690" cy="94283"/>
          </a:xfrm>
        </p:grpSpPr>
        <p:sp>
          <p:nvSpPr>
            <p:cNvPr id="188" name="Google Shape;188;p11"/>
            <p:cNvSpPr/>
            <p:nvPr/>
          </p:nvSpPr>
          <p:spPr>
            <a:xfrm>
              <a:off x="496119" y="601712"/>
              <a:ext cx="314697" cy="94283"/>
            </a:xfrm>
            <a:prstGeom prst="roundRect">
              <a:avLst>
                <a:gd fmla="val 7894" name="adj"/>
              </a:avLst>
            </a:prstGeom>
            <a:solidFill>
              <a:srgbClr val="D7DFF4"/>
            </a:solidFill>
            <a:ln>
              <a:noFill/>
            </a:ln>
          </p:spPr>
          <p:txBody>
            <a:bodyPr anchorCtr="0" anchor="ctr" bIns="224575" lIns="224575" spcFirstLastPara="1" rIns="224575" wrap="square" tIns="224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533326" y="620316"/>
              <a:ext cx="697483" cy="570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860"/>
                <a:buFont typeface="Roboto"/>
                <a:buNone/>
              </a:pPr>
              <a:r>
                <a:rPr b="0" i="0" lang="ko-KR" sz="860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기획의 순서</a:t>
              </a:r>
              <a:endParaRPr b="0" i="0" sz="8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preencoded.png" id="190" name="Google Shape;19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305" y="730821"/>
            <a:ext cx="8021389" cy="453925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1"/>
          <p:cNvSpPr/>
          <p:nvPr/>
        </p:nvSpPr>
        <p:spPr>
          <a:xfrm>
            <a:off x="5579374" y="1300274"/>
            <a:ext cx="18342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1" i="0" lang="ko-KR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페르소나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5579311" y="1594755"/>
            <a:ext cx="2812343" cy="1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누가 쓸까?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1730488" y="2195817"/>
            <a:ext cx="18342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1" i="0" lang="ko-KR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벤치마킹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752219" y="2490298"/>
            <a:ext cx="2812343" cy="1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다른 앱은 어떨까?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5579311" y="3093652"/>
            <a:ext cx="1834137" cy="229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1" i="0" lang="ko-KR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유저 시나리오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5579311" y="3388133"/>
            <a:ext cx="2812343" cy="1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어떤 순서로 쓸까?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1731761" y="3990342"/>
            <a:ext cx="18342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 Slab"/>
              <a:buNone/>
            </a:pPr>
            <a:r>
              <a:rPr b="1" i="0" lang="ko-KR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개발</a:t>
            </a:r>
            <a:endParaRPr b="1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753493" y="4284822"/>
            <a:ext cx="2812343" cy="1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그걸 만들자!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9" name="Google Shape;19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5304904"/>
            <a:ext cx="731520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5" name="Google Shape;20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2"/>
          <p:cNvSpPr/>
          <p:nvPr/>
        </p:nvSpPr>
        <p:spPr>
          <a:xfrm>
            <a:off x="3925044" y="347039"/>
            <a:ext cx="47229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900"/>
              <a:buFont typeface="Roboto Slab"/>
              <a:buNone/>
            </a:pPr>
            <a:r>
              <a:rPr b="1" i="0" lang="ko-KR" sz="2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STEP 1 — 페르소나란? </a:t>
            </a:r>
            <a:r>
              <a:rPr b="1" i="0" lang="ko-KR" sz="2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🎮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3925119" y="875035"/>
            <a:ext cx="355476" cy="147191"/>
          </a:xfrm>
          <a:prstGeom prst="roundRect">
            <a:avLst>
              <a:gd fmla="val 7901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"/>
          <p:cNvSpPr/>
          <p:nvPr/>
        </p:nvSpPr>
        <p:spPr>
          <a:xfrm>
            <a:off x="3983236" y="904056"/>
            <a:ext cx="696441" cy="89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① 기획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3925125" y="1107344"/>
            <a:ext cx="4722600" cy="7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페르소나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= 우리 앱을 쓸 </a:t>
            </a:r>
            <a:r>
              <a:rPr b="1" i="0" lang="ko-KR" sz="13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가상의 사용자 캐릭터</a:t>
            </a:r>
            <a:endParaRPr b="0" i="0" sz="135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5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게임 캐릭터를 만들듯이, 우리 앱을 쓸 사람의 캐릭터를 만드는 거예요! </a:t>
            </a:r>
            <a:b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이름, 나이, 상황, 고민, 원하는 것을 정해봅시다.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0" name="Google Shape;21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2078083"/>
            <a:ext cx="242218" cy="242218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2"/>
          <p:cNvSpPr/>
          <p:nvPr/>
        </p:nvSpPr>
        <p:spPr>
          <a:xfrm>
            <a:off x="4248680" y="2124792"/>
            <a:ext cx="47229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이름 / 나이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4248680" y="2377403"/>
            <a:ext cx="47229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누구를 위해 만드나? 예: 김민수, 중2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3" name="Google Shape;21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25119" y="2722586"/>
            <a:ext cx="242218" cy="242218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2"/>
          <p:cNvSpPr/>
          <p:nvPr/>
        </p:nvSpPr>
        <p:spPr>
          <a:xfrm>
            <a:off x="4248680" y="2769295"/>
            <a:ext cx="47229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상황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4248680" y="3021907"/>
            <a:ext cx="47229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언제 이 앱을 쓰나? 예: 시험 2주 전, 자습 시간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6" name="Google Shape;216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25119" y="3378246"/>
            <a:ext cx="242218" cy="24221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2"/>
          <p:cNvSpPr/>
          <p:nvPr/>
        </p:nvSpPr>
        <p:spPr>
          <a:xfrm>
            <a:off x="4248680" y="3424955"/>
            <a:ext cx="47229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고민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4248680" y="3677568"/>
            <a:ext cx="47229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뭐가 불편한가? 예: 시간이 얼마나 갔는지 모름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9" name="Google Shape;219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25119" y="4089694"/>
            <a:ext cx="242218" cy="24221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2"/>
          <p:cNvSpPr/>
          <p:nvPr/>
        </p:nvSpPr>
        <p:spPr>
          <a:xfrm>
            <a:off x="4248680" y="4136403"/>
            <a:ext cx="47229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1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원하는 것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4248680" y="4389014"/>
            <a:ext cx="47229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뭘 해결하고 싶나? 예: 과목별 시간 측정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/>
          <p:nvPr/>
        </p:nvSpPr>
        <p:spPr>
          <a:xfrm>
            <a:off x="518798" y="261739"/>
            <a:ext cx="8151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1" i="0" lang="ko-KR" sz="2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페르소나가 왜 필요한가? </a:t>
            </a:r>
            <a:r>
              <a:rPr b="1" i="0" lang="ko-KR" sz="2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💡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496119" y="601712"/>
            <a:ext cx="458167" cy="94283"/>
          </a:xfrm>
          <a:prstGeom prst="roundRect">
            <a:avLst>
              <a:gd fmla="val 7894" name="adj"/>
            </a:avLst>
          </a:prstGeom>
          <a:noFill/>
          <a:ln cap="flat" cmpd="sng" w="952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"/>
          <p:cNvSpPr/>
          <p:nvPr/>
        </p:nvSpPr>
        <p:spPr>
          <a:xfrm>
            <a:off x="533326" y="620316"/>
            <a:ext cx="840953" cy="57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350"/>
              <a:buFont typeface="Roboto"/>
              <a:buNone/>
            </a:pPr>
            <a:r>
              <a:rPr b="0" i="0" lang="ko-KR" sz="3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있을 때 VS 없을 때</a:t>
            </a:r>
            <a:endParaRPr b="0" i="0" sz="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0" name="Google Shape;23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730821"/>
            <a:ext cx="73152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3"/>
          <p:cNvSpPr/>
          <p:nvPr/>
        </p:nvSpPr>
        <p:spPr>
          <a:xfrm>
            <a:off x="496119" y="4880446"/>
            <a:ext cx="8151763" cy="169143"/>
          </a:xfrm>
          <a:prstGeom prst="roundRect">
            <a:avLst>
              <a:gd fmla="val 5500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2" name="Google Shape;23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105" y="4957911"/>
            <a:ext cx="77465" cy="61987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3"/>
          <p:cNvSpPr/>
          <p:nvPr/>
        </p:nvSpPr>
        <p:spPr>
          <a:xfrm>
            <a:off x="697557" y="4926881"/>
            <a:ext cx="8345537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Roboto"/>
              <a:buNone/>
            </a:pPr>
            <a:r>
              <a:rPr b="0" i="0" lang="ko-KR" sz="4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 사용자를 먼저 정해야 </a:t>
            </a:r>
            <a:r>
              <a:rPr b="1" i="0" lang="ko-KR" sz="4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뭘 만들지</a:t>
            </a:r>
            <a:r>
              <a:rPr b="0" i="0" lang="ko-KR" sz="4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알 수 있다! 페르소나는 모든 결정의 기준점이 됩니다.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9" name="Google Shape;23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4"/>
          <p:cNvSpPr/>
          <p:nvPr/>
        </p:nvSpPr>
        <p:spPr>
          <a:xfrm>
            <a:off x="496119" y="333216"/>
            <a:ext cx="47229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우리의 페르소나 — 김민수 </a:t>
            </a:r>
            <a:r>
              <a:rPr b="1" i="0" lang="ko-KR" sz="24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🙋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496119" y="998562"/>
            <a:ext cx="720998" cy="188565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4"/>
          <p:cNvSpPr/>
          <p:nvPr/>
        </p:nvSpPr>
        <p:spPr>
          <a:xfrm>
            <a:off x="570533" y="1035769"/>
            <a:ext cx="1029370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페르소나 카드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406822" y="1326654"/>
            <a:ext cx="2388691" cy="3406080"/>
          </a:xfrm>
          <a:prstGeom prst="roundRect">
            <a:avLst>
              <a:gd fmla="val 779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4"/>
          <p:cNvSpPr/>
          <p:nvPr/>
        </p:nvSpPr>
        <p:spPr>
          <a:xfrm>
            <a:off x="530796" y="1450628"/>
            <a:ext cx="2140744" cy="39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📋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페르소나: 김민수 (중학교 2학년)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530796" y="1967061"/>
            <a:ext cx="2140744" cy="818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상황: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시험 2주 전, 자습 시간에 공부 중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85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고민: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시간이 얼마나 지났는지 모름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85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성격: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심플한 걸 좋아함, 복잡하면 안 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530796" y="2956173"/>
            <a:ext cx="2140744" cy="14288"/>
          </a:xfrm>
          <a:prstGeom prst="roundRect">
            <a:avLst>
              <a:gd fmla="val 59998" name="adj"/>
            </a:avLst>
          </a:pr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4"/>
          <p:cNvSpPr/>
          <p:nvPr/>
        </p:nvSpPr>
        <p:spPr>
          <a:xfrm>
            <a:off x="530796" y="3140943"/>
            <a:ext cx="259794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원하는 것: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530796" y="3451027"/>
            <a:ext cx="2140744" cy="682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993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AutoNum type="arabicPeriod"/>
            </a:pPr>
            <a:r>
              <a:rPr b="0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과목별로 공부 시간을 재고 싶다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93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AutoNum type="arabicPeriod"/>
            </a:pPr>
            <a:r>
              <a:rPr b="0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오늘 얼마나 공부했는지 한눈에 보기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93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AutoNum type="arabicPeriod"/>
            </a:pPr>
            <a:r>
              <a:rPr b="0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쉬는 시간도 알려줬으면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3013546" y="1450628"/>
            <a:ext cx="2210098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민수의 고민 → 우리가 만들 기능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0" name="Google Shape;25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0055" y="1787798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4"/>
          <p:cNvSpPr/>
          <p:nvPr/>
        </p:nvSpPr>
        <p:spPr>
          <a:xfrm>
            <a:off x="3416573" y="1784003"/>
            <a:ext cx="1807071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"시간이 얼마나 갔지?"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3416573" y="2068353"/>
            <a:ext cx="1807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카운트다운 타이머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⭐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필수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3" name="Google Shape;25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0055" y="2552105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4"/>
          <p:cNvSpPr/>
          <p:nvPr/>
        </p:nvSpPr>
        <p:spPr>
          <a:xfrm>
            <a:off x="3416573" y="2548310"/>
            <a:ext cx="1807071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"과목별로 재고 싶다"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3416573" y="2832660"/>
            <a:ext cx="1807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과목 선택 드롭다운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⭐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필수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6" name="Google Shape;25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0055" y="3316412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4"/>
          <p:cNvSpPr/>
          <p:nvPr/>
        </p:nvSpPr>
        <p:spPr>
          <a:xfrm>
            <a:off x="3416573" y="3312616"/>
            <a:ext cx="1807071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"오늘 얼마나 했지?"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3416573" y="3596967"/>
            <a:ext cx="1807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공부 기록 표시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⭐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필수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9" name="Google Shape;25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0055" y="4080718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4"/>
          <p:cNvSpPr/>
          <p:nvPr/>
        </p:nvSpPr>
        <p:spPr>
          <a:xfrm>
            <a:off x="3416573" y="4076923"/>
            <a:ext cx="1807071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"심플하게!"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3416573" y="4361274"/>
            <a:ext cx="1807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깔끔한 디자인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⭐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필수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5"/>
          <p:cNvSpPr/>
          <p:nvPr/>
        </p:nvSpPr>
        <p:spPr>
          <a:xfrm>
            <a:off x="496119" y="440455"/>
            <a:ext cx="81519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150"/>
              <a:buFont typeface="Roboto Slab"/>
              <a:buNone/>
            </a:pPr>
            <a:r>
              <a:rPr b="1" i="0" lang="ko-KR" sz="24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실습 — 내 페르소나 만들기 </a:t>
            </a:r>
            <a:r>
              <a:rPr b="1" i="0" lang="ko-KR" sz="24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✏️</a:t>
            </a:r>
            <a:endParaRPr b="1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496119" y="1030337"/>
            <a:ext cx="959793" cy="167878"/>
          </a:xfrm>
          <a:prstGeom prst="roundRect">
            <a:avLst>
              <a:gd fmla="val 7897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5"/>
          <p:cNvSpPr/>
          <p:nvPr/>
        </p:nvSpPr>
        <p:spPr>
          <a:xfrm>
            <a:off x="562347" y="1063451"/>
            <a:ext cx="1284536" cy="1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종이에 적어보자! (5분)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496119" y="1308869"/>
            <a:ext cx="8151763" cy="2100858"/>
          </a:xfrm>
          <a:prstGeom prst="roundRect">
            <a:avLst>
              <a:gd fmla="val 789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71" name="Google Shape;271;p15"/>
          <p:cNvSpPr/>
          <p:nvPr/>
        </p:nvSpPr>
        <p:spPr>
          <a:xfrm>
            <a:off x="496119" y="1610692"/>
            <a:ext cx="8151763" cy="6905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72" name="Google Shape;272;p15"/>
          <p:cNvSpPr/>
          <p:nvPr/>
        </p:nvSpPr>
        <p:spPr>
          <a:xfrm>
            <a:off x="496119" y="1910135"/>
            <a:ext cx="8151763" cy="6905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73" name="Google Shape;273;p15"/>
          <p:cNvSpPr/>
          <p:nvPr/>
        </p:nvSpPr>
        <p:spPr>
          <a:xfrm>
            <a:off x="496119" y="2209577"/>
            <a:ext cx="8151763" cy="6905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74" name="Google Shape;274;p15"/>
          <p:cNvSpPr/>
          <p:nvPr/>
        </p:nvSpPr>
        <p:spPr>
          <a:xfrm>
            <a:off x="496119" y="2509019"/>
            <a:ext cx="8151763" cy="6905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75" name="Google Shape;275;p15"/>
          <p:cNvSpPr/>
          <p:nvPr/>
        </p:nvSpPr>
        <p:spPr>
          <a:xfrm>
            <a:off x="496119" y="2808461"/>
            <a:ext cx="8151763" cy="6905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76" name="Google Shape;276;p15"/>
          <p:cNvSpPr/>
          <p:nvPr/>
        </p:nvSpPr>
        <p:spPr>
          <a:xfrm>
            <a:off x="496119" y="3107903"/>
            <a:ext cx="8151763" cy="6905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77" name="Google Shape;277;p15"/>
          <p:cNvSpPr/>
          <p:nvPr/>
        </p:nvSpPr>
        <p:spPr>
          <a:xfrm>
            <a:off x="500955" y="1313631"/>
            <a:ext cx="2849761" cy="297061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78" name="Google Shape;278;p15"/>
          <p:cNvSpPr/>
          <p:nvPr/>
        </p:nvSpPr>
        <p:spPr>
          <a:xfrm>
            <a:off x="611386" y="1377404"/>
            <a:ext cx="3086100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None/>
            </a:pPr>
            <a:r>
              <a:rPr b="1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항목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3350716" y="1313631"/>
            <a:ext cx="5292403" cy="297061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80" name="Google Shape;280;p15"/>
          <p:cNvSpPr/>
          <p:nvPr/>
        </p:nvSpPr>
        <p:spPr>
          <a:xfrm>
            <a:off x="3461147" y="1377404"/>
            <a:ext cx="5528742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Roboto"/>
              <a:buNone/>
            </a:pPr>
            <a:r>
              <a:rPr b="1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내가 만든 페르소나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611386" y="1676846"/>
            <a:ext cx="3086100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이름 / 학년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/>
          <p:nvPr/>
        </p:nvSpPr>
        <p:spPr>
          <a:xfrm>
            <a:off x="3461147" y="1676846"/>
            <a:ext cx="5528742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___________________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611386" y="1976289"/>
            <a:ext cx="3086100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어떤 상황?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3461147" y="1976289"/>
            <a:ext cx="5528742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___________________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611386" y="2275731"/>
            <a:ext cx="3086100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어떤 고민?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3461147" y="2275731"/>
            <a:ext cx="5528742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___________________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611386" y="2575173"/>
            <a:ext cx="3086100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뭘 원하나? ①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3461147" y="2575173"/>
            <a:ext cx="5528742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___________________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/>
          <p:nvPr/>
        </p:nvSpPr>
        <p:spPr>
          <a:xfrm>
            <a:off x="611386" y="2874615"/>
            <a:ext cx="3086100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뭘 원하나? ②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3461147" y="2874615"/>
            <a:ext cx="5528742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___________________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611386" y="3174057"/>
            <a:ext cx="3086100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뭘 원하나? ③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3461147" y="3174057"/>
            <a:ext cx="5528742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___________________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496119" y="3520380"/>
            <a:ext cx="2651671" cy="624408"/>
          </a:xfrm>
          <a:prstGeom prst="roundRect">
            <a:avLst>
              <a:gd fmla="val 265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5"/>
          <p:cNvSpPr/>
          <p:nvPr/>
        </p:nvSpPr>
        <p:spPr>
          <a:xfrm>
            <a:off x="606549" y="3630811"/>
            <a:ext cx="2430810" cy="177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 Slab"/>
              <a:buNone/>
            </a:pPr>
            <a:r>
              <a:rPr b="1" i="0" lang="ko-KR" sz="13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📅</a:t>
            </a:r>
            <a:r>
              <a:rPr b="1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상황 예시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606549" y="3867224"/>
            <a:ext cx="2430810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시험 기간 / 방학 자습 / 학원 숙제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3246165" y="3520380"/>
            <a:ext cx="2651671" cy="624408"/>
          </a:xfrm>
          <a:prstGeom prst="roundRect">
            <a:avLst>
              <a:gd fmla="val 265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3356595" y="3630811"/>
            <a:ext cx="2430810" cy="177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 Slab"/>
              <a:buNone/>
            </a:pPr>
            <a:r>
              <a:rPr b="1" i="0" lang="ko-KR" sz="13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😟</a:t>
            </a:r>
            <a:r>
              <a:rPr b="1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고민 예시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3356595" y="3867224"/>
            <a:ext cx="2430810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집중이 안 된다 / 얼마나 했는지 모름 / 시간 분배 안 됨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5996211" y="3520380"/>
            <a:ext cx="2651671" cy="624408"/>
          </a:xfrm>
          <a:prstGeom prst="roundRect">
            <a:avLst>
              <a:gd fmla="val 265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5"/>
          <p:cNvSpPr/>
          <p:nvPr/>
        </p:nvSpPr>
        <p:spPr>
          <a:xfrm>
            <a:off x="6106641" y="3630811"/>
            <a:ext cx="2430810" cy="177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 Slab"/>
              <a:buNone/>
            </a:pPr>
            <a:r>
              <a:rPr b="1" i="0" lang="ko-KR" sz="13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✨</a:t>
            </a:r>
            <a:r>
              <a:rPr b="1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원하는 것 예시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6106641" y="3867224"/>
            <a:ext cx="2430810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과목별 측정 / 하루 공부량 확인 / 목표 시간 설정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496119" y="4255443"/>
            <a:ext cx="8151763" cy="409277"/>
          </a:xfrm>
          <a:prstGeom prst="roundRect">
            <a:avLst>
              <a:gd fmla="val 4049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3" name="Google Shape;3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6549" y="4406354"/>
            <a:ext cx="138038" cy="11043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5"/>
          <p:cNvSpPr/>
          <p:nvPr/>
        </p:nvSpPr>
        <p:spPr>
          <a:xfrm>
            <a:off x="855018" y="4381426"/>
            <a:ext cx="8139633" cy="1671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oboto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💡 나 자신을 페르소나로 만들어도 됩니다!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0" name="Google Shape;3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6"/>
          <p:cNvSpPr/>
          <p:nvPr/>
        </p:nvSpPr>
        <p:spPr>
          <a:xfrm>
            <a:off x="3854469" y="631539"/>
            <a:ext cx="47229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STEP 2 — 벤치마킹이란? </a:t>
            </a:r>
            <a:r>
              <a:rPr b="1" i="0" lang="ko-KR" sz="26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🔎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3925119" y="1255961"/>
            <a:ext cx="455191" cy="188565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6"/>
          <p:cNvSpPr/>
          <p:nvPr/>
        </p:nvSpPr>
        <p:spPr>
          <a:xfrm>
            <a:off x="3999533" y="1293168"/>
            <a:ext cx="763563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② 기획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3925119" y="1584052"/>
            <a:ext cx="4722763" cy="734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벤치마킹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= 다른 사람이 잘 만든 것을 </a:t>
            </a:r>
            <a:r>
              <a:rPr b="1" i="0" lang="ko-KR" sz="12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구경하고 배우는 것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05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비유: 요리사가 새 메뉴를 만들기 전에 맛집을 가보는 것과 같아요. 잘 된 점은 따라하고, 아쉬운 점은 더 잘 만들면 됩니다!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3925119" y="2681637"/>
            <a:ext cx="2299500" cy="946500"/>
          </a:xfrm>
          <a:prstGeom prst="roundRect">
            <a:avLst>
              <a:gd fmla="val 1966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6"/>
          <p:cNvSpPr/>
          <p:nvPr/>
        </p:nvSpPr>
        <p:spPr>
          <a:xfrm>
            <a:off x="4063380" y="2819898"/>
            <a:ext cx="2022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✅</a:t>
            </a: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잘 된 점 찾기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4063380" y="3092923"/>
            <a:ext cx="2022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"이건 따라하자!"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좋은 기능, 예쁜 디자인 기록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6348487" y="2681637"/>
            <a:ext cx="2299500" cy="946500"/>
          </a:xfrm>
          <a:prstGeom prst="roundRect">
            <a:avLst>
              <a:gd fmla="val 1966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6"/>
          <p:cNvSpPr/>
          <p:nvPr/>
        </p:nvSpPr>
        <p:spPr>
          <a:xfrm>
            <a:off x="6486748" y="2819898"/>
            <a:ext cx="2022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❌</a:t>
            </a: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아쉬운 점 찾기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6486748" y="3092923"/>
            <a:ext cx="2022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"이건 더 잘 만들자!"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불편한 점, 빠진 기능 기록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6"/>
          <p:cNvSpPr/>
          <p:nvPr/>
        </p:nvSpPr>
        <p:spPr>
          <a:xfrm>
            <a:off x="3925119" y="3752083"/>
            <a:ext cx="4722900" cy="946500"/>
          </a:xfrm>
          <a:prstGeom prst="roundRect">
            <a:avLst>
              <a:gd fmla="val 1966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6"/>
          <p:cNvSpPr/>
          <p:nvPr/>
        </p:nvSpPr>
        <p:spPr>
          <a:xfrm>
            <a:off x="4063380" y="3890344"/>
            <a:ext cx="44463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💡</a:t>
            </a: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우리 앱에 적용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4063380" y="4163370"/>
            <a:ext cx="44463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"우리는 이렇게!"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기능 목록 정리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7"/>
          <p:cNvSpPr/>
          <p:nvPr/>
        </p:nvSpPr>
        <p:spPr>
          <a:xfrm>
            <a:off x="496119" y="491518"/>
            <a:ext cx="81519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타이머 앱 벤치마킹 </a:t>
            </a:r>
            <a:r>
              <a:rPr b="1" i="0" lang="ko-KR" sz="26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📱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0" name="Google Shape;330;p17"/>
          <p:cNvGrpSpPr/>
          <p:nvPr/>
        </p:nvGrpSpPr>
        <p:grpSpPr>
          <a:xfrm>
            <a:off x="496167" y="1226157"/>
            <a:ext cx="2777192" cy="359197"/>
            <a:chOff x="496119" y="1396826"/>
            <a:chExt cx="1457920" cy="188565"/>
          </a:xfrm>
        </p:grpSpPr>
        <p:sp>
          <p:nvSpPr>
            <p:cNvPr id="331" name="Google Shape;331;p17"/>
            <p:cNvSpPr/>
            <p:nvPr/>
          </p:nvSpPr>
          <p:spPr>
            <a:xfrm>
              <a:off x="496119" y="1396826"/>
              <a:ext cx="1075134" cy="188565"/>
            </a:xfrm>
            <a:prstGeom prst="roundRect">
              <a:avLst>
                <a:gd fmla="val 7894" name="adj"/>
              </a:avLst>
            </a:prstGeom>
            <a:noFill/>
            <a:ln cap="flat" cmpd="sng" w="18125">
              <a:solidFill>
                <a:srgbClr val="3257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74125" lIns="174125" spcFirstLastPara="1" rIns="174125" wrap="square" tIns="174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7"/>
            <p:cNvSpPr/>
            <p:nvPr/>
          </p:nvSpPr>
          <p:spPr>
            <a:xfrm>
              <a:off x="570533" y="1434033"/>
              <a:ext cx="1383506" cy="1141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57B8"/>
                </a:buClr>
                <a:buSzPts val="1429"/>
                <a:buFont typeface="Roboto"/>
                <a:buNone/>
              </a:pPr>
              <a:r>
                <a:rPr b="0" i="0" lang="ko-KR" sz="1429" u="none" cap="none" strike="noStrike">
                  <a:solidFill>
                    <a:srgbClr val="3257B8"/>
                  </a:solidFill>
                  <a:latin typeface="Roboto"/>
                  <a:ea typeface="Roboto"/>
                  <a:cs typeface="Roboto"/>
                  <a:sym typeface="Roboto"/>
                </a:rPr>
                <a:t>3가지 앱을 비교해보자</a:t>
              </a:r>
              <a:endParaRPr b="0" i="0" sz="142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3" name="Google Shape;333;p17"/>
          <p:cNvSpPr/>
          <p:nvPr/>
        </p:nvSpPr>
        <p:spPr>
          <a:xfrm>
            <a:off x="496119" y="1724918"/>
            <a:ext cx="8151763" cy="1812652"/>
          </a:xfrm>
          <a:prstGeom prst="roundRect">
            <a:avLst>
              <a:gd fmla="val 1027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34" name="Google Shape;334;p17"/>
          <p:cNvSpPr/>
          <p:nvPr/>
        </p:nvSpPr>
        <p:spPr>
          <a:xfrm>
            <a:off x="496119" y="2088877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35" name="Google Shape;335;p17"/>
          <p:cNvSpPr/>
          <p:nvPr/>
        </p:nvSpPr>
        <p:spPr>
          <a:xfrm>
            <a:off x="496119" y="2450455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36" name="Google Shape;336;p17"/>
          <p:cNvSpPr/>
          <p:nvPr/>
        </p:nvSpPr>
        <p:spPr>
          <a:xfrm>
            <a:off x="496119" y="2812033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37" name="Google Shape;337;p17"/>
          <p:cNvSpPr/>
          <p:nvPr/>
        </p:nvSpPr>
        <p:spPr>
          <a:xfrm>
            <a:off x="496119" y="3173611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38" name="Google Shape;338;p17"/>
          <p:cNvSpPr/>
          <p:nvPr/>
        </p:nvSpPr>
        <p:spPr>
          <a:xfrm>
            <a:off x="501104" y="1729680"/>
            <a:ext cx="1628403" cy="359197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39" name="Google Shape;339;p17"/>
          <p:cNvSpPr/>
          <p:nvPr/>
        </p:nvSpPr>
        <p:spPr>
          <a:xfrm>
            <a:off x="625078" y="1808857"/>
            <a:ext cx="1837655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항목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2129507" y="1729680"/>
            <a:ext cx="2198340" cy="359197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41" name="Google Shape;341;p17"/>
          <p:cNvSpPr/>
          <p:nvPr/>
        </p:nvSpPr>
        <p:spPr>
          <a:xfrm>
            <a:off x="2253481" y="1808857"/>
            <a:ext cx="24075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🍅</a:t>
            </a:r>
            <a:r>
              <a:rPr b="1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뽀모도로 타이머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4327847" y="1729680"/>
            <a:ext cx="2198340" cy="359197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43" name="Google Shape;343;p17"/>
          <p:cNvSpPr/>
          <p:nvPr/>
        </p:nvSpPr>
        <p:spPr>
          <a:xfrm>
            <a:off x="4451821" y="1808857"/>
            <a:ext cx="24075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🌲</a:t>
            </a:r>
            <a:r>
              <a:rPr b="1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Forest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6526188" y="1729680"/>
            <a:ext cx="2116931" cy="359197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45" name="Google Shape;345;p17"/>
          <p:cNvSpPr/>
          <p:nvPr/>
        </p:nvSpPr>
        <p:spPr>
          <a:xfrm>
            <a:off x="6650162" y="1808857"/>
            <a:ext cx="232618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📊</a:t>
            </a:r>
            <a:r>
              <a:rPr b="1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열품타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/>
          <p:nvPr/>
        </p:nvSpPr>
        <p:spPr>
          <a:xfrm>
            <a:off x="625078" y="2170435"/>
            <a:ext cx="1837655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핵심 기능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2253481" y="2170435"/>
            <a:ext cx="24075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25분/5분 자동 반복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4451821" y="2170435"/>
            <a:ext cx="24075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집중하면 나무 성장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6650162" y="2170435"/>
            <a:ext cx="232618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순공시간 측정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625078" y="2532013"/>
            <a:ext cx="1837655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잘한 점 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2253481" y="2532013"/>
            <a:ext cx="24075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시간 관리가 체계적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4451821" y="2532013"/>
            <a:ext cx="24075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재미 요소가 있다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/>
          <p:nvPr/>
        </p:nvSpPr>
        <p:spPr>
          <a:xfrm>
            <a:off x="6650162" y="2532013"/>
            <a:ext cx="232618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정확한 시간 측정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625078" y="2893591"/>
            <a:ext cx="1837655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아쉬운 점 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2253481" y="2893591"/>
            <a:ext cx="24075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 구분이 없다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/>
          <p:nvPr/>
        </p:nvSpPr>
        <p:spPr>
          <a:xfrm>
            <a:off x="4451821" y="2893591"/>
            <a:ext cx="24075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기록 확인 불편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/>
          <p:nvPr/>
        </p:nvSpPr>
        <p:spPr>
          <a:xfrm>
            <a:off x="6650162" y="2893591"/>
            <a:ext cx="232618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디자인이 복잡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625078" y="3255169"/>
            <a:ext cx="1837655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우리가 배울 것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2253481" y="3255169"/>
            <a:ext cx="24075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과목별로 만들자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4451821" y="3255169"/>
            <a:ext cx="240759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기록을 바로 보여주자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6650162" y="3255169"/>
            <a:ext cx="232618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심플하게 만들자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7"/>
          <p:cNvSpPr/>
          <p:nvPr/>
        </p:nvSpPr>
        <p:spPr>
          <a:xfrm>
            <a:off x="496125" y="3677101"/>
            <a:ext cx="2634600" cy="935400"/>
          </a:xfrm>
          <a:prstGeom prst="roundRect">
            <a:avLst>
              <a:gd fmla="val 258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63" name="Google Shape;363;p17"/>
          <p:cNvSpPr/>
          <p:nvPr/>
        </p:nvSpPr>
        <p:spPr>
          <a:xfrm>
            <a:off x="620092" y="3801070"/>
            <a:ext cx="238660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🍅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뽀모도로에서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620092" y="4074096"/>
            <a:ext cx="238660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과목별 시간 관리 + </a:t>
            </a:r>
            <a:b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우리만의 과목 분류 추가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3254650" y="3677101"/>
            <a:ext cx="2634600" cy="935400"/>
          </a:xfrm>
          <a:prstGeom prst="roundRect">
            <a:avLst>
              <a:gd fmla="val 258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66" name="Google Shape;366;p17"/>
          <p:cNvSpPr/>
          <p:nvPr/>
        </p:nvSpPr>
        <p:spPr>
          <a:xfrm>
            <a:off x="3378622" y="3801070"/>
            <a:ext cx="238668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🌲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Forest에서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7"/>
          <p:cNvSpPr/>
          <p:nvPr/>
        </p:nvSpPr>
        <p:spPr>
          <a:xfrm>
            <a:off x="3378622" y="4074096"/>
            <a:ext cx="238668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아쉬운 점 개선 → 기록을 바로 보여주기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7"/>
          <p:cNvSpPr/>
          <p:nvPr/>
        </p:nvSpPr>
        <p:spPr>
          <a:xfrm>
            <a:off x="6013249" y="3677101"/>
            <a:ext cx="2634600" cy="935400"/>
          </a:xfrm>
          <a:prstGeom prst="roundRect">
            <a:avLst>
              <a:gd fmla="val 258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69" name="Google Shape;369;p17"/>
          <p:cNvSpPr/>
          <p:nvPr/>
        </p:nvSpPr>
        <p:spPr>
          <a:xfrm>
            <a:off x="6137225" y="3801070"/>
            <a:ext cx="238660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📊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열품타에서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6137225" y="4074096"/>
            <a:ext cx="238660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아쉬운 점 개선 → 심플한 디자인으로!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8"/>
          <p:cNvSpPr/>
          <p:nvPr/>
        </p:nvSpPr>
        <p:spPr>
          <a:xfrm>
            <a:off x="496119" y="689375"/>
            <a:ext cx="81519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실습 — 벤치마킹 워크시트 </a:t>
            </a:r>
            <a:r>
              <a:rPr b="1" i="0" lang="ko-KR" sz="26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📝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7" name="Google Shape;377;p18"/>
          <p:cNvGrpSpPr/>
          <p:nvPr/>
        </p:nvGrpSpPr>
        <p:grpSpPr>
          <a:xfrm>
            <a:off x="496143" y="1372805"/>
            <a:ext cx="2541409" cy="328084"/>
            <a:chOff x="496119" y="1517749"/>
            <a:chExt cx="1460748" cy="188565"/>
          </a:xfrm>
        </p:grpSpPr>
        <p:sp>
          <p:nvSpPr>
            <p:cNvPr id="378" name="Google Shape;378;p18"/>
            <p:cNvSpPr/>
            <p:nvPr/>
          </p:nvSpPr>
          <p:spPr>
            <a:xfrm>
              <a:off x="496119" y="1517749"/>
              <a:ext cx="1077962" cy="188565"/>
            </a:xfrm>
            <a:prstGeom prst="roundRect">
              <a:avLst>
                <a:gd fmla="val 7894" name="adj"/>
              </a:avLst>
            </a:prstGeom>
            <a:solidFill>
              <a:srgbClr val="D7DFF4"/>
            </a:solidFill>
            <a:ln>
              <a:noFill/>
            </a:ln>
          </p:spPr>
          <p:txBody>
            <a:bodyPr anchorCtr="0" anchor="ctr" bIns="159050" lIns="159050" spcFirstLastPara="1" rIns="159050" wrap="square" tIns="1590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8"/>
            <p:cNvSpPr/>
            <p:nvPr/>
          </p:nvSpPr>
          <p:spPr>
            <a:xfrm>
              <a:off x="570533" y="1554956"/>
              <a:ext cx="1386334" cy="1141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1305"/>
                <a:buFont typeface="Roboto"/>
                <a:buNone/>
              </a:pPr>
              <a:r>
                <a:rPr b="0" i="0" lang="ko-KR" sz="1305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종이에 적어보자! (3분)</a:t>
              </a:r>
              <a:endParaRPr b="0" i="0" sz="130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0" name="Google Shape;380;p18"/>
          <p:cNvSpPr/>
          <p:nvPr/>
        </p:nvSpPr>
        <p:spPr>
          <a:xfrm>
            <a:off x="496119" y="1845841"/>
            <a:ext cx="8151763" cy="1812652"/>
          </a:xfrm>
          <a:prstGeom prst="roundRect">
            <a:avLst>
              <a:gd fmla="val 1027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1" name="Google Shape;381;p18"/>
          <p:cNvSpPr/>
          <p:nvPr/>
        </p:nvSpPr>
        <p:spPr>
          <a:xfrm>
            <a:off x="496119" y="2209800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2" name="Google Shape;382;p18"/>
          <p:cNvSpPr/>
          <p:nvPr/>
        </p:nvSpPr>
        <p:spPr>
          <a:xfrm>
            <a:off x="496119" y="2571378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3" name="Google Shape;383;p18"/>
          <p:cNvSpPr/>
          <p:nvPr/>
        </p:nvSpPr>
        <p:spPr>
          <a:xfrm>
            <a:off x="496119" y="2932956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4" name="Google Shape;384;p18"/>
          <p:cNvSpPr/>
          <p:nvPr/>
        </p:nvSpPr>
        <p:spPr>
          <a:xfrm>
            <a:off x="496119" y="3294534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5" name="Google Shape;385;p18"/>
          <p:cNvSpPr/>
          <p:nvPr/>
        </p:nvSpPr>
        <p:spPr>
          <a:xfrm>
            <a:off x="500955" y="1850603"/>
            <a:ext cx="4478164" cy="359197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6" name="Google Shape;386;p18"/>
          <p:cNvSpPr/>
          <p:nvPr/>
        </p:nvSpPr>
        <p:spPr>
          <a:xfrm>
            <a:off x="624929" y="1929780"/>
            <a:ext cx="4687416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질문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8"/>
          <p:cNvSpPr/>
          <p:nvPr/>
        </p:nvSpPr>
        <p:spPr>
          <a:xfrm>
            <a:off x="4979119" y="1850603"/>
            <a:ext cx="3664000" cy="359197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8" name="Google Shape;388;p18"/>
          <p:cNvSpPr/>
          <p:nvPr/>
        </p:nvSpPr>
        <p:spPr>
          <a:xfrm>
            <a:off x="5103093" y="1929780"/>
            <a:ext cx="387325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내 생각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8"/>
          <p:cNvSpPr/>
          <p:nvPr/>
        </p:nvSpPr>
        <p:spPr>
          <a:xfrm>
            <a:off x="624929" y="2291358"/>
            <a:ext cx="4687416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내가 본 타이머 앱 중 제일 좋았던 것은?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8"/>
          <p:cNvSpPr/>
          <p:nvPr/>
        </p:nvSpPr>
        <p:spPr>
          <a:xfrm>
            <a:off x="5103093" y="2291358"/>
            <a:ext cx="387325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___________________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8"/>
          <p:cNvSpPr/>
          <p:nvPr/>
        </p:nvSpPr>
        <p:spPr>
          <a:xfrm>
            <a:off x="624929" y="2652936"/>
            <a:ext cx="4687416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그 앱에서 가장 좋았던 기능은?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8"/>
          <p:cNvSpPr/>
          <p:nvPr/>
        </p:nvSpPr>
        <p:spPr>
          <a:xfrm>
            <a:off x="5103093" y="2652936"/>
            <a:ext cx="387325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___________________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8"/>
          <p:cNvSpPr/>
          <p:nvPr/>
        </p:nvSpPr>
        <p:spPr>
          <a:xfrm>
            <a:off x="624929" y="3014514"/>
            <a:ext cx="4687416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그 앱에서 아쉬웠던 점은?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8"/>
          <p:cNvSpPr/>
          <p:nvPr/>
        </p:nvSpPr>
        <p:spPr>
          <a:xfrm>
            <a:off x="5103093" y="3014514"/>
            <a:ext cx="387325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___________________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8"/>
          <p:cNvSpPr/>
          <p:nvPr/>
        </p:nvSpPr>
        <p:spPr>
          <a:xfrm>
            <a:off x="624929" y="3376092"/>
            <a:ext cx="4687416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우리 타이머에 꼭 넣고 싶은 기능은?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8"/>
          <p:cNvSpPr/>
          <p:nvPr/>
        </p:nvSpPr>
        <p:spPr>
          <a:xfrm>
            <a:off x="5103093" y="3376092"/>
            <a:ext cx="387325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___________________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8"/>
          <p:cNvSpPr/>
          <p:nvPr/>
        </p:nvSpPr>
        <p:spPr>
          <a:xfrm>
            <a:off x="496119" y="3798019"/>
            <a:ext cx="14288" cy="477515"/>
          </a:xfrm>
          <a:prstGeom prst="roundRect">
            <a:avLst>
              <a:gd fmla="val 5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8"/>
          <p:cNvSpPr/>
          <p:nvPr/>
        </p:nvSpPr>
        <p:spPr>
          <a:xfrm>
            <a:off x="682154" y="3937546"/>
            <a:ext cx="842292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💡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벤치마킹의 핵심: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</a:t>
            </a:r>
            <a:r>
              <a:rPr b="1" i="0" lang="ko-KR" sz="12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좋은 점은 따라하고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, 아쉬운 점은 더 잘 만들자!"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9"/>
          <p:cNvSpPr/>
          <p:nvPr/>
        </p:nvSpPr>
        <p:spPr>
          <a:xfrm>
            <a:off x="908919" y="275257"/>
            <a:ext cx="8151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1" i="0" lang="ko-KR" sz="2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STEP 3 — 유저 시나리오란? </a:t>
            </a:r>
            <a:r>
              <a:rPr b="1" i="0" lang="ko-KR" sz="2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🎬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9"/>
          <p:cNvSpPr/>
          <p:nvPr/>
        </p:nvSpPr>
        <p:spPr>
          <a:xfrm>
            <a:off x="908919" y="767018"/>
            <a:ext cx="81519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1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유저 시나리오</a:t>
            </a: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= 사용자가 앱을</a:t>
            </a:r>
            <a:r>
              <a:rPr b="1" i="0" lang="ko-KR" sz="8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8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실제로 쓰는 순서</a:t>
            </a: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를 미리 상상해보는 것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비유: 드라마 대본처럼 "김민수가 앱을 열면 → 이걸 하고 → 저걸 하고..."를 적는 거예요. 시나리오 한 단계 = 화면 하나!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6" name="Google Shape;4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319" y="1028701"/>
            <a:ext cx="7315202" cy="411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0"/>
          <p:cNvSpPr/>
          <p:nvPr/>
        </p:nvSpPr>
        <p:spPr>
          <a:xfrm>
            <a:off x="496119" y="189089"/>
            <a:ext cx="81519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1" i="0" lang="ko-KR" sz="2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김민수의 유저 시나리오 </a:t>
            </a:r>
            <a:r>
              <a:rPr b="1" i="0" lang="ko-KR" sz="22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🗺️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0"/>
          <p:cNvSpPr/>
          <p:nvPr/>
        </p:nvSpPr>
        <p:spPr>
          <a:xfrm>
            <a:off x="496119" y="601712"/>
            <a:ext cx="549548" cy="94283"/>
          </a:xfrm>
          <a:prstGeom prst="roundRect">
            <a:avLst>
              <a:gd fmla="val 7894" name="adj"/>
            </a:avLst>
          </a:prstGeom>
          <a:noFill/>
          <a:ln cap="flat" cmpd="sng" w="952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0"/>
          <p:cNvSpPr/>
          <p:nvPr/>
        </p:nvSpPr>
        <p:spPr>
          <a:xfrm>
            <a:off x="533326" y="620316"/>
            <a:ext cx="932334" cy="57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350"/>
              <a:buFont typeface="Roboto"/>
              <a:buNone/>
            </a:pPr>
            <a:r>
              <a:rPr b="0" i="0" lang="ko-KR" sz="3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민수가 앱을 쓰는 8단계</a:t>
            </a:r>
            <a:endParaRPr b="0" i="0" sz="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5" name="Google Shape;4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25" y="730825"/>
            <a:ext cx="6331274" cy="2029476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0"/>
          <p:cNvSpPr/>
          <p:nvPr/>
        </p:nvSpPr>
        <p:spPr>
          <a:xfrm>
            <a:off x="2282404" y="2741008"/>
            <a:ext cx="12321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타이머 시작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0"/>
          <p:cNvSpPr/>
          <p:nvPr/>
        </p:nvSpPr>
        <p:spPr>
          <a:xfrm>
            <a:off x="2282404" y="3024352"/>
            <a:ext cx="12321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공부를 진행한다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0"/>
          <p:cNvSpPr/>
          <p:nvPr/>
        </p:nvSpPr>
        <p:spPr>
          <a:xfrm>
            <a:off x="5445442" y="2684850"/>
            <a:ext cx="12321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기록 확인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0"/>
          <p:cNvSpPr/>
          <p:nvPr/>
        </p:nvSpPr>
        <p:spPr>
          <a:xfrm>
            <a:off x="5445442" y="2968194"/>
            <a:ext cx="12321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오늘 통계와 대시보드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0"/>
          <p:cNvSpPr/>
          <p:nvPr/>
        </p:nvSpPr>
        <p:spPr>
          <a:xfrm>
            <a:off x="684561" y="985261"/>
            <a:ext cx="12321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앱 열기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0"/>
          <p:cNvSpPr/>
          <p:nvPr/>
        </p:nvSpPr>
        <p:spPr>
          <a:xfrm>
            <a:off x="684561" y="1268606"/>
            <a:ext cx="1232100" cy="1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과목을 선택한다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0"/>
          <p:cNvSpPr/>
          <p:nvPr/>
        </p:nvSpPr>
        <p:spPr>
          <a:xfrm>
            <a:off x="3809597" y="985261"/>
            <a:ext cx="12321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350"/>
              <a:buFont typeface="Roboto Slab"/>
              <a:buNone/>
            </a:pPr>
            <a:r>
              <a:rPr b="0" i="0" lang="ko-KR" sz="1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타이머 종료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0"/>
          <p:cNvSpPr/>
          <p:nvPr/>
        </p:nvSpPr>
        <p:spPr>
          <a:xfrm>
            <a:off x="3809597" y="1268606"/>
            <a:ext cx="12321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기록이 자동 저장된다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4" name="Google Shape;424;p20"/>
          <p:cNvGrpSpPr/>
          <p:nvPr/>
        </p:nvGrpSpPr>
        <p:grpSpPr>
          <a:xfrm>
            <a:off x="459382" y="3270066"/>
            <a:ext cx="7910944" cy="1648535"/>
            <a:chOff x="496119" y="4341465"/>
            <a:chExt cx="8542214" cy="1099170"/>
          </a:xfrm>
        </p:grpSpPr>
        <p:sp>
          <p:nvSpPr>
            <p:cNvPr id="425" name="Google Shape;425;p20"/>
            <p:cNvSpPr/>
            <p:nvPr/>
          </p:nvSpPr>
          <p:spPr>
            <a:xfrm>
              <a:off x="496119" y="4341465"/>
              <a:ext cx="8151763" cy="1099170"/>
            </a:xfrm>
            <a:prstGeom prst="roundRect">
              <a:avLst>
                <a:gd fmla="val 846" name="adj"/>
              </a:avLst>
            </a:prstGeom>
            <a:noFill/>
            <a:ln cap="flat" cmpd="sng" w="14275">
              <a:solidFill>
                <a:srgbClr val="000000">
                  <a:alpha val="784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7100" lIns="137100" spcFirstLastPara="1" rIns="137100" wrap="square" tIns="137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50"/>
            </a:p>
          </p:txBody>
        </p:sp>
        <p:sp>
          <p:nvSpPr>
            <p:cNvPr id="426" name="Google Shape;426;p20"/>
            <p:cNvSpPr/>
            <p:nvPr/>
          </p:nvSpPr>
          <p:spPr>
            <a:xfrm>
              <a:off x="500881" y="4346228"/>
              <a:ext cx="8142238" cy="121072"/>
            </a:xfrm>
            <a:prstGeom prst="rect">
              <a:avLst/>
            </a:prstGeom>
            <a:solidFill>
              <a:srgbClr val="FFFFFF">
                <a:alpha val="3922"/>
              </a:srgbClr>
            </a:solidFill>
            <a:ln>
              <a:noFill/>
            </a:ln>
          </p:spPr>
          <p:txBody>
            <a:bodyPr anchorCtr="0" anchor="ctr" bIns="137100" lIns="137100" spcFirstLastPara="1" rIns="137100" wrap="square" tIns="137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50"/>
            </a:p>
          </p:txBody>
        </p:sp>
        <p:sp>
          <p:nvSpPr>
            <p:cNvPr id="427" name="Google Shape;427;p20"/>
            <p:cNvSpPr/>
            <p:nvPr/>
          </p:nvSpPr>
          <p:spPr>
            <a:xfrm>
              <a:off x="500955" y="4346228"/>
              <a:ext cx="651346" cy="121072"/>
            </a:xfrm>
            <a:prstGeom prst="rect">
              <a:avLst/>
            </a:prstGeom>
            <a:solidFill>
              <a:srgbClr val="3257B8"/>
            </a:solidFill>
            <a:ln>
              <a:noFill/>
            </a:ln>
          </p:spPr>
          <p:txBody>
            <a:bodyPr anchorCtr="0" anchor="ctr" bIns="137100" lIns="137100" spcFirstLastPara="1" rIns="137100" wrap="square" tIns="137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50"/>
            </a:p>
          </p:txBody>
        </p:sp>
        <p:sp>
          <p:nvSpPr>
            <p:cNvPr id="428" name="Google Shape;428;p20"/>
            <p:cNvSpPr/>
            <p:nvPr/>
          </p:nvSpPr>
          <p:spPr>
            <a:xfrm>
              <a:off x="562942" y="4369594"/>
              <a:ext cx="982191" cy="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75"/>
                <a:buFont typeface="Roboto"/>
                <a:buNone/>
              </a:pPr>
              <a:r>
                <a:rPr b="1" i="0" lang="ko-KR" sz="1125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#</a:t>
              </a:r>
              <a:endPara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20"/>
            <p:cNvSpPr/>
            <p:nvPr/>
          </p:nvSpPr>
          <p:spPr>
            <a:xfrm>
              <a:off x="1152302" y="4346228"/>
              <a:ext cx="3745409" cy="121072"/>
            </a:xfrm>
            <a:prstGeom prst="rect">
              <a:avLst/>
            </a:prstGeom>
            <a:solidFill>
              <a:srgbClr val="3257B8"/>
            </a:solidFill>
            <a:ln>
              <a:noFill/>
            </a:ln>
          </p:spPr>
          <p:txBody>
            <a:bodyPr anchorCtr="0" anchor="ctr" bIns="137100" lIns="137100" spcFirstLastPara="1" rIns="137100" wrap="square" tIns="137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50"/>
            </a:p>
          </p:txBody>
        </p:sp>
        <p:sp>
          <p:nvSpPr>
            <p:cNvPr id="430" name="Google Shape;430;p20"/>
            <p:cNvSpPr/>
            <p:nvPr/>
          </p:nvSpPr>
          <p:spPr>
            <a:xfrm>
              <a:off x="1216670" y="4369594"/>
              <a:ext cx="4073872" cy="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75"/>
                <a:buFont typeface="Roboto"/>
                <a:buNone/>
              </a:pPr>
              <a:r>
                <a:rPr b="1" i="0" lang="ko-KR" sz="1125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민수가 하는 일</a:t>
              </a:r>
              <a:endPara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20"/>
            <p:cNvSpPr/>
            <p:nvPr/>
          </p:nvSpPr>
          <p:spPr>
            <a:xfrm>
              <a:off x="4897710" y="4346228"/>
              <a:ext cx="3745409" cy="121072"/>
            </a:xfrm>
            <a:prstGeom prst="rect">
              <a:avLst/>
            </a:prstGeom>
            <a:solidFill>
              <a:srgbClr val="3257B8"/>
            </a:solidFill>
            <a:ln>
              <a:noFill/>
            </a:ln>
          </p:spPr>
          <p:txBody>
            <a:bodyPr anchorCtr="0" anchor="ctr" bIns="137100" lIns="137100" spcFirstLastPara="1" rIns="137100" wrap="square" tIns="137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50"/>
            </a:p>
          </p:txBody>
        </p:sp>
        <p:sp>
          <p:nvSpPr>
            <p:cNvPr id="432" name="Google Shape;432;p20"/>
            <p:cNvSpPr/>
            <p:nvPr/>
          </p:nvSpPr>
          <p:spPr>
            <a:xfrm>
              <a:off x="4962079" y="4369594"/>
              <a:ext cx="4076254" cy="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75"/>
                <a:buFont typeface="Roboto"/>
                <a:buNone/>
              </a:pPr>
              <a:r>
                <a:rPr b="1" i="0" lang="ko-KR" sz="1125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필요한 화면/기능</a:t>
              </a:r>
              <a:endPara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20"/>
            <p:cNvSpPr/>
            <p:nvPr/>
          </p:nvSpPr>
          <p:spPr>
            <a:xfrm>
              <a:off x="500881" y="4467299"/>
              <a:ext cx="8142238" cy="121072"/>
            </a:xfrm>
            <a:prstGeom prst="rect">
              <a:avLst/>
            </a:prstGeom>
            <a:solidFill>
              <a:srgbClr val="000000">
                <a:alpha val="3922"/>
              </a:srgbClr>
            </a:solidFill>
            <a:ln>
              <a:noFill/>
            </a:ln>
          </p:spPr>
          <p:txBody>
            <a:bodyPr anchorCtr="0" anchor="ctr" bIns="137100" lIns="137100" spcFirstLastPara="1" rIns="137100" wrap="square" tIns="137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50"/>
            </a:p>
          </p:txBody>
        </p:sp>
        <p:sp>
          <p:nvSpPr>
            <p:cNvPr id="434" name="Google Shape;434;p20"/>
            <p:cNvSpPr/>
            <p:nvPr/>
          </p:nvSpPr>
          <p:spPr>
            <a:xfrm>
              <a:off x="562942" y="4490665"/>
              <a:ext cx="982191" cy="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675"/>
                <a:buFont typeface="Roboto"/>
                <a:buNone/>
              </a:pPr>
              <a:r>
                <a:rPr b="0" i="0" lang="ko-KR" sz="1125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①</a:t>
              </a:r>
              <a:endPara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20"/>
            <p:cNvSpPr/>
            <p:nvPr/>
          </p:nvSpPr>
          <p:spPr>
            <a:xfrm>
              <a:off x="1216670" y="4490665"/>
              <a:ext cx="4073872" cy="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675"/>
                <a:buFont typeface="Roboto"/>
                <a:buNone/>
              </a:pPr>
              <a:r>
                <a:rPr b="0" i="0" lang="ko-KR" sz="1125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앱을 연다 (브라우저에서 접속)</a:t>
              </a:r>
              <a:endPara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20"/>
            <p:cNvSpPr/>
            <p:nvPr/>
          </p:nvSpPr>
          <p:spPr>
            <a:xfrm>
              <a:off x="4962079" y="4490665"/>
              <a:ext cx="4076254" cy="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675"/>
                <a:buFont typeface="Roboto"/>
                <a:buNone/>
              </a:pPr>
              <a:r>
                <a:rPr b="0" i="0" lang="ko-KR" sz="1125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메인 화면</a:t>
              </a:r>
              <a:endPara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20"/>
            <p:cNvSpPr/>
            <p:nvPr/>
          </p:nvSpPr>
          <p:spPr>
            <a:xfrm>
              <a:off x="500881" y="4588371"/>
              <a:ext cx="8142238" cy="121072"/>
            </a:xfrm>
            <a:prstGeom prst="rect">
              <a:avLst/>
            </a:prstGeom>
            <a:solidFill>
              <a:srgbClr val="FFFFFF">
                <a:alpha val="3922"/>
              </a:srgbClr>
            </a:solidFill>
            <a:ln>
              <a:noFill/>
            </a:ln>
          </p:spPr>
          <p:txBody>
            <a:bodyPr anchorCtr="0" anchor="ctr" bIns="137100" lIns="137100" spcFirstLastPara="1" rIns="137100" wrap="square" tIns="137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50"/>
            </a:p>
          </p:txBody>
        </p:sp>
        <p:sp>
          <p:nvSpPr>
            <p:cNvPr id="438" name="Google Shape;438;p20"/>
            <p:cNvSpPr/>
            <p:nvPr/>
          </p:nvSpPr>
          <p:spPr>
            <a:xfrm>
              <a:off x="562942" y="4611737"/>
              <a:ext cx="982191" cy="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675"/>
                <a:buFont typeface="Roboto"/>
                <a:buNone/>
              </a:pPr>
              <a:r>
                <a:rPr b="0" i="0" lang="ko-KR" sz="1125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②</a:t>
              </a:r>
              <a:endPara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20"/>
            <p:cNvSpPr/>
            <p:nvPr/>
          </p:nvSpPr>
          <p:spPr>
            <a:xfrm>
              <a:off x="1216670" y="4611737"/>
              <a:ext cx="4073872" cy="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675"/>
                <a:buFont typeface="Roboto"/>
                <a:buNone/>
              </a:pPr>
              <a:r>
                <a:rPr b="0" i="0" lang="ko-KR" sz="1125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과목을 선택한다 (수학, 영어...)</a:t>
              </a:r>
              <a:endPara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20"/>
            <p:cNvSpPr/>
            <p:nvPr/>
          </p:nvSpPr>
          <p:spPr>
            <a:xfrm>
              <a:off x="4962079" y="4611737"/>
              <a:ext cx="4076254" cy="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675"/>
                <a:buFont typeface="Roboto"/>
                <a:buNone/>
              </a:pPr>
              <a:r>
                <a:rPr b="0" i="0" lang="ko-KR" sz="1125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과목 드롭다운</a:t>
              </a:r>
              <a:endPara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20"/>
            <p:cNvSpPr/>
            <p:nvPr/>
          </p:nvSpPr>
          <p:spPr>
            <a:xfrm>
              <a:off x="500881" y="4709443"/>
              <a:ext cx="8142238" cy="121072"/>
            </a:xfrm>
            <a:prstGeom prst="rect">
              <a:avLst/>
            </a:prstGeom>
            <a:solidFill>
              <a:srgbClr val="000000">
                <a:alpha val="3922"/>
              </a:srgbClr>
            </a:solidFill>
            <a:ln>
              <a:noFill/>
            </a:ln>
          </p:spPr>
          <p:txBody>
            <a:bodyPr anchorCtr="0" anchor="ctr" bIns="137100" lIns="137100" spcFirstLastPara="1" rIns="137100" wrap="square" tIns="137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50"/>
            </a:p>
          </p:txBody>
        </p:sp>
        <p:sp>
          <p:nvSpPr>
            <p:cNvPr id="442" name="Google Shape;442;p20"/>
            <p:cNvSpPr/>
            <p:nvPr/>
          </p:nvSpPr>
          <p:spPr>
            <a:xfrm>
              <a:off x="562942" y="4732809"/>
              <a:ext cx="982191" cy="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675"/>
                <a:buFont typeface="Roboto"/>
                <a:buNone/>
              </a:pPr>
              <a:r>
                <a:rPr b="0" i="0" lang="ko-KR" sz="1125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③</a:t>
              </a:r>
              <a:endPara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20"/>
            <p:cNvSpPr/>
            <p:nvPr/>
          </p:nvSpPr>
          <p:spPr>
            <a:xfrm>
              <a:off x="1216670" y="4732809"/>
              <a:ext cx="4073872" cy="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675"/>
                <a:buFont typeface="Roboto"/>
                <a:buNone/>
              </a:pPr>
              <a:r>
                <a:rPr b="0" i="0" lang="ko-KR" sz="1125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타이머 시작 버튼을 누른다</a:t>
              </a:r>
              <a:endPara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20"/>
            <p:cNvSpPr/>
            <p:nvPr/>
          </p:nvSpPr>
          <p:spPr>
            <a:xfrm>
              <a:off x="4962079" y="4732809"/>
              <a:ext cx="4076254" cy="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675"/>
                <a:buFont typeface="Roboto"/>
                <a:buNone/>
              </a:pPr>
              <a:r>
                <a:rPr b="0" i="0" lang="ko-KR" sz="1125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시작 버튼</a:t>
              </a:r>
              <a:endPara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20"/>
            <p:cNvSpPr/>
            <p:nvPr/>
          </p:nvSpPr>
          <p:spPr>
            <a:xfrm>
              <a:off x="500881" y="4830514"/>
              <a:ext cx="8142238" cy="121072"/>
            </a:xfrm>
            <a:prstGeom prst="rect">
              <a:avLst/>
            </a:prstGeom>
            <a:solidFill>
              <a:srgbClr val="FFFFFF">
                <a:alpha val="3922"/>
              </a:srgbClr>
            </a:solidFill>
            <a:ln>
              <a:noFill/>
            </a:ln>
          </p:spPr>
          <p:txBody>
            <a:bodyPr anchorCtr="0" anchor="ctr" bIns="137100" lIns="137100" spcFirstLastPara="1" rIns="137100" wrap="square" tIns="137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50"/>
            </a:p>
          </p:txBody>
        </p:sp>
        <p:sp>
          <p:nvSpPr>
            <p:cNvPr id="446" name="Google Shape;446;p20"/>
            <p:cNvSpPr/>
            <p:nvPr/>
          </p:nvSpPr>
          <p:spPr>
            <a:xfrm>
              <a:off x="562942" y="4853880"/>
              <a:ext cx="982191" cy="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675"/>
                <a:buFont typeface="Roboto"/>
                <a:buNone/>
              </a:pPr>
              <a:r>
                <a:rPr b="0" i="0" lang="ko-KR" sz="1125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④</a:t>
              </a:r>
              <a:endPara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20"/>
            <p:cNvSpPr/>
            <p:nvPr/>
          </p:nvSpPr>
          <p:spPr>
            <a:xfrm>
              <a:off x="1216670" y="4853880"/>
              <a:ext cx="4073872" cy="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675"/>
                <a:buFont typeface="Roboto"/>
                <a:buNone/>
              </a:pPr>
              <a:r>
                <a:rPr b="0" i="0" lang="ko-KR" sz="1125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공부한다 (타이머가 돌아간다)</a:t>
              </a:r>
              <a:endPara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20"/>
            <p:cNvSpPr/>
            <p:nvPr/>
          </p:nvSpPr>
          <p:spPr>
            <a:xfrm>
              <a:off x="4962079" y="4853880"/>
              <a:ext cx="4076254" cy="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675"/>
                <a:buFont typeface="Roboto"/>
                <a:buNone/>
              </a:pPr>
              <a:r>
                <a:rPr b="0" i="0" lang="ko-KR" sz="1125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카운트다운 표시</a:t>
              </a:r>
              <a:endPara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20"/>
            <p:cNvSpPr/>
            <p:nvPr/>
          </p:nvSpPr>
          <p:spPr>
            <a:xfrm>
              <a:off x="500881" y="4951586"/>
              <a:ext cx="8142238" cy="121072"/>
            </a:xfrm>
            <a:prstGeom prst="rect">
              <a:avLst/>
            </a:prstGeom>
            <a:solidFill>
              <a:srgbClr val="000000">
                <a:alpha val="3922"/>
              </a:srgbClr>
            </a:solidFill>
            <a:ln>
              <a:noFill/>
            </a:ln>
          </p:spPr>
          <p:txBody>
            <a:bodyPr anchorCtr="0" anchor="ctr" bIns="137100" lIns="137100" spcFirstLastPara="1" rIns="137100" wrap="square" tIns="137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50"/>
            </a:p>
          </p:txBody>
        </p:sp>
        <p:sp>
          <p:nvSpPr>
            <p:cNvPr id="450" name="Google Shape;450;p20"/>
            <p:cNvSpPr/>
            <p:nvPr/>
          </p:nvSpPr>
          <p:spPr>
            <a:xfrm>
              <a:off x="562942" y="4974952"/>
              <a:ext cx="982191" cy="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675"/>
                <a:buFont typeface="Roboto"/>
                <a:buNone/>
              </a:pPr>
              <a:r>
                <a:rPr b="0" i="0" lang="ko-KR" sz="1125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⑤</a:t>
              </a:r>
              <a:endPara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20"/>
            <p:cNvSpPr/>
            <p:nvPr/>
          </p:nvSpPr>
          <p:spPr>
            <a:xfrm>
              <a:off x="1216670" y="4974952"/>
              <a:ext cx="4073872" cy="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675"/>
                <a:buFont typeface="Roboto"/>
                <a:buNone/>
              </a:pPr>
              <a:r>
                <a:rPr b="0" i="0" lang="ko-KR" sz="1125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타이머 종료! "수고했어!" 메시지</a:t>
              </a:r>
              <a:endPara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20"/>
            <p:cNvSpPr/>
            <p:nvPr/>
          </p:nvSpPr>
          <p:spPr>
            <a:xfrm>
              <a:off x="4962079" y="4974952"/>
              <a:ext cx="4076254" cy="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675"/>
                <a:buFont typeface="Roboto"/>
                <a:buNone/>
              </a:pPr>
              <a:r>
                <a:rPr b="0" i="0" lang="ko-KR" sz="1125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완료 메시지</a:t>
              </a:r>
              <a:endPara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20"/>
            <p:cNvSpPr/>
            <p:nvPr/>
          </p:nvSpPr>
          <p:spPr>
            <a:xfrm>
              <a:off x="500881" y="5072658"/>
              <a:ext cx="8142238" cy="121072"/>
            </a:xfrm>
            <a:prstGeom prst="rect">
              <a:avLst/>
            </a:prstGeom>
            <a:solidFill>
              <a:srgbClr val="FFFFFF">
                <a:alpha val="3922"/>
              </a:srgbClr>
            </a:solidFill>
            <a:ln>
              <a:noFill/>
            </a:ln>
          </p:spPr>
          <p:txBody>
            <a:bodyPr anchorCtr="0" anchor="ctr" bIns="137100" lIns="137100" spcFirstLastPara="1" rIns="137100" wrap="square" tIns="137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50"/>
            </a:p>
          </p:txBody>
        </p:sp>
        <p:sp>
          <p:nvSpPr>
            <p:cNvPr id="454" name="Google Shape;454;p20"/>
            <p:cNvSpPr/>
            <p:nvPr/>
          </p:nvSpPr>
          <p:spPr>
            <a:xfrm>
              <a:off x="562942" y="5096024"/>
              <a:ext cx="982191" cy="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675"/>
                <a:buFont typeface="Roboto"/>
                <a:buNone/>
              </a:pPr>
              <a:r>
                <a:rPr b="0" i="0" lang="ko-KR" sz="1125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⑥</a:t>
              </a:r>
              <a:endPara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20"/>
            <p:cNvSpPr/>
            <p:nvPr/>
          </p:nvSpPr>
          <p:spPr>
            <a:xfrm>
              <a:off x="1216670" y="5096024"/>
              <a:ext cx="4073872" cy="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675"/>
                <a:buFont typeface="Roboto"/>
                <a:buNone/>
              </a:pPr>
              <a:r>
                <a:rPr b="0" i="0" lang="ko-KR" sz="1125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기록이 자동 저장된다</a:t>
              </a:r>
              <a:endPara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20"/>
            <p:cNvSpPr/>
            <p:nvPr/>
          </p:nvSpPr>
          <p:spPr>
            <a:xfrm>
              <a:off x="4962079" y="5096024"/>
              <a:ext cx="4076254" cy="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675"/>
                <a:buFont typeface="Roboto"/>
                <a:buNone/>
              </a:pPr>
              <a:r>
                <a:rPr b="0" i="0" lang="ko-KR" sz="1125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저장 기능</a:t>
              </a:r>
              <a:endPara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20"/>
            <p:cNvSpPr/>
            <p:nvPr/>
          </p:nvSpPr>
          <p:spPr>
            <a:xfrm>
              <a:off x="500881" y="5193729"/>
              <a:ext cx="8142238" cy="121072"/>
            </a:xfrm>
            <a:prstGeom prst="rect">
              <a:avLst/>
            </a:prstGeom>
            <a:solidFill>
              <a:srgbClr val="000000">
                <a:alpha val="3922"/>
              </a:srgbClr>
            </a:solidFill>
            <a:ln>
              <a:noFill/>
            </a:ln>
          </p:spPr>
          <p:txBody>
            <a:bodyPr anchorCtr="0" anchor="ctr" bIns="137100" lIns="137100" spcFirstLastPara="1" rIns="137100" wrap="square" tIns="137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550"/>
            </a:p>
          </p:txBody>
        </p:sp>
        <p:sp>
          <p:nvSpPr>
            <p:cNvPr id="458" name="Google Shape;458;p20"/>
            <p:cNvSpPr/>
            <p:nvPr/>
          </p:nvSpPr>
          <p:spPr>
            <a:xfrm>
              <a:off x="562942" y="5217096"/>
              <a:ext cx="982191" cy="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675"/>
                <a:buFont typeface="Roboto"/>
                <a:buNone/>
              </a:pPr>
              <a:r>
                <a:rPr b="0" i="0" lang="ko-KR" sz="1125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⑦</a:t>
              </a:r>
              <a:endPara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20"/>
            <p:cNvSpPr/>
            <p:nvPr/>
          </p:nvSpPr>
          <p:spPr>
            <a:xfrm>
              <a:off x="1216670" y="5217096"/>
              <a:ext cx="4073872" cy="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675"/>
                <a:buFont typeface="Roboto"/>
                <a:buNone/>
              </a:pPr>
              <a:r>
                <a:rPr b="0" i="0" lang="ko-KR" sz="1125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오늘의 기록을 확인한다</a:t>
              </a:r>
              <a:endPara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20"/>
            <p:cNvSpPr/>
            <p:nvPr/>
          </p:nvSpPr>
          <p:spPr>
            <a:xfrm>
              <a:off x="4962079" y="5217096"/>
              <a:ext cx="4076254" cy="74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675"/>
                <a:buFont typeface="Roboto"/>
                <a:buNone/>
              </a:pPr>
              <a:r>
                <a:rPr b="0" i="0" lang="ko-KR" sz="1125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막대 그래프</a:t>
              </a:r>
              <a:endPara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1" name="Google Shape;461;p20"/>
          <p:cNvSpPr/>
          <p:nvPr/>
        </p:nvSpPr>
        <p:spPr>
          <a:xfrm>
            <a:off x="500881" y="5314801"/>
            <a:ext cx="8142238" cy="121072"/>
          </a:xfrm>
          <a:prstGeom prst="rect">
            <a:avLst/>
          </a:prstGeom>
          <a:solidFill>
            <a:srgbClr val="FFFFFF">
              <a:alpha val="392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0"/>
          <p:cNvSpPr/>
          <p:nvPr/>
        </p:nvSpPr>
        <p:spPr>
          <a:xfrm>
            <a:off x="562942" y="5338167"/>
            <a:ext cx="982191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⑧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0"/>
          <p:cNvSpPr/>
          <p:nvPr/>
        </p:nvSpPr>
        <p:spPr>
          <a:xfrm>
            <a:off x="1216670" y="5338167"/>
            <a:ext cx="4073872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대시보드에서 통계를 본다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0"/>
          <p:cNvSpPr/>
          <p:nvPr/>
        </p:nvSpPr>
        <p:spPr>
          <a:xfrm>
            <a:off x="4962079" y="5338167"/>
            <a:ext cx="4076254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대시보드 화면</a:t>
            </a:r>
            <a:endParaRPr b="0" i="0" sz="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1"/>
          <p:cNvSpPr/>
          <p:nvPr/>
        </p:nvSpPr>
        <p:spPr>
          <a:xfrm>
            <a:off x="496119" y="214830"/>
            <a:ext cx="81519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시나리오에서 오늘 만들 것 </a:t>
            </a:r>
            <a:r>
              <a:rPr b="1" i="0" lang="ko-KR" sz="24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🔨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1" name="Google Shape;471;p21"/>
          <p:cNvGrpSpPr/>
          <p:nvPr/>
        </p:nvGrpSpPr>
        <p:grpSpPr>
          <a:xfrm>
            <a:off x="501022" y="790434"/>
            <a:ext cx="2035673" cy="301025"/>
            <a:chOff x="496119" y="1201713"/>
            <a:chExt cx="1275085" cy="188565"/>
          </a:xfrm>
        </p:grpSpPr>
        <p:sp>
          <p:nvSpPr>
            <p:cNvPr id="472" name="Google Shape;472;p21"/>
            <p:cNvSpPr/>
            <p:nvPr/>
          </p:nvSpPr>
          <p:spPr>
            <a:xfrm>
              <a:off x="496119" y="1201713"/>
              <a:ext cx="892299" cy="188565"/>
            </a:xfrm>
            <a:prstGeom prst="roundRect">
              <a:avLst>
                <a:gd fmla="val 7894" name="adj"/>
              </a:avLst>
            </a:prstGeom>
            <a:solidFill>
              <a:srgbClr val="D7DFF4"/>
            </a:solidFill>
            <a:ln>
              <a:noFill/>
            </a:ln>
          </p:spPr>
          <p:txBody>
            <a:bodyPr anchorCtr="0" anchor="ctr" bIns="145950" lIns="145950" spcFirstLastPara="1" rIns="145950" wrap="square" tIns="1459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95"/>
            </a:p>
          </p:txBody>
        </p:sp>
        <p:sp>
          <p:nvSpPr>
            <p:cNvPr id="473" name="Google Shape;473;p21"/>
            <p:cNvSpPr/>
            <p:nvPr/>
          </p:nvSpPr>
          <p:spPr>
            <a:xfrm>
              <a:off x="570533" y="1238920"/>
              <a:ext cx="1200671" cy="1141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1197"/>
                <a:buFont typeface="Roboto"/>
                <a:buNone/>
              </a:pPr>
              <a:r>
                <a:rPr b="0" i="0" lang="ko-KR" sz="1357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오늘 VS 다음 시간</a:t>
              </a:r>
              <a:endParaRPr b="0" i="0" sz="135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4" name="Google Shape;474;p21"/>
          <p:cNvSpPr/>
          <p:nvPr/>
        </p:nvSpPr>
        <p:spPr>
          <a:xfrm>
            <a:off x="496119" y="1371054"/>
            <a:ext cx="8151900" cy="2174100"/>
          </a:xfrm>
          <a:prstGeom prst="roundRect">
            <a:avLst>
              <a:gd fmla="val 856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75" name="Google Shape;475;p21"/>
          <p:cNvSpPr/>
          <p:nvPr/>
        </p:nvSpPr>
        <p:spPr>
          <a:xfrm>
            <a:off x="496119" y="1735013"/>
            <a:ext cx="8151900" cy="7800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76" name="Google Shape;476;p21"/>
          <p:cNvSpPr/>
          <p:nvPr/>
        </p:nvSpPr>
        <p:spPr>
          <a:xfrm>
            <a:off x="496119" y="2096591"/>
            <a:ext cx="8151900" cy="7800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77" name="Google Shape;477;p21"/>
          <p:cNvSpPr/>
          <p:nvPr/>
        </p:nvSpPr>
        <p:spPr>
          <a:xfrm>
            <a:off x="496119" y="2458169"/>
            <a:ext cx="8151900" cy="7800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78" name="Google Shape;478;p21"/>
          <p:cNvSpPr/>
          <p:nvPr/>
        </p:nvSpPr>
        <p:spPr>
          <a:xfrm>
            <a:off x="496119" y="2819747"/>
            <a:ext cx="8151900" cy="7800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79" name="Google Shape;479;p21"/>
          <p:cNvSpPr/>
          <p:nvPr/>
        </p:nvSpPr>
        <p:spPr>
          <a:xfrm>
            <a:off x="496119" y="3181325"/>
            <a:ext cx="8151900" cy="7800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80" name="Google Shape;480;p21"/>
          <p:cNvSpPr/>
          <p:nvPr/>
        </p:nvSpPr>
        <p:spPr>
          <a:xfrm>
            <a:off x="501030" y="1375817"/>
            <a:ext cx="28497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81" name="Google Shape;481;p21"/>
          <p:cNvSpPr/>
          <p:nvPr/>
        </p:nvSpPr>
        <p:spPr>
          <a:xfrm>
            <a:off x="625004" y="1454993"/>
            <a:ext cx="305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시나리오 단계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1"/>
          <p:cNvSpPr/>
          <p:nvPr/>
        </p:nvSpPr>
        <p:spPr>
          <a:xfrm>
            <a:off x="3350791" y="1375817"/>
            <a:ext cx="24426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83" name="Google Shape;483;p21"/>
          <p:cNvSpPr/>
          <p:nvPr/>
        </p:nvSpPr>
        <p:spPr>
          <a:xfrm>
            <a:off x="3474765" y="1454993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필요한 기능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1"/>
          <p:cNvSpPr/>
          <p:nvPr/>
        </p:nvSpPr>
        <p:spPr>
          <a:xfrm>
            <a:off x="5793432" y="1375817"/>
            <a:ext cx="12213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85" name="Google Shape;485;p21"/>
          <p:cNvSpPr/>
          <p:nvPr/>
        </p:nvSpPr>
        <p:spPr>
          <a:xfrm>
            <a:off x="5917406" y="1454993"/>
            <a:ext cx="1430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오늘?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1"/>
          <p:cNvSpPr/>
          <p:nvPr/>
        </p:nvSpPr>
        <p:spPr>
          <a:xfrm>
            <a:off x="7014716" y="1375817"/>
            <a:ext cx="1628400" cy="359100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87" name="Google Shape;487;p21"/>
          <p:cNvSpPr/>
          <p:nvPr/>
        </p:nvSpPr>
        <p:spPr>
          <a:xfrm>
            <a:off x="7138690" y="1454993"/>
            <a:ext cx="1837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방식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1"/>
          <p:cNvSpPr/>
          <p:nvPr/>
        </p:nvSpPr>
        <p:spPr>
          <a:xfrm>
            <a:off x="625004" y="1816571"/>
            <a:ext cx="305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①~③ 앱 열기 + 과목 + 시작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1"/>
          <p:cNvSpPr/>
          <p:nvPr/>
        </p:nvSpPr>
        <p:spPr>
          <a:xfrm>
            <a:off x="3474765" y="1816571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타이머 + 드롭다운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1"/>
          <p:cNvSpPr/>
          <p:nvPr/>
        </p:nvSpPr>
        <p:spPr>
          <a:xfrm>
            <a:off x="5917406" y="1816571"/>
            <a:ext cx="1430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오늘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1"/>
          <p:cNvSpPr/>
          <p:nvPr/>
        </p:nvSpPr>
        <p:spPr>
          <a:xfrm>
            <a:off x="7138690" y="1816571"/>
            <a:ext cx="1837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더미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1"/>
          <p:cNvSpPr/>
          <p:nvPr/>
        </p:nvSpPr>
        <p:spPr>
          <a:xfrm>
            <a:off x="625004" y="2178149"/>
            <a:ext cx="305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④~⑤ 타이머 동작 + 종료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1"/>
          <p:cNvSpPr/>
          <p:nvPr/>
        </p:nvSpPr>
        <p:spPr>
          <a:xfrm>
            <a:off x="3474765" y="2178149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카운트다운 + 메시지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1"/>
          <p:cNvSpPr/>
          <p:nvPr/>
        </p:nvSpPr>
        <p:spPr>
          <a:xfrm>
            <a:off x="5917406" y="2178149"/>
            <a:ext cx="1430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오늘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1"/>
          <p:cNvSpPr/>
          <p:nvPr/>
        </p:nvSpPr>
        <p:spPr>
          <a:xfrm>
            <a:off x="7138690" y="2178149"/>
            <a:ext cx="1837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실제 동작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1"/>
          <p:cNvSpPr/>
          <p:nvPr/>
        </p:nvSpPr>
        <p:spPr>
          <a:xfrm>
            <a:off x="625004" y="2539727"/>
            <a:ext cx="305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⑥ 기록 저장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1"/>
          <p:cNvSpPr/>
          <p:nvPr/>
        </p:nvSpPr>
        <p:spPr>
          <a:xfrm>
            <a:off x="3474765" y="2539727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저장 메시지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1"/>
          <p:cNvSpPr/>
          <p:nvPr/>
        </p:nvSpPr>
        <p:spPr>
          <a:xfrm>
            <a:off x="5917406" y="2539727"/>
            <a:ext cx="1430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오늘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1"/>
          <p:cNvSpPr/>
          <p:nvPr/>
        </p:nvSpPr>
        <p:spPr>
          <a:xfrm>
            <a:off x="7138690" y="2539727"/>
            <a:ext cx="1837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더미 (메시지만)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1"/>
          <p:cNvSpPr/>
          <p:nvPr/>
        </p:nvSpPr>
        <p:spPr>
          <a:xfrm>
            <a:off x="625004" y="2901305"/>
            <a:ext cx="305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⑦ 오늘 기록 확인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1"/>
          <p:cNvSpPr/>
          <p:nvPr/>
        </p:nvSpPr>
        <p:spPr>
          <a:xfrm>
            <a:off x="3474765" y="2901305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막대 그래프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1"/>
          <p:cNvSpPr/>
          <p:nvPr/>
        </p:nvSpPr>
        <p:spPr>
          <a:xfrm>
            <a:off x="5917406" y="2901305"/>
            <a:ext cx="1430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오늘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1"/>
          <p:cNvSpPr/>
          <p:nvPr/>
        </p:nvSpPr>
        <p:spPr>
          <a:xfrm>
            <a:off x="7138690" y="2901305"/>
            <a:ext cx="1837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더미 데이터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1"/>
          <p:cNvSpPr/>
          <p:nvPr/>
        </p:nvSpPr>
        <p:spPr>
          <a:xfrm>
            <a:off x="625004" y="3262883"/>
            <a:ext cx="305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⑧ 대시보드 통계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1"/>
          <p:cNvSpPr/>
          <p:nvPr/>
        </p:nvSpPr>
        <p:spPr>
          <a:xfrm>
            <a:off x="3474765" y="3262883"/>
            <a:ext cx="265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주간/월간 화면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1"/>
          <p:cNvSpPr/>
          <p:nvPr/>
        </p:nvSpPr>
        <p:spPr>
          <a:xfrm>
            <a:off x="5917406" y="3262883"/>
            <a:ext cx="1430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오늘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1"/>
          <p:cNvSpPr/>
          <p:nvPr/>
        </p:nvSpPr>
        <p:spPr>
          <a:xfrm>
            <a:off x="7138690" y="3262883"/>
            <a:ext cx="1837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이미 있음!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8" name="Google Shape;5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3843561"/>
            <a:ext cx="8151763" cy="74801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21"/>
          <p:cNvSpPr/>
          <p:nvPr/>
        </p:nvSpPr>
        <p:spPr>
          <a:xfrm>
            <a:off x="691530" y="3981822"/>
            <a:ext cx="7818090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 Slab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🎭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"더미"란?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1"/>
          <p:cNvSpPr/>
          <p:nvPr/>
        </p:nvSpPr>
        <p:spPr>
          <a:xfrm>
            <a:off x="691530" y="4254847"/>
            <a:ext cx="781809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화면은 보이지만 진짜 저장/계산은 안 됨. 다음 시간에 백엔드를 연결하면 진짜로 동작합니다!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2"/>
          <p:cNvSpPr/>
          <p:nvPr/>
        </p:nvSpPr>
        <p:spPr>
          <a:xfrm>
            <a:off x="496119" y="521162"/>
            <a:ext cx="8151900" cy="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실습 — 내 유저 시나리오 만들기 </a:t>
            </a:r>
            <a:r>
              <a:rPr b="1" i="0" lang="ko-KR" sz="26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🗺️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2"/>
          <p:cNvSpPr/>
          <p:nvPr/>
        </p:nvSpPr>
        <p:spPr>
          <a:xfrm>
            <a:off x="496119" y="1237056"/>
            <a:ext cx="2088900" cy="188700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2"/>
          <p:cNvSpPr/>
          <p:nvPr/>
        </p:nvSpPr>
        <p:spPr>
          <a:xfrm>
            <a:off x="570533" y="1274263"/>
            <a:ext cx="23973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내 페르소나가 앱을 쓰는 순서를 적어보자! (5분)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2"/>
          <p:cNvSpPr/>
          <p:nvPr/>
        </p:nvSpPr>
        <p:spPr>
          <a:xfrm>
            <a:off x="496119" y="1655862"/>
            <a:ext cx="8151763" cy="2174230"/>
          </a:xfrm>
          <a:prstGeom prst="roundRect">
            <a:avLst>
              <a:gd fmla="val 856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20" name="Google Shape;520;p22"/>
          <p:cNvSpPr/>
          <p:nvPr/>
        </p:nvSpPr>
        <p:spPr>
          <a:xfrm>
            <a:off x="496119" y="2019821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21" name="Google Shape;521;p22"/>
          <p:cNvSpPr/>
          <p:nvPr/>
        </p:nvSpPr>
        <p:spPr>
          <a:xfrm>
            <a:off x="496119" y="2381399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22" name="Google Shape;522;p22"/>
          <p:cNvSpPr/>
          <p:nvPr/>
        </p:nvSpPr>
        <p:spPr>
          <a:xfrm>
            <a:off x="496119" y="2742977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23" name="Google Shape;523;p22"/>
          <p:cNvSpPr/>
          <p:nvPr/>
        </p:nvSpPr>
        <p:spPr>
          <a:xfrm>
            <a:off x="496119" y="3104555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24" name="Google Shape;524;p22"/>
          <p:cNvSpPr/>
          <p:nvPr/>
        </p:nvSpPr>
        <p:spPr>
          <a:xfrm>
            <a:off x="496119" y="3466133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25" name="Google Shape;525;p22"/>
          <p:cNvSpPr/>
          <p:nvPr/>
        </p:nvSpPr>
        <p:spPr>
          <a:xfrm>
            <a:off x="500955" y="1660624"/>
            <a:ext cx="651346" cy="359197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26" name="Google Shape;526;p22"/>
          <p:cNvSpPr/>
          <p:nvPr/>
        </p:nvSpPr>
        <p:spPr>
          <a:xfrm>
            <a:off x="624929" y="1739801"/>
            <a:ext cx="86059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#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2"/>
          <p:cNvSpPr/>
          <p:nvPr/>
        </p:nvSpPr>
        <p:spPr>
          <a:xfrm>
            <a:off x="1152302" y="1660624"/>
            <a:ext cx="4071119" cy="359197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28" name="Google Shape;528;p22"/>
          <p:cNvSpPr/>
          <p:nvPr/>
        </p:nvSpPr>
        <p:spPr>
          <a:xfrm>
            <a:off x="1276276" y="1739801"/>
            <a:ext cx="428037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뭘 하나?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2"/>
          <p:cNvSpPr/>
          <p:nvPr/>
        </p:nvSpPr>
        <p:spPr>
          <a:xfrm>
            <a:off x="5223421" y="1660624"/>
            <a:ext cx="3419698" cy="359197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30" name="Google Shape;530;p22"/>
          <p:cNvSpPr/>
          <p:nvPr/>
        </p:nvSpPr>
        <p:spPr>
          <a:xfrm>
            <a:off x="5347395" y="1739801"/>
            <a:ext cx="362895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필요한 화면/기능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2"/>
          <p:cNvSpPr/>
          <p:nvPr/>
        </p:nvSpPr>
        <p:spPr>
          <a:xfrm>
            <a:off x="624929" y="2101379"/>
            <a:ext cx="86059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2"/>
          <p:cNvSpPr/>
          <p:nvPr/>
        </p:nvSpPr>
        <p:spPr>
          <a:xfrm>
            <a:off x="1276276" y="2101379"/>
            <a:ext cx="428037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앱을 연다 → _________________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2"/>
          <p:cNvSpPr/>
          <p:nvPr/>
        </p:nvSpPr>
        <p:spPr>
          <a:xfrm>
            <a:off x="5347395" y="2101379"/>
            <a:ext cx="362895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___________________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2"/>
          <p:cNvSpPr/>
          <p:nvPr/>
        </p:nvSpPr>
        <p:spPr>
          <a:xfrm>
            <a:off x="624929" y="2462957"/>
            <a:ext cx="86059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2"/>
          <p:cNvSpPr/>
          <p:nvPr/>
        </p:nvSpPr>
        <p:spPr>
          <a:xfrm>
            <a:off x="1276276" y="2462957"/>
            <a:ext cx="428037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___________________________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2"/>
          <p:cNvSpPr/>
          <p:nvPr/>
        </p:nvSpPr>
        <p:spPr>
          <a:xfrm>
            <a:off x="5347395" y="2462957"/>
            <a:ext cx="362895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___________________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2"/>
          <p:cNvSpPr/>
          <p:nvPr/>
        </p:nvSpPr>
        <p:spPr>
          <a:xfrm>
            <a:off x="624929" y="2824535"/>
            <a:ext cx="86059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2"/>
          <p:cNvSpPr/>
          <p:nvPr/>
        </p:nvSpPr>
        <p:spPr>
          <a:xfrm>
            <a:off x="1276276" y="2824535"/>
            <a:ext cx="428037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___________________________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2"/>
          <p:cNvSpPr/>
          <p:nvPr/>
        </p:nvSpPr>
        <p:spPr>
          <a:xfrm>
            <a:off x="5347395" y="2824535"/>
            <a:ext cx="362895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___________________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2"/>
          <p:cNvSpPr/>
          <p:nvPr/>
        </p:nvSpPr>
        <p:spPr>
          <a:xfrm>
            <a:off x="624929" y="3186113"/>
            <a:ext cx="86059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2"/>
          <p:cNvSpPr/>
          <p:nvPr/>
        </p:nvSpPr>
        <p:spPr>
          <a:xfrm>
            <a:off x="1276276" y="3186113"/>
            <a:ext cx="428037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___________________________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2"/>
          <p:cNvSpPr/>
          <p:nvPr/>
        </p:nvSpPr>
        <p:spPr>
          <a:xfrm>
            <a:off x="5347395" y="3186113"/>
            <a:ext cx="362895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___________________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2"/>
          <p:cNvSpPr/>
          <p:nvPr/>
        </p:nvSpPr>
        <p:spPr>
          <a:xfrm>
            <a:off x="624929" y="3547690"/>
            <a:ext cx="860599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5.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2"/>
          <p:cNvSpPr/>
          <p:nvPr/>
        </p:nvSpPr>
        <p:spPr>
          <a:xfrm>
            <a:off x="1276276" y="3547690"/>
            <a:ext cx="428037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___________________________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2"/>
          <p:cNvSpPr/>
          <p:nvPr/>
        </p:nvSpPr>
        <p:spPr>
          <a:xfrm>
            <a:off x="5347395" y="3547690"/>
            <a:ext cx="3628951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___________________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2"/>
          <p:cNvSpPr/>
          <p:nvPr/>
        </p:nvSpPr>
        <p:spPr>
          <a:xfrm>
            <a:off x="496119" y="3969618"/>
            <a:ext cx="8151763" cy="495970"/>
          </a:xfrm>
          <a:prstGeom prst="roundRect">
            <a:avLst>
              <a:gd fmla="val 3752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7" name="Google Shape;5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4149403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22"/>
          <p:cNvSpPr/>
          <p:nvPr/>
        </p:nvSpPr>
        <p:spPr>
          <a:xfrm>
            <a:off x="899071" y="4124548"/>
            <a:ext cx="8082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💡 </a:t>
            </a:r>
            <a:r>
              <a:rPr b="1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팁: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내 페르소나의 고민을 해결하는 순서로 적으면 됩니다! </a:t>
            </a:r>
            <a:r>
              <a:rPr b="1" i="0" lang="ko-KR" sz="12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페르소나가 가장 먼저 하고 싶은 것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부터 시작하세요.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54" name="Google Shape;55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23"/>
          <p:cNvSpPr/>
          <p:nvPr/>
        </p:nvSpPr>
        <p:spPr>
          <a:xfrm>
            <a:off x="496119" y="350788"/>
            <a:ext cx="4722763" cy="282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700"/>
              <a:buFont typeface="Roboto Slab"/>
              <a:buNone/>
            </a:pPr>
            <a:r>
              <a:rPr b="1" i="0" lang="ko-KR" sz="19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STEP 4 — 환경 셋팅 시작! </a:t>
            </a:r>
            <a:r>
              <a:rPr b="1" i="0" lang="ko-KR" sz="19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⚙️</a:t>
            </a:r>
            <a:endParaRPr b="1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3"/>
          <p:cNvSpPr/>
          <p:nvPr/>
        </p:nvSpPr>
        <p:spPr>
          <a:xfrm>
            <a:off x="496119" y="724793"/>
            <a:ext cx="319980" cy="132457"/>
          </a:xfrm>
          <a:prstGeom prst="roundRect">
            <a:avLst>
              <a:gd fmla="val 790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3"/>
          <p:cNvSpPr/>
          <p:nvPr/>
        </p:nvSpPr>
        <p:spPr>
          <a:xfrm>
            <a:off x="548432" y="750912"/>
            <a:ext cx="672554" cy="80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00"/>
              <a:buFont typeface="Roboto"/>
              <a:buNone/>
            </a:pPr>
            <a:r>
              <a:rPr b="0" i="0" lang="ko-KR" sz="5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④ 셋팅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3"/>
          <p:cNvSpPr/>
          <p:nvPr/>
        </p:nvSpPr>
        <p:spPr>
          <a:xfrm>
            <a:off x="496119" y="926232"/>
            <a:ext cx="5179963" cy="118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코드를 실제로 실행하려면 </a:t>
            </a:r>
            <a:r>
              <a:rPr b="1" i="0" lang="ko-KR" sz="10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4가지 도구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가 필요해요. 각 도구가 어떤 역할을 하는지 비유로 알아봅시다!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9" name="Google Shape;55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295044"/>
            <a:ext cx="218033" cy="218033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23"/>
          <p:cNvSpPr/>
          <p:nvPr/>
        </p:nvSpPr>
        <p:spPr>
          <a:xfrm>
            <a:off x="790798" y="1272729"/>
            <a:ext cx="44280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📝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b="1" i="0" lang="ko-KR" sz="115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VSCode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— 공책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3"/>
          <p:cNvSpPr/>
          <p:nvPr/>
        </p:nvSpPr>
        <p:spPr>
          <a:xfrm>
            <a:off x="790798" y="1511052"/>
            <a:ext cx="44280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코드를 보고, 붙여넣고, 수정하는 곳. 우리의 작업 공간!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2" name="Google Shape;56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19" y="1763245"/>
            <a:ext cx="218033" cy="218033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23"/>
          <p:cNvSpPr/>
          <p:nvPr/>
        </p:nvSpPr>
        <p:spPr>
          <a:xfrm>
            <a:off x="790798" y="1740930"/>
            <a:ext cx="44280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🐍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b="1" i="0" lang="ko-KR" sz="115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Python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— 연필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3"/>
          <p:cNvSpPr/>
          <p:nvPr/>
        </p:nvSpPr>
        <p:spPr>
          <a:xfrm>
            <a:off x="790798" y="1979254"/>
            <a:ext cx="44280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코드를 실행하는 언어. 연필처럼 실제로 글씨(코드)를 씁니다.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5" name="Google Shape;56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119" y="2266011"/>
            <a:ext cx="218033" cy="218033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23"/>
          <p:cNvSpPr/>
          <p:nvPr/>
        </p:nvSpPr>
        <p:spPr>
          <a:xfrm>
            <a:off x="790798" y="2243696"/>
            <a:ext cx="44280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🏍️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b="1" i="0" lang="ko-KR" sz="115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Flask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— 배달 오토바이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3"/>
          <p:cNvSpPr/>
          <p:nvPr/>
        </p:nvSpPr>
        <p:spPr>
          <a:xfrm>
            <a:off x="790798" y="2482020"/>
            <a:ext cx="44280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만든 화면을 브라우저에 전달하는 역할. 주문을 배달해줍니다!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8" name="Google Shape;56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6119" y="2768412"/>
            <a:ext cx="218033" cy="218033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23"/>
          <p:cNvSpPr/>
          <p:nvPr/>
        </p:nvSpPr>
        <p:spPr>
          <a:xfrm>
            <a:off x="790798" y="2746098"/>
            <a:ext cx="4428000" cy="1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oboto Slab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🖥️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b="1" i="0" lang="ko-KR" sz="115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브라우저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— TV 화면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3"/>
          <p:cNvSpPr/>
          <p:nvPr/>
        </p:nvSpPr>
        <p:spPr>
          <a:xfrm>
            <a:off x="790798" y="2984422"/>
            <a:ext cx="4428000" cy="1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결과를 눈으로 확인하는 곳. 우리가 만든 화면이 여기서 보입니다.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1" name="Google Shape;571;p23"/>
          <p:cNvGrpSpPr/>
          <p:nvPr/>
        </p:nvGrpSpPr>
        <p:grpSpPr>
          <a:xfrm>
            <a:off x="496124" y="3342197"/>
            <a:ext cx="3976094" cy="1714379"/>
            <a:chOff x="496119" y="2756074"/>
            <a:chExt cx="4722763" cy="2036563"/>
          </a:xfrm>
        </p:grpSpPr>
        <p:pic>
          <p:nvPicPr>
            <p:cNvPr descr="preencoded.png" id="572" name="Google Shape;572;p2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96119" y="2756074"/>
              <a:ext cx="4722763" cy="20365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3" name="Google Shape;573;p23"/>
            <p:cNvSpPr/>
            <p:nvPr/>
          </p:nvSpPr>
          <p:spPr>
            <a:xfrm>
              <a:off x="813912" y="4406429"/>
              <a:ext cx="1071436" cy="1339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73"/>
                <a:buFont typeface="Roboto Slab"/>
                <a:buNone/>
              </a:pPr>
              <a:r>
                <a:rPr b="0" i="0" lang="ko-KR" sz="673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브라우저</a:t>
              </a:r>
              <a:endParaRPr b="0" i="0" sz="67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23"/>
            <p:cNvSpPr/>
            <p:nvPr/>
          </p:nvSpPr>
          <p:spPr>
            <a:xfrm>
              <a:off x="813912" y="3934997"/>
              <a:ext cx="1071436" cy="1339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73"/>
                <a:buFont typeface="Roboto Slab"/>
                <a:buNone/>
              </a:pPr>
              <a:r>
                <a:rPr b="0" i="0" lang="ko-KR" sz="673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Flask</a:t>
              </a:r>
              <a:endParaRPr b="0" i="0" sz="67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23"/>
            <p:cNvSpPr/>
            <p:nvPr/>
          </p:nvSpPr>
          <p:spPr>
            <a:xfrm>
              <a:off x="813912" y="3468328"/>
              <a:ext cx="1071436" cy="1339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73"/>
                <a:buFont typeface="Roboto Slab"/>
                <a:buNone/>
              </a:pPr>
              <a:r>
                <a:rPr b="0" i="0" lang="ko-KR" sz="673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Python</a:t>
              </a:r>
              <a:endParaRPr b="0" i="0" sz="67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23"/>
            <p:cNvSpPr/>
            <p:nvPr/>
          </p:nvSpPr>
          <p:spPr>
            <a:xfrm>
              <a:off x="813912" y="2996896"/>
              <a:ext cx="1071436" cy="1339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673"/>
                <a:buFont typeface="Roboto Slab"/>
                <a:buNone/>
              </a:pPr>
              <a:r>
                <a:rPr b="0" i="0" lang="ko-KR" sz="673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VSCode</a:t>
              </a:r>
              <a:endParaRPr b="0" i="0" sz="67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82" name="Google Shape;58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24"/>
          <p:cNvSpPr/>
          <p:nvPr/>
        </p:nvSpPr>
        <p:spPr>
          <a:xfrm>
            <a:off x="496119" y="1547214"/>
            <a:ext cx="4722900" cy="7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VSCode + Python + Flask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웹앱 개발 워크숍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4"/>
          <p:cNvSpPr/>
          <p:nvPr/>
        </p:nvSpPr>
        <p:spPr>
          <a:xfrm>
            <a:off x="496119" y="2575934"/>
            <a:ext cx="4722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초보 개발자를 위한 단계별 실습 가이드 — 환경 셋팅부터 </a:t>
            </a:r>
            <a:r>
              <a:rPr b="1" i="0" lang="ko-KR" sz="11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프론트엔드 완성까지, 오늘 하루 안에 나만의 공부 타이머 앱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을 만들어봅시다!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5" name="Google Shape;585;p24"/>
          <p:cNvGrpSpPr/>
          <p:nvPr/>
        </p:nvGrpSpPr>
        <p:grpSpPr>
          <a:xfrm>
            <a:off x="496170" y="3226348"/>
            <a:ext cx="2669735" cy="278351"/>
            <a:chOff x="496119" y="3226222"/>
            <a:chExt cx="1809867" cy="188700"/>
          </a:xfrm>
        </p:grpSpPr>
        <p:sp>
          <p:nvSpPr>
            <p:cNvPr id="586" name="Google Shape;586;p24"/>
            <p:cNvSpPr/>
            <p:nvPr/>
          </p:nvSpPr>
          <p:spPr>
            <a:xfrm>
              <a:off x="496119" y="3226222"/>
              <a:ext cx="629700" cy="188700"/>
            </a:xfrm>
            <a:prstGeom prst="roundRect">
              <a:avLst>
                <a:gd fmla="val 7894" name="adj"/>
              </a:avLst>
            </a:prstGeom>
            <a:solidFill>
              <a:srgbClr val="D7DFF4"/>
            </a:solidFill>
            <a:ln>
              <a:noFill/>
            </a:ln>
          </p:spPr>
          <p:txBody>
            <a:bodyPr anchorCtr="0" anchor="ctr" bIns="134875" lIns="134875" spcFirstLastPara="1" rIns="134875" wrap="square" tIns="134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13"/>
            </a:p>
          </p:txBody>
        </p:sp>
        <p:sp>
          <p:nvSpPr>
            <p:cNvPr id="587" name="Google Shape;587;p24"/>
            <p:cNvSpPr/>
            <p:nvPr/>
          </p:nvSpPr>
          <p:spPr>
            <a:xfrm>
              <a:off x="570533" y="3263429"/>
              <a:ext cx="938100" cy="1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1106"/>
                <a:buFont typeface="Roboto"/>
                <a:buNone/>
              </a:pPr>
              <a:r>
                <a:rPr b="0" i="0" lang="ko-KR" sz="1254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코딩 워크숍</a:t>
              </a:r>
              <a:endParaRPr b="0" i="0" sz="125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24"/>
            <p:cNvSpPr/>
            <p:nvPr/>
          </p:nvSpPr>
          <p:spPr>
            <a:xfrm>
              <a:off x="1187872" y="3226222"/>
              <a:ext cx="735300" cy="188700"/>
            </a:xfrm>
            <a:prstGeom prst="roundRect">
              <a:avLst>
                <a:gd fmla="val 7894" name="adj"/>
              </a:avLst>
            </a:prstGeom>
            <a:noFill/>
            <a:ln cap="flat" cmpd="sng" w="14050">
              <a:solidFill>
                <a:srgbClr val="3257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4875" lIns="134875" spcFirstLastPara="1" rIns="134875" wrap="square" tIns="134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13"/>
            </a:p>
          </p:txBody>
        </p:sp>
        <p:sp>
          <p:nvSpPr>
            <p:cNvPr id="589" name="Google Shape;589;p24"/>
            <p:cNvSpPr/>
            <p:nvPr/>
          </p:nvSpPr>
          <p:spPr>
            <a:xfrm>
              <a:off x="1262286" y="3263429"/>
              <a:ext cx="1043700" cy="1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57B8"/>
                </a:buClr>
                <a:buSzPts val="1106"/>
                <a:buFont typeface="Roboto"/>
                <a:buNone/>
              </a:pPr>
              <a:r>
                <a:rPr b="0" i="0" lang="ko-KR" sz="1254" u="none" cap="none" strike="noStrike">
                  <a:solidFill>
                    <a:srgbClr val="3257B8"/>
                  </a:solidFill>
                  <a:latin typeface="Roboto"/>
                  <a:ea typeface="Roboto"/>
                  <a:cs typeface="Roboto"/>
                  <a:sym typeface="Roboto"/>
                </a:rPr>
                <a:t>페이지 21–40</a:t>
              </a:r>
              <a:endParaRPr b="0" i="0" sz="125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5"/>
          <p:cNvSpPr/>
          <p:nvPr/>
        </p:nvSpPr>
        <p:spPr>
          <a:xfrm>
            <a:off x="496119" y="804675"/>
            <a:ext cx="673500" cy="188700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5"/>
          <p:cNvSpPr/>
          <p:nvPr/>
        </p:nvSpPr>
        <p:spPr>
          <a:xfrm>
            <a:off x="570533" y="841882"/>
            <a:ext cx="981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셋팅 STEP 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5"/>
          <p:cNvSpPr/>
          <p:nvPr/>
        </p:nvSpPr>
        <p:spPr>
          <a:xfrm>
            <a:off x="496119" y="1042800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VSCode 설치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5"/>
          <p:cNvSpPr/>
          <p:nvPr/>
        </p:nvSpPr>
        <p:spPr>
          <a:xfrm>
            <a:off x="453469" y="1614527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VSCode는 코드를 작성하는 편집기입니다. 아래 순서대로 3분 안에 설치할 수 있어요.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이미 설치되어 있으면 이 단계는 건너뛰세요!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5"/>
          <p:cNvSpPr/>
          <p:nvPr/>
        </p:nvSpPr>
        <p:spPr>
          <a:xfrm>
            <a:off x="496119" y="2135800"/>
            <a:ext cx="248100" cy="1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 Light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5"/>
          <p:cNvSpPr/>
          <p:nvPr/>
        </p:nvSpPr>
        <p:spPr>
          <a:xfrm>
            <a:off x="496119" y="2332253"/>
            <a:ext cx="40140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5"/>
          <p:cNvSpPr/>
          <p:nvPr/>
        </p:nvSpPr>
        <p:spPr>
          <a:xfrm>
            <a:off x="496144" y="2422815"/>
            <a:ext cx="4014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주소 입력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5"/>
          <p:cNvSpPr/>
          <p:nvPr/>
        </p:nvSpPr>
        <p:spPr>
          <a:xfrm>
            <a:off x="496119" y="2747775"/>
            <a:ext cx="4014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code.visualstudio.com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을 브라우저 주소창에 입력합니다.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5"/>
          <p:cNvSpPr/>
          <p:nvPr/>
        </p:nvSpPr>
        <p:spPr>
          <a:xfrm>
            <a:off x="4633987" y="2135800"/>
            <a:ext cx="248100" cy="1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 Light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5"/>
          <p:cNvSpPr/>
          <p:nvPr/>
        </p:nvSpPr>
        <p:spPr>
          <a:xfrm>
            <a:off x="4633987" y="2332253"/>
            <a:ext cx="40140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5"/>
          <p:cNvSpPr/>
          <p:nvPr/>
        </p:nvSpPr>
        <p:spPr>
          <a:xfrm>
            <a:off x="4634012" y="2422815"/>
            <a:ext cx="4014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Download 클릭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5"/>
          <p:cNvSpPr/>
          <p:nvPr/>
        </p:nvSpPr>
        <p:spPr>
          <a:xfrm>
            <a:off x="4633987" y="2747775"/>
            <a:ext cx="4014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파란색 버튼을 클릭하세요. Windows / Mac 운영체제를 자동으로 감지합니다.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5"/>
          <p:cNvSpPr/>
          <p:nvPr/>
        </p:nvSpPr>
        <p:spPr>
          <a:xfrm>
            <a:off x="496119" y="3390015"/>
            <a:ext cx="248100" cy="1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 Light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5"/>
          <p:cNvSpPr/>
          <p:nvPr/>
        </p:nvSpPr>
        <p:spPr>
          <a:xfrm>
            <a:off x="496119" y="3574041"/>
            <a:ext cx="40140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496144" y="3677030"/>
            <a:ext cx="4014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파일 실행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5"/>
          <p:cNvSpPr/>
          <p:nvPr/>
        </p:nvSpPr>
        <p:spPr>
          <a:xfrm>
            <a:off x="496119" y="4001988"/>
            <a:ext cx="4014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다운로드된 파일을 실행하고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"다음 → 다음 → 설치"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를 클릭합니다.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5"/>
          <p:cNvSpPr/>
          <p:nvPr/>
        </p:nvSpPr>
        <p:spPr>
          <a:xfrm>
            <a:off x="4633987" y="3390015"/>
            <a:ext cx="248100" cy="15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 Light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5"/>
          <p:cNvSpPr/>
          <p:nvPr/>
        </p:nvSpPr>
        <p:spPr>
          <a:xfrm>
            <a:off x="4633987" y="3574041"/>
            <a:ext cx="40140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4633987" y="3677030"/>
            <a:ext cx="4014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실행 확인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5"/>
          <p:cNvSpPr/>
          <p:nvPr/>
        </p:nvSpPr>
        <p:spPr>
          <a:xfrm>
            <a:off x="4633987" y="4001988"/>
            <a:ext cx="4014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설치 후 VSCode를 열어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검은 화면이 뜨면 성공!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🎉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26"/>
          <p:cNvSpPr/>
          <p:nvPr/>
        </p:nvSpPr>
        <p:spPr>
          <a:xfrm>
            <a:off x="496119" y="394618"/>
            <a:ext cx="494400" cy="138300"/>
          </a:xfrm>
          <a:prstGeom prst="roundRect">
            <a:avLst>
              <a:gd fmla="val 790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6"/>
          <p:cNvSpPr/>
          <p:nvPr/>
        </p:nvSpPr>
        <p:spPr>
          <a:xfrm>
            <a:off x="550738" y="421928"/>
            <a:ext cx="842400" cy="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50"/>
              <a:buFont typeface="Roboto"/>
              <a:buNone/>
            </a:pPr>
            <a:r>
              <a:rPr b="0" i="0" lang="ko-KR" sz="5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셋팅 STEP 2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6"/>
          <p:cNvSpPr/>
          <p:nvPr/>
        </p:nvSpPr>
        <p:spPr>
          <a:xfrm>
            <a:off x="496119" y="559668"/>
            <a:ext cx="8151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750"/>
              <a:buFont typeface="Roboto Slab"/>
              <a:buNone/>
            </a:pPr>
            <a:r>
              <a:rPr b="1" i="0" lang="ko-KR" sz="20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Python 설치</a:t>
            </a:r>
            <a:endParaRPr b="1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6"/>
          <p:cNvSpPr/>
          <p:nvPr/>
        </p:nvSpPr>
        <p:spPr>
          <a:xfrm>
            <a:off x="496119" y="1004813"/>
            <a:ext cx="39648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Python은 우리가 서버를 만드는 데 사용하는 프로그래밍 언어입니다. 설치 시 </a:t>
            </a:r>
            <a:r>
              <a:rPr b="1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딱 하나</a:t>
            </a: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만 절대 빠뜨리면 안 됩니다!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6"/>
          <p:cNvSpPr/>
          <p:nvPr/>
        </p:nvSpPr>
        <p:spPr>
          <a:xfrm>
            <a:off x="496119" y="1298738"/>
            <a:ext cx="182100" cy="11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 Slab Light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6"/>
          <p:cNvSpPr/>
          <p:nvPr/>
        </p:nvSpPr>
        <p:spPr>
          <a:xfrm>
            <a:off x="496119" y="1478012"/>
            <a:ext cx="3964800" cy="96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26" name="Google Shape;626;p26"/>
          <p:cNvSpPr/>
          <p:nvPr/>
        </p:nvSpPr>
        <p:spPr>
          <a:xfrm>
            <a:off x="666208" y="1259122"/>
            <a:ext cx="3964800" cy="1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주소 입력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6"/>
          <p:cNvSpPr/>
          <p:nvPr/>
        </p:nvSpPr>
        <p:spPr>
          <a:xfrm>
            <a:off x="496119" y="1513656"/>
            <a:ext cx="39648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python.org/downloads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6"/>
          <p:cNvSpPr/>
          <p:nvPr/>
        </p:nvSpPr>
        <p:spPr>
          <a:xfrm>
            <a:off x="496119" y="1979329"/>
            <a:ext cx="182100" cy="11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 Slab Light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6"/>
          <p:cNvSpPr/>
          <p:nvPr/>
        </p:nvSpPr>
        <p:spPr>
          <a:xfrm>
            <a:off x="496119" y="2149525"/>
            <a:ext cx="3964800" cy="96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30" name="Google Shape;630;p26"/>
          <p:cNvSpPr/>
          <p:nvPr/>
        </p:nvSpPr>
        <p:spPr>
          <a:xfrm>
            <a:off x="666208" y="1939713"/>
            <a:ext cx="3964800" cy="1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Download 클릭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6"/>
          <p:cNvSpPr/>
          <p:nvPr/>
        </p:nvSpPr>
        <p:spPr>
          <a:xfrm>
            <a:off x="496119" y="2194247"/>
            <a:ext cx="39648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노란색 버튼 클릭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6"/>
          <p:cNvSpPr/>
          <p:nvPr/>
        </p:nvSpPr>
        <p:spPr>
          <a:xfrm>
            <a:off x="496119" y="2659920"/>
            <a:ext cx="182100" cy="11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 Slab Light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6"/>
          <p:cNvSpPr/>
          <p:nvPr/>
        </p:nvSpPr>
        <p:spPr>
          <a:xfrm>
            <a:off x="496119" y="2821037"/>
            <a:ext cx="3964800" cy="96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34" name="Google Shape;634;p26"/>
          <p:cNvSpPr/>
          <p:nvPr/>
        </p:nvSpPr>
        <p:spPr>
          <a:xfrm>
            <a:off x="666208" y="2620304"/>
            <a:ext cx="3964800" cy="1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Add to PATH 체크!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6"/>
          <p:cNvSpPr/>
          <p:nvPr/>
        </p:nvSpPr>
        <p:spPr>
          <a:xfrm>
            <a:off x="496119" y="2874838"/>
            <a:ext cx="39648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Roboto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⚠️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이거 빼먹으면 안 됩니다!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6"/>
          <p:cNvSpPr/>
          <p:nvPr/>
        </p:nvSpPr>
        <p:spPr>
          <a:xfrm>
            <a:off x="496119" y="3340511"/>
            <a:ext cx="182100" cy="11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 Slab Light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6"/>
          <p:cNvSpPr/>
          <p:nvPr/>
        </p:nvSpPr>
        <p:spPr>
          <a:xfrm>
            <a:off x="496119" y="3492550"/>
            <a:ext cx="3964800" cy="96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38" name="Google Shape;638;p26"/>
          <p:cNvSpPr/>
          <p:nvPr/>
        </p:nvSpPr>
        <p:spPr>
          <a:xfrm>
            <a:off x="666208" y="3300895"/>
            <a:ext cx="3964800" cy="1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설치 완료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6"/>
          <p:cNvSpPr/>
          <p:nvPr/>
        </p:nvSpPr>
        <p:spPr>
          <a:xfrm>
            <a:off x="496119" y="3555429"/>
            <a:ext cx="3964800" cy="1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"다음 → 다음 → 설치" 클릭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6"/>
          <p:cNvSpPr/>
          <p:nvPr/>
        </p:nvSpPr>
        <p:spPr>
          <a:xfrm>
            <a:off x="496119" y="4021102"/>
            <a:ext cx="182100" cy="11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 Slab Light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6"/>
          <p:cNvSpPr/>
          <p:nvPr/>
        </p:nvSpPr>
        <p:spPr>
          <a:xfrm>
            <a:off x="496119" y="4164062"/>
            <a:ext cx="3964800" cy="96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42" name="Google Shape;642;p26"/>
          <p:cNvSpPr/>
          <p:nvPr/>
        </p:nvSpPr>
        <p:spPr>
          <a:xfrm>
            <a:off x="677548" y="3992825"/>
            <a:ext cx="3964800" cy="1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확인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6"/>
          <p:cNvSpPr/>
          <p:nvPr/>
        </p:nvSpPr>
        <p:spPr>
          <a:xfrm>
            <a:off x="496119" y="4304053"/>
            <a:ext cx="3964800" cy="1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터미널에서 </a:t>
            </a:r>
            <a:r>
              <a:rPr b="0" i="0" lang="ko-KR" sz="110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python --version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입력, 버전 숫자가 나오면 성공!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6"/>
          <p:cNvSpPr/>
          <p:nvPr/>
        </p:nvSpPr>
        <p:spPr>
          <a:xfrm>
            <a:off x="4622304" y="990005"/>
            <a:ext cx="4095900" cy="3713400"/>
          </a:xfrm>
          <a:prstGeom prst="roundRect">
            <a:avLst>
              <a:gd fmla="val 36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6"/>
          <p:cNvSpPr/>
          <p:nvPr/>
        </p:nvSpPr>
        <p:spPr>
          <a:xfrm>
            <a:off x="4713387" y="1011510"/>
            <a:ext cx="39138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Roboto Slab"/>
              <a:buNone/>
            </a:pPr>
            <a:r>
              <a:rPr b="0" i="0" lang="ko-KR" sz="8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⚠️</a:t>
            </a:r>
            <a:r>
              <a:rPr b="0" i="0" lang="ko-KR" sz="8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반드시 체크!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6"/>
          <p:cNvSpPr/>
          <p:nvPr/>
        </p:nvSpPr>
        <p:spPr>
          <a:xfrm>
            <a:off x="4713387" y="1230213"/>
            <a:ext cx="3913800" cy="5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☑</a:t>
            </a:r>
            <a:r>
              <a:rPr b="1" i="0" lang="ko-KR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Add Python to PATH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이 항목을 체크하지 않으면 터미널에서 </a:t>
            </a:r>
            <a:r>
              <a:rPr b="0" i="0" lang="ko-KR" sz="700" u="none" cap="none" strike="noStrike">
                <a:solidFill>
                  <a:srgbClr val="FFFFFF"/>
                </a:solidFill>
                <a:highlight>
                  <a:srgbClr val="3F64C5"/>
                </a:highlight>
                <a:latin typeface="Consolas"/>
                <a:ea typeface="Consolas"/>
                <a:cs typeface="Consolas"/>
                <a:sym typeface="Consolas"/>
              </a:rPr>
              <a:t>python</a:t>
            </a:r>
            <a:r>
              <a:rPr b="0" i="0" lang="ko-KR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명령어가 전혀 실행되지 않습니다.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000"/>
              </a:lnSpc>
              <a:spcBef>
                <a:spcPts val="45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설치 화면 맨 아래에 있는 체크박스를 꼭 확인하세요!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52" name="Google Shape;65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27"/>
          <p:cNvSpPr/>
          <p:nvPr/>
        </p:nvSpPr>
        <p:spPr>
          <a:xfrm>
            <a:off x="496119" y="373187"/>
            <a:ext cx="525900" cy="147300"/>
          </a:xfrm>
          <a:prstGeom prst="roundRect">
            <a:avLst>
              <a:gd fmla="val 7901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7"/>
          <p:cNvSpPr/>
          <p:nvPr/>
        </p:nvSpPr>
        <p:spPr>
          <a:xfrm>
            <a:off x="554236" y="402208"/>
            <a:ext cx="866700" cy="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셋팅 STEP 3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7"/>
          <p:cNvSpPr/>
          <p:nvPr/>
        </p:nvSpPr>
        <p:spPr>
          <a:xfrm>
            <a:off x="496119" y="550590"/>
            <a:ext cx="47229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900"/>
              <a:buFont typeface="Roboto Slab"/>
              <a:buNone/>
            </a:pPr>
            <a:r>
              <a:rPr b="1" i="0" lang="ko-KR" sz="2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Flask 설치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7"/>
          <p:cNvSpPr/>
          <p:nvPr/>
        </p:nvSpPr>
        <p:spPr>
          <a:xfrm>
            <a:off x="496119" y="967011"/>
            <a:ext cx="51801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Flask는 Python으로 웹 서버를 만드는 도구입니다. VSCode 터미널에서 아래 명령어를 </a:t>
            </a:r>
            <a:r>
              <a:rPr b="1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하나씩</a:t>
            </a: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입력하세요.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7"/>
          <p:cNvSpPr/>
          <p:nvPr/>
        </p:nvSpPr>
        <p:spPr>
          <a:xfrm>
            <a:off x="496119" y="1265858"/>
            <a:ext cx="22431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950"/>
              <a:buFont typeface="Roboto Slab"/>
              <a:buNone/>
            </a:pPr>
            <a:r>
              <a:rPr b="0" i="0" lang="ko-KR" sz="1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터미널 여는 방법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7"/>
          <p:cNvSpPr/>
          <p:nvPr/>
        </p:nvSpPr>
        <p:spPr>
          <a:xfrm>
            <a:off x="496119" y="1502420"/>
            <a:ext cx="2243100" cy="587400"/>
          </a:xfrm>
          <a:prstGeom prst="roundRect">
            <a:avLst>
              <a:gd fmla="val 2474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7"/>
          <p:cNvSpPr/>
          <p:nvPr/>
        </p:nvSpPr>
        <p:spPr>
          <a:xfrm>
            <a:off x="607293" y="1613595"/>
            <a:ext cx="20208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메뉴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7"/>
          <p:cNvSpPr/>
          <p:nvPr/>
        </p:nvSpPr>
        <p:spPr>
          <a:xfrm>
            <a:off x="607293" y="1840706"/>
            <a:ext cx="20208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상단 → 터미널 → 새 터미널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7"/>
          <p:cNvSpPr/>
          <p:nvPr/>
        </p:nvSpPr>
        <p:spPr>
          <a:xfrm>
            <a:off x="496119" y="2165598"/>
            <a:ext cx="2243100" cy="592200"/>
          </a:xfrm>
          <a:prstGeom prst="roundRect">
            <a:avLst>
              <a:gd fmla="val 2454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7"/>
          <p:cNvSpPr/>
          <p:nvPr/>
        </p:nvSpPr>
        <p:spPr>
          <a:xfrm>
            <a:off x="607293" y="2276773"/>
            <a:ext cx="20208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단축키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7"/>
          <p:cNvSpPr/>
          <p:nvPr/>
        </p:nvSpPr>
        <p:spPr>
          <a:xfrm>
            <a:off x="607293" y="2503884"/>
            <a:ext cx="2020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Consolas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Ctrl + `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(백틱)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7"/>
          <p:cNvSpPr/>
          <p:nvPr/>
        </p:nvSpPr>
        <p:spPr>
          <a:xfrm>
            <a:off x="496119" y="2922364"/>
            <a:ext cx="22431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터미널에 입력할 명령어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7"/>
          <p:cNvSpPr/>
          <p:nvPr/>
        </p:nvSpPr>
        <p:spPr>
          <a:xfrm>
            <a:off x="496119" y="3079552"/>
            <a:ext cx="2243100" cy="607800"/>
          </a:xfrm>
          <a:prstGeom prst="roundRect">
            <a:avLst>
              <a:gd fmla="val 2391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7"/>
          <p:cNvSpPr/>
          <p:nvPr/>
        </p:nvSpPr>
        <p:spPr>
          <a:xfrm>
            <a:off x="491282" y="3079552"/>
            <a:ext cx="2253000" cy="607800"/>
          </a:xfrm>
          <a:prstGeom prst="roundRect">
            <a:avLst>
              <a:gd fmla="val 2391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7"/>
          <p:cNvSpPr/>
          <p:nvPr/>
        </p:nvSpPr>
        <p:spPr>
          <a:xfrm>
            <a:off x="612353" y="3176439"/>
            <a:ext cx="20106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ko-KR" sz="950" u="none" cap="none" strike="noStrike">
                <a:solidFill>
                  <a:srgbClr val="D73A49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mkdir study-timer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ko-KR" sz="950" u="none" cap="none" strike="noStrike">
                <a:solidFill>
                  <a:srgbClr val="D73A49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cd study-timer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750"/>
              <a:buFont typeface="Consolas"/>
              <a:buNone/>
            </a:pPr>
            <a:r>
              <a:rPr b="0" i="0" lang="ko-KR" sz="950" u="none" cap="none" strike="noStrike">
                <a:solidFill>
                  <a:srgbClr val="D73A49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pip install flask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7"/>
          <p:cNvSpPr/>
          <p:nvPr/>
        </p:nvSpPr>
        <p:spPr>
          <a:xfrm>
            <a:off x="496119" y="3851945"/>
            <a:ext cx="22431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설치 확인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7"/>
          <p:cNvSpPr/>
          <p:nvPr/>
        </p:nvSpPr>
        <p:spPr>
          <a:xfrm>
            <a:off x="496119" y="4009132"/>
            <a:ext cx="2243100" cy="469800"/>
          </a:xfrm>
          <a:prstGeom prst="roundRect">
            <a:avLst>
              <a:gd fmla="val 3094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7"/>
          <p:cNvSpPr/>
          <p:nvPr/>
        </p:nvSpPr>
        <p:spPr>
          <a:xfrm>
            <a:off x="491282" y="4009132"/>
            <a:ext cx="2253000" cy="469800"/>
          </a:xfrm>
          <a:prstGeom prst="roundRect">
            <a:avLst>
              <a:gd fmla="val 3094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7"/>
          <p:cNvSpPr/>
          <p:nvPr/>
        </p:nvSpPr>
        <p:spPr>
          <a:xfrm>
            <a:off x="612353" y="4106019"/>
            <a:ext cx="20106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Consolas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Consolas"/>
                <a:ea typeface="Consolas"/>
                <a:cs typeface="Consolas"/>
                <a:sym typeface="Consolas"/>
              </a:rPr>
              <a:t>python -c "import flask; print(flask.__version__)"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7"/>
          <p:cNvSpPr/>
          <p:nvPr/>
        </p:nvSpPr>
        <p:spPr>
          <a:xfrm>
            <a:off x="496119" y="4564112"/>
            <a:ext cx="27003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1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3.1.1</a:t>
            </a: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같은 숫자가 나오면 성공! </a:t>
            </a:r>
            <a:r>
              <a:rPr b="0" i="0" lang="ko-KR" sz="7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🎉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7"/>
          <p:cNvSpPr/>
          <p:nvPr/>
        </p:nvSpPr>
        <p:spPr>
          <a:xfrm>
            <a:off x="2980432" y="1265858"/>
            <a:ext cx="22431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950"/>
              <a:buFont typeface="Roboto Slab"/>
              <a:buNone/>
            </a:pPr>
            <a:r>
              <a:rPr b="0" i="0" lang="ko-KR" sz="1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문제 해결 가이드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4" name="Google Shape;67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0432" y="1502420"/>
            <a:ext cx="2243211" cy="592262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27"/>
          <p:cNvSpPr/>
          <p:nvPr/>
        </p:nvSpPr>
        <p:spPr>
          <a:xfrm>
            <a:off x="3148757" y="1613595"/>
            <a:ext cx="19638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Mac에서 pip 안 됨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7"/>
          <p:cNvSpPr/>
          <p:nvPr/>
        </p:nvSpPr>
        <p:spPr>
          <a:xfrm>
            <a:off x="3148757" y="1840706"/>
            <a:ext cx="1963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Consolas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pip3 install flask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7" name="Google Shape;67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0432" y="2170361"/>
            <a:ext cx="2243211" cy="592262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27"/>
          <p:cNvSpPr/>
          <p:nvPr/>
        </p:nvSpPr>
        <p:spPr>
          <a:xfrm>
            <a:off x="3148757" y="2281535"/>
            <a:ext cx="19638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그래도 안 됨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7"/>
          <p:cNvSpPr/>
          <p:nvPr/>
        </p:nvSpPr>
        <p:spPr>
          <a:xfrm>
            <a:off x="3148757" y="2508647"/>
            <a:ext cx="1963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Consolas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python -m pip install flask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0" name="Google Shape;68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0432" y="2838301"/>
            <a:ext cx="2243211" cy="592262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27"/>
          <p:cNvSpPr/>
          <p:nvPr/>
        </p:nvSpPr>
        <p:spPr>
          <a:xfrm>
            <a:off x="3148757" y="2949476"/>
            <a:ext cx="19638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permission 에러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7"/>
          <p:cNvSpPr/>
          <p:nvPr/>
        </p:nvSpPr>
        <p:spPr>
          <a:xfrm>
            <a:off x="3148757" y="3176588"/>
            <a:ext cx="1963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Consolas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pip install --user flask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8" name="Google Shape;688;p28"/>
          <p:cNvGrpSpPr/>
          <p:nvPr/>
        </p:nvGrpSpPr>
        <p:grpSpPr>
          <a:xfrm>
            <a:off x="496143" y="401420"/>
            <a:ext cx="1444932" cy="295907"/>
            <a:chOff x="496124" y="511300"/>
            <a:chExt cx="908248" cy="186000"/>
          </a:xfrm>
        </p:grpSpPr>
        <p:sp>
          <p:nvSpPr>
            <p:cNvPr id="689" name="Google Shape;689;p28"/>
            <p:cNvSpPr/>
            <p:nvPr/>
          </p:nvSpPr>
          <p:spPr>
            <a:xfrm>
              <a:off x="496124" y="511300"/>
              <a:ext cx="530700" cy="186000"/>
            </a:xfrm>
            <a:prstGeom prst="roundRect">
              <a:avLst>
                <a:gd fmla="val 7894" name="adj"/>
              </a:avLst>
            </a:prstGeom>
            <a:solidFill>
              <a:srgbClr val="D7DFF4"/>
            </a:solidFill>
            <a:ln>
              <a:noFill/>
            </a:ln>
          </p:spPr>
          <p:txBody>
            <a:bodyPr anchorCtr="0" anchor="ctr" bIns="143375" lIns="143375" spcFirstLastPara="1" rIns="143375" wrap="square" tIns="143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195"/>
            </a:p>
          </p:txBody>
        </p:sp>
        <p:sp>
          <p:nvSpPr>
            <p:cNvPr id="690" name="Google Shape;690;p28"/>
            <p:cNvSpPr/>
            <p:nvPr/>
          </p:nvSpPr>
          <p:spPr>
            <a:xfrm>
              <a:off x="569472" y="547974"/>
              <a:ext cx="834900" cy="11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1176"/>
                <a:buFont typeface="Roboto"/>
                <a:buNone/>
              </a:pPr>
              <a:r>
                <a:rPr b="1" i="0" lang="ko-KR" sz="1176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셋팅 완료</a:t>
              </a:r>
              <a:endParaRPr b="1" i="0" sz="117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1" name="Google Shape;691;p28"/>
          <p:cNvSpPr/>
          <p:nvPr/>
        </p:nvSpPr>
        <p:spPr>
          <a:xfrm>
            <a:off x="496119" y="749424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셋팅 완료 체크리스트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8"/>
          <p:cNvSpPr/>
          <p:nvPr/>
        </p:nvSpPr>
        <p:spPr>
          <a:xfrm>
            <a:off x="496119" y="1209615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4가지를 모두 확인하세요.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하나라도 안 되면 손을 들어 선생님에게 알려주세요!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혼자 해결하려고 시간을 낭비하지 않아도 됩니다.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3" name="Google Shape;69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660996"/>
            <a:ext cx="4013896" cy="1105867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28"/>
          <p:cNvSpPr/>
          <p:nvPr/>
        </p:nvSpPr>
        <p:spPr>
          <a:xfrm>
            <a:off x="2428652" y="1754014"/>
            <a:ext cx="1488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8"/>
          <p:cNvSpPr/>
          <p:nvPr/>
        </p:nvSpPr>
        <p:spPr>
          <a:xfrm>
            <a:off x="634380" y="2123097"/>
            <a:ext cx="3737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VSCode가 열린다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8"/>
          <p:cNvSpPr/>
          <p:nvPr/>
        </p:nvSpPr>
        <p:spPr>
          <a:xfrm>
            <a:off x="634380" y="2425378"/>
            <a:ext cx="3737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검은 화면이 보이면 OK ☐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7" name="Google Shape;69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987" y="1660996"/>
            <a:ext cx="4013896" cy="1105867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28"/>
          <p:cNvSpPr/>
          <p:nvPr/>
        </p:nvSpPr>
        <p:spPr>
          <a:xfrm>
            <a:off x="6566520" y="1754014"/>
            <a:ext cx="1488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8"/>
          <p:cNvSpPr/>
          <p:nvPr/>
        </p:nvSpPr>
        <p:spPr>
          <a:xfrm>
            <a:off x="4772248" y="2123097"/>
            <a:ext cx="3737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Python 설치 확인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28"/>
          <p:cNvSpPr/>
          <p:nvPr/>
        </p:nvSpPr>
        <p:spPr>
          <a:xfrm>
            <a:off x="4772248" y="2425378"/>
            <a:ext cx="37374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Consolas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python --version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→ 숫자가 나오면 OK ☐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1" name="Google Shape;70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890838"/>
            <a:ext cx="4013896" cy="1105867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28"/>
          <p:cNvSpPr/>
          <p:nvPr/>
        </p:nvSpPr>
        <p:spPr>
          <a:xfrm>
            <a:off x="2428652" y="2983855"/>
            <a:ext cx="1488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8"/>
          <p:cNvSpPr/>
          <p:nvPr/>
        </p:nvSpPr>
        <p:spPr>
          <a:xfrm>
            <a:off x="634380" y="3352938"/>
            <a:ext cx="3737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프로젝트 폴더 생성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8"/>
          <p:cNvSpPr/>
          <p:nvPr/>
        </p:nvSpPr>
        <p:spPr>
          <a:xfrm>
            <a:off x="634380" y="3655219"/>
            <a:ext cx="37374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Consolas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study-timer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폴더가 보이면 OK ☐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5" name="Google Shape;70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987" y="2890838"/>
            <a:ext cx="4013896" cy="1105867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28"/>
          <p:cNvSpPr/>
          <p:nvPr/>
        </p:nvSpPr>
        <p:spPr>
          <a:xfrm>
            <a:off x="6566520" y="2983855"/>
            <a:ext cx="1488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8"/>
          <p:cNvSpPr/>
          <p:nvPr/>
        </p:nvSpPr>
        <p:spPr>
          <a:xfrm>
            <a:off x="4772248" y="3352938"/>
            <a:ext cx="3737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7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Flask 설치 완료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8"/>
          <p:cNvSpPr/>
          <p:nvPr/>
        </p:nvSpPr>
        <p:spPr>
          <a:xfrm>
            <a:off x="4772248" y="3655219"/>
            <a:ext cx="37374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Consolas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pip install flask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성공 ☐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8"/>
          <p:cNvSpPr/>
          <p:nvPr/>
        </p:nvSpPr>
        <p:spPr>
          <a:xfrm>
            <a:off x="496119" y="4136231"/>
            <a:ext cx="8151900" cy="49590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0" name="Google Shape;71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092" y="4316016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28"/>
          <p:cNvSpPr/>
          <p:nvPr/>
        </p:nvSpPr>
        <p:spPr>
          <a:xfrm>
            <a:off x="899071" y="4291161"/>
            <a:ext cx="8082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4가지 모두 완료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했다면 개발 시작 준비 완료입니다! 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9"/>
          <p:cNvSpPr/>
          <p:nvPr/>
        </p:nvSpPr>
        <p:spPr>
          <a:xfrm>
            <a:off x="496119" y="357113"/>
            <a:ext cx="603000" cy="173700"/>
          </a:xfrm>
          <a:prstGeom prst="roundRect">
            <a:avLst>
              <a:gd fmla="val 7898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9"/>
          <p:cNvSpPr/>
          <p:nvPr/>
        </p:nvSpPr>
        <p:spPr>
          <a:xfrm>
            <a:off x="564728" y="391418"/>
            <a:ext cx="9228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첫 번째 코드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9"/>
          <p:cNvSpPr/>
          <p:nvPr/>
        </p:nvSpPr>
        <p:spPr>
          <a:xfrm>
            <a:off x="496119" y="572988"/>
            <a:ext cx="8151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50"/>
              <a:buFont typeface="Roboto Slab"/>
              <a:buNone/>
            </a:pPr>
            <a:r>
              <a:rPr b="1" i="0" lang="ko-KR" sz="24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app.py — 기본 서버 코드</a:t>
            </a:r>
            <a:endParaRPr b="1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9"/>
          <p:cNvSpPr/>
          <p:nvPr/>
        </p:nvSpPr>
        <p:spPr>
          <a:xfrm>
            <a:off x="496119" y="1088454"/>
            <a:ext cx="86091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아래는 Flask 웹 서버의 가장 기본적인 코드입니다. </a:t>
            </a:r>
            <a:r>
              <a:rPr b="1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외울 필요 없어요!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각 줄이 어떤 역할을 하는지만 이해하면 충분합니다.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9"/>
          <p:cNvSpPr/>
          <p:nvPr/>
        </p:nvSpPr>
        <p:spPr>
          <a:xfrm>
            <a:off x="496119" y="1501378"/>
            <a:ext cx="3936300" cy="1986900"/>
          </a:xfrm>
          <a:prstGeom prst="roundRect">
            <a:avLst>
              <a:gd fmla="val 863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9"/>
          <p:cNvSpPr/>
          <p:nvPr/>
        </p:nvSpPr>
        <p:spPr>
          <a:xfrm>
            <a:off x="490475" y="1501374"/>
            <a:ext cx="3947700" cy="2437800"/>
          </a:xfrm>
          <a:prstGeom prst="roundRect">
            <a:avLst>
              <a:gd fmla="val 863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9"/>
          <p:cNvSpPr/>
          <p:nvPr/>
        </p:nvSpPr>
        <p:spPr>
          <a:xfrm>
            <a:off x="633338" y="1615678"/>
            <a:ext cx="3662100" cy="17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ko-KR" sz="1100" u="none" cap="none" strike="noStrike">
                <a:solidFill>
                  <a:srgbClr val="D73A49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from flask import Flask, render_template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ko-KR" sz="1100" u="none" cap="none" strike="noStrike">
                <a:solidFill>
                  <a:srgbClr val="D73A49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app = Flask(__name__)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ko-KR" sz="1100" u="none" cap="none" strike="noStrike">
                <a:solidFill>
                  <a:srgbClr val="D73A49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@app.route('/')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ko-KR" sz="1100" u="none" cap="none" strike="noStrike">
                <a:solidFill>
                  <a:srgbClr val="D73A49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def home():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ko-KR" sz="1100" u="none" cap="none" strike="noStrike">
                <a:solidFill>
                  <a:srgbClr val="D73A49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    return render_template('index.html')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ko-KR" sz="1100" u="none" cap="none" strike="noStrike">
                <a:solidFill>
                  <a:srgbClr val="D73A49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if __name__ == '__main__':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ko-KR" sz="1100" u="none" cap="none" strike="noStrike">
                <a:solidFill>
                  <a:srgbClr val="D73A49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    app.run(debug=True)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4" name="Google Shape;72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1927" y="1487091"/>
            <a:ext cx="3950717" cy="493216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29"/>
          <p:cNvSpPr/>
          <p:nvPr/>
        </p:nvSpPr>
        <p:spPr>
          <a:xfrm>
            <a:off x="4859139" y="1501378"/>
            <a:ext cx="37935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1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Flask 도구 가져오기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9"/>
          <p:cNvSpPr/>
          <p:nvPr/>
        </p:nvSpPr>
        <p:spPr>
          <a:xfrm>
            <a:off x="4859089" y="1728721"/>
            <a:ext cx="37935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Consolas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from flask import Flask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연장통 열기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27" name="Google Shape;72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1927" y="2162547"/>
            <a:ext cx="3950717" cy="493216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29"/>
          <p:cNvSpPr/>
          <p:nvPr/>
        </p:nvSpPr>
        <p:spPr>
          <a:xfrm>
            <a:off x="4859139" y="2176835"/>
            <a:ext cx="37935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1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웹 서버 만들기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9"/>
          <p:cNvSpPr/>
          <p:nvPr/>
        </p:nvSpPr>
        <p:spPr>
          <a:xfrm>
            <a:off x="4859089" y="2404177"/>
            <a:ext cx="37935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Consolas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app = Flask(__name__)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가게 차리기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0" name="Google Shape;73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1927" y="2838004"/>
            <a:ext cx="3950717" cy="493216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29"/>
          <p:cNvSpPr/>
          <p:nvPr/>
        </p:nvSpPr>
        <p:spPr>
          <a:xfrm>
            <a:off x="4859139" y="2852291"/>
            <a:ext cx="37935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1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메인 주소 등록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9"/>
          <p:cNvSpPr/>
          <p:nvPr/>
        </p:nvSpPr>
        <p:spPr>
          <a:xfrm>
            <a:off x="4859089" y="3079633"/>
            <a:ext cx="37935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Consolas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@app.route('/')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정문으로 들어오면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3" name="Google Shape;73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1927" y="3513460"/>
            <a:ext cx="3950717" cy="493216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29"/>
          <p:cNvSpPr/>
          <p:nvPr/>
        </p:nvSpPr>
        <p:spPr>
          <a:xfrm>
            <a:off x="4859139" y="3527747"/>
            <a:ext cx="37935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1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HTML 보여주기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9"/>
          <p:cNvSpPr/>
          <p:nvPr/>
        </p:nvSpPr>
        <p:spPr>
          <a:xfrm>
            <a:off x="4859089" y="3755090"/>
            <a:ext cx="37935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Consolas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return render_template(...)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메뉴판 보여주기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6" name="Google Shape;73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1927" y="4188916"/>
            <a:ext cx="3950717" cy="493216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29"/>
          <p:cNvSpPr/>
          <p:nvPr/>
        </p:nvSpPr>
        <p:spPr>
          <a:xfrm>
            <a:off x="4859139" y="4203204"/>
            <a:ext cx="37935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1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서버 켜기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9"/>
          <p:cNvSpPr/>
          <p:nvPr/>
        </p:nvSpPr>
        <p:spPr>
          <a:xfrm>
            <a:off x="4859089" y="4430546"/>
            <a:ext cx="37935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Consolas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app.run(debug=True)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가게 오픈!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0"/>
          <p:cNvSpPr/>
          <p:nvPr/>
        </p:nvSpPr>
        <p:spPr>
          <a:xfrm>
            <a:off x="496119" y="356071"/>
            <a:ext cx="664500" cy="173700"/>
          </a:xfrm>
          <a:prstGeom prst="roundRect">
            <a:avLst>
              <a:gd fmla="val 7898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0"/>
          <p:cNvSpPr/>
          <p:nvPr/>
        </p:nvSpPr>
        <p:spPr>
          <a:xfrm>
            <a:off x="564728" y="390376"/>
            <a:ext cx="9843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프로젝트 구조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0"/>
          <p:cNvSpPr/>
          <p:nvPr/>
        </p:nvSpPr>
        <p:spPr>
          <a:xfrm>
            <a:off x="496119" y="571946"/>
            <a:ext cx="8151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50"/>
              <a:buFont typeface="Roboto Slab"/>
              <a:buNone/>
            </a:pPr>
            <a:r>
              <a:rPr b="1" i="0" lang="ko-KR" sz="24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파일 구조 이해하기</a:t>
            </a:r>
            <a:endParaRPr b="1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0"/>
          <p:cNvSpPr/>
          <p:nvPr/>
        </p:nvSpPr>
        <p:spPr>
          <a:xfrm>
            <a:off x="496119" y="985359"/>
            <a:ext cx="86091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우리 프로젝트는 3개의 파일로 구성됩니다. 각 파일의 역할을 편지 비유로 이해해봅시다!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0"/>
          <p:cNvSpPr/>
          <p:nvPr/>
        </p:nvSpPr>
        <p:spPr>
          <a:xfrm>
            <a:off x="496119" y="1487165"/>
            <a:ext cx="39363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100"/>
              <a:buFont typeface="Roboto Slab"/>
              <a:buNone/>
            </a:pPr>
            <a:r>
              <a:rPr b="1" i="0" lang="ko-KR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폴더 구조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0"/>
          <p:cNvSpPr/>
          <p:nvPr/>
        </p:nvSpPr>
        <p:spPr>
          <a:xfrm>
            <a:off x="496119" y="1784375"/>
            <a:ext cx="3936300" cy="1107900"/>
          </a:xfrm>
          <a:prstGeom prst="roundRect">
            <a:avLst>
              <a:gd fmla="val 1548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0"/>
          <p:cNvSpPr/>
          <p:nvPr/>
        </p:nvSpPr>
        <p:spPr>
          <a:xfrm>
            <a:off x="490463" y="1784375"/>
            <a:ext cx="3947700" cy="1107900"/>
          </a:xfrm>
          <a:prstGeom prst="roundRect">
            <a:avLst>
              <a:gd fmla="val 1548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0"/>
          <p:cNvSpPr/>
          <p:nvPr/>
        </p:nvSpPr>
        <p:spPr>
          <a:xfrm>
            <a:off x="633338" y="1898675"/>
            <a:ext cx="36621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ko-KR" sz="1100" u="none" cap="none" strike="noStrike">
                <a:solidFill>
                  <a:srgbClr val="D73A49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study-timer/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ko-KR" sz="1100" u="none" cap="none" strike="noStrike">
                <a:solidFill>
                  <a:srgbClr val="D73A49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├── app.py          ← Python 서버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ko-KR" sz="1100" u="none" cap="none" strike="noStrike">
                <a:solidFill>
                  <a:srgbClr val="D73A49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├── requirements.txt ← 라이브러리 목록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ko-KR" sz="1100" u="none" cap="none" strike="noStrike">
                <a:solidFill>
                  <a:srgbClr val="D73A49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└── templates/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ko-KR" sz="1100" u="none" cap="none" strike="noStrike">
                <a:solidFill>
                  <a:srgbClr val="D73A49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    └── index.html  ← 타이머 화면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0"/>
          <p:cNvSpPr/>
          <p:nvPr/>
        </p:nvSpPr>
        <p:spPr>
          <a:xfrm>
            <a:off x="496119" y="3010719"/>
            <a:ext cx="1915500" cy="864300"/>
          </a:xfrm>
          <a:prstGeom prst="roundRect">
            <a:avLst>
              <a:gd fmla="val 1985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0"/>
          <p:cNvSpPr/>
          <p:nvPr/>
        </p:nvSpPr>
        <p:spPr>
          <a:xfrm>
            <a:off x="610419" y="3125019"/>
            <a:ext cx="16869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3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app.py</a:t>
            </a:r>
            <a:endParaRPr b="0" i="0" sz="13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0"/>
          <p:cNvSpPr/>
          <p:nvPr/>
        </p:nvSpPr>
        <p:spPr>
          <a:xfrm>
            <a:off x="610419" y="3409057"/>
            <a:ext cx="16869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우체부 — 요청 받으면 HTML을 전달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0"/>
          <p:cNvSpPr/>
          <p:nvPr/>
        </p:nvSpPr>
        <p:spPr>
          <a:xfrm>
            <a:off x="2516981" y="3010719"/>
            <a:ext cx="1915500" cy="864300"/>
          </a:xfrm>
          <a:prstGeom prst="roundRect">
            <a:avLst>
              <a:gd fmla="val 1985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0"/>
          <p:cNvSpPr/>
          <p:nvPr/>
        </p:nvSpPr>
        <p:spPr>
          <a:xfrm>
            <a:off x="2631281" y="3125019"/>
            <a:ext cx="16869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3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index.html</a:t>
            </a:r>
            <a:endParaRPr b="0" i="0" sz="13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0"/>
          <p:cNvSpPr/>
          <p:nvPr/>
        </p:nvSpPr>
        <p:spPr>
          <a:xfrm>
            <a:off x="2631281" y="3409057"/>
            <a:ext cx="16869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편지 내용 — 사용자가 보는 실제 화면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0"/>
          <p:cNvSpPr/>
          <p:nvPr/>
        </p:nvSpPr>
        <p:spPr>
          <a:xfrm>
            <a:off x="496119" y="3980408"/>
            <a:ext cx="3936300" cy="688500"/>
          </a:xfrm>
          <a:prstGeom prst="roundRect">
            <a:avLst>
              <a:gd fmla="val 2491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30"/>
          <p:cNvSpPr/>
          <p:nvPr/>
        </p:nvSpPr>
        <p:spPr>
          <a:xfrm>
            <a:off x="610419" y="4094708"/>
            <a:ext cx="37077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300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templates/</a:t>
            </a:r>
            <a:endParaRPr b="0" i="0" sz="13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0"/>
          <p:cNvSpPr/>
          <p:nvPr/>
        </p:nvSpPr>
        <p:spPr>
          <a:xfrm>
            <a:off x="610419" y="4378747"/>
            <a:ext cx="3707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편지함 — HTML 파일 보관 폴더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0"/>
          <p:cNvSpPr/>
          <p:nvPr/>
        </p:nvSpPr>
        <p:spPr>
          <a:xfrm>
            <a:off x="4716214" y="1487165"/>
            <a:ext cx="3936300" cy="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100"/>
              <a:buFont typeface="Roboto Slab"/>
              <a:buNone/>
            </a:pPr>
            <a:r>
              <a:rPr b="0" i="0" lang="ko-KR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브라우저 </a:t>
            </a: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↔</a:t>
            </a:r>
            <a:r>
              <a:rPr b="0" i="0" lang="ko-KR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Flask </a:t>
            </a:r>
            <a:r>
              <a:rPr b="0" i="0" lang="ko-KR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↔</a:t>
            </a:r>
            <a:r>
              <a:rPr b="0" i="0" lang="ko-KR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HTML 흐름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2" name="Google Shape;76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4481" y="1789137"/>
            <a:ext cx="3819823" cy="22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30"/>
          <p:cNvSpPr/>
          <p:nvPr/>
        </p:nvSpPr>
        <p:spPr>
          <a:xfrm>
            <a:off x="7433142" y="3438912"/>
            <a:ext cx="949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index.html 표시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0"/>
          <p:cNvSpPr/>
          <p:nvPr/>
        </p:nvSpPr>
        <p:spPr>
          <a:xfrm>
            <a:off x="6236474" y="3530370"/>
            <a:ext cx="949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Flask 전달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0"/>
          <p:cNvSpPr/>
          <p:nvPr/>
        </p:nvSpPr>
        <p:spPr>
          <a:xfrm>
            <a:off x="5020295" y="3530370"/>
            <a:ext cx="949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브라우저 요청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0"/>
          <p:cNvSpPr/>
          <p:nvPr/>
        </p:nvSpPr>
        <p:spPr>
          <a:xfrm>
            <a:off x="4716214" y="4174778"/>
            <a:ext cx="43935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브라우저가 요청하면 Flask가 </a:t>
            </a:r>
            <a:r>
              <a:rPr b="1" i="0" lang="ko-KR" sz="13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templates 폴더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에서 HTML 파일을 찾아 전달합니다.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72" name="Google Shape;77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1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3" name="Google Shape;773;p31"/>
          <p:cNvGrpSpPr/>
          <p:nvPr/>
        </p:nvGrpSpPr>
        <p:grpSpPr>
          <a:xfrm>
            <a:off x="496138" y="288007"/>
            <a:ext cx="1103616" cy="217194"/>
            <a:chOff x="496119" y="357932"/>
            <a:chExt cx="748417" cy="147300"/>
          </a:xfrm>
        </p:grpSpPr>
        <p:sp>
          <p:nvSpPr>
            <p:cNvPr id="774" name="Google Shape;774;p31"/>
            <p:cNvSpPr/>
            <p:nvPr/>
          </p:nvSpPr>
          <p:spPr>
            <a:xfrm>
              <a:off x="496119" y="357932"/>
              <a:ext cx="349200" cy="147300"/>
            </a:xfrm>
            <a:prstGeom prst="roundRect">
              <a:avLst>
                <a:gd fmla="val 7901" name="adj"/>
              </a:avLst>
            </a:prstGeom>
            <a:solidFill>
              <a:srgbClr val="D7DFF4"/>
            </a:solidFill>
            <a:ln>
              <a:noFill/>
            </a:ln>
          </p:spPr>
          <p:txBody>
            <a:bodyPr anchorCtr="0" anchor="ctr" bIns="134800" lIns="134800" spcFirstLastPara="1" rIns="134800" wrap="square" tIns="13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1"/>
            <p:cNvSpPr/>
            <p:nvPr/>
          </p:nvSpPr>
          <p:spPr>
            <a:xfrm>
              <a:off x="554236" y="386953"/>
              <a:ext cx="690300" cy="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5213F"/>
                </a:buClr>
                <a:buSzPts val="885"/>
                <a:buFont typeface="Roboto"/>
                <a:buNone/>
              </a:pPr>
              <a:r>
                <a:rPr b="0" i="0" lang="ko-KR" sz="885" u="none" cap="none" strike="noStrike">
                  <a:solidFill>
                    <a:srgbClr val="15213F"/>
                  </a:solidFill>
                  <a:latin typeface="Roboto"/>
                  <a:ea typeface="Roboto"/>
                  <a:cs typeface="Roboto"/>
                  <a:sym typeface="Roboto"/>
                </a:rPr>
                <a:t>첫 실행</a:t>
              </a:r>
              <a:endParaRPr b="0" i="0" sz="88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6" name="Google Shape;776;p31"/>
          <p:cNvSpPr/>
          <p:nvPr/>
        </p:nvSpPr>
        <p:spPr>
          <a:xfrm>
            <a:off x="496119" y="535335"/>
            <a:ext cx="47229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900"/>
              <a:buFont typeface="Roboto Slab"/>
              <a:buNone/>
            </a:pPr>
            <a:r>
              <a:rPr b="1" i="0" lang="ko-KR" sz="2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첫 실행! 내 컴퓨터가 서버가 된다!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1"/>
          <p:cNvSpPr/>
          <p:nvPr/>
        </p:nvSpPr>
        <p:spPr>
          <a:xfrm>
            <a:off x="496119" y="929077"/>
            <a:ext cx="5180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터미널에서 </a:t>
            </a:r>
            <a:r>
              <a:rPr b="0" i="0" lang="ko-KR" sz="10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python app.py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를 실행하면 내 컴퓨터가 웹 서버로 변신합니다!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1"/>
          <p:cNvSpPr/>
          <p:nvPr/>
        </p:nvSpPr>
        <p:spPr>
          <a:xfrm>
            <a:off x="496119" y="1255365"/>
            <a:ext cx="22431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실행 방법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1"/>
          <p:cNvSpPr/>
          <p:nvPr/>
        </p:nvSpPr>
        <p:spPr>
          <a:xfrm>
            <a:off x="496119" y="1491928"/>
            <a:ext cx="2243100" cy="331800"/>
          </a:xfrm>
          <a:prstGeom prst="roundRect">
            <a:avLst>
              <a:gd fmla="val 4381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31"/>
          <p:cNvSpPr/>
          <p:nvPr/>
        </p:nvSpPr>
        <p:spPr>
          <a:xfrm>
            <a:off x="491275" y="1491924"/>
            <a:ext cx="2395500" cy="417000"/>
          </a:xfrm>
          <a:prstGeom prst="roundRect">
            <a:avLst>
              <a:gd fmla="val 4381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1"/>
          <p:cNvSpPr/>
          <p:nvPr/>
        </p:nvSpPr>
        <p:spPr>
          <a:xfrm>
            <a:off x="612353" y="1588815"/>
            <a:ext cx="24678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Consolas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python app.py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1"/>
          <p:cNvSpPr/>
          <p:nvPr/>
        </p:nvSpPr>
        <p:spPr>
          <a:xfrm>
            <a:off x="496119" y="1908870"/>
            <a:ext cx="27003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터미널에 아래처럼 뜨면 성공: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1"/>
          <p:cNvSpPr/>
          <p:nvPr/>
        </p:nvSpPr>
        <p:spPr>
          <a:xfrm>
            <a:off x="496119" y="2132037"/>
            <a:ext cx="2243100" cy="331800"/>
          </a:xfrm>
          <a:prstGeom prst="roundRect">
            <a:avLst>
              <a:gd fmla="val 4381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31"/>
          <p:cNvSpPr/>
          <p:nvPr/>
        </p:nvSpPr>
        <p:spPr>
          <a:xfrm>
            <a:off x="491275" y="2132018"/>
            <a:ext cx="2395500" cy="499500"/>
          </a:xfrm>
          <a:prstGeom prst="roundRect">
            <a:avLst>
              <a:gd fmla="val 4381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31"/>
          <p:cNvSpPr/>
          <p:nvPr/>
        </p:nvSpPr>
        <p:spPr>
          <a:xfrm>
            <a:off x="612353" y="2228924"/>
            <a:ext cx="24678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Consolas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Consolas"/>
                <a:ea typeface="Consolas"/>
                <a:cs typeface="Consolas"/>
                <a:sym typeface="Consolas"/>
              </a:rPr>
              <a:t>* Running on http://127.0.0.1:5000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1"/>
          <p:cNvSpPr/>
          <p:nvPr/>
        </p:nvSpPr>
        <p:spPr>
          <a:xfrm>
            <a:off x="496119" y="2945854"/>
            <a:ext cx="193800" cy="12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 Slab Light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1"/>
          <p:cNvSpPr/>
          <p:nvPr/>
        </p:nvSpPr>
        <p:spPr>
          <a:xfrm>
            <a:off x="496119" y="3096171"/>
            <a:ext cx="22431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31"/>
          <p:cNvSpPr/>
          <p:nvPr/>
        </p:nvSpPr>
        <p:spPr>
          <a:xfrm>
            <a:off x="643530" y="2901046"/>
            <a:ext cx="22431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브라우저 열기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1"/>
          <p:cNvSpPr/>
          <p:nvPr/>
        </p:nvSpPr>
        <p:spPr>
          <a:xfrm>
            <a:off x="496119" y="3173515"/>
            <a:ext cx="22431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Chrome 또는 Edge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1"/>
          <p:cNvSpPr/>
          <p:nvPr/>
        </p:nvSpPr>
        <p:spPr>
          <a:xfrm>
            <a:off x="496119" y="3573253"/>
            <a:ext cx="193800" cy="12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 Slab Light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1"/>
          <p:cNvSpPr/>
          <p:nvPr/>
        </p:nvSpPr>
        <p:spPr>
          <a:xfrm>
            <a:off x="496119" y="3713896"/>
            <a:ext cx="22431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31"/>
          <p:cNvSpPr/>
          <p:nvPr/>
        </p:nvSpPr>
        <p:spPr>
          <a:xfrm>
            <a:off x="643530" y="3528445"/>
            <a:ext cx="22431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주소 입력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1"/>
          <p:cNvSpPr/>
          <p:nvPr/>
        </p:nvSpPr>
        <p:spPr>
          <a:xfrm>
            <a:off x="496119" y="3800914"/>
            <a:ext cx="2243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Consolas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http://127.0.0.1:5000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1"/>
          <p:cNvSpPr/>
          <p:nvPr/>
        </p:nvSpPr>
        <p:spPr>
          <a:xfrm>
            <a:off x="496119" y="4250772"/>
            <a:ext cx="193800" cy="12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 Slab Light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03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1"/>
          <p:cNvSpPr/>
          <p:nvPr/>
        </p:nvSpPr>
        <p:spPr>
          <a:xfrm>
            <a:off x="496119" y="4381741"/>
            <a:ext cx="22431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1"/>
          <p:cNvSpPr/>
          <p:nvPr/>
        </p:nvSpPr>
        <p:spPr>
          <a:xfrm>
            <a:off x="643530" y="4205965"/>
            <a:ext cx="22431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Enter!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1"/>
          <p:cNvSpPr/>
          <p:nvPr/>
        </p:nvSpPr>
        <p:spPr>
          <a:xfrm>
            <a:off x="496119" y="4478433"/>
            <a:ext cx="22431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타이머 화면이 보이면 성공! 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🎉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1"/>
          <p:cNvSpPr/>
          <p:nvPr/>
        </p:nvSpPr>
        <p:spPr>
          <a:xfrm>
            <a:off x="3139182" y="1346079"/>
            <a:ext cx="22431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950"/>
              <a:buFont typeface="Roboto Slab"/>
              <a:buNone/>
            </a:pPr>
            <a:r>
              <a:rPr b="0" i="0" lang="ko-KR" sz="9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꼭 알아두세요!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9" name="Google Shape;79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9182" y="1611663"/>
            <a:ext cx="2243211" cy="587499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31"/>
          <p:cNvSpPr/>
          <p:nvPr/>
        </p:nvSpPr>
        <p:spPr>
          <a:xfrm>
            <a:off x="3307507" y="1693816"/>
            <a:ext cx="19638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http (s 없음!)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1"/>
          <p:cNvSpPr/>
          <p:nvPr/>
        </p:nvSpPr>
        <p:spPr>
          <a:xfrm>
            <a:off x="3307507" y="1920928"/>
            <a:ext cx="19638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로컬 서버는 https를 사용하지 않아요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2" name="Google Shape;80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9182" y="2274841"/>
            <a:ext cx="2243211" cy="587499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31"/>
          <p:cNvSpPr/>
          <p:nvPr/>
        </p:nvSpPr>
        <p:spPr>
          <a:xfrm>
            <a:off x="3307507" y="2356994"/>
            <a:ext cx="19638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127.0.0.1 = 내 컴퓨터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1"/>
          <p:cNvSpPr/>
          <p:nvPr/>
        </p:nvSpPr>
        <p:spPr>
          <a:xfrm>
            <a:off x="3307507" y="2584106"/>
            <a:ext cx="19638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localhost와 같은 의미입니다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05" name="Google Shape;80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9182" y="2938019"/>
            <a:ext cx="2243211" cy="587499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31"/>
          <p:cNvSpPr/>
          <p:nvPr/>
        </p:nvSpPr>
        <p:spPr>
          <a:xfrm>
            <a:off x="3307507" y="3020172"/>
            <a:ext cx="19638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:5000 = 포트 번호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1"/>
          <p:cNvSpPr/>
          <p:nvPr/>
        </p:nvSpPr>
        <p:spPr>
          <a:xfrm>
            <a:off x="3307507" y="3247284"/>
            <a:ext cx="19638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Flask의 기본 포트입니다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32"/>
          <p:cNvSpPr/>
          <p:nvPr/>
        </p:nvSpPr>
        <p:spPr>
          <a:xfrm>
            <a:off x="496119" y="341114"/>
            <a:ext cx="269100" cy="94200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2"/>
          <p:cNvSpPr/>
          <p:nvPr/>
        </p:nvSpPr>
        <p:spPr>
          <a:xfrm>
            <a:off x="533326" y="359718"/>
            <a:ext cx="651900" cy="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350"/>
              <a:buFont typeface="Roboto"/>
              <a:buNone/>
            </a:pPr>
            <a:r>
              <a:rPr b="0" i="0" lang="ko-KR" sz="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원리 이해</a:t>
            </a:r>
            <a:endParaRPr b="0" i="0" sz="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2"/>
          <p:cNvSpPr/>
          <p:nvPr/>
        </p:nvSpPr>
        <p:spPr>
          <a:xfrm>
            <a:off x="496119" y="447749"/>
            <a:ext cx="8151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1" i="0" lang="ko-KR" sz="20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첫 실행 — 무슨 일이 일어난 걸까?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2"/>
          <p:cNvSpPr/>
          <p:nvPr/>
        </p:nvSpPr>
        <p:spPr>
          <a:xfrm>
            <a:off x="496119" y="744803"/>
            <a:ext cx="8609100" cy="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단순히 실행한 것 같지만, 사실 4단계 과정이 순식간에 이루어졌습니다. 이 흐름을 이해하면 웹 서버의 기본 원리를 알 수 있어요!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7" name="Google Shape;817;p32"/>
          <p:cNvGrpSpPr/>
          <p:nvPr/>
        </p:nvGrpSpPr>
        <p:grpSpPr>
          <a:xfrm>
            <a:off x="496132" y="842623"/>
            <a:ext cx="5935688" cy="2559585"/>
            <a:chOff x="529679" y="797272"/>
            <a:chExt cx="8084565" cy="3486223"/>
          </a:xfrm>
        </p:grpSpPr>
        <p:pic>
          <p:nvPicPr>
            <p:cNvPr descr="preencoded.png" id="818" name="Google Shape;818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9679" y="797272"/>
              <a:ext cx="8084565" cy="34862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9" name="Google Shape;819;p32"/>
            <p:cNvSpPr/>
            <p:nvPr/>
          </p:nvSpPr>
          <p:spPr>
            <a:xfrm>
              <a:off x="1073714" y="3622378"/>
              <a:ext cx="1834200" cy="22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28"/>
                <a:buFont typeface="Roboto Slab"/>
                <a:buNone/>
              </a:pPr>
              <a:r>
                <a:rPr b="0" i="0" lang="ko-KR" sz="1028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브라우저: 타이머 표시</a:t>
              </a:r>
              <a:endParaRPr b="0" i="0" sz="10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32"/>
            <p:cNvSpPr/>
            <p:nvPr/>
          </p:nvSpPr>
          <p:spPr>
            <a:xfrm>
              <a:off x="1073714" y="2815374"/>
              <a:ext cx="1893600" cy="22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28"/>
                <a:buFont typeface="Roboto Slab"/>
                <a:buNone/>
              </a:pPr>
              <a:r>
                <a:rPr b="0" i="0" lang="ko-KR" sz="1028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Flask: index.html 전달</a:t>
              </a:r>
              <a:endParaRPr b="0" i="0" sz="10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32"/>
            <p:cNvSpPr/>
            <p:nvPr/>
          </p:nvSpPr>
          <p:spPr>
            <a:xfrm>
              <a:off x="1073714" y="2016520"/>
              <a:ext cx="1834200" cy="22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28"/>
                <a:buFont typeface="Roboto Slab"/>
                <a:buNone/>
              </a:pPr>
              <a:r>
                <a:rPr b="0" i="0" lang="ko-KR" sz="1028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브라우저: 화면 요청</a:t>
              </a:r>
              <a:endParaRPr b="0" i="0" sz="10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32"/>
            <p:cNvSpPr/>
            <p:nvPr/>
          </p:nvSpPr>
          <p:spPr>
            <a:xfrm>
              <a:off x="1073714" y="1209516"/>
              <a:ext cx="1834200" cy="22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28"/>
                <a:buFont typeface="Roboto Slab"/>
                <a:buNone/>
              </a:pPr>
              <a:r>
                <a:rPr b="0" i="0" lang="ko-KR" sz="1028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내 컴퓨터: 서버 실행</a:t>
              </a:r>
              <a:endParaRPr b="0" i="0" sz="102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3" name="Google Shape;823;p32"/>
          <p:cNvSpPr/>
          <p:nvPr/>
        </p:nvSpPr>
        <p:spPr>
          <a:xfrm>
            <a:off x="527250" y="3603276"/>
            <a:ext cx="4060500" cy="431400"/>
          </a:xfrm>
          <a:prstGeom prst="roundRect">
            <a:avLst>
              <a:gd fmla="val 2965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32"/>
          <p:cNvSpPr/>
          <p:nvPr/>
        </p:nvSpPr>
        <p:spPr>
          <a:xfrm>
            <a:off x="589242" y="3631241"/>
            <a:ext cx="3936300" cy="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① 내 컴퓨터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2"/>
          <p:cNvSpPr/>
          <p:nvPr/>
        </p:nvSpPr>
        <p:spPr>
          <a:xfrm>
            <a:off x="589242" y="3826107"/>
            <a:ext cx="3936300" cy="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python app.py로 서버를 켰다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32"/>
          <p:cNvSpPr/>
          <p:nvPr/>
        </p:nvSpPr>
        <p:spPr>
          <a:xfrm>
            <a:off x="4618617" y="3603276"/>
            <a:ext cx="4060500" cy="431400"/>
          </a:xfrm>
          <a:prstGeom prst="roundRect">
            <a:avLst>
              <a:gd fmla="val 2965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32"/>
          <p:cNvSpPr/>
          <p:nvPr/>
        </p:nvSpPr>
        <p:spPr>
          <a:xfrm>
            <a:off x="4680602" y="3631241"/>
            <a:ext cx="3936300" cy="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② 브라우저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2"/>
          <p:cNvSpPr/>
          <p:nvPr/>
        </p:nvSpPr>
        <p:spPr>
          <a:xfrm>
            <a:off x="4680602" y="3826107"/>
            <a:ext cx="3936300" cy="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서버에게 "화면 보여줘!"라고 요청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2"/>
          <p:cNvSpPr/>
          <p:nvPr/>
        </p:nvSpPr>
        <p:spPr>
          <a:xfrm>
            <a:off x="527250" y="4118147"/>
            <a:ext cx="4060500" cy="431400"/>
          </a:xfrm>
          <a:prstGeom prst="roundRect">
            <a:avLst>
              <a:gd fmla="val 2965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32"/>
          <p:cNvSpPr/>
          <p:nvPr/>
        </p:nvSpPr>
        <p:spPr>
          <a:xfrm>
            <a:off x="589242" y="4180109"/>
            <a:ext cx="3936300" cy="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③ Flask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2"/>
          <p:cNvSpPr/>
          <p:nvPr/>
        </p:nvSpPr>
        <p:spPr>
          <a:xfrm>
            <a:off x="589242" y="4374974"/>
            <a:ext cx="3936300" cy="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templates/index.html 파일을 전달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2"/>
          <p:cNvSpPr/>
          <p:nvPr/>
        </p:nvSpPr>
        <p:spPr>
          <a:xfrm>
            <a:off x="4618625" y="4118147"/>
            <a:ext cx="4060500" cy="431400"/>
          </a:xfrm>
          <a:prstGeom prst="roundRect">
            <a:avLst>
              <a:gd fmla="val 2965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2"/>
          <p:cNvSpPr/>
          <p:nvPr/>
        </p:nvSpPr>
        <p:spPr>
          <a:xfrm>
            <a:off x="4680602" y="4146091"/>
            <a:ext cx="3936300" cy="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④ 브라우저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32"/>
          <p:cNvSpPr/>
          <p:nvPr/>
        </p:nvSpPr>
        <p:spPr>
          <a:xfrm>
            <a:off x="4680602" y="4340956"/>
            <a:ext cx="3936300" cy="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4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HTML을 읽어서 타이머 화면을 표시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2"/>
          <p:cNvSpPr/>
          <p:nvPr/>
        </p:nvSpPr>
        <p:spPr>
          <a:xfrm>
            <a:off x="527250" y="4670916"/>
            <a:ext cx="8151900" cy="313800"/>
          </a:xfrm>
          <a:prstGeom prst="roundRect">
            <a:avLst>
              <a:gd fmla="val 5500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6" name="Google Shape;83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243" y="4748360"/>
            <a:ext cx="77465" cy="61987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32"/>
          <p:cNvSpPr/>
          <p:nvPr/>
        </p:nvSpPr>
        <p:spPr>
          <a:xfrm>
            <a:off x="728700" y="4717337"/>
            <a:ext cx="8345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🎉 축하합니다! 첫 번째 웹앱을 실행했습니다!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33"/>
          <p:cNvSpPr/>
          <p:nvPr/>
        </p:nvSpPr>
        <p:spPr>
          <a:xfrm>
            <a:off x="496119" y="461442"/>
            <a:ext cx="594300" cy="188700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33"/>
          <p:cNvSpPr/>
          <p:nvPr/>
        </p:nvSpPr>
        <p:spPr>
          <a:xfrm>
            <a:off x="570533" y="498649"/>
            <a:ext cx="902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1교시 완료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3"/>
          <p:cNvSpPr/>
          <p:nvPr/>
        </p:nvSpPr>
        <p:spPr>
          <a:xfrm>
            <a:off x="496119" y="699567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1교시 완료 체크리스트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3"/>
          <p:cNvSpPr/>
          <p:nvPr/>
        </p:nvSpPr>
        <p:spPr>
          <a:xfrm>
            <a:off x="496119" y="1205114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1교시에서 배운 내용을 정리합니다. 모두 완료했나요? 확인하고 잠깐 쉬어갑시다!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☕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7" name="Google Shape;84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611139"/>
            <a:ext cx="2634556" cy="1101105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33"/>
          <p:cNvSpPr/>
          <p:nvPr/>
        </p:nvSpPr>
        <p:spPr>
          <a:xfrm>
            <a:off x="1738982" y="1704156"/>
            <a:ext cx="1488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33"/>
          <p:cNvSpPr/>
          <p:nvPr/>
        </p:nvSpPr>
        <p:spPr>
          <a:xfrm>
            <a:off x="634380" y="2107257"/>
            <a:ext cx="2358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페르소나 만들기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3"/>
          <p:cNvSpPr/>
          <p:nvPr/>
        </p:nvSpPr>
        <p:spPr>
          <a:xfrm>
            <a:off x="679880" y="2420877"/>
            <a:ext cx="2358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사용자를 먼저 정한다 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1" name="Google Shape;85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4648" y="1611139"/>
            <a:ext cx="2634631" cy="1101105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33"/>
          <p:cNvSpPr/>
          <p:nvPr/>
        </p:nvSpPr>
        <p:spPr>
          <a:xfrm>
            <a:off x="4497512" y="1704156"/>
            <a:ext cx="1488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3"/>
          <p:cNvSpPr/>
          <p:nvPr/>
        </p:nvSpPr>
        <p:spPr>
          <a:xfrm>
            <a:off x="3392909" y="2107257"/>
            <a:ext cx="2358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벤치마킹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3"/>
          <p:cNvSpPr/>
          <p:nvPr/>
        </p:nvSpPr>
        <p:spPr>
          <a:xfrm>
            <a:off x="3438409" y="2420877"/>
            <a:ext cx="2358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좋은 앱에서 배운다 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5" name="Google Shape;85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3252" y="1611139"/>
            <a:ext cx="2634556" cy="1101105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33"/>
          <p:cNvSpPr/>
          <p:nvPr/>
        </p:nvSpPr>
        <p:spPr>
          <a:xfrm>
            <a:off x="7256115" y="1704156"/>
            <a:ext cx="1488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3"/>
          <p:cNvSpPr/>
          <p:nvPr/>
        </p:nvSpPr>
        <p:spPr>
          <a:xfrm>
            <a:off x="6151513" y="2107257"/>
            <a:ext cx="23580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유저 시나리오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3"/>
          <p:cNvSpPr/>
          <p:nvPr/>
        </p:nvSpPr>
        <p:spPr>
          <a:xfrm>
            <a:off x="6151638" y="2420877"/>
            <a:ext cx="23580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사용 순서를 미리 정한다 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9" name="Google Shape;85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2836218"/>
            <a:ext cx="4013821" cy="1101105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33"/>
          <p:cNvSpPr/>
          <p:nvPr/>
        </p:nvSpPr>
        <p:spPr>
          <a:xfrm>
            <a:off x="2428577" y="2929235"/>
            <a:ext cx="1488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3"/>
          <p:cNvSpPr/>
          <p:nvPr/>
        </p:nvSpPr>
        <p:spPr>
          <a:xfrm>
            <a:off x="634380" y="3332336"/>
            <a:ext cx="3737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환경 셋팅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3"/>
          <p:cNvSpPr/>
          <p:nvPr/>
        </p:nvSpPr>
        <p:spPr>
          <a:xfrm>
            <a:off x="634505" y="3645956"/>
            <a:ext cx="3737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VSCode + Python + Flask 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3" name="Google Shape;86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3913" y="2836218"/>
            <a:ext cx="4013896" cy="1101105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33"/>
          <p:cNvSpPr/>
          <p:nvPr/>
        </p:nvSpPr>
        <p:spPr>
          <a:xfrm>
            <a:off x="6566446" y="2929235"/>
            <a:ext cx="1488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Roboto Slab"/>
              <a:buNone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3"/>
          <p:cNvSpPr/>
          <p:nvPr/>
        </p:nvSpPr>
        <p:spPr>
          <a:xfrm>
            <a:off x="4772174" y="3332336"/>
            <a:ext cx="3737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첫 실행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3"/>
          <p:cNvSpPr/>
          <p:nvPr/>
        </p:nvSpPr>
        <p:spPr>
          <a:xfrm>
            <a:off x="4772174" y="3645956"/>
            <a:ext cx="3737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기본 타이머가 브라우저에 떴다! 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3"/>
          <p:cNvSpPr/>
          <p:nvPr/>
        </p:nvSpPr>
        <p:spPr>
          <a:xfrm>
            <a:off x="496119" y="4123358"/>
            <a:ext cx="81519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3350"/>
              <a:buFont typeface="Roboto Slab"/>
              <a:buNone/>
            </a:pPr>
            <a:r>
              <a:rPr b="0" i="0" lang="ko-KR" sz="3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쉬는 시간 10분! </a:t>
            </a:r>
            <a:r>
              <a:rPr b="0" i="0" lang="ko-KR" sz="33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☕</a:t>
            </a:r>
            <a:endParaRPr b="0" i="0" sz="3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73" name="Google Shape;87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34"/>
          <p:cNvSpPr/>
          <p:nvPr/>
        </p:nvSpPr>
        <p:spPr>
          <a:xfrm>
            <a:off x="3925119" y="441201"/>
            <a:ext cx="501300" cy="159000"/>
          </a:xfrm>
          <a:prstGeom prst="roundRect">
            <a:avLst>
              <a:gd fmla="val 7905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34"/>
          <p:cNvSpPr/>
          <p:nvPr/>
        </p:nvSpPr>
        <p:spPr>
          <a:xfrm>
            <a:off x="3987850" y="472529"/>
            <a:ext cx="833100" cy="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2교시 시작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4"/>
          <p:cNvSpPr/>
          <p:nvPr/>
        </p:nvSpPr>
        <p:spPr>
          <a:xfrm>
            <a:off x="3925119" y="635347"/>
            <a:ext cx="47229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050"/>
              <a:buFont typeface="Roboto Slab"/>
              <a:buNone/>
            </a:pPr>
            <a:r>
              <a:rPr b="1" i="0" lang="ko-KR" sz="22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2교시 — 개발 사이클</a:t>
            </a:r>
            <a:endParaRPr b="1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4"/>
          <p:cNvSpPr/>
          <p:nvPr/>
        </p:nvSpPr>
        <p:spPr>
          <a:xfrm>
            <a:off x="3925119" y="1094854"/>
            <a:ext cx="47229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2교시에는 </a:t>
            </a:r>
            <a:r>
              <a:rPr b="1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개발 → 테스트 사이클을 2번 반복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합니다. 한 번에 하나씩, 만들고 바로 확인하는 방식이에요. 이것이 실제 개발자들이 일하는 방식입니다!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8" name="Google Shape;87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1503015"/>
            <a:ext cx="4722763" cy="1851422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34"/>
          <p:cNvSpPr/>
          <p:nvPr/>
        </p:nvSpPr>
        <p:spPr>
          <a:xfrm>
            <a:off x="4038210" y="1752563"/>
            <a:ext cx="864600" cy="1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850"/>
              <a:buFont typeface="Roboto Slab"/>
              <a:buNone/>
            </a:pPr>
            <a:r>
              <a:rPr b="1" i="0" lang="ko-KR" sz="1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개발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4"/>
          <p:cNvSpPr/>
          <p:nvPr/>
        </p:nvSpPr>
        <p:spPr>
          <a:xfrm>
            <a:off x="7670173" y="1752563"/>
            <a:ext cx="864600" cy="1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850"/>
              <a:buFont typeface="Roboto Slab"/>
              <a:buNone/>
            </a:pPr>
            <a:r>
              <a:rPr b="1" i="0" lang="ko-KR" sz="1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테스트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4"/>
          <p:cNvSpPr/>
          <p:nvPr/>
        </p:nvSpPr>
        <p:spPr>
          <a:xfrm>
            <a:off x="7670173" y="2897867"/>
            <a:ext cx="864600" cy="1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850"/>
              <a:buFont typeface="Roboto Slab"/>
              <a:buNone/>
            </a:pPr>
            <a:r>
              <a:rPr b="1" i="0" lang="ko-KR" sz="1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확인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4"/>
          <p:cNvSpPr/>
          <p:nvPr/>
        </p:nvSpPr>
        <p:spPr>
          <a:xfrm>
            <a:off x="4038210" y="2897867"/>
            <a:ext cx="864600" cy="1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850"/>
              <a:buFont typeface="Roboto Slab"/>
              <a:buNone/>
            </a:pPr>
            <a:r>
              <a:rPr b="1" i="0" lang="ko-KR" sz="1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반복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4"/>
          <p:cNvSpPr/>
          <p:nvPr/>
        </p:nvSpPr>
        <p:spPr>
          <a:xfrm>
            <a:off x="3925125" y="3453775"/>
            <a:ext cx="2317200" cy="737100"/>
          </a:xfrm>
          <a:prstGeom prst="roundRect">
            <a:avLst>
              <a:gd fmla="val 270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34"/>
          <p:cNvSpPr/>
          <p:nvPr/>
        </p:nvSpPr>
        <p:spPr>
          <a:xfrm>
            <a:off x="4029745" y="3558406"/>
            <a:ext cx="21081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 Slab"/>
              <a:buNone/>
            </a:pP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0회차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34"/>
          <p:cNvSpPr/>
          <p:nvPr/>
        </p:nvSpPr>
        <p:spPr>
          <a:xfrm>
            <a:off x="4029745" y="3774877"/>
            <a:ext cx="21081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대시보드 기본 화면 — app.py 실행, 화면이 뜨나?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4"/>
          <p:cNvSpPr/>
          <p:nvPr/>
        </p:nvSpPr>
        <p:spPr>
          <a:xfrm>
            <a:off x="6330627" y="3453775"/>
            <a:ext cx="2317200" cy="737100"/>
          </a:xfrm>
          <a:prstGeom prst="roundRect">
            <a:avLst>
              <a:gd fmla="val 270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34"/>
          <p:cNvSpPr/>
          <p:nvPr/>
        </p:nvSpPr>
        <p:spPr>
          <a:xfrm>
            <a:off x="6435254" y="3558406"/>
            <a:ext cx="21081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 Slab"/>
              <a:buNone/>
            </a:pP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1회차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4"/>
          <p:cNvSpPr/>
          <p:nvPr/>
        </p:nvSpPr>
        <p:spPr>
          <a:xfrm>
            <a:off x="6435254" y="3774877"/>
            <a:ext cx="21081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 선택 + 타이머 개선 — 과목 바꿔도 되나?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4"/>
          <p:cNvSpPr/>
          <p:nvPr/>
        </p:nvSpPr>
        <p:spPr>
          <a:xfrm>
            <a:off x="3925119" y="4280917"/>
            <a:ext cx="4722900" cy="580200"/>
          </a:xfrm>
          <a:prstGeom prst="roundRect">
            <a:avLst>
              <a:gd fmla="val 270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34"/>
          <p:cNvSpPr/>
          <p:nvPr/>
        </p:nvSpPr>
        <p:spPr>
          <a:xfrm>
            <a:off x="4029745" y="4385543"/>
            <a:ext cx="45135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 Slab"/>
              <a:buNone/>
            </a:pP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2회차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4"/>
          <p:cNvSpPr/>
          <p:nvPr/>
        </p:nvSpPr>
        <p:spPr>
          <a:xfrm>
            <a:off x="4029745" y="4602014"/>
            <a:ext cx="4513500" cy="1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오늘의 기록 표시 + 통계 — 그래프가 나오나?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35"/>
          <p:cNvSpPr/>
          <p:nvPr/>
        </p:nvSpPr>
        <p:spPr>
          <a:xfrm>
            <a:off x="496119" y="350788"/>
            <a:ext cx="664500" cy="173700"/>
          </a:xfrm>
          <a:prstGeom prst="roundRect">
            <a:avLst>
              <a:gd fmla="val 7898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5"/>
          <p:cNvSpPr/>
          <p:nvPr/>
        </p:nvSpPr>
        <p:spPr>
          <a:xfrm>
            <a:off x="564728" y="385093"/>
            <a:ext cx="9843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대시보드 서버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35"/>
          <p:cNvSpPr/>
          <p:nvPr/>
        </p:nvSpPr>
        <p:spPr>
          <a:xfrm>
            <a:off x="496119" y="566663"/>
            <a:ext cx="8151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50"/>
              <a:buFont typeface="Roboto Slab"/>
              <a:buNone/>
            </a:pPr>
            <a:r>
              <a:rPr b="1" i="0" lang="ko-KR" sz="26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대시보드 서버 띄우기</a:t>
            </a:r>
            <a:endParaRPr b="1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35"/>
          <p:cNvSpPr/>
          <p:nvPr/>
        </p:nvSpPr>
        <p:spPr>
          <a:xfrm>
            <a:off x="496119" y="1082129"/>
            <a:ext cx="8609100" cy="1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대시보드용 서버는 기본 app.py와 조금 다릅니다. </a:t>
            </a:r>
            <a:r>
              <a:rPr b="0" i="0" lang="ko-KR" sz="110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send_file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을 사용하고, 포트를 </a:t>
            </a:r>
            <a:r>
              <a:rPr b="1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5001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로 변경해 두 서버를 동시에 실행합니다!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5"/>
          <p:cNvSpPr/>
          <p:nvPr/>
        </p:nvSpPr>
        <p:spPr>
          <a:xfrm>
            <a:off x="496119" y="1499815"/>
            <a:ext cx="3936300" cy="2162700"/>
          </a:xfrm>
          <a:prstGeom prst="roundRect">
            <a:avLst>
              <a:gd fmla="val 793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35"/>
          <p:cNvSpPr/>
          <p:nvPr/>
        </p:nvSpPr>
        <p:spPr>
          <a:xfrm>
            <a:off x="490475" y="1499827"/>
            <a:ext cx="3947700" cy="2510400"/>
          </a:xfrm>
          <a:prstGeom prst="roundRect">
            <a:avLst>
              <a:gd fmla="val 793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35"/>
          <p:cNvSpPr/>
          <p:nvPr/>
        </p:nvSpPr>
        <p:spPr>
          <a:xfrm>
            <a:off x="633338" y="1614115"/>
            <a:ext cx="3662100" cy="19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ko-KR" sz="1100" u="none" cap="none" strike="noStrike">
                <a:solidFill>
                  <a:srgbClr val="D73A49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from flask import Flask, send_file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ko-KR" sz="1100" u="none" cap="none" strike="noStrike">
                <a:solidFill>
                  <a:srgbClr val="D73A49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app = Flask(__name__)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ko-KR" sz="1100" u="none" cap="none" strike="noStrike">
                <a:solidFill>
                  <a:srgbClr val="D73A49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@app.route('/')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ko-KR" sz="1100" u="none" cap="none" strike="noStrike">
                <a:solidFill>
                  <a:srgbClr val="D73A49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def dashboard():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ko-KR" sz="1100" u="none" cap="none" strike="noStrike">
                <a:solidFill>
                  <a:srgbClr val="D73A49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    return send_file(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ko-KR" sz="1100" u="none" cap="none" strike="noStrike">
                <a:solidFill>
                  <a:srgbClr val="D73A49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        'study-timer-dashboard.html'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ko-KR" sz="1100" u="none" cap="none" strike="noStrike">
                <a:solidFill>
                  <a:srgbClr val="D73A49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ko-KR" sz="1100" u="none" cap="none" strike="noStrike">
                <a:solidFill>
                  <a:srgbClr val="D73A49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if __name__ == '__main__':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ko-KR" sz="1100" u="none" cap="none" strike="noStrike">
                <a:solidFill>
                  <a:srgbClr val="D73A49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    app.run(debug=True, port=5001)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4" name="Google Shape;90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4087363"/>
            <a:ext cx="1915492" cy="892894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35"/>
          <p:cNvSpPr/>
          <p:nvPr/>
        </p:nvSpPr>
        <p:spPr>
          <a:xfrm>
            <a:off x="681856" y="4215950"/>
            <a:ext cx="16011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send_file 사용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5"/>
          <p:cNvSpPr/>
          <p:nvPr/>
        </p:nvSpPr>
        <p:spPr>
          <a:xfrm>
            <a:off x="681856" y="4499989"/>
            <a:ext cx="16011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HTML을 그대로 보내기 위해 render_template 대신 사용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07" name="Google Shape;90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6981" y="4087363"/>
            <a:ext cx="1915568" cy="892894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35"/>
          <p:cNvSpPr/>
          <p:nvPr/>
        </p:nvSpPr>
        <p:spPr>
          <a:xfrm>
            <a:off x="2702719" y="4215950"/>
            <a:ext cx="16011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port=5001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5"/>
          <p:cNvSpPr/>
          <p:nvPr/>
        </p:nvSpPr>
        <p:spPr>
          <a:xfrm>
            <a:off x="2702719" y="4499989"/>
            <a:ext cx="1601100" cy="3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두 서버를 동시에 실행하기 위해 포트를 다르게 설정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5"/>
          <p:cNvSpPr/>
          <p:nvPr/>
        </p:nvSpPr>
        <p:spPr>
          <a:xfrm>
            <a:off x="4633925" y="1381275"/>
            <a:ext cx="4101000" cy="3544500"/>
          </a:xfrm>
          <a:prstGeom prst="roundRect">
            <a:avLst>
              <a:gd fmla="val 503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35"/>
          <p:cNvSpPr/>
          <p:nvPr/>
        </p:nvSpPr>
        <p:spPr>
          <a:xfrm>
            <a:off x="4748213" y="1486644"/>
            <a:ext cx="38724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Slab"/>
              <a:buNone/>
            </a:pPr>
            <a:r>
              <a:rPr b="0" i="0" lang="ko-KR" sz="11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두 서버 동시 실행!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5"/>
          <p:cNvSpPr/>
          <p:nvPr/>
        </p:nvSpPr>
        <p:spPr>
          <a:xfrm>
            <a:off x="4748213" y="1770683"/>
            <a:ext cx="3872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b="1" i="0" lang="ko-KR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브라우저 탭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127.0.0.1:5000 → 타이머 화면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b="1" i="0" lang="ko-KR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브라우저 탭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127.0.0.1:5001 → 대시보드 화면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"/>
              <a:buNone/>
            </a:pPr>
            <a:r>
              <a:rPr b="0" i="0" lang="ko-KR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하나의 컴퓨터에서 포트 번호만 다르게 하면 여러 서버를 동시에 실행할 수 있습니다!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18" name="Google Shape;91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36"/>
          <p:cNvSpPr/>
          <p:nvPr/>
        </p:nvSpPr>
        <p:spPr>
          <a:xfrm>
            <a:off x="3925119" y="379884"/>
            <a:ext cx="551700" cy="144300"/>
          </a:xfrm>
          <a:prstGeom prst="roundRect">
            <a:avLst>
              <a:gd fmla="val 7903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36"/>
          <p:cNvSpPr/>
          <p:nvPr/>
        </p:nvSpPr>
        <p:spPr>
          <a:xfrm>
            <a:off x="3982045" y="408310"/>
            <a:ext cx="895200" cy="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50"/>
              <a:buFont typeface="Roboto"/>
              <a:buNone/>
            </a:pPr>
            <a:r>
              <a:rPr b="0" i="0" lang="ko-KR" sz="5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대시보드 확인</a:t>
            </a:r>
            <a:endParaRPr b="0" i="0" sz="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6"/>
          <p:cNvSpPr/>
          <p:nvPr/>
        </p:nvSpPr>
        <p:spPr>
          <a:xfrm>
            <a:off x="3925119" y="553120"/>
            <a:ext cx="47229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850"/>
              <a:buFont typeface="Roboto Slab"/>
              <a:buNone/>
            </a:pPr>
            <a:r>
              <a:rPr b="1" i="0" lang="ko-KR" sz="2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대시보드 화면 확인</a:t>
            </a:r>
            <a:endParaRPr b="1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6"/>
          <p:cNvSpPr/>
          <p:nvPr/>
        </p:nvSpPr>
        <p:spPr>
          <a:xfrm>
            <a:off x="3925119" y="947561"/>
            <a:ext cx="47229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지난 시간에 만든 대시보드가 내 서버에서 열립니다! 지금 보이는 모든 데이터는 </a:t>
            </a:r>
            <a:r>
              <a:rPr b="1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더미 데이터</a:t>
            </a:r>
            <a:r>
              <a:rPr b="0" i="0" lang="ko-KR" sz="10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입니다 — 다음 시간에 진짜 데이터를 연결해요.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3" name="Google Shape;92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1376905"/>
            <a:ext cx="237381" cy="237381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36"/>
          <p:cNvSpPr/>
          <p:nvPr/>
        </p:nvSpPr>
        <p:spPr>
          <a:xfrm>
            <a:off x="4231280" y="1398984"/>
            <a:ext cx="47229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상단 카드 4개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36"/>
          <p:cNvSpPr/>
          <p:nvPr/>
        </p:nvSpPr>
        <p:spPr>
          <a:xfrm>
            <a:off x="3925119" y="1647594"/>
            <a:ext cx="47229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오늘 순공시간, 주간 총순공, 집중률, 독서량을 한눈에 표시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6" name="Google Shape;926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25119" y="2176558"/>
            <a:ext cx="237381" cy="237381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36"/>
          <p:cNvSpPr/>
          <p:nvPr/>
        </p:nvSpPr>
        <p:spPr>
          <a:xfrm>
            <a:off x="4231280" y="2198638"/>
            <a:ext cx="47229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타임라인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36"/>
          <p:cNvSpPr/>
          <p:nvPr/>
        </p:nvSpPr>
        <p:spPr>
          <a:xfrm>
            <a:off x="3925119" y="2447248"/>
            <a:ext cx="47229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오늘의 과목별 공부 시간을 블록으로 시각화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9" name="Google Shape;929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25119" y="2976212"/>
            <a:ext cx="237381" cy="237381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36"/>
          <p:cNvSpPr/>
          <p:nvPr/>
        </p:nvSpPr>
        <p:spPr>
          <a:xfrm>
            <a:off x="4231280" y="2998291"/>
            <a:ext cx="47229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1" i="0" lang="ko-KR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일별</a:t>
            </a: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막대 그래프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36"/>
          <p:cNvSpPr/>
          <p:nvPr/>
        </p:nvSpPr>
        <p:spPr>
          <a:xfrm>
            <a:off x="3925119" y="3246901"/>
            <a:ext cx="47229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요일별 순공시간을 막대로 비교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2" name="Google Shape;932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25119" y="3775865"/>
            <a:ext cx="237381" cy="237381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36"/>
          <p:cNvSpPr/>
          <p:nvPr/>
        </p:nvSpPr>
        <p:spPr>
          <a:xfrm>
            <a:off x="4231280" y="3797945"/>
            <a:ext cx="4722900" cy="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 Slab"/>
              <a:buNone/>
            </a:pPr>
            <a:r>
              <a:rPr b="1" i="0" lang="ko-KR" u="none" cap="none" strike="noStrike">
                <a:solidFill>
                  <a:srgbClr val="FF0000"/>
                </a:solidFill>
                <a:latin typeface="Roboto Slab"/>
                <a:ea typeface="Roboto Slab"/>
                <a:cs typeface="Roboto Slab"/>
                <a:sym typeface="Roboto Slab"/>
              </a:rPr>
              <a:t>과목별</a:t>
            </a:r>
            <a:r>
              <a:rPr b="1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분포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6"/>
          <p:cNvSpPr/>
          <p:nvPr/>
        </p:nvSpPr>
        <p:spPr>
          <a:xfrm>
            <a:off x="3925119" y="4046555"/>
            <a:ext cx="47229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과목별 시간 비율을 파이 형태로 표시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6"/>
          <p:cNvSpPr/>
          <p:nvPr/>
        </p:nvSpPr>
        <p:spPr>
          <a:xfrm>
            <a:off x="3925119" y="4443859"/>
            <a:ext cx="4722900" cy="319800"/>
          </a:xfrm>
          <a:prstGeom prst="roundRect">
            <a:avLst>
              <a:gd fmla="val 4456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6" name="Google Shape;936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20071" y="4569916"/>
            <a:ext cx="118690" cy="94952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36"/>
          <p:cNvSpPr/>
          <p:nvPr/>
        </p:nvSpPr>
        <p:spPr>
          <a:xfrm>
            <a:off x="4233714" y="4540300"/>
            <a:ext cx="47763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Roboto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현재 모든 데이터는 더미! 다음 시간에 진짜 데이터로 교체합니다.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37"/>
          <p:cNvSpPr/>
          <p:nvPr/>
        </p:nvSpPr>
        <p:spPr>
          <a:xfrm>
            <a:off x="496119" y="428104"/>
            <a:ext cx="503100" cy="188700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7"/>
          <p:cNvSpPr/>
          <p:nvPr/>
        </p:nvSpPr>
        <p:spPr>
          <a:xfrm>
            <a:off x="570533" y="465311"/>
            <a:ext cx="8112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사이클 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7"/>
          <p:cNvSpPr/>
          <p:nvPr/>
        </p:nvSpPr>
        <p:spPr>
          <a:xfrm>
            <a:off x="496119" y="666229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사이클 1 — 과목 선택 추가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7"/>
          <p:cNvSpPr/>
          <p:nvPr/>
        </p:nvSpPr>
        <p:spPr>
          <a:xfrm>
            <a:off x="496119" y="1059976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4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선생님이 AI에게 전달하는 프롬프트입니다. 구체적인 요구사항이 좋은 코드를 만들어냅니다!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7"/>
          <p:cNvSpPr/>
          <p:nvPr/>
        </p:nvSpPr>
        <p:spPr>
          <a:xfrm>
            <a:off x="496119" y="1701775"/>
            <a:ext cx="3924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AI 프롬프트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7"/>
          <p:cNvSpPr/>
          <p:nvPr/>
        </p:nvSpPr>
        <p:spPr>
          <a:xfrm>
            <a:off x="496119" y="2035150"/>
            <a:ext cx="3924600" cy="2430900"/>
          </a:xfrm>
          <a:prstGeom prst="roundRect">
            <a:avLst>
              <a:gd fmla="val 765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37"/>
          <p:cNvSpPr/>
          <p:nvPr/>
        </p:nvSpPr>
        <p:spPr>
          <a:xfrm>
            <a:off x="489950" y="2035150"/>
            <a:ext cx="3990000" cy="2822700"/>
          </a:xfrm>
          <a:prstGeom prst="roundRect">
            <a:avLst>
              <a:gd fmla="val 765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37"/>
          <p:cNvSpPr/>
          <p:nvPr/>
        </p:nvSpPr>
        <p:spPr>
          <a:xfrm>
            <a:off x="644947" y="2159124"/>
            <a:ext cx="3627000" cy="21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Consolas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Consolas"/>
                <a:ea typeface="Consolas"/>
                <a:cs typeface="Consolas"/>
                <a:sym typeface="Consolas"/>
              </a:rPr>
              <a:t>기존 타이머에 다음 기능을 추가해줘.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Consolas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Consolas"/>
                <a:ea typeface="Consolas"/>
                <a:cs typeface="Consolas"/>
                <a:sym typeface="Consolas"/>
              </a:rPr>
              <a:t>1. 과목 선택: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Consolas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Consolas"/>
                <a:ea typeface="Consolas"/>
                <a:cs typeface="Consolas"/>
                <a:sym typeface="Consolas"/>
              </a:rPr>
              <a:t>   - 드롭다운(select)으로 과목 선택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Consolas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Consolas"/>
                <a:ea typeface="Consolas"/>
                <a:cs typeface="Consolas"/>
                <a:sym typeface="Consolas"/>
              </a:rPr>
              <a:t>   - 과목 목록: 수학, 영어, 국어, 과학, 사회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Consolas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Consolas"/>
                <a:ea typeface="Consolas"/>
                <a:cs typeface="Consolas"/>
                <a:sym typeface="Consolas"/>
              </a:rPr>
              <a:t>   - 선택한 과목이 타이머 위에 크게 표시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Consolas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Consolas"/>
                <a:ea typeface="Consolas"/>
                <a:cs typeface="Consolas"/>
                <a:sym typeface="Consolas"/>
              </a:rPr>
              <a:t>   - 과목마다 색깔을 다르게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Consolas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Consolas"/>
                <a:ea typeface="Consolas"/>
                <a:cs typeface="Consolas"/>
                <a:sym typeface="Consolas"/>
              </a:rPr>
              <a:t>2. 시간 선택: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Consolas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Consolas"/>
                <a:ea typeface="Consolas"/>
                <a:cs typeface="Consolas"/>
                <a:sym typeface="Consolas"/>
              </a:rPr>
              <a:t>   - 5분, 15분, 25분, 50분 중에 고르게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Consolas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Consolas"/>
                <a:ea typeface="Consolas"/>
                <a:cs typeface="Consolas"/>
                <a:sym typeface="Consolas"/>
              </a:rPr>
              <a:t>3. 타이머 종료 시: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Consolas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Consolas"/>
                <a:ea typeface="Consolas"/>
                <a:cs typeface="Consolas"/>
                <a:sym typeface="Consolas"/>
              </a:rPr>
              <a:t>   - "수고했어! 쉬는 시간!" 메시지 표시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Consolas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Consolas"/>
                <a:ea typeface="Consolas"/>
                <a:cs typeface="Consolas"/>
                <a:sym typeface="Consolas"/>
              </a:rPr>
              <a:t>프론트엔드만 구현. 더미 데이터 사용.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37"/>
          <p:cNvSpPr/>
          <p:nvPr/>
        </p:nvSpPr>
        <p:spPr>
          <a:xfrm>
            <a:off x="4728046" y="1701775"/>
            <a:ext cx="3924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과목별 색깔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7"/>
          <p:cNvSpPr/>
          <p:nvPr/>
        </p:nvSpPr>
        <p:spPr>
          <a:xfrm>
            <a:off x="4728046" y="2035150"/>
            <a:ext cx="1900200" cy="764100"/>
          </a:xfrm>
          <a:prstGeom prst="roundRect">
            <a:avLst>
              <a:gd fmla="val 2435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37"/>
          <p:cNvSpPr/>
          <p:nvPr/>
        </p:nvSpPr>
        <p:spPr>
          <a:xfrm>
            <a:off x="4852020" y="2159124"/>
            <a:ext cx="1652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수학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7"/>
          <p:cNvSpPr/>
          <p:nvPr/>
        </p:nvSpPr>
        <p:spPr>
          <a:xfrm>
            <a:off x="4852020" y="2476946"/>
            <a:ext cx="1652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3987E5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3987E5"/>
                </a:solidFill>
                <a:latin typeface="Roboto"/>
                <a:ea typeface="Roboto"/>
                <a:cs typeface="Roboto"/>
                <a:sym typeface="Roboto"/>
              </a:rPr>
              <a:t>#3987e5 파랑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37"/>
          <p:cNvSpPr/>
          <p:nvPr/>
        </p:nvSpPr>
        <p:spPr>
          <a:xfrm>
            <a:off x="6752332" y="2035150"/>
            <a:ext cx="1900200" cy="764100"/>
          </a:xfrm>
          <a:prstGeom prst="roundRect">
            <a:avLst>
              <a:gd fmla="val 2435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7"/>
          <p:cNvSpPr/>
          <p:nvPr/>
        </p:nvSpPr>
        <p:spPr>
          <a:xfrm>
            <a:off x="6876306" y="2159124"/>
            <a:ext cx="1652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영어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37"/>
          <p:cNvSpPr/>
          <p:nvPr/>
        </p:nvSpPr>
        <p:spPr>
          <a:xfrm>
            <a:off x="6876306" y="2476946"/>
            <a:ext cx="1652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5926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D95926"/>
                </a:solidFill>
                <a:latin typeface="Roboto"/>
                <a:ea typeface="Roboto"/>
                <a:cs typeface="Roboto"/>
                <a:sym typeface="Roboto"/>
              </a:rPr>
              <a:t>#d95926 주황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37"/>
          <p:cNvSpPr/>
          <p:nvPr/>
        </p:nvSpPr>
        <p:spPr>
          <a:xfrm>
            <a:off x="4728046" y="2923356"/>
            <a:ext cx="1900200" cy="764100"/>
          </a:xfrm>
          <a:prstGeom prst="roundRect">
            <a:avLst>
              <a:gd fmla="val 2435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7"/>
          <p:cNvSpPr/>
          <p:nvPr/>
        </p:nvSpPr>
        <p:spPr>
          <a:xfrm>
            <a:off x="4852020" y="3047330"/>
            <a:ext cx="1652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국어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37"/>
          <p:cNvSpPr/>
          <p:nvPr/>
        </p:nvSpPr>
        <p:spPr>
          <a:xfrm>
            <a:off x="4852020" y="3365153"/>
            <a:ext cx="1652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99E7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99E70"/>
                </a:solidFill>
                <a:latin typeface="Roboto"/>
                <a:ea typeface="Roboto"/>
                <a:cs typeface="Roboto"/>
                <a:sym typeface="Roboto"/>
              </a:rPr>
              <a:t>#199e70 초록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37"/>
          <p:cNvSpPr/>
          <p:nvPr/>
        </p:nvSpPr>
        <p:spPr>
          <a:xfrm>
            <a:off x="6752332" y="2923356"/>
            <a:ext cx="1900200" cy="764100"/>
          </a:xfrm>
          <a:prstGeom prst="roundRect">
            <a:avLst>
              <a:gd fmla="val 2435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37"/>
          <p:cNvSpPr/>
          <p:nvPr/>
        </p:nvSpPr>
        <p:spPr>
          <a:xfrm>
            <a:off x="6876306" y="3047330"/>
            <a:ext cx="1652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과학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37"/>
          <p:cNvSpPr/>
          <p:nvPr/>
        </p:nvSpPr>
        <p:spPr>
          <a:xfrm>
            <a:off x="6876306" y="3365153"/>
            <a:ext cx="1652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98500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C98500"/>
                </a:solidFill>
                <a:latin typeface="Roboto"/>
                <a:ea typeface="Roboto"/>
                <a:cs typeface="Roboto"/>
                <a:sym typeface="Roboto"/>
              </a:rPr>
              <a:t>#c98500 노랑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37"/>
          <p:cNvSpPr/>
          <p:nvPr/>
        </p:nvSpPr>
        <p:spPr>
          <a:xfrm>
            <a:off x="4728046" y="3811563"/>
            <a:ext cx="3924600" cy="764100"/>
          </a:xfrm>
          <a:prstGeom prst="roundRect">
            <a:avLst>
              <a:gd fmla="val 2435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37"/>
          <p:cNvSpPr/>
          <p:nvPr/>
        </p:nvSpPr>
        <p:spPr>
          <a:xfrm>
            <a:off x="4852020" y="3935537"/>
            <a:ext cx="36768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1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사회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37"/>
          <p:cNvSpPr/>
          <p:nvPr/>
        </p:nvSpPr>
        <p:spPr>
          <a:xfrm>
            <a:off x="4852020" y="4253359"/>
            <a:ext cx="3676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55181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D55181"/>
                </a:solidFill>
                <a:latin typeface="Roboto"/>
                <a:ea typeface="Roboto"/>
                <a:cs typeface="Roboto"/>
                <a:sym typeface="Roboto"/>
              </a:rPr>
              <a:t>#d55181 분홍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38"/>
          <p:cNvSpPr/>
          <p:nvPr/>
        </p:nvSpPr>
        <p:spPr>
          <a:xfrm>
            <a:off x="496119" y="531837"/>
            <a:ext cx="720900" cy="188700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38"/>
          <p:cNvSpPr/>
          <p:nvPr/>
        </p:nvSpPr>
        <p:spPr>
          <a:xfrm>
            <a:off x="570533" y="569044"/>
            <a:ext cx="10293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프롬프트 분석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38"/>
          <p:cNvSpPr/>
          <p:nvPr/>
        </p:nvSpPr>
        <p:spPr>
          <a:xfrm>
            <a:off x="496119" y="769962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좋은 프롬프트의 구조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38"/>
          <p:cNvSpPr/>
          <p:nvPr/>
        </p:nvSpPr>
        <p:spPr>
          <a:xfrm>
            <a:off x="496119" y="1343546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AI에게 코드를 잘 만들게 하려면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구체적인 프롬프트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가 핵심입니다. 좋은 프롬프트는 무엇을, 어떻게, 어떤 제약 조건으로 만들지를 명확하게 전달합니다.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38"/>
          <p:cNvSpPr/>
          <p:nvPr/>
        </p:nvSpPr>
        <p:spPr>
          <a:xfrm>
            <a:off x="496119" y="1681535"/>
            <a:ext cx="8151900" cy="913200"/>
          </a:xfrm>
          <a:prstGeom prst="roundRect">
            <a:avLst>
              <a:gd fmla="val 203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38"/>
          <p:cNvSpPr/>
          <p:nvPr/>
        </p:nvSpPr>
        <p:spPr>
          <a:xfrm>
            <a:off x="496119" y="1681535"/>
            <a:ext cx="2717100" cy="913200"/>
          </a:xfrm>
          <a:prstGeom prst="rect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38"/>
          <p:cNvSpPr/>
          <p:nvPr/>
        </p:nvSpPr>
        <p:spPr>
          <a:xfrm>
            <a:off x="620092" y="1805508"/>
            <a:ext cx="24693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무엇을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38"/>
          <p:cNvSpPr/>
          <p:nvPr/>
        </p:nvSpPr>
        <p:spPr>
          <a:xfrm>
            <a:off x="620092" y="2073771"/>
            <a:ext cx="24693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"과목 선택 기능을 추가해줘"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AI가 목표를 명확히 파악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38"/>
          <p:cNvSpPr/>
          <p:nvPr/>
        </p:nvSpPr>
        <p:spPr>
          <a:xfrm>
            <a:off x="3213348" y="1681535"/>
            <a:ext cx="2717100" cy="913200"/>
          </a:xfrm>
          <a:prstGeom prst="rect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38"/>
          <p:cNvSpPr/>
          <p:nvPr/>
        </p:nvSpPr>
        <p:spPr>
          <a:xfrm>
            <a:off x="3213348" y="1681535"/>
            <a:ext cx="14400" cy="913200"/>
          </a:xfrm>
          <a:prstGeom prst="roundRect">
            <a:avLst>
              <a:gd fmla="val 13022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38"/>
          <p:cNvSpPr/>
          <p:nvPr/>
        </p:nvSpPr>
        <p:spPr>
          <a:xfrm>
            <a:off x="3337322" y="1805508"/>
            <a:ext cx="24693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어떻게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38"/>
          <p:cNvSpPr/>
          <p:nvPr/>
        </p:nvSpPr>
        <p:spPr>
          <a:xfrm>
            <a:off x="3337322" y="2073771"/>
            <a:ext cx="24693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"드롭다운, 5개 과목"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형태와 데이터를 명시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38"/>
          <p:cNvSpPr/>
          <p:nvPr/>
        </p:nvSpPr>
        <p:spPr>
          <a:xfrm>
            <a:off x="5930578" y="1681535"/>
            <a:ext cx="2717100" cy="913200"/>
          </a:xfrm>
          <a:prstGeom prst="rect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5" name="Google Shape;985;p38"/>
          <p:cNvSpPr/>
          <p:nvPr/>
        </p:nvSpPr>
        <p:spPr>
          <a:xfrm>
            <a:off x="5930578" y="1681535"/>
            <a:ext cx="14400" cy="913200"/>
          </a:xfrm>
          <a:prstGeom prst="roundRect">
            <a:avLst>
              <a:gd fmla="val 13022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38"/>
          <p:cNvSpPr/>
          <p:nvPr/>
        </p:nvSpPr>
        <p:spPr>
          <a:xfrm>
            <a:off x="6054551" y="1805508"/>
            <a:ext cx="24693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제약 조건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38"/>
          <p:cNvSpPr/>
          <p:nvPr/>
        </p:nvSpPr>
        <p:spPr>
          <a:xfrm>
            <a:off x="6054551" y="2073771"/>
            <a:ext cx="24693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"프론트엔드만, 더미 데이터"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불필요한 것을 안 만듦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38"/>
          <p:cNvSpPr/>
          <p:nvPr/>
        </p:nvSpPr>
        <p:spPr>
          <a:xfrm>
            <a:off x="496119" y="2780705"/>
            <a:ext cx="8151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나쁜 프롬프트 vs. 좋은 프롬프트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38"/>
          <p:cNvSpPr/>
          <p:nvPr/>
        </p:nvSpPr>
        <p:spPr>
          <a:xfrm>
            <a:off x="496119" y="3160588"/>
            <a:ext cx="8151900" cy="1451100"/>
          </a:xfrm>
          <a:prstGeom prst="roundRect">
            <a:avLst>
              <a:gd fmla="val 1282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90" name="Google Shape;990;p38"/>
          <p:cNvSpPr/>
          <p:nvPr/>
        </p:nvSpPr>
        <p:spPr>
          <a:xfrm>
            <a:off x="496119" y="3524548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91" name="Google Shape;991;p38"/>
          <p:cNvSpPr/>
          <p:nvPr/>
        </p:nvSpPr>
        <p:spPr>
          <a:xfrm>
            <a:off x="496119" y="3886126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92" name="Google Shape;992;p38"/>
          <p:cNvSpPr/>
          <p:nvPr/>
        </p:nvSpPr>
        <p:spPr>
          <a:xfrm>
            <a:off x="496119" y="4247704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93" name="Google Shape;993;p38"/>
          <p:cNvSpPr/>
          <p:nvPr/>
        </p:nvSpPr>
        <p:spPr>
          <a:xfrm>
            <a:off x="625004" y="3244528"/>
            <a:ext cx="289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나쁜 예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38"/>
          <p:cNvSpPr/>
          <p:nvPr/>
        </p:nvSpPr>
        <p:spPr>
          <a:xfrm>
            <a:off x="3311872" y="3244528"/>
            <a:ext cx="2977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좋은 예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38"/>
          <p:cNvSpPr/>
          <p:nvPr/>
        </p:nvSpPr>
        <p:spPr>
          <a:xfrm>
            <a:off x="6080224" y="3244528"/>
            <a:ext cx="289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차이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38"/>
          <p:cNvSpPr/>
          <p:nvPr/>
        </p:nvSpPr>
        <p:spPr>
          <a:xfrm>
            <a:off x="625004" y="3606105"/>
            <a:ext cx="289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"과목 기능 넣어줘"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38"/>
          <p:cNvSpPr/>
          <p:nvPr/>
        </p:nvSpPr>
        <p:spPr>
          <a:xfrm>
            <a:off x="3311872" y="3606105"/>
            <a:ext cx="2977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"드롭다운으로 5개 과목 선택"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38"/>
          <p:cNvSpPr/>
          <p:nvPr/>
        </p:nvSpPr>
        <p:spPr>
          <a:xfrm>
            <a:off x="6080224" y="3606105"/>
            <a:ext cx="289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구체적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38"/>
          <p:cNvSpPr/>
          <p:nvPr/>
        </p:nvSpPr>
        <p:spPr>
          <a:xfrm>
            <a:off x="625004" y="3967683"/>
            <a:ext cx="289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"예쁘게 만들어줘"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38"/>
          <p:cNvSpPr/>
          <p:nvPr/>
        </p:nvSpPr>
        <p:spPr>
          <a:xfrm>
            <a:off x="3311872" y="3967683"/>
            <a:ext cx="2977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"과목마다 색깔 다르게, 파랑/주황/..."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38"/>
          <p:cNvSpPr/>
          <p:nvPr/>
        </p:nvSpPr>
        <p:spPr>
          <a:xfrm>
            <a:off x="6080224" y="3967683"/>
            <a:ext cx="289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수치 제시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38"/>
          <p:cNvSpPr/>
          <p:nvPr/>
        </p:nvSpPr>
        <p:spPr>
          <a:xfrm>
            <a:off x="625004" y="4329261"/>
            <a:ext cx="289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"버튼 이상해"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38"/>
          <p:cNvSpPr/>
          <p:nvPr/>
        </p:nvSpPr>
        <p:spPr>
          <a:xfrm>
            <a:off x="3311872" y="4329261"/>
            <a:ext cx="2977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"시작 버튼 패딩 20px로 키워줘"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38"/>
          <p:cNvSpPr/>
          <p:nvPr/>
        </p:nvSpPr>
        <p:spPr>
          <a:xfrm>
            <a:off x="6080224" y="4329261"/>
            <a:ext cx="289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대상+속성+값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39"/>
          <p:cNvSpPr/>
          <p:nvPr/>
        </p:nvSpPr>
        <p:spPr>
          <a:xfrm>
            <a:off x="496119" y="348035"/>
            <a:ext cx="501300" cy="156000"/>
          </a:xfrm>
          <a:prstGeom prst="roundRect">
            <a:avLst>
              <a:gd fmla="val 7900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39"/>
          <p:cNvSpPr/>
          <p:nvPr/>
        </p:nvSpPr>
        <p:spPr>
          <a:xfrm>
            <a:off x="557733" y="378842"/>
            <a:ext cx="835200" cy="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테스트하기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39"/>
          <p:cNvSpPr/>
          <p:nvPr/>
        </p:nvSpPr>
        <p:spPr>
          <a:xfrm>
            <a:off x="496119" y="538088"/>
            <a:ext cx="81519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000"/>
              <a:buFont typeface="Roboto Slab"/>
              <a:buNone/>
            </a:pPr>
            <a:r>
              <a:rPr b="1" i="0" lang="ko-KR" sz="21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테스트하기 — 사이클 1</a:t>
            </a:r>
            <a:endParaRPr b="1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39"/>
          <p:cNvSpPr/>
          <p:nvPr/>
        </p:nvSpPr>
        <p:spPr>
          <a:xfrm>
            <a:off x="496119" y="895868"/>
            <a:ext cx="86091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"/>
              <a:buNone/>
            </a:pPr>
            <a:r>
              <a:rPr b="0" i="0" lang="ko-KR" sz="13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코드를 받았으면 이제 직접 실행해서 확인할 차례입니다. 순서를 정확히 따라야 변경 사항이 반영됩니다!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39"/>
          <p:cNvSpPr/>
          <p:nvPr/>
        </p:nvSpPr>
        <p:spPr>
          <a:xfrm>
            <a:off x="496119" y="1385537"/>
            <a:ext cx="39507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000"/>
              <a:buFont typeface="Roboto Slab"/>
              <a:buNone/>
            </a:pPr>
            <a:r>
              <a:rPr b="0" i="0" lang="ko-KR" sz="13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코드 교체 순서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39"/>
          <p:cNvSpPr/>
          <p:nvPr/>
        </p:nvSpPr>
        <p:spPr>
          <a:xfrm>
            <a:off x="496119" y="2038620"/>
            <a:ext cx="205500" cy="1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 Light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39"/>
          <p:cNvSpPr/>
          <p:nvPr/>
        </p:nvSpPr>
        <p:spPr>
          <a:xfrm>
            <a:off x="496119" y="2198907"/>
            <a:ext cx="39507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9"/>
          <p:cNvSpPr/>
          <p:nvPr/>
        </p:nvSpPr>
        <p:spPr>
          <a:xfrm>
            <a:off x="643530" y="1984006"/>
            <a:ext cx="39507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 Slab"/>
              <a:buNone/>
            </a:pPr>
            <a:r>
              <a:rPr b="1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코드 붙여넣기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39"/>
          <p:cNvSpPr/>
          <p:nvPr/>
        </p:nvSpPr>
        <p:spPr>
          <a:xfrm>
            <a:off x="496119" y="2263591"/>
            <a:ext cx="39507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VSCode에서 </a:t>
            </a:r>
            <a:r>
              <a:rPr b="0" i="0" lang="ko-KR" sz="120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Ctrl + A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→ </a:t>
            </a:r>
            <a:r>
              <a:rPr b="0" i="0" lang="ko-KR" sz="120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Ctrl + 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39"/>
          <p:cNvSpPr/>
          <p:nvPr/>
        </p:nvSpPr>
        <p:spPr>
          <a:xfrm>
            <a:off x="496119" y="2659970"/>
            <a:ext cx="205500" cy="1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 Light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39"/>
          <p:cNvSpPr/>
          <p:nvPr/>
        </p:nvSpPr>
        <p:spPr>
          <a:xfrm>
            <a:off x="496119" y="2809988"/>
            <a:ext cx="39507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39"/>
          <p:cNvSpPr/>
          <p:nvPr/>
        </p:nvSpPr>
        <p:spPr>
          <a:xfrm>
            <a:off x="643530" y="2605357"/>
            <a:ext cx="39507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 Slab"/>
              <a:buNone/>
            </a:pPr>
            <a:r>
              <a:rPr b="1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서버 끄기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39"/>
          <p:cNvSpPr/>
          <p:nvPr/>
        </p:nvSpPr>
        <p:spPr>
          <a:xfrm>
            <a:off x="496119" y="2884942"/>
            <a:ext cx="39507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터미널에서 </a:t>
            </a:r>
            <a:r>
              <a:rPr b="0" i="0" lang="ko-KR" sz="120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Ctrl + 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39"/>
          <p:cNvSpPr/>
          <p:nvPr/>
        </p:nvSpPr>
        <p:spPr>
          <a:xfrm>
            <a:off x="496119" y="3326677"/>
            <a:ext cx="205500" cy="1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 Light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39"/>
          <p:cNvSpPr/>
          <p:nvPr/>
        </p:nvSpPr>
        <p:spPr>
          <a:xfrm>
            <a:off x="496119" y="3466427"/>
            <a:ext cx="39507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39"/>
          <p:cNvSpPr/>
          <p:nvPr/>
        </p:nvSpPr>
        <p:spPr>
          <a:xfrm>
            <a:off x="643530" y="3272064"/>
            <a:ext cx="39507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 Slab"/>
              <a:buNone/>
            </a:pPr>
            <a:r>
              <a:rPr b="1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다시 실행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39"/>
          <p:cNvSpPr/>
          <p:nvPr/>
        </p:nvSpPr>
        <p:spPr>
          <a:xfrm>
            <a:off x="496119" y="3551648"/>
            <a:ext cx="39507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Consolas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python app.py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39"/>
          <p:cNvSpPr/>
          <p:nvPr/>
        </p:nvSpPr>
        <p:spPr>
          <a:xfrm>
            <a:off x="496119" y="4016063"/>
            <a:ext cx="205500" cy="12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 Light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39"/>
          <p:cNvSpPr/>
          <p:nvPr/>
        </p:nvSpPr>
        <p:spPr>
          <a:xfrm>
            <a:off x="496119" y="4145544"/>
            <a:ext cx="39507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39"/>
          <p:cNvSpPr/>
          <p:nvPr/>
        </p:nvSpPr>
        <p:spPr>
          <a:xfrm>
            <a:off x="643530" y="3961450"/>
            <a:ext cx="39507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 Slab"/>
              <a:buNone/>
            </a:pPr>
            <a:r>
              <a:rPr b="1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강력 새로고침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39"/>
          <p:cNvSpPr/>
          <p:nvPr/>
        </p:nvSpPr>
        <p:spPr>
          <a:xfrm>
            <a:off x="496119" y="4241034"/>
            <a:ext cx="3950700" cy="1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브라우저에서 </a:t>
            </a:r>
            <a:r>
              <a:rPr b="0" i="0" lang="ko-KR" sz="120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Ctrl + Shift + 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1" name="Google Shape;1031;p39"/>
          <p:cNvSpPr/>
          <p:nvPr/>
        </p:nvSpPr>
        <p:spPr>
          <a:xfrm>
            <a:off x="4702076" y="1487590"/>
            <a:ext cx="39507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000"/>
              <a:buFont typeface="Roboto Slab"/>
              <a:buNone/>
            </a:pPr>
            <a:r>
              <a:rPr b="0" i="0" lang="ko-KR" sz="13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테스트 체크리스트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39"/>
          <p:cNvSpPr/>
          <p:nvPr/>
        </p:nvSpPr>
        <p:spPr>
          <a:xfrm>
            <a:off x="4702075" y="1784879"/>
            <a:ext cx="2061300" cy="394500"/>
          </a:xfrm>
          <a:prstGeom prst="roundRect">
            <a:avLst>
              <a:gd fmla="val 3906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33" name="Google Shape;1033;p39"/>
          <p:cNvSpPr/>
          <p:nvPr/>
        </p:nvSpPr>
        <p:spPr>
          <a:xfrm>
            <a:off x="4826816" y="1860782"/>
            <a:ext cx="18117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☐ 과목 드롭다운이 보이나?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39"/>
          <p:cNvSpPr/>
          <p:nvPr/>
        </p:nvSpPr>
        <p:spPr>
          <a:xfrm>
            <a:off x="6853786" y="1784879"/>
            <a:ext cx="2061300" cy="394500"/>
          </a:xfrm>
          <a:prstGeom prst="roundRect">
            <a:avLst>
              <a:gd fmla="val 3906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35" name="Google Shape;1035;p39"/>
          <p:cNvSpPr/>
          <p:nvPr/>
        </p:nvSpPr>
        <p:spPr>
          <a:xfrm>
            <a:off x="6978526" y="1860782"/>
            <a:ext cx="18117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☐ 과목이 5개 다 있나?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39"/>
          <p:cNvSpPr/>
          <p:nvPr/>
        </p:nvSpPr>
        <p:spPr>
          <a:xfrm>
            <a:off x="4702075" y="2264403"/>
            <a:ext cx="2061300" cy="394500"/>
          </a:xfrm>
          <a:prstGeom prst="roundRect">
            <a:avLst>
              <a:gd fmla="val 3906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37" name="Google Shape;1037;p39"/>
          <p:cNvSpPr/>
          <p:nvPr/>
        </p:nvSpPr>
        <p:spPr>
          <a:xfrm>
            <a:off x="4826816" y="2340306"/>
            <a:ext cx="18117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☐ 과목 바꾸면 색이 바뀌나?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39"/>
          <p:cNvSpPr/>
          <p:nvPr/>
        </p:nvSpPr>
        <p:spPr>
          <a:xfrm>
            <a:off x="6853786" y="2264403"/>
            <a:ext cx="2061300" cy="394500"/>
          </a:xfrm>
          <a:prstGeom prst="roundRect">
            <a:avLst>
              <a:gd fmla="val 3906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39" name="Google Shape;1039;p39"/>
          <p:cNvSpPr/>
          <p:nvPr/>
        </p:nvSpPr>
        <p:spPr>
          <a:xfrm>
            <a:off x="6978526" y="2340306"/>
            <a:ext cx="18117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☐ 시간 선택 버튼이 보이나?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39"/>
          <p:cNvSpPr/>
          <p:nvPr/>
        </p:nvSpPr>
        <p:spPr>
          <a:xfrm>
            <a:off x="4702075" y="2743928"/>
            <a:ext cx="2061300" cy="394500"/>
          </a:xfrm>
          <a:prstGeom prst="roundRect">
            <a:avLst>
              <a:gd fmla="val 3906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41" name="Google Shape;1041;p39"/>
          <p:cNvSpPr/>
          <p:nvPr/>
        </p:nvSpPr>
        <p:spPr>
          <a:xfrm>
            <a:off x="4826816" y="2819830"/>
            <a:ext cx="18117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☐ 타이머 시작/정지/리셋 되나?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39"/>
          <p:cNvSpPr/>
          <p:nvPr/>
        </p:nvSpPr>
        <p:spPr>
          <a:xfrm>
            <a:off x="6853786" y="2743928"/>
            <a:ext cx="2061300" cy="394500"/>
          </a:xfrm>
          <a:prstGeom prst="roundRect">
            <a:avLst>
              <a:gd fmla="val 3906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43" name="Google Shape;1043;p39"/>
          <p:cNvSpPr/>
          <p:nvPr/>
        </p:nvSpPr>
        <p:spPr>
          <a:xfrm>
            <a:off x="6978526" y="2819830"/>
            <a:ext cx="18117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☐ "수고했어!" 메시지가 뜨나?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40"/>
          <p:cNvSpPr/>
          <p:nvPr/>
        </p:nvSpPr>
        <p:spPr>
          <a:xfrm>
            <a:off x="496119" y="435992"/>
            <a:ext cx="538500" cy="188700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40"/>
          <p:cNvSpPr/>
          <p:nvPr/>
        </p:nvSpPr>
        <p:spPr>
          <a:xfrm>
            <a:off x="570533" y="473199"/>
            <a:ext cx="846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수정 요청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40"/>
          <p:cNvSpPr/>
          <p:nvPr/>
        </p:nvSpPr>
        <p:spPr>
          <a:xfrm>
            <a:off x="496119" y="674117"/>
            <a:ext cx="81519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1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수정 요청 연습 — 구체적으로 말한다!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40"/>
          <p:cNvSpPr/>
          <p:nvPr/>
        </p:nvSpPr>
        <p:spPr>
          <a:xfrm>
            <a:off x="496119" y="1134308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개발 중에는 마음에 안 드는 부분이 생깁니다. 그 때 AI에게 수정을 요청하는 방법도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구체적인 프롬프트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가 핵심입니다!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40"/>
          <p:cNvSpPr/>
          <p:nvPr/>
        </p:nvSpPr>
        <p:spPr>
          <a:xfrm>
            <a:off x="496119" y="1585689"/>
            <a:ext cx="8151900" cy="1812600"/>
          </a:xfrm>
          <a:prstGeom prst="roundRect">
            <a:avLst>
              <a:gd fmla="val 1027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054" name="Google Shape;1054;p40"/>
          <p:cNvSpPr/>
          <p:nvPr/>
        </p:nvSpPr>
        <p:spPr>
          <a:xfrm>
            <a:off x="496119" y="1949648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055" name="Google Shape;1055;p40"/>
          <p:cNvSpPr/>
          <p:nvPr/>
        </p:nvSpPr>
        <p:spPr>
          <a:xfrm>
            <a:off x="496119" y="2311226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056" name="Google Shape;1056;p40"/>
          <p:cNvSpPr/>
          <p:nvPr/>
        </p:nvSpPr>
        <p:spPr>
          <a:xfrm>
            <a:off x="496119" y="2672804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057" name="Google Shape;1057;p40"/>
          <p:cNvSpPr/>
          <p:nvPr/>
        </p:nvSpPr>
        <p:spPr>
          <a:xfrm>
            <a:off x="496119" y="3034382"/>
            <a:ext cx="8151900" cy="78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058" name="Google Shape;1058;p40"/>
          <p:cNvSpPr/>
          <p:nvPr/>
        </p:nvSpPr>
        <p:spPr>
          <a:xfrm>
            <a:off x="625004" y="1669628"/>
            <a:ext cx="289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나쁜 예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40"/>
          <p:cNvSpPr/>
          <p:nvPr/>
        </p:nvSpPr>
        <p:spPr>
          <a:xfrm>
            <a:off x="3311872" y="1669628"/>
            <a:ext cx="2977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좋은 예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40"/>
          <p:cNvSpPr/>
          <p:nvPr/>
        </p:nvSpPr>
        <p:spPr>
          <a:xfrm>
            <a:off x="6080224" y="1669628"/>
            <a:ext cx="289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무엇이 다른가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40"/>
          <p:cNvSpPr/>
          <p:nvPr/>
        </p:nvSpPr>
        <p:spPr>
          <a:xfrm>
            <a:off x="625004" y="2031206"/>
            <a:ext cx="289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"이상해, 다시 해"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40"/>
          <p:cNvSpPr/>
          <p:nvPr/>
        </p:nvSpPr>
        <p:spPr>
          <a:xfrm>
            <a:off x="3311872" y="2031206"/>
            <a:ext cx="2977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"과목 이름 글자 크기를 30px로 키워줘"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40"/>
          <p:cNvSpPr/>
          <p:nvPr/>
        </p:nvSpPr>
        <p:spPr>
          <a:xfrm>
            <a:off x="6080224" y="2031206"/>
            <a:ext cx="289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대상 + 수치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40"/>
          <p:cNvSpPr/>
          <p:nvPr/>
        </p:nvSpPr>
        <p:spPr>
          <a:xfrm>
            <a:off x="625004" y="2392784"/>
            <a:ext cx="289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"색 바꿔"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40"/>
          <p:cNvSpPr/>
          <p:nvPr/>
        </p:nvSpPr>
        <p:spPr>
          <a:xfrm>
            <a:off x="3311872" y="2392784"/>
            <a:ext cx="2977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"수학 색을 #4CAF50으로 바꿔줘"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40"/>
          <p:cNvSpPr/>
          <p:nvPr/>
        </p:nvSpPr>
        <p:spPr>
          <a:xfrm>
            <a:off x="6080224" y="2392784"/>
            <a:ext cx="289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대상 + 구체적 값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40"/>
          <p:cNvSpPr/>
          <p:nvPr/>
        </p:nvSpPr>
        <p:spPr>
          <a:xfrm>
            <a:off x="625004" y="2754362"/>
            <a:ext cx="289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"더 넣어줘"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40"/>
          <p:cNvSpPr/>
          <p:nvPr/>
        </p:nvSpPr>
        <p:spPr>
          <a:xfrm>
            <a:off x="3311872" y="2754362"/>
            <a:ext cx="2977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"과목 목록에 '한문', '기술'을 추가해줘"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40"/>
          <p:cNvSpPr/>
          <p:nvPr/>
        </p:nvSpPr>
        <p:spPr>
          <a:xfrm>
            <a:off x="6080224" y="2754362"/>
            <a:ext cx="289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정확한 내용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40"/>
          <p:cNvSpPr/>
          <p:nvPr/>
        </p:nvSpPr>
        <p:spPr>
          <a:xfrm>
            <a:off x="625004" y="3115940"/>
            <a:ext cx="289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"버튼 이상해"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40"/>
          <p:cNvSpPr/>
          <p:nvPr/>
        </p:nvSpPr>
        <p:spPr>
          <a:xfrm>
            <a:off x="3311872" y="3115940"/>
            <a:ext cx="2977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"시작 버튼 패딩 20px로 키워줘"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40"/>
          <p:cNvSpPr/>
          <p:nvPr/>
        </p:nvSpPr>
        <p:spPr>
          <a:xfrm>
            <a:off x="6080224" y="3115940"/>
            <a:ext cx="2896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대상 + 속성 + 값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40"/>
          <p:cNvSpPr/>
          <p:nvPr/>
        </p:nvSpPr>
        <p:spPr>
          <a:xfrm>
            <a:off x="496119" y="3584377"/>
            <a:ext cx="81519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실습: 바꾸고 싶은 것을 직접 적어보세요!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40"/>
          <p:cNvSpPr/>
          <p:nvPr/>
        </p:nvSpPr>
        <p:spPr>
          <a:xfrm>
            <a:off x="496119" y="3964260"/>
            <a:ext cx="4014000" cy="743100"/>
          </a:xfrm>
          <a:prstGeom prst="roundRect">
            <a:avLst>
              <a:gd fmla="val 2503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40"/>
          <p:cNvSpPr/>
          <p:nvPr/>
        </p:nvSpPr>
        <p:spPr>
          <a:xfrm>
            <a:off x="634380" y="4102522"/>
            <a:ext cx="3737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바꾸고 싶은 것은?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40"/>
          <p:cNvSpPr/>
          <p:nvPr/>
        </p:nvSpPr>
        <p:spPr>
          <a:xfrm>
            <a:off x="634380" y="4370784"/>
            <a:ext cx="3737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예: "글씨가 작아요" → "과목 이름 글자 크기를 30px로 키워줘"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40"/>
          <p:cNvSpPr/>
          <p:nvPr/>
        </p:nvSpPr>
        <p:spPr>
          <a:xfrm>
            <a:off x="4633987" y="3964260"/>
            <a:ext cx="4014000" cy="743100"/>
          </a:xfrm>
          <a:prstGeom prst="roundRect">
            <a:avLst>
              <a:gd fmla="val 2503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40"/>
          <p:cNvSpPr/>
          <p:nvPr/>
        </p:nvSpPr>
        <p:spPr>
          <a:xfrm>
            <a:off x="4772248" y="4102522"/>
            <a:ext cx="3737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구체적으로 어떻게?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40"/>
          <p:cNvSpPr/>
          <p:nvPr/>
        </p:nvSpPr>
        <p:spPr>
          <a:xfrm>
            <a:off x="4772248" y="4370784"/>
            <a:ext cx="37374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대상 + 속성 + 값을 모두 포함해 적어보세요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41"/>
          <p:cNvSpPr/>
          <p:nvPr/>
        </p:nvSpPr>
        <p:spPr>
          <a:xfrm>
            <a:off x="496119" y="354955"/>
            <a:ext cx="416700" cy="156000"/>
          </a:xfrm>
          <a:prstGeom prst="roundRect">
            <a:avLst>
              <a:gd fmla="val 7900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41"/>
          <p:cNvSpPr/>
          <p:nvPr/>
        </p:nvSpPr>
        <p:spPr>
          <a:xfrm>
            <a:off x="557733" y="385763"/>
            <a:ext cx="750600" cy="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사이클 2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41"/>
          <p:cNvSpPr/>
          <p:nvPr/>
        </p:nvSpPr>
        <p:spPr>
          <a:xfrm>
            <a:off x="496119" y="545009"/>
            <a:ext cx="8151900" cy="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000"/>
              <a:buFont typeface="Roboto Slab"/>
              <a:buNone/>
            </a:pPr>
            <a:r>
              <a:rPr b="1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사이클 2 — 오늘의 기록 추가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41"/>
          <p:cNvSpPr/>
          <p:nvPr/>
        </p:nvSpPr>
        <p:spPr>
          <a:xfrm>
            <a:off x="496119" y="993502"/>
            <a:ext cx="86091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타이머 아래에 오늘의 공부 기록을 시각화합니다. 지금은 </a:t>
            </a:r>
            <a:r>
              <a:rPr b="1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더미 데이터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로 표시하고, 다음 시간에 진짜 서버 저장으로 교체합니다.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41"/>
          <p:cNvSpPr/>
          <p:nvPr/>
        </p:nvSpPr>
        <p:spPr>
          <a:xfrm>
            <a:off x="496119" y="1324421"/>
            <a:ext cx="39507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000"/>
              <a:buFont typeface="Roboto Slab"/>
              <a:buNone/>
            </a:pPr>
            <a:r>
              <a:rPr b="0" i="0" lang="ko-KR" sz="10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AI 프롬프트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41"/>
          <p:cNvSpPr/>
          <p:nvPr/>
        </p:nvSpPr>
        <p:spPr>
          <a:xfrm>
            <a:off x="496119" y="1523933"/>
            <a:ext cx="3950700" cy="1406700"/>
          </a:xfrm>
          <a:prstGeom prst="roundRect">
            <a:avLst>
              <a:gd fmla="val 1095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41"/>
          <p:cNvSpPr/>
          <p:nvPr/>
        </p:nvSpPr>
        <p:spPr>
          <a:xfrm>
            <a:off x="490975" y="1523928"/>
            <a:ext cx="3960900" cy="1649700"/>
          </a:xfrm>
          <a:prstGeom prst="roundRect">
            <a:avLst>
              <a:gd fmla="val 1095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41"/>
          <p:cNvSpPr/>
          <p:nvPr/>
        </p:nvSpPr>
        <p:spPr>
          <a:xfrm>
            <a:off x="619350" y="1626629"/>
            <a:ext cx="3827400" cy="1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Consolas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Consolas"/>
                <a:ea typeface="Consolas"/>
                <a:cs typeface="Consolas"/>
                <a:sym typeface="Consolas"/>
              </a:rPr>
              <a:t>타이머 아래에 "오늘의 공부 기록" 영역 추가.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Consolas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Consolas"/>
                <a:ea typeface="Consolas"/>
                <a:cs typeface="Consolas"/>
                <a:sym typeface="Consolas"/>
              </a:rPr>
              <a:t>더미 데이터: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Consolas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Consolas"/>
                <a:ea typeface="Consolas"/>
                <a:cs typeface="Consolas"/>
                <a:sym typeface="Consolas"/>
              </a:rPr>
              <a:t>- 수학 45분, 영어 30분, 국어 25분, 과학 15분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Consolas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Consolas"/>
                <a:ea typeface="Consolas"/>
                <a:cs typeface="Consolas"/>
                <a:sym typeface="Consolas"/>
              </a:rPr>
              <a:t>- 가로 막대 그래프로 표시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Consolas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Consolas"/>
                <a:ea typeface="Consolas"/>
                <a:cs typeface="Consolas"/>
                <a:sym typeface="Consolas"/>
              </a:rPr>
              <a:t>- 총 공부 시간 합계 표시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Consolas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Consolas"/>
                <a:ea typeface="Consolas"/>
                <a:cs typeface="Consolas"/>
                <a:sym typeface="Consolas"/>
              </a:rPr>
              <a:t>타이머 끝나면: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Consolas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Consolas"/>
                <a:ea typeface="Consolas"/>
                <a:cs typeface="Consolas"/>
                <a:sym typeface="Consolas"/>
              </a:rPr>
              <a:t>- 더미로 기록 추가되는 것처럼 업데이트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Consolas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Consolas"/>
                <a:ea typeface="Consolas"/>
                <a:cs typeface="Consolas"/>
                <a:sym typeface="Consolas"/>
              </a:rPr>
              <a:t>- JavaScript 변수에만 저장 (서버 저장 안 함)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41"/>
          <p:cNvSpPr/>
          <p:nvPr/>
        </p:nvSpPr>
        <p:spPr>
          <a:xfrm>
            <a:off x="496119" y="3230460"/>
            <a:ext cx="39507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000"/>
              <a:buFont typeface="Roboto Slab"/>
              <a:buNone/>
            </a:pPr>
            <a:r>
              <a:rPr b="0" i="0" lang="ko-KR" sz="10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테스트 체크리스트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41"/>
          <p:cNvSpPr/>
          <p:nvPr/>
        </p:nvSpPr>
        <p:spPr>
          <a:xfrm>
            <a:off x="496119" y="3509346"/>
            <a:ext cx="1932900" cy="394500"/>
          </a:xfrm>
          <a:prstGeom prst="roundRect">
            <a:avLst>
              <a:gd fmla="val 3906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95" name="Google Shape;1095;p41"/>
          <p:cNvSpPr/>
          <p:nvPr/>
        </p:nvSpPr>
        <p:spPr>
          <a:xfrm>
            <a:off x="613100" y="3580974"/>
            <a:ext cx="1900800" cy="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☐ "오늘의 기록" 영역이 보이나?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41"/>
          <p:cNvSpPr/>
          <p:nvPr/>
        </p:nvSpPr>
        <p:spPr>
          <a:xfrm>
            <a:off x="2513930" y="3509346"/>
            <a:ext cx="1932900" cy="394500"/>
          </a:xfrm>
          <a:prstGeom prst="roundRect">
            <a:avLst>
              <a:gd fmla="val 3906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97" name="Google Shape;1097;p41"/>
          <p:cNvSpPr/>
          <p:nvPr/>
        </p:nvSpPr>
        <p:spPr>
          <a:xfrm>
            <a:off x="2630909" y="3626325"/>
            <a:ext cx="16989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☐ 막대 그래프가 나오나?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41"/>
          <p:cNvSpPr/>
          <p:nvPr/>
        </p:nvSpPr>
        <p:spPr>
          <a:xfrm>
            <a:off x="496119" y="3988870"/>
            <a:ext cx="1932900" cy="394500"/>
          </a:xfrm>
          <a:prstGeom prst="roundRect">
            <a:avLst>
              <a:gd fmla="val 3906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99" name="Google Shape;1099;p41"/>
          <p:cNvSpPr/>
          <p:nvPr/>
        </p:nvSpPr>
        <p:spPr>
          <a:xfrm>
            <a:off x="613097" y="4105849"/>
            <a:ext cx="16989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☐ 과목별 색깔이 구분되나?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41"/>
          <p:cNvSpPr/>
          <p:nvPr/>
        </p:nvSpPr>
        <p:spPr>
          <a:xfrm>
            <a:off x="2513930" y="3988870"/>
            <a:ext cx="1932900" cy="394500"/>
          </a:xfrm>
          <a:prstGeom prst="roundRect">
            <a:avLst>
              <a:gd fmla="val 3906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101" name="Google Shape;1101;p41"/>
          <p:cNvSpPr/>
          <p:nvPr/>
        </p:nvSpPr>
        <p:spPr>
          <a:xfrm>
            <a:off x="2630909" y="4105849"/>
            <a:ext cx="16989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☐ 총 시간 합계가 보이나?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41"/>
          <p:cNvSpPr/>
          <p:nvPr/>
        </p:nvSpPr>
        <p:spPr>
          <a:xfrm>
            <a:off x="496119" y="4468394"/>
            <a:ext cx="3950700" cy="394500"/>
          </a:xfrm>
          <a:prstGeom prst="roundRect">
            <a:avLst>
              <a:gd fmla="val 3906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103" name="Google Shape;1103;p41"/>
          <p:cNvSpPr/>
          <p:nvPr/>
        </p:nvSpPr>
        <p:spPr>
          <a:xfrm>
            <a:off x="613097" y="4585373"/>
            <a:ext cx="37167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☐ 타이머 끝나면 기록이 추가되나?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41"/>
          <p:cNvSpPr/>
          <p:nvPr/>
        </p:nvSpPr>
        <p:spPr>
          <a:xfrm>
            <a:off x="4628108" y="1239366"/>
            <a:ext cx="4098600" cy="3549000"/>
          </a:xfrm>
          <a:prstGeom prst="roundRect">
            <a:avLst>
              <a:gd fmla="val 434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41"/>
          <p:cNvSpPr/>
          <p:nvPr/>
        </p:nvSpPr>
        <p:spPr>
          <a:xfrm>
            <a:off x="4730800" y="1324421"/>
            <a:ext cx="3893100" cy="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Roboto Slab"/>
              <a:buNone/>
            </a:pPr>
            <a:r>
              <a:rPr b="0" i="0" lang="ko-KR" sz="10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더미 → 진짜 데이터 교체 원리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41"/>
          <p:cNvSpPr/>
          <p:nvPr/>
        </p:nvSpPr>
        <p:spPr>
          <a:xfrm>
            <a:off x="4730800" y="1569988"/>
            <a:ext cx="3893100" cy="12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1" i="0" lang="ko-KR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오늘 (프론트엔드)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0" i="0" lang="ko-KR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JavaScript 변수에만 저장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0" i="0" lang="ko-KR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화면에 그래프 표시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1" i="0" lang="ko-KR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다음 시간 (백엔드)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0" i="0" lang="ko-KR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Flask 서버 + records.json 저장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0" i="0" lang="ko-KR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화면에 같은 그래프 표시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oboto"/>
              <a:buNone/>
            </a:pPr>
            <a:r>
              <a:rPr b="0" i="0" lang="ko-KR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화면(그래프)은 똑같습니다! </a:t>
            </a:r>
            <a:r>
              <a:rPr b="1" i="0" lang="ko-KR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데이터 출처만 바뀝니다.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42"/>
          <p:cNvSpPr/>
          <p:nvPr/>
        </p:nvSpPr>
        <p:spPr>
          <a:xfrm>
            <a:off x="496119" y="370210"/>
            <a:ext cx="590100" cy="176700"/>
          </a:xfrm>
          <a:prstGeom prst="roundRect">
            <a:avLst>
              <a:gd fmla="val 7903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42"/>
          <p:cNvSpPr/>
          <p:nvPr/>
        </p:nvSpPr>
        <p:spPr>
          <a:xfrm>
            <a:off x="565845" y="405036"/>
            <a:ext cx="907800" cy="1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오늘 총정리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42"/>
          <p:cNvSpPr/>
          <p:nvPr/>
        </p:nvSpPr>
        <p:spPr>
          <a:xfrm>
            <a:off x="496119" y="590401"/>
            <a:ext cx="81519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50"/>
              <a:buFont typeface="Roboto Slab"/>
              <a:buNone/>
            </a:pPr>
            <a:r>
              <a:rPr b="1" i="0" lang="ko-KR" sz="26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오늘 한 일 총정리</a:t>
            </a:r>
            <a:endParaRPr b="1" i="0" sz="2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42"/>
          <p:cNvSpPr/>
          <p:nvPr/>
        </p:nvSpPr>
        <p:spPr>
          <a:xfrm>
            <a:off x="507458" y="1083235"/>
            <a:ext cx="86091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6단계를 거쳐 프론트엔드를 완성했습니다! </a:t>
            </a:r>
            <a:r>
              <a:rPr b="0" i="0" lang="ko-KR" sz="12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기획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부터 </a:t>
            </a:r>
            <a:r>
              <a:rPr b="0" i="0" lang="ko-KR" sz="12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개발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까지 실제 </a:t>
            </a:r>
            <a:r>
              <a:rPr b="1" i="0" lang="ko-KR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개발자의 워크플로우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를 경험한 하루였습니다.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6" name="Google Shape;111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420118"/>
            <a:ext cx="4075883" cy="465162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42"/>
          <p:cNvSpPr/>
          <p:nvPr/>
        </p:nvSpPr>
        <p:spPr>
          <a:xfrm>
            <a:off x="612353" y="1926261"/>
            <a:ext cx="38433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①  페르소나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42"/>
          <p:cNvSpPr/>
          <p:nvPr/>
        </p:nvSpPr>
        <p:spPr>
          <a:xfrm>
            <a:off x="827799" y="2207334"/>
            <a:ext cx="38433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누가 쓸까?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9" name="Google Shape;1119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420118"/>
            <a:ext cx="4075883" cy="465162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42"/>
          <p:cNvSpPr/>
          <p:nvPr/>
        </p:nvSpPr>
        <p:spPr>
          <a:xfrm>
            <a:off x="4688235" y="1926261"/>
            <a:ext cx="38433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② 벤치마킹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42"/>
          <p:cNvSpPr/>
          <p:nvPr/>
        </p:nvSpPr>
        <p:spPr>
          <a:xfrm>
            <a:off x="4903681" y="2207334"/>
            <a:ext cx="38433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좋은 앱 구경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2" name="Google Shape;1122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19" y="2537817"/>
            <a:ext cx="4075883" cy="465162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42"/>
          <p:cNvSpPr/>
          <p:nvPr/>
        </p:nvSpPr>
        <p:spPr>
          <a:xfrm>
            <a:off x="612353" y="3043960"/>
            <a:ext cx="38433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③ 유저 시나리오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42"/>
          <p:cNvSpPr/>
          <p:nvPr/>
        </p:nvSpPr>
        <p:spPr>
          <a:xfrm>
            <a:off x="827799" y="3325033"/>
            <a:ext cx="38433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순서 정하기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5" name="Google Shape;1125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0" y="2537817"/>
            <a:ext cx="4075883" cy="465162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42"/>
          <p:cNvSpPr/>
          <p:nvPr/>
        </p:nvSpPr>
        <p:spPr>
          <a:xfrm>
            <a:off x="4688235" y="3043960"/>
            <a:ext cx="38433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④ 환경 셋팅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42"/>
          <p:cNvSpPr/>
          <p:nvPr/>
        </p:nvSpPr>
        <p:spPr>
          <a:xfrm>
            <a:off x="4903681" y="3325033"/>
            <a:ext cx="38433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VSCode + Flask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8" name="Google Shape;1128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6119" y="3655516"/>
            <a:ext cx="4075883" cy="465162"/>
          </a:xfrm>
          <a:prstGeom prst="rect">
            <a:avLst/>
          </a:prstGeom>
          <a:noFill/>
          <a:ln>
            <a:noFill/>
          </a:ln>
        </p:spPr>
      </p:pic>
      <p:sp>
        <p:nvSpPr>
          <p:cNvPr id="1129" name="Google Shape;1129;p42"/>
          <p:cNvSpPr/>
          <p:nvPr/>
        </p:nvSpPr>
        <p:spPr>
          <a:xfrm>
            <a:off x="612353" y="4161659"/>
            <a:ext cx="38433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⑤ 기본 타이머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42"/>
          <p:cNvSpPr/>
          <p:nvPr/>
        </p:nvSpPr>
        <p:spPr>
          <a:xfrm>
            <a:off x="827799" y="4442732"/>
            <a:ext cx="38433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첫 실행 성공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31" name="Google Shape;1131;p4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000" y="3655516"/>
            <a:ext cx="4075883" cy="465162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42"/>
          <p:cNvSpPr/>
          <p:nvPr/>
        </p:nvSpPr>
        <p:spPr>
          <a:xfrm>
            <a:off x="4688235" y="4161659"/>
            <a:ext cx="38433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ko-KR" sz="16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⑥ 프론트 개발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42"/>
          <p:cNvSpPr/>
          <p:nvPr/>
        </p:nvSpPr>
        <p:spPr>
          <a:xfrm>
            <a:off x="4903681" y="4442732"/>
            <a:ext cx="3843300" cy="1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 선택 + 기록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39" name="Google Shape;113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1" cy="5143946"/>
          </a:xfrm>
          <a:prstGeom prst="rect">
            <a:avLst/>
          </a:prstGeom>
          <a:noFill/>
          <a:ln>
            <a:noFill/>
          </a:ln>
        </p:spPr>
      </p:pic>
      <p:sp>
        <p:nvSpPr>
          <p:cNvPr id="1140" name="Google Shape;1140;p43"/>
          <p:cNvSpPr/>
          <p:nvPr/>
        </p:nvSpPr>
        <p:spPr>
          <a:xfrm>
            <a:off x="3925119" y="341114"/>
            <a:ext cx="711000" cy="179700"/>
          </a:xfrm>
          <a:prstGeom prst="roundRect">
            <a:avLst>
              <a:gd fmla="val 7901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43"/>
          <p:cNvSpPr/>
          <p:nvPr/>
        </p:nvSpPr>
        <p:spPr>
          <a:xfrm>
            <a:off x="3996035" y="376535"/>
            <a:ext cx="1026300" cy="1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00"/>
              <a:buFont typeface="Roboto"/>
              <a:buNone/>
            </a:pPr>
            <a:r>
              <a:rPr b="0" i="0" lang="ko-KR" sz="7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다음 시간 예고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43"/>
          <p:cNvSpPr/>
          <p:nvPr/>
        </p:nvSpPr>
        <p:spPr>
          <a:xfrm>
            <a:off x="3925119" y="565696"/>
            <a:ext cx="47229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300"/>
              <a:buFont typeface="Roboto Slab"/>
              <a:buNone/>
            </a:pPr>
            <a:r>
              <a:rPr b="0" i="0" lang="ko-KR" sz="23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다음 시간 — 백엔드 개발!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43"/>
          <p:cNvSpPr/>
          <p:nvPr/>
        </p:nvSpPr>
        <p:spPr>
          <a:xfrm>
            <a:off x="3925119" y="990763"/>
            <a:ext cx="472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오늘 만든 화면에 </a:t>
            </a:r>
            <a:r>
              <a:rPr b="1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"진짜 기능"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을 연결합니다. </a:t>
            </a:r>
            <a:b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더미 데이터가 실제 저장·계산·카메라 데이터로 교체됩니다!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4" name="Google Shape;1144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1600274"/>
            <a:ext cx="295573" cy="295573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43"/>
          <p:cNvSpPr/>
          <p:nvPr/>
        </p:nvSpPr>
        <p:spPr>
          <a:xfrm>
            <a:off x="4361483" y="1600274"/>
            <a:ext cx="428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1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데이터 저장</a:t>
            </a:r>
            <a:endParaRPr b="1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43"/>
          <p:cNvSpPr/>
          <p:nvPr/>
        </p:nvSpPr>
        <p:spPr>
          <a:xfrm>
            <a:off x="4361483" y="1841199"/>
            <a:ext cx="4286400" cy="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공부 기록을 </a:t>
            </a:r>
            <a:r>
              <a:rPr b="0" i="0" lang="ko-KR" sz="120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records.json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파일에 실제로 저장합니다.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7" name="Google Shape;1147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25119" y="2272085"/>
            <a:ext cx="295573" cy="295573"/>
          </a:xfrm>
          <a:prstGeom prst="rect">
            <a:avLst/>
          </a:prstGeom>
          <a:noFill/>
          <a:ln>
            <a:noFill/>
          </a:ln>
        </p:spPr>
      </p:pic>
      <p:sp>
        <p:nvSpPr>
          <p:cNvPr id="1148" name="Google Shape;1148;p43"/>
          <p:cNvSpPr/>
          <p:nvPr/>
        </p:nvSpPr>
        <p:spPr>
          <a:xfrm>
            <a:off x="4361483" y="2272085"/>
            <a:ext cx="428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1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컴퓨터 비전</a:t>
            </a:r>
            <a:endParaRPr b="1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43"/>
          <p:cNvSpPr/>
          <p:nvPr/>
        </p:nvSpPr>
        <p:spPr>
          <a:xfrm>
            <a:off x="4361483" y="2513009"/>
            <a:ext cx="428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OpenCV로 카메라를 통해 공부 자세와 집중도를 측정합니다.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0" name="Google Shape;1150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25119" y="2934370"/>
            <a:ext cx="295573" cy="295573"/>
          </a:xfrm>
          <a:prstGeom prst="rect">
            <a:avLst/>
          </a:prstGeom>
          <a:noFill/>
          <a:ln>
            <a:noFill/>
          </a:ln>
        </p:spPr>
      </p:pic>
      <p:sp>
        <p:nvSpPr>
          <p:cNvPr id="1151" name="Google Shape;1151;p43"/>
          <p:cNvSpPr/>
          <p:nvPr/>
        </p:nvSpPr>
        <p:spPr>
          <a:xfrm>
            <a:off x="4361483" y="2934370"/>
            <a:ext cx="428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1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내부 통계</a:t>
            </a:r>
            <a:endParaRPr b="1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43"/>
          <p:cNvSpPr/>
          <p:nvPr/>
        </p:nvSpPr>
        <p:spPr>
          <a:xfrm>
            <a:off x="4361483" y="3175294"/>
            <a:ext cx="428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과목별 / 주간 / 월간 통계를 계산해 대시보드와 연결합니다.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3" name="Google Shape;1153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25119" y="3596655"/>
            <a:ext cx="295573" cy="295573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43"/>
          <p:cNvSpPr/>
          <p:nvPr/>
        </p:nvSpPr>
        <p:spPr>
          <a:xfrm>
            <a:off x="4361483" y="3596655"/>
            <a:ext cx="428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50"/>
              <a:buFont typeface="Roboto Slab"/>
              <a:buNone/>
            </a:pPr>
            <a:r>
              <a:rPr b="1" i="0" lang="ko-KR" sz="14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API 테스트</a:t>
            </a:r>
            <a:endParaRPr b="1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43"/>
          <p:cNvSpPr/>
          <p:nvPr/>
        </p:nvSpPr>
        <p:spPr>
          <a:xfrm>
            <a:off x="4361483" y="3837580"/>
            <a:ext cx="428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외부 서비스 연동과 알림 기능을 REST API로 구현합니다.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43"/>
          <p:cNvSpPr/>
          <p:nvPr/>
        </p:nvSpPr>
        <p:spPr>
          <a:xfrm>
            <a:off x="3925119" y="4160341"/>
            <a:ext cx="4722900" cy="642600"/>
          </a:xfrm>
          <a:prstGeom prst="roundRect">
            <a:avLst>
              <a:gd fmla="val 2760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7" name="Google Shape;1157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43288" y="4328443"/>
            <a:ext cx="147786" cy="118170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43"/>
          <p:cNvSpPr/>
          <p:nvPr/>
        </p:nvSpPr>
        <p:spPr>
          <a:xfrm>
            <a:off x="4309244" y="4302547"/>
            <a:ext cx="422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oboto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오늘 만든 프론트엔드가 있어야 다음 시간에 백엔드를 붙일 수 있습니다. </a:t>
            </a:r>
            <a:br>
              <a:rPr b="0" i="0" lang="ko-KR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오늘 열심히 화면을 만든 이유입니다! 💪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