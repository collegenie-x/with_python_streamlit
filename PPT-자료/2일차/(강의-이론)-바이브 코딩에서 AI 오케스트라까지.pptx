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</p:sldIdLst>
  <p:sldSz cy="5143500" cx="9144000"/>
  <p:notesSz cx="5143500" cy="9144000"/>
  <p:embeddedFontLst>
    <p:embeddedFont>
      <p:font typeface="Roboto Slab"/>
      <p:regular r:id="rId79"/>
      <p:bold r:id="rId80"/>
    </p:embeddedFont>
    <p:embeddedFont>
      <p:font typeface="Roboto Slab Light"/>
      <p:regular r:id="rId81"/>
      <p:bold r:id="rId82"/>
    </p:embeddedFont>
    <p:embeddedFont>
      <p:font typeface="Roboto"/>
      <p:regular r:id="rId83"/>
      <p:bold r:id="rId84"/>
      <p:italic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font" Target="fonts/Roboto-bold.fntdata"/><Relationship Id="rId83" Type="http://schemas.openxmlformats.org/officeDocument/2006/relationships/font" Target="fonts/Roboto-regular.fntdata"/><Relationship Id="rId42" Type="http://schemas.openxmlformats.org/officeDocument/2006/relationships/slide" Target="slides/slide38.xml"/><Relationship Id="rId86" Type="http://schemas.openxmlformats.org/officeDocument/2006/relationships/font" Target="fonts/Roboto-boldItalic.fntdata"/><Relationship Id="rId41" Type="http://schemas.openxmlformats.org/officeDocument/2006/relationships/slide" Target="slides/slide37.xml"/><Relationship Id="rId85" Type="http://schemas.openxmlformats.org/officeDocument/2006/relationships/font" Target="fonts/Roboto-italic.fntdata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0" Type="http://schemas.openxmlformats.org/officeDocument/2006/relationships/font" Target="fonts/RobotoSlab-bold.fntdata"/><Relationship Id="rId82" Type="http://schemas.openxmlformats.org/officeDocument/2006/relationships/font" Target="fonts/RobotoSlabLight-bold.fntdata"/><Relationship Id="rId81" Type="http://schemas.openxmlformats.org/officeDocument/2006/relationships/font" Target="fonts/RobotoSlab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font" Target="fonts/RobotoSlab-regular.fntdata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956317301_0_5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f956317301_0_5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956317301_0_5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956317301_0_5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f956317301_0_5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f956317301_0_5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956317301_0_6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f956317301_0_6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f956317301_0_6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956317301_0_6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f956317301_0_6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f956317301_0_6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956317301_0_6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g3f956317301_0_6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f956317301_0_6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956317301_0_7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f956317301_0_7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f956317301_0_7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956317301_0_7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f956317301_0_7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f956317301_0_7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956317301_0_7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3f956317301_0_7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f956317301_0_7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956317301_0_8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f956317301_0_8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f956317301_0_8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956317301_0_8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f956317301_0_8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f956317301_0_8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f956317301_0_8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3f956317301_0_8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f956317301_0_8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f956317301_0_8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g3f956317301_0_8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f956317301_0_8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956317301_0_9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g3f956317301_0_9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f956317301_0_9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f956317301_0_9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g3f956317301_0_9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f956317301_0_9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f956317301_0_10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g3f956317301_0_10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3f956317301_0_10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f956317301_0_10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g3f956317301_0_10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g3f956317301_0_10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956317301_0_10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3f956317301_0_10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g3f956317301_0_10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f956317301_0_10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3f956317301_0_10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f956317301_0_10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f956317301_0_1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" name="Google Shape;991;g3f956317301_0_1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g3f956317301_0_1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f956317301_0_1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5" name="Google Shape;1035;g3f956317301_0_1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g3f956317301_0_1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f956317301_0_1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3f956317301_0_1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f956317301_0_1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f956317301_0_1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g3f956317301_0_1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f956317301_0_1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f956317301_0_1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g3f956317301_0_1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g3f956317301_0_12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f956317301_0_1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g3f956317301_0_1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g3f956317301_0_1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f956317301_0_1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5" name="Google Shape;1175;g3f956317301_0_1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g3f956317301_0_13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f956317301_0_1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5" name="Google Shape;1195;g3f956317301_0_1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g3f956317301_0_13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3f956317301_0_1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4" name="Google Shape;1244;g3f956317301_0_1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g3f956317301_0_14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f956317301_0_14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2" name="Google Shape;1272;g3f956317301_0_14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g3f956317301_0_14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f956317301_0_14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9" name="Google Shape;1299;g3f956317301_0_14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g3f956317301_0_14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f956317301_0_14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g3f956317301_0_14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g3f956317301_0_14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f956317301_0_15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2" name="Google Shape;1352;g3f956317301_0_15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g3f956317301_0_15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3f956317301_0_15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4" name="Google Shape;1374;g3f956317301_0_15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g3f956317301_0_15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f956317301_0_15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4" name="Google Shape;1414;g3f956317301_0_15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g3f956317301_0_15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f956317301_0_16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7" name="Google Shape;1477;g3f956317301_0_16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g3f956317301_0_16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3f956317301_0_16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3" name="Google Shape;1523;g3f956317301_0_16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g3f956317301_0_16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f956317301_0_16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g3f956317301_0_16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g3f956317301_0_16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3f956317301_0_17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5" name="Google Shape;1555;g3f956317301_0_17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g3f956317301_0_17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3f956317301_0_17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2" name="Google Shape;1582;g3f956317301_0_17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g3f956317301_0_17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3f956317301_0_18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8" name="Google Shape;1658;g3f956317301_0_18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g3f956317301_0_18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f956317301_0_18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2" name="Google Shape;1702;g3f956317301_0_18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g3f956317301_0_18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3f95631730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8" name="Google Shape;1738;g3f95631730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g3f95631730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3f956317301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0" name="Google Shape;1750;g3f956317301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g3f956317301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3f956317301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9" name="Google Shape;1789;g3f956317301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g3f956317301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3f956317301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9" name="Google Shape;1809;g3f956317301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g3f956317301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3f956317301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3" name="Google Shape;1843;g3f956317301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g3f956317301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3f956317301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7" name="Google Shape;1857;g3f956317301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g3f956317301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3f956317301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8" name="Google Shape;1908;g3f956317301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g3f956317301_0_1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3f956317301_0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4" name="Google Shape;1924;g3f956317301_0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g3f956317301_0_2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3f956317301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4" name="Google Shape;1994;g3f956317301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g3f956317301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3f956317301_0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7" name="Google Shape;2017;g3f956317301_0_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g3f956317301_0_3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g3f956317301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9" name="Google Shape;2099;g3f956317301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g3f956317301_0_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f956317301_0_4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2" name="Google Shape;2152;g3f956317301_0_4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g3f956317301_0_4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g3f956317301_0_4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0" name="Google Shape;2170;g3f956317301_0_4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g3f956317301_0_4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g3f956317301_0_5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7" name="Google Shape;2227;g3f956317301_0_5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g3f956317301_0_5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g3f956317301_0_5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7" name="Google Shape;2237;g3f956317301_0_5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g3f956317301_0_5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g3f956317301_0_5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2" name="Google Shape;2262;g3f956317301_0_5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g3f956317301_0_5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3f956317301_0_5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5" name="Google Shape;2275;g3f956317301_0_5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g3f956317301_0_5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jpg"/><Relationship Id="rId4" Type="http://schemas.openxmlformats.org/officeDocument/2006/relationships/image" Target="../media/image2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create.xyz" TargetMode="External"/><Relationship Id="rId4" Type="http://schemas.openxmlformats.org/officeDocument/2006/relationships/image" Target="../media/image27.jpg"/><Relationship Id="rId5" Type="http://schemas.openxmlformats.org/officeDocument/2006/relationships/image" Target="../media/image3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jpg"/><Relationship Id="rId4" Type="http://schemas.openxmlformats.org/officeDocument/2006/relationships/image" Target="../media/image33.jpg"/><Relationship Id="rId5" Type="http://schemas.openxmlformats.org/officeDocument/2006/relationships/image" Target="../media/image3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jp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hyperlink" Target="http://create.xyz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Relationship Id="rId9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8.png"/><Relationship Id="rId8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7.jpg"/><Relationship Id="rId4" Type="http://schemas.openxmlformats.org/officeDocument/2006/relationships/image" Target="../media/image6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2.png"/><Relationship Id="rId4" Type="http://schemas.openxmlformats.org/officeDocument/2006/relationships/image" Target="../media/image58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Relationship Id="rId4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Relationship Id="rId5" Type="http://schemas.openxmlformats.org/officeDocument/2006/relationships/image" Target="../media/image70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Relationship Id="rId9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8.png"/><Relationship Id="rId8" Type="http://schemas.openxmlformats.org/officeDocument/2006/relationships/image" Target="../media/image4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7.jpg"/><Relationship Id="rId4" Type="http://schemas.openxmlformats.org/officeDocument/2006/relationships/image" Target="../media/image6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2.png"/><Relationship Id="rId4" Type="http://schemas.openxmlformats.org/officeDocument/2006/relationships/image" Target="../media/image58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0.png"/><Relationship Id="rId4" Type="http://schemas.openxmlformats.org/officeDocument/2006/relationships/image" Target="../media/image7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Relationship Id="rId5" Type="http://schemas.openxmlformats.org/officeDocument/2006/relationships/image" Target="../media/image70.png"/><Relationship Id="rId6" Type="http://schemas.openxmlformats.org/officeDocument/2006/relationships/image" Target="../media/image61.png"/><Relationship Id="rId7" Type="http://schemas.openxmlformats.org/officeDocument/2006/relationships/image" Target="../media/image6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9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6.jpg"/><Relationship Id="rId4" Type="http://schemas.openxmlformats.org/officeDocument/2006/relationships/image" Target="../media/image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7.png"/><Relationship Id="rId4" Type="http://schemas.openxmlformats.org/officeDocument/2006/relationships/image" Target="../media/image8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2.jpg"/><Relationship Id="rId4" Type="http://schemas.openxmlformats.org/officeDocument/2006/relationships/image" Target="../media/image74.png"/><Relationship Id="rId5" Type="http://schemas.openxmlformats.org/officeDocument/2006/relationships/image" Target="../media/image76.png"/><Relationship Id="rId6" Type="http://schemas.openxmlformats.org/officeDocument/2006/relationships/image" Target="../media/image73.png"/><Relationship Id="rId7" Type="http://schemas.openxmlformats.org/officeDocument/2006/relationships/image" Target="../media/image93.png"/><Relationship Id="rId8" Type="http://schemas.openxmlformats.org/officeDocument/2006/relationships/image" Target="../media/image8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5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2.jpg"/><Relationship Id="rId4" Type="http://schemas.openxmlformats.org/officeDocument/2006/relationships/image" Target="../media/image79.jpg"/><Relationship Id="rId5" Type="http://schemas.openxmlformats.org/officeDocument/2006/relationships/image" Target="../media/image80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8.png"/><Relationship Id="rId6" Type="http://schemas.openxmlformats.org/officeDocument/2006/relationships/image" Target="../media/image90.png"/><Relationship Id="rId7" Type="http://schemas.openxmlformats.org/officeDocument/2006/relationships/image" Target="../media/image8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496119" y="1678038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코딩에서 AI 오케스트라까지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96119" y="2495996"/>
            <a:ext cx="1504429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570533" y="2533204"/>
            <a:ext cx="1812801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중학교 2학년 · 다가치 수업 2일차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96119" y="2824088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AI와 함께라면, 코딩을 몰라도 앱을 만들고, 음악을 만들고, 영상을 만들 수 있습니다. 오늘은 그 신나는 세계로 함께 떠나봅시다!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496119" y="690860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오늘의 스토리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496119" y="1326431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중학생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민수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의 질문에서 시작합니다 — </a:t>
            </a:r>
            <a:r>
              <a:rPr b="1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14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나 혼자서도 뭔가 만들 수 있을까?"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17030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496119" y="1860872"/>
            <a:ext cx="40138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96119" y="1951434"/>
            <a:ext cx="401389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코딩이 뭔데?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96119" y="2219697"/>
            <a:ext cx="401389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AI에게 말만 하면 코드가 만들어진다고?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987" y="1717030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4633987" y="1860872"/>
            <a:ext cx="40138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633987" y="1951434"/>
            <a:ext cx="401389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어떤 도구들이 있어?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633987" y="2219697"/>
            <a:ext cx="401389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Code, V0, Bolt.new... 뭐가 다른 거야?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662982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496119" y="2819177"/>
            <a:ext cx="40138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96119" y="2922166"/>
            <a:ext cx="401389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진짜 뭘 만들었어?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96119" y="3190429"/>
            <a:ext cx="401389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실제로 돈을 벌거나 사용자를 모은 실제 사례들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3987" y="2662982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4633987" y="2819177"/>
            <a:ext cx="40138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633987" y="2922166"/>
            <a:ext cx="401389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코딩 말고 다른 것도?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633987" y="3190429"/>
            <a:ext cx="401389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영상, 음악, 디자인, 광고까지 AI 오케스트라!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3608933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496119" y="3777555"/>
            <a:ext cx="40138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96119" y="3892897"/>
            <a:ext cx="401389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어떻게 생각해야 해?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96119" y="4161160"/>
            <a:ext cx="401389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→ 검증 → 사업으로 발전시키는 방법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3987" y="3608933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4633987" y="3777555"/>
            <a:ext cx="40138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633987" y="3892897"/>
            <a:ext cx="401389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직접 만들어보자!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633987" y="4161160"/>
            <a:ext cx="401389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 + HTML로 공부 타이머 웹앱 만들기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496119" y="1489918"/>
            <a:ext cx="464344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570533" y="1527125"/>
            <a:ext cx="772716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96119" y="1728043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코딩이란? — 민수의 발견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96119" y="2301627"/>
            <a:ext cx="5179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민수는 유튜브 댓글에서 이런 글을 발견했습니다: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96119" y="2639616"/>
            <a:ext cx="14288" cy="477515"/>
          </a:xfrm>
          <a:prstGeom prst="roundRect">
            <a:avLst>
              <a:gd fmla="val 5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682154" y="2779142"/>
            <a:ext cx="4993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"저 코딩 1도 몰랐는데, AI로 3일 만에 앱 만들어서 출시했어요."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96119" y="3256657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"이게 진짜 가능해?" — 바로 이 질문 하나로 민수의 여정이 시작됩니다. 여러분도 같은 질문을 해본 적 있지 않나요? 오늘 수업이 끝나면, 그 답을 직접 경험하게 될 거예요!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496119" y="394469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코딩의 탄생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496119" y="1107579"/>
            <a:ext cx="634752" cy="188565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570533" y="1144786"/>
            <a:ext cx="943124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2025년 2월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96119" y="1345704"/>
            <a:ext cx="434727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안드레이 카파시 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(테슬라·OpenAI 공동 창업자)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96119" y="1679079"/>
            <a:ext cx="14288" cy="620167"/>
          </a:xfrm>
          <a:prstGeom prst="roundRect">
            <a:avLst>
              <a:gd fmla="val 5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682154" y="1790700"/>
            <a:ext cx="416123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"나는 요즘 새로운 종류의 코딩을 하고 있다.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이라고 부른다.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AI에게 말로 설명하고, 코드는 AI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 쓴다."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96119" y="2438772"/>
            <a:ext cx="4347270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세계 최고의 AI 전문가가 직접 선언한 새로운 개발 방식! 이제 코딩은 "타이핑하는 일"이 아니라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"원하는 것을 설명하는 일"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되었습니다.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96119" y="2975223"/>
            <a:ext cx="4347270" cy="682079"/>
          </a:xfrm>
          <a:prstGeom prst="roundRect">
            <a:avLst>
              <a:gd fmla="val 2728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15977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/>
          <p:nvPr/>
        </p:nvSpPr>
        <p:spPr>
          <a:xfrm>
            <a:off x="899071" y="3117800"/>
            <a:ext cx="382034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핵심 정의: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바이브 코딩 = 원하는 것을 말로 설명하면, AI가 코드를 만들어주는 방식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0718" y="1107579"/>
            <a:ext cx="3501851" cy="350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496157" y="695136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전통적 코딩 vs 바이브 코딩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496119" y="1621631"/>
            <a:ext cx="8151763" cy="2535808"/>
          </a:xfrm>
          <a:prstGeom prst="roundRect">
            <a:avLst>
              <a:gd fmla="val 73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1" name="Google Shape;91;p8"/>
          <p:cNvSpPr/>
          <p:nvPr/>
        </p:nvSpPr>
        <p:spPr>
          <a:xfrm>
            <a:off x="496119" y="1985590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2" name="Google Shape;92;p8"/>
          <p:cNvSpPr/>
          <p:nvPr/>
        </p:nvSpPr>
        <p:spPr>
          <a:xfrm>
            <a:off x="496119" y="2347168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3" name="Google Shape;93;p8"/>
          <p:cNvSpPr/>
          <p:nvPr/>
        </p:nvSpPr>
        <p:spPr>
          <a:xfrm>
            <a:off x="496119" y="2708746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4" name="Google Shape;94;p8"/>
          <p:cNvSpPr/>
          <p:nvPr/>
        </p:nvSpPr>
        <p:spPr>
          <a:xfrm>
            <a:off x="496119" y="3070324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5" name="Google Shape;95;p8"/>
          <p:cNvSpPr/>
          <p:nvPr/>
        </p:nvSpPr>
        <p:spPr>
          <a:xfrm>
            <a:off x="496119" y="3431902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6" name="Google Shape;96;p8"/>
          <p:cNvSpPr/>
          <p:nvPr/>
        </p:nvSpPr>
        <p:spPr>
          <a:xfrm>
            <a:off x="496119" y="3793480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7" name="Google Shape;97;p8"/>
          <p:cNvSpPr/>
          <p:nvPr/>
        </p:nvSpPr>
        <p:spPr>
          <a:xfrm>
            <a:off x="501774" y="1626394"/>
            <a:ext cx="2713509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8" name="Google Shape;98;p8"/>
          <p:cNvSpPr/>
          <p:nvPr/>
        </p:nvSpPr>
        <p:spPr>
          <a:xfrm>
            <a:off x="625748" y="1705570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비교 항목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3215283" y="1626394"/>
            <a:ext cx="2713509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0" name="Google Shape;100;p8"/>
          <p:cNvSpPr/>
          <p:nvPr/>
        </p:nvSpPr>
        <p:spPr>
          <a:xfrm>
            <a:off x="3339257" y="1705570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전통적 코딩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5928792" y="1626394"/>
            <a:ext cx="2713509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2" name="Google Shape;102;p8"/>
          <p:cNvSpPr/>
          <p:nvPr/>
        </p:nvSpPr>
        <p:spPr>
          <a:xfrm>
            <a:off x="6052765" y="1705570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바이브 코딩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625748" y="2067148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누가 쓰나?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3339257" y="2067148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사람이 직접 타이핑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052765" y="2067148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AI가 대신 작성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25748" y="2428726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문법을 외워야 하나?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3339257" y="2428726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반드시 외워야 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052765" y="2428726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몰라도 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625748" y="2790304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필요한 능력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3339257" y="2790304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프로그래밍 언어 문법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052765" y="2790304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원하는 것을 설명하는 능력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25748" y="3151882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에러가 나면?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3339257" y="3151882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읽고 직접 수정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052765" y="3151882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AI에게 에러를 알려주고 수정 요청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25748" y="3513460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걸리는 시간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339257" y="3513460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며칠~몇 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052765" y="3513460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몇 시간~하루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25748" y="3875038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비유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3339257" y="3875038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외국어를 배워서 직접 말하기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052765" y="3875038"/>
            <a:ext cx="292276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통역사에게 한국어로 설명하기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/>
          <p:nvPr/>
        </p:nvSpPr>
        <p:spPr>
          <a:xfrm>
            <a:off x="496119" y="638929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왜 바이브 코딩을 배워야 할까?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635249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/>
          <p:nvPr/>
        </p:nvSpPr>
        <p:spPr>
          <a:xfrm>
            <a:off x="887658" y="1711191"/>
            <a:ext cx="3502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미래 직업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31030" y="2205684"/>
            <a:ext cx="399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2030년까지 직업의 60%가 AI와의 협업을 필요로 합니다. 디자이너도, 의사도, 선생님도 AI를 사용하게 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9465" y="1635249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9"/>
          <p:cNvSpPr/>
          <p:nvPr/>
        </p:nvSpPr>
        <p:spPr>
          <a:xfrm>
            <a:off x="5002685" y="1699554"/>
            <a:ext cx="3502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실현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684376" y="2205684"/>
            <a:ext cx="399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머릿속 아이디어를 즉시 앱으로! "급식 별점 앱"도 아이디어만 있으면 당일에 완성할 수 있습니다.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3013546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/>
          <p:nvPr/>
        </p:nvSpPr>
        <p:spPr>
          <a:xfrm>
            <a:off x="887658" y="3089491"/>
            <a:ext cx="3502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문제 해결력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31030" y="3583981"/>
            <a:ext cx="399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"뭘 만들지"를 정의하는 능력이 핵심입니다. 코드를 외우는 것보다 훨씬 중요한 능력이에요.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9465" y="3013546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/>
          <p:nvPr/>
        </p:nvSpPr>
        <p:spPr>
          <a:xfrm>
            <a:off x="5002685" y="3077854"/>
            <a:ext cx="3502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진입 장벽 제거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684376" y="3583981"/>
            <a:ext cx="3998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코딩 경험이 0이어도 시작 가능! 이 수업이 끝나면 여러분이 직접 증명하게 될 거예요.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496119" y="361652"/>
            <a:ext cx="8151763" cy="35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 5단계 방법론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10493" y="1101328"/>
            <a:ext cx="114300" cy="514499"/>
          </a:xfrm>
          <a:prstGeom prst="roundRect">
            <a:avLst>
              <a:gd fmla="val 1500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496119" y="1026244"/>
            <a:ext cx="343049" cy="343049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844" y="1112044"/>
            <a:ext cx="171524" cy="17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/>
          <p:nvPr/>
        </p:nvSpPr>
        <p:spPr>
          <a:xfrm>
            <a:off x="944538" y="1032467"/>
            <a:ext cx="77034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1. 기획하기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944538" y="1332572"/>
            <a:ext cx="77034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뭘 만들지 정한다 — 건축 설계도 그리기처럼, 사람이 먼저 방향을 잡아야 해요.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782017" y="1892796"/>
            <a:ext cx="114300" cy="514499"/>
          </a:xfrm>
          <a:prstGeom prst="roundRect">
            <a:avLst>
              <a:gd fmla="val 1500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667643" y="1817712"/>
            <a:ext cx="343049" cy="343049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368" y="1903512"/>
            <a:ext cx="171524" cy="17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0"/>
          <p:cNvSpPr/>
          <p:nvPr/>
        </p:nvSpPr>
        <p:spPr>
          <a:xfrm>
            <a:off x="1116062" y="1823935"/>
            <a:ext cx="75318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2. 설명하기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1116062" y="2124040"/>
            <a:ext cx="7531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AI에게 원하는 것을 말한다 — 건축가에게 주문하듯, 명확하게 설명할수록 좋아요.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953542" y="2684264"/>
            <a:ext cx="114300" cy="514499"/>
          </a:xfrm>
          <a:prstGeom prst="roundRect">
            <a:avLst>
              <a:gd fmla="val 1500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839167" y="2609180"/>
            <a:ext cx="343049" cy="343049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4892" y="2694980"/>
            <a:ext cx="171524" cy="17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/>
          <p:nvPr/>
        </p:nvSpPr>
        <p:spPr>
          <a:xfrm>
            <a:off x="1287587" y="2615403"/>
            <a:ext cx="7360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3. 확인하기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1287587" y="2915508"/>
            <a:ext cx="7360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결과를 실행해서 본다 — 완성된 집을 둘러보듯, 직접 눈으로 확인하세요.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1125066" y="3475732"/>
            <a:ext cx="114300" cy="514499"/>
          </a:xfrm>
          <a:prstGeom prst="roundRect">
            <a:avLst>
              <a:gd fmla="val 1500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1010692" y="3400648"/>
            <a:ext cx="343049" cy="343049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6417" y="3486448"/>
            <a:ext cx="171524" cy="17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/>
          <p:nvPr/>
        </p:nvSpPr>
        <p:spPr>
          <a:xfrm>
            <a:off x="1459111" y="3406871"/>
            <a:ext cx="71889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4. 수정하기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459111" y="3706976"/>
            <a:ext cx="71889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마음에 안 드는 부분을 고친다 — "이 버튼 색깔 바꿔줘"처럼 AI에게 요청하면 돼요.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953542" y="4267200"/>
            <a:ext cx="114300" cy="514499"/>
          </a:xfrm>
          <a:prstGeom prst="roundRect">
            <a:avLst>
              <a:gd fmla="val 1500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839167" y="4192116"/>
            <a:ext cx="343049" cy="343049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4892" y="4277916"/>
            <a:ext cx="171524" cy="17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/>
          <p:nvPr/>
        </p:nvSpPr>
        <p:spPr>
          <a:xfrm>
            <a:off x="1287587" y="4198339"/>
            <a:ext cx="7360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5. 반복하기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1287587" y="4498444"/>
            <a:ext cx="7360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2~4단계를 반복해서 완성도를 높인다 — 코딩뿐 아니라 영상·디자인·마케팅에도 똑같이 적용!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496119" y="353169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좋은 프롬프트 vs 나쁜 프롬프트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496119" y="1050727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❌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나쁜 프롬프트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88864"/>
            <a:ext cx="3924598" cy="7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1"/>
          <p:cNvSpPr/>
          <p:nvPr/>
        </p:nvSpPr>
        <p:spPr>
          <a:xfrm>
            <a:off x="691530" y="1527125"/>
            <a:ext cx="359092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기능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91530" y="1844948"/>
            <a:ext cx="359092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"타이머 만들어"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305645"/>
            <a:ext cx="3924598" cy="7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/>
          <p:nvPr/>
        </p:nvSpPr>
        <p:spPr>
          <a:xfrm>
            <a:off x="691530" y="2443907"/>
            <a:ext cx="359092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디자인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91530" y="2761729"/>
            <a:ext cx="359092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"이쁘게 해줘"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222427"/>
            <a:ext cx="3924598" cy="7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/>
          <p:nvPr/>
        </p:nvSpPr>
        <p:spPr>
          <a:xfrm>
            <a:off x="691530" y="3360688"/>
            <a:ext cx="359092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수정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691530" y="3678510"/>
            <a:ext cx="359092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"이상해, 다시 해"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638749" y="926753"/>
            <a:ext cx="4103191" cy="3228008"/>
          </a:xfrm>
          <a:prstGeom prst="roundRect">
            <a:avLst>
              <a:gd fmla="val 57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4762723" y="1050727"/>
            <a:ext cx="38552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좋은 프롬프트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723" y="1388864"/>
            <a:ext cx="3855244" cy="7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/>
          <p:nvPr/>
        </p:nvSpPr>
        <p:spPr>
          <a:xfrm>
            <a:off x="4958135" y="1527125"/>
            <a:ext cx="352157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기능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958135" y="1844948"/>
            <a:ext cx="35215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"25분 카운트다운 타이머. 시작, 일시정지, 리셋 버튼"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723" y="2305645"/>
            <a:ext cx="3855244" cy="7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/>
          <p:nvPr/>
        </p:nvSpPr>
        <p:spPr>
          <a:xfrm>
            <a:off x="4958135" y="2443907"/>
            <a:ext cx="352157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디자인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958135" y="2761729"/>
            <a:ext cx="35215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"배경은 연한 파란색, 버튼은 둥근 모서리, 글자 60px"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723" y="3222427"/>
            <a:ext cx="3855244" cy="7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/>
          <p:nvPr/>
        </p:nvSpPr>
        <p:spPr>
          <a:xfrm>
            <a:off x="4958135" y="3360688"/>
            <a:ext cx="352157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수정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958135" y="3678510"/>
            <a:ext cx="35215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"시작 버튼을 눌러도 타이머가 안 움직여. 에러 발생"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96119" y="4294287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092" y="4474071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1"/>
          <p:cNvSpPr/>
          <p:nvPr/>
        </p:nvSpPr>
        <p:spPr>
          <a:xfrm>
            <a:off x="899071" y="4449217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프롬프트 공식: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14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무엇을 + 어떻게 + 제약 조건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이 세 가지를 포함할수록 AI가 원하는 결과를 만들어줄 확률이 높아집니다!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5" name="Google Shape;2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/>
          <p:nvPr/>
        </p:nvSpPr>
        <p:spPr>
          <a:xfrm>
            <a:off x="496119" y="1967433"/>
            <a:ext cx="464344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570533" y="2004640"/>
            <a:ext cx="772716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96119" y="2205558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8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 도구 총정리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496119" y="2779142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이제 실제로 어떤 도구들이 있는지 살펴볼 시간입니다. 각 도구마다 특징이 다르니, 자신에게 맞는 도구를 찾아보세요!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🛠️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496082" y="953028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 도구의 3가지 유형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96119" y="1762348"/>
            <a:ext cx="2634555" cy="1916311"/>
          </a:xfrm>
          <a:prstGeom prst="roundRect">
            <a:avLst>
              <a:gd fmla="val 971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620092" y="1886322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🤖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AI 코딩 에이전트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620092" y="2159347"/>
            <a:ext cx="238660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AI에게 말하면 파일을 직접 생성하고 수정해 줍니다. 처음 시작하는 사람에게 딱!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620092" y="2630686"/>
            <a:ext cx="2386608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Replit Agent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Google AI Studio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3254648" y="1762348"/>
            <a:ext cx="2634630" cy="1916311"/>
          </a:xfrm>
          <a:prstGeom prst="roundRect">
            <a:avLst>
              <a:gd fmla="val 971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3378622" y="1886322"/>
            <a:ext cx="23866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🌐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웹 빌더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3378622" y="2159347"/>
            <a:ext cx="238668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브라우저에서 바로 앱을 완성할 수 있어요. </a:t>
            </a:r>
            <a:b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빠른 프로토타입 제작에 최적!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3378622" y="2630686"/>
            <a:ext cx="2386682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Bolt.new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Lovable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Create.xyz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013252" y="1762348"/>
            <a:ext cx="2634555" cy="1916311"/>
          </a:xfrm>
          <a:prstGeom prst="roundRect">
            <a:avLst>
              <a:gd fmla="val 971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6137225" y="1886322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💻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코딩 어시스턴트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6137225" y="2159347"/>
            <a:ext cx="238660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 에디터 안에서 AI가 옆에서 도와줍니다. 이미 코딩 경험이 있는 사람에게 좋아요.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6137225" y="2630686"/>
            <a:ext cx="2386608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Cursor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GitHub Copilot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Windsurf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496119" y="3818186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세 가지 유형 중 초보자에게는 </a:t>
            </a:r>
            <a:r>
              <a:rPr b="1" i="0" lang="ko-KR" sz="14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웹 빌더</a:t>
            </a:r>
            <a:r>
              <a:rPr b="0" i="0" lang="ko-KR" sz="14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와 </a:t>
            </a:r>
            <a:r>
              <a:rPr b="1" i="0" lang="ko-KR" sz="14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AI 에이전트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 가장 추천됩니다. 설치도 필요 없고, 바로 브라우저에서 시작할 수 있으니까요!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4" name="Google Shape;2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/>
          <p:nvPr/>
        </p:nvSpPr>
        <p:spPr>
          <a:xfrm>
            <a:off x="3925119" y="1276722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주요 도구 ① Claude Code &amp; V0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3925119" y="1989832"/>
            <a:ext cx="1418927" cy="188565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3999533" y="2027039"/>
            <a:ext cx="1727299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CLAUDE CODE · ANTHROPIC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3925119" y="2227957"/>
            <a:ext cx="22100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터미널에서 대화하듯 개발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3925119" y="2615600"/>
            <a:ext cx="22101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 방식: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터미널에서 설명 → AI가 파일 생성/수정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강점: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복잡한 프로젝트도 전체 구조를 이해하고 만들어줌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적합한 작업: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Flask 웹앱, Python, 데이터 분석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6442546" y="1989832"/>
            <a:ext cx="697929" cy="188565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6516960" y="2027039"/>
            <a:ext cx="1006301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V0 · VERCEL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6442546" y="2227957"/>
            <a:ext cx="22100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말 한 마디로 예쁜 UI 완성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6442546" y="2615600"/>
            <a:ext cx="22101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 방식: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v0.dev에서 원하는 UI를 말로 설명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강점: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디자인이 뛰어난 웹 화면을 즉시 생성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적합한 작업: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랜딩 페이지, 대시보드, 관리자 화면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9" name="Google Shape;2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5"/>
          <p:cNvSpPr/>
          <p:nvPr/>
        </p:nvSpPr>
        <p:spPr>
          <a:xfrm>
            <a:off x="496119" y="1276722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주요 도구 ② Bolt.new &amp; Lovable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496119" y="1989832"/>
            <a:ext cx="1248742" cy="188565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570533" y="2027039"/>
            <a:ext cx="1557114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BOLT.NEW · STACKBLITZ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496119" y="2227957"/>
            <a:ext cx="2210098" cy="387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설치 없이 브라우저에서 </a:t>
            </a:r>
            <a:b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풀스택 완성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496119" y="2797812"/>
            <a:ext cx="22101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 방식: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bolt.new에서 프롬프트 입력 → 브라우저에서 바로 실행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강점: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설치 없이 풀스택 웹앱 완성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특징: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코드 에디터 + 미리보기 + AI가 한 화면에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3013546" y="1989832"/>
            <a:ext cx="1431503" cy="188565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3087960" y="2027039"/>
            <a:ext cx="1739875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LOVABLE · 구 GPT ENGINEER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3013546" y="2227957"/>
            <a:ext cx="22100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데이터베이스 연동까지 자동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3013546" y="2603963"/>
            <a:ext cx="22101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 방식: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lovable.dev에서 앱을 말로 설명 → 전체 앱 자동 생성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강점: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로그인, 결제, DB 연동까지 한 번에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특징: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GitHub 연동, 실제 서비스로 배포 가능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주요 도구 ③ Cursor &amp; Replit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23" y="616299"/>
            <a:ext cx="2809598" cy="280959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6"/>
          <p:cNvSpPr/>
          <p:nvPr/>
        </p:nvSpPr>
        <p:spPr>
          <a:xfrm>
            <a:off x="496125" y="3545275"/>
            <a:ext cx="1655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50"/>
              <a:buFont typeface="Roboto"/>
              <a:buNone/>
            </a:pPr>
            <a:r>
              <a:rPr b="0" i="0" lang="ko-KR" sz="10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CURSOR · ANYSPHERE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507759" y="3726603"/>
            <a:ext cx="1914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600"/>
              <a:buFont typeface="Roboto Slab"/>
              <a:buNone/>
            </a:pPr>
            <a:r>
              <a:rPr b="0" i="0" lang="ko-KR" sz="1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프로 개발자의 선택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496125" y="4129463"/>
            <a:ext cx="40002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589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 방식: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VS Code 비슷한 에디터에 AI 내장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89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강점: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기존 프로젝트의 코드를 이해하고 수정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89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적합 대상: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프로 개발자들이 가장 많이 사용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4594266" y="558249"/>
            <a:ext cx="4000200" cy="4415400"/>
          </a:xfrm>
          <a:prstGeom prst="roundRect">
            <a:avLst>
              <a:gd fmla="val 22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descr="preencoded.png" id="270" name="Google Shape;27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9702" y="616299"/>
            <a:ext cx="2739774" cy="27397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6"/>
          <p:cNvSpPr/>
          <p:nvPr/>
        </p:nvSpPr>
        <p:spPr>
          <a:xfrm>
            <a:off x="4669701" y="3739082"/>
            <a:ext cx="788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Roboto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🎓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학생 추천!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4669706" y="3990235"/>
            <a:ext cx="39657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 Slab"/>
              <a:buNone/>
            </a:pPr>
            <a:r>
              <a:rPr b="0" i="0" lang="ko-KR" sz="1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Replit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4669700" y="4315891"/>
            <a:ext cx="39657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589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사용 방식: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브라우저에서 설명 → 생성 + 실행 + 배포까지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89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강점: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설치할 것이 없음. 브라우저만 있으면 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89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적합 대상: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학생에게 최적. 무료 사용 가능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주요 도구 ④ Google AI Studio &amp; </a:t>
            </a:r>
            <a:r>
              <a:rPr b="1" i="0" lang="ko-KR" sz="1200" u="sng" cap="none" strike="noStrike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Create.xyz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0" name="Google Shape;2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23" y="686124"/>
            <a:ext cx="2851115" cy="285111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7"/>
          <p:cNvSpPr/>
          <p:nvPr/>
        </p:nvSpPr>
        <p:spPr>
          <a:xfrm>
            <a:off x="496125" y="3956447"/>
            <a:ext cx="3006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50"/>
              <a:buFont typeface="Roboto"/>
              <a:buNone/>
            </a:pPr>
            <a:r>
              <a:rPr b="0" i="0" lang="ko-KR" sz="11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GOOGLE AI STUDIO · GEMINI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496119" y="4139039"/>
            <a:ext cx="4000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600"/>
              <a:buFont typeface="Roboto Slab"/>
              <a:buNone/>
            </a:pP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Google 생태계와 무료 사용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496119" y="4425388"/>
            <a:ext cx="40002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 방식: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Google AI Studio에서 Gemini에게 코드 생성 요청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강점: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Google 생태계 연동. 매우 긴 코드도 한 번에 생성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특징: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무료 사용 가능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6956" y="616299"/>
            <a:ext cx="2851115" cy="285111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7"/>
          <p:cNvSpPr/>
          <p:nvPr/>
        </p:nvSpPr>
        <p:spPr>
          <a:xfrm>
            <a:off x="5283503" y="3803277"/>
            <a:ext cx="23643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120"/>
              <a:buFont typeface="Roboto"/>
              <a:buNone/>
            </a:pPr>
            <a:r>
              <a:rPr b="0" i="0" lang="ko-KR" sz="1381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CREATE.XYZ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5226950" y="4058421"/>
            <a:ext cx="40002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6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"AI 앱 안에 AI를 넣는" 독특한 방식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5226905" y="4425404"/>
            <a:ext cx="40002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 방식: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웹사이트에서 원하는 앱을 말로 설명 → 즉시 생성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강점: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이미지 생성, 텍스트 분석 등 AI 기능을 앱에 쉽게 추가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특징: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매우 쉬운 난이도, 무료 사용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"/>
          <p:cNvSpPr/>
          <p:nvPr/>
        </p:nvSpPr>
        <p:spPr>
          <a:xfrm>
            <a:off x="496119" y="382712"/>
            <a:ext cx="8151763" cy="381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도구 비교 한눈에 보기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496119" y="1004590"/>
            <a:ext cx="8151763" cy="3137818"/>
          </a:xfrm>
          <a:prstGeom prst="roundRect">
            <a:avLst>
              <a:gd fmla="val 58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5" name="Google Shape;295;p18"/>
          <p:cNvSpPr/>
          <p:nvPr/>
        </p:nvSpPr>
        <p:spPr>
          <a:xfrm>
            <a:off x="500881" y="1009352"/>
            <a:ext cx="8143801" cy="347588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8"/>
          <p:cNvSpPr/>
          <p:nvPr/>
        </p:nvSpPr>
        <p:spPr>
          <a:xfrm>
            <a:off x="501253" y="1009352"/>
            <a:ext cx="1357238" cy="347588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"/>
          <p:cNvSpPr/>
          <p:nvPr/>
        </p:nvSpPr>
        <p:spPr>
          <a:xfrm>
            <a:off x="623292" y="1086222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도구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1858491" y="1009352"/>
            <a:ext cx="1357238" cy="347588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1982912" y="1086222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유형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3215729" y="1009352"/>
            <a:ext cx="1357238" cy="347588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"/>
          <p:cNvSpPr/>
          <p:nvPr/>
        </p:nvSpPr>
        <p:spPr>
          <a:xfrm>
            <a:off x="3340150" y="1086222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설치?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4572967" y="1009352"/>
            <a:ext cx="1357238" cy="347588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"/>
          <p:cNvSpPr/>
          <p:nvPr/>
        </p:nvSpPr>
        <p:spPr>
          <a:xfrm>
            <a:off x="4697388" y="1086222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난이도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5930205" y="1009352"/>
            <a:ext cx="1357238" cy="347588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6054626" y="1086222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가장 잘하는 것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7287444" y="1009352"/>
            <a:ext cx="1357238" cy="347588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"/>
          <p:cNvSpPr/>
          <p:nvPr/>
        </p:nvSpPr>
        <p:spPr>
          <a:xfrm>
            <a:off x="7411864" y="1086222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무료?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500881" y="1356940"/>
            <a:ext cx="8143801" cy="347588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9" name="Google Shape;309;p18"/>
          <p:cNvSpPr/>
          <p:nvPr/>
        </p:nvSpPr>
        <p:spPr>
          <a:xfrm>
            <a:off x="623292" y="1433810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Claude Code</a:t>
            </a:r>
            <a:endParaRPr b="0" i="0" sz="13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1982912" y="1433810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에이전트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3340150" y="1433810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터미널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4697388" y="1433810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쉬움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054626" y="1433810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전체 프로젝트 생성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7411864" y="1433810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유료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500881" y="1704529"/>
            <a:ext cx="8143801" cy="347588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6" name="Google Shape;316;p18"/>
          <p:cNvSpPr/>
          <p:nvPr/>
        </p:nvSpPr>
        <p:spPr>
          <a:xfrm>
            <a:off x="623292" y="1781398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V0</a:t>
            </a:r>
            <a:endParaRPr b="0" i="0" sz="13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1982912" y="1781398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 빌더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3340150" y="1781398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없음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4697388" y="1781398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매우 쉬움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6054626" y="1781398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예쁜 웹 UI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7411864" y="1781398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체험 무료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500881" y="2052117"/>
            <a:ext cx="8143801" cy="347588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" name="Google Shape;323;p18"/>
          <p:cNvSpPr/>
          <p:nvPr/>
        </p:nvSpPr>
        <p:spPr>
          <a:xfrm>
            <a:off x="623292" y="2128986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Bolt.new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1982912" y="2128986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 빌더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3340150" y="2128986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없음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4697388" y="2128986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쉬움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6054626" y="2128986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즉시 실행 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7411864" y="2128986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체험 무료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500881" y="2399705"/>
            <a:ext cx="8143801" cy="347588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p18"/>
          <p:cNvSpPr/>
          <p:nvPr/>
        </p:nvSpPr>
        <p:spPr>
          <a:xfrm>
            <a:off x="623292" y="2476574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Lovable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1982912" y="2476574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 빌더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3340150" y="2476574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없음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4697388" y="2476574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쉬움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6054626" y="2476574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DB 연동 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7411864" y="2476574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체험 무료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500881" y="2747293"/>
            <a:ext cx="8143801" cy="347588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7" name="Google Shape;337;p18"/>
          <p:cNvSpPr/>
          <p:nvPr/>
        </p:nvSpPr>
        <p:spPr>
          <a:xfrm>
            <a:off x="623292" y="2824163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Cursor</a:t>
            </a:r>
            <a:endParaRPr b="0" i="0" sz="13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1982912" y="2824163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어시스턴트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3340150" y="2824163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설치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4697388" y="2824163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보통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054626" y="2824163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기존 코드 수정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7411864" y="2824163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체험 무료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500881" y="3094881"/>
            <a:ext cx="8143801" cy="347588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" name="Google Shape;344;p18"/>
          <p:cNvSpPr/>
          <p:nvPr/>
        </p:nvSpPr>
        <p:spPr>
          <a:xfrm>
            <a:off x="623292" y="3171751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Replit </a:t>
            </a:r>
            <a:r>
              <a:rPr b="0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1982912" y="3171751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에이전트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3340150" y="3171751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없음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697388" y="3171751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매우 쉬움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6054626" y="3171751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학습용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7411864" y="3171751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500881" y="3442469"/>
            <a:ext cx="8143801" cy="347588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1" name="Google Shape;351;p18"/>
          <p:cNvSpPr/>
          <p:nvPr/>
        </p:nvSpPr>
        <p:spPr>
          <a:xfrm>
            <a:off x="623292" y="3519339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Google AI </a:t>
            </a:r>
            <a:r>
              <a:rPr b="0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1982912" y="3519339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에이전트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3340150" y="3519339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없음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4697388" y="3519339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쉬움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6054626" y="3519339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Google 연동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7411864" y="3519339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500881" y="3790057"/>
            <a:ext cx="8143801" cy="347588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8" name="Google Shape;358;p18"/>
          <p:cNvSpPr/>
          <p:nvPr/>
        </p:nvSpPr>
        <p:spPr>
          <a:xfrm>
            <a:off x="623292" y="3866927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Create.xyz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1982912" y="3866927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 빌더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3340150" y="3866927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없음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4697388" y="3866927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매우 쉬움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6054626" y="3866927"/>
            <a:ext cx="15655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7411864" y="3866927"/>
            <a:ext cx="156797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496119" y="4277618"/>
            <a:ext cx="8151763" cy="483171"/>
          </a:xfrm>
          <a:prstGeom prst="roundRect">
            <a:avLst>
              <a:gd fmla="val 379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58" y="4451970"/>
            <a:ext cx="152623" cy="12203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8"/>
          <p:cNvSpPr/>
          <p:nvPr/>
        </p:nvSpPr>
        <p:spPr>
          <a:xfrm>
            <a:off x="892820" y="4428306"/>
            <a:ext cx="809022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⭐ 학생에게 특히 추천! Replit과 Google AI Studio는 무료로 사용할 수 있어서 지금 바로 시작하기에 딱 좋아요.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"/>
          <p:cNvSpPr/>
          <p:nvPr/>
        </p:nvSpPr>
        <p:spPr>
          <a:xfrm>
            <a:off x="496119" y="790277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코딩 이외의 AI 창작 도구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496119" y="1425848"/>
            <a:ext cx="1112044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570533" y="1463055"/>
            <a:ext cx="1420416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4 · AI 오케스트라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5" name="Google Shape;3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53939"/>
            <a:ext cx="1150069" cy="71072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9"/>
          <p:cNvSpPr/>
          <p:nvPr/>
        </p:nvSpPr>
        <p:spPr>
          <a:xfrm>
            <a:off x="496119" y="2619673"/>
            <a:ext cx="261386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🎨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이미지/디자인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496119" y="2892698"/>
            <a:ext cx="2613868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Midjourney: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텍스트 → 고품질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DALL-E 3: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ChatGPT 내장,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                   텍스트 →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Canva AI: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템플릿 기반 AI 디자인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Adobe Firefly: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포토샵 안에서 AI 편집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8" name="Google Shape;3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1753939"/>
            <a:ext cx="1150069" cy="71072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9"/>
          <p:cNvSpPr/>
          <p:nvPr/>
        </p:nvSpPr>
        <p:spPr>
          <a:xfrm>
            <a:off x="3264991" y="2619673"/>
            <a:ext cx="261394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🎬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영상/동영상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3264991" y="2892698"/>
            <a:ext cx="2613943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Runway Gen-3: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텍스트/이미지 → 영상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Sora: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텍스트 → 고품질 영상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CapCut AI: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AI 자동 편집, 자막, 효과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HeyGen: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AI 아바타가 말하는 영상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1753939"/>
            <a:ext cx="1150069" cy="71072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9"/>
          <p:cNvSpPr/>
          <p:nvPr/>
        </p:nvSpPr>
        <p:spPr>
          <a:xfrm>
            <a:off x="6033939" y="2619673"/>
            <a:ext cx="261394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🎵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음악/글쓰기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6033939" y="2892698"/>
            <a:ext cx="2613943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Suno: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텍스트 → 보컬 포함 완성 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ElevenLabs: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텍스트 → 자연스러운 AI 음성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Gamma: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텍스트 → PPT 자동 생성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496119" y="4328599"/>
            <a:ext cx="8151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코딩만이 AI 창작의 전부가 아닙니다. 영상, 음악, 디자인, 발표자료까지 — 여러 AI 도구를 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오케스트라처럼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함께 활용하면, </a:t>
            </a:r>
            <a:b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혼자서도 전문가 수준의 결과물을 만들 수 있어요!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0" name="Google Shape;3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0"/>
          <p:cNvSpPr/>
          <p:nvPr/>
        </p:nvSpPr>
        <p:spPr>
          <a:xfrm>
            <a:off x="496119" y="348332"/>
            <a:ext cx="4722763" cy="333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050"/>
              <a:buFont typeface="Roboto Slab"/>
              <a:buNone/>
            </a:pPr>
            <a:r>
              <a:rPr b="0" i="0" lang="ko-KR" sz="2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오늘의 핵심 메시지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496119" y="818778"/>
            <a:ext cx="4722763" cy="919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850"/>
              <a:buFont typeface="Roboto Slab"/>
              <a:buNone/>
            </a:pPr>
            <a:r>
              <a:rPr b="0" i="0" lang="ko-KR" sz="28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"아이디어가 있다면, 지금 바로 만들 수 있어요!"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496119" y="1875458"/>
            <a:ext cx="4722763" cy="1169640"/>
          </a:xfrm>
          <a:prstGeom prst="roundRect">
            <a:avLst>
              <a:gd fmla="val 136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602679" y="1982019"/>
            <a:ext cx="4509641" cy="17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오늘 배운 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602679" y="2208237"/>
            <a:ext cx="4509641" cy="7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161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코딩의 개념과 5단계 방법론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161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8가지 AI 코딩 도구 비교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161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이미지, 영상, 음악 AI 창작 도구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161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좋은 프롬프트 작성법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496119" y="3136702"/>
            <a:ext cx="4722763" cy="1169640"/>
          </a:xfrm>
          <a:prstGeom prst="roundRect">
            <a:avLst>
              <a:gd fmla="val 136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602679" y="3243263"/>
            <a:ext cx="4509641" cy="17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🚀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다음 단계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602679" y="3469481"/>
            <a:ext cx="4509641" cy="7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161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 + HTML로 공부 타이머 직접 만들기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161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Replit 또는 Google AI Studio 접속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161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나만의 아이디어 하나 떠올리기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1610" lvl="0" marL="16256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프롬프트 공식 연습해보기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496125" y="4409323"/>
            <a:ext cx="4722900" cy="529500"/>
          </a:xfrm>
          <a:prstGeom prst="roundRect">
            <a:avLst>
              <a:gd fmla="val 414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679" y="4558829"/>
            <a:ext cx="133201" cy="10656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0"/>
          <p:cNvSpPr/>
          <p:nvPr/>
        </p:nvSpPr>
        <p:spPr>
          <a:xfrm>
            <a:off x="842442" y="4527575"/>
            <a:ext cx="4727079" cy="15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 민수처럼 "나 혼자서도 뭔가 만들 수 있을까?" 라고 생각했다면 </a:t>
            </a:r>
            <a:b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— </a:t>
            </a:r>
            <a:r>
              <a:rPr b="1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이제 답은 YES입니다!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7" name="Google Shape;4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1"/>
          <p:cNvSpPr/>
          <p:nvPr/>
        </p:nvSpPr>
        <p:spPr>
          <a:xfrm>
            <a:off x="3925119" y="1688381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3999533" y="1725588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3925119" y="1926506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진짜 이걸로 뭘 만들었어?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3925119" y="2363614"/>
            <a:ext cx="4722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50"/>
              <a:buFont typeface="Roboto Slab"/>
              <a:buNone/>
            </a:pPr>
            <a:r>
              <a:rPr b="0" i="0" lang="ko-KR" sz="1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실제 사례 12선 — 앱 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3925119" y="2859732"/>
            <a:ext cx="4722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코딩 도구로 실제로 무언가를 만든 사람들의 이야기입니다. 개발자도, 전문가도 아닌 평범한 사람들이 </a:t>
            </a:r>
            <a:r>
              <a:rPr b="1" i="0" lang="ko-KR" sz="11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AI를 도구 삼아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앱을 만들고, 수익을 내고, 문제를 해결했습니다. 이제 그 12가지 사례를 직접 확인해보세요.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/>
          <p:nvPr/>
        </p:nvSpPr>
        <p:spPr>
          <a:xfrm>
            <a:off x="496119" y="406078"/>
            <a:ext cx="81519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550"/>
              <a:buFont typeface="Roboto Slab"/>
              <a:buNone/>
            </a:pPr>
            <a:r>
              <a:rPr b="1" i="0" lang="ko-KR" sz="1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실제 앱 사례 6선</a:t>
            </a:r>
            <a:endParaRPr b="1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9" name="Google Shape;4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56196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2"/>
          <p:cNvSpPr/>
          <p:nvPr/>
        </p:nvSpPr>
        <p:spPr>
          <a:xfrm>
            <a:off x="604986" y="967457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874369" y="845125"/>
            <a:ext cx="3049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12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PhotoAI.com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874375" y="1081208"/>
            <a:ext cx="6575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네덜란드 1인 개발자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AI 코딩 + Stable Diffusion</a:t>
            </a:r>
            <a:r>
              <a:rPr b="1" lang="ko-KR" sz="1200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    월</a:t>
            </a:r>
            <a:r>
              <a:rPr b="1" i="0" lang="ko-KR" sz="12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 매출 1억 원, 직원 0명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3" name="Google Shape;4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78595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2"/>
          <p:cNvSpPr/>
          <p:nvPr/>
        </p:nvSpPr>
        <p:spPr>
          <a:xfrm>
            <a:off x="604986" y="1589856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874369" y="1467525"/>
            <a:ext cx="3049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12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교육용 퀴즈 앱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874375" y="1657061"/>
            <a:ext cx="61914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미국 초등학교 교사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Bolt.new</a:t>
            </a:r>
            <a:r>
              <a:rPr lang="ko-K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ko-KR" sz="12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30분 만에 완성, 학생 120명 사용</a:t>
            </a:r>
            <a:endParaRPr b="1" i="0" sz="1200" u="none" cap="none" strike="noStrike">
              <a:solidFill>
                <a:srgbClr val="325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7" name="Google Shape;4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00994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2"/>
          <p:cNvSpPr/>
          <p:nvPr/>
        </p:nvSpPr>
        <p:spPr>
          <a:xfrm>
            <a:off x="604986" y="2212256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874369" y="2078288"/>
            <a:ext cx="3049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12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중고 교과서 플랫폼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874375" y="2279461"/>
            <a:ext cx="47835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한국 대학생 3명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V0 (Vercel)</a:t>
            </a:r>
            <a:r>
              <a:rPr lang="ko-K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ko-KR" sz="1200" u="none" cap="none" strike="noStrike">
                <a:solidFill>
                  <a:srgbClr val="476FD6"/>
                </a:solidFill>
                <a:latin typeface="Roboto"/>
                <a:ea typeface="Roboto"/>
                <a:cs typeface="Roboto"/>
                <a:sym typeface="Roboto"/>
              </a:rPr>
              <a:t>2시간 만에 랜딩페이지, 회원 200명</a:t>
            </a:r>
            <a:endParaRPr b="1" i="0" sz="1200" u="none" cap="none" strike="noStrike">
              <a:solidFill>
                <a:srgbClr val="476F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623393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2"/>
          <p:cNvSpPr/>
          <p:nvPr/>
        </p:nvSpPr>
        <p:spPr>
          <a:xfrm>
            <a:off x="604986" y="2834655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874369" y="2712324"/>
            <a:ext cx="3049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12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네일샵 예약 시스템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874375" y="2925134"/>
            <a:ext cx="68082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40대 네일샵 사장님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Lovable + Supabase</a:t>
            </a:r>
            <a:r>
              <a:rPr lang="ko-K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ko-KR" sz="12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전화예약 70% 감소, 노쇼 30% 감소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245793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2"/>
          <p:cNvSpPr/>
          <p:nvPr/>
        </p:nvSpPr>
        <p:spPr>
          <a:xfrm>
            <a:off x="604986" y="3457054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874369" y="3334724"/>
            <a:ext cx="3049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12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교실 좌석 배치 앱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874375" y="3544028"/>
            <a:ext cx="54585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중학생 3명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Replit Agent</a:t>
            </a:r>
            <a:r>
              <a:rPr lang="ko-K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선생님 6명이 매주 사용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868192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2"/>
          <p:cNvSpPr/>
          <p:nvPr/>
        </p:nvSpPr>
        <p:spPr>
          <a:xfrm>
            <a:off x="604986" y="4079453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874369" y="3957125"/>
            <a:ext cx="3049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12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YouTube 요약 확장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874375" y="4169575"/>
            <a:ext cx="60402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경영학과 대학생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Cursor + Claude API</a:t>
            </a:r>
            <a:r>
              <a:rPr lang="ko-K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ko-KR" sz="1200" u="none" cap="none" strike="noStrike">
                <a:solidFill>
                  <a:srgbClr val="476FD6"/>
                </a:solidFill>
                <a:latin typeface="Roboto"/>
                <a:ea typeface="Roboto"/>
                <a:cs typeface="Roboto"/>
                <a:sym typeface="Roboto"/>
              </a:rPr>
              <a:t>주간 사용자 3,000명</a:t>
            </a:r>
            <a:endParaRPr b="1" i="0" sz="1200" u="none" cap="none" strike="noStrike">
              <a:solidFill>
                <a:srgbClr val="476F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496119" y="4496916"/>
            <a:ext cx="8151900" cy="240600"/>
          </a:xfrm>
          <a:prstGeom prst="roundRect">
            <a:avLst>
              <a:gd fmla="val 495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4" name="Google Shape;4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518" y="4598045"/>
            <a:ext cx="99268" cy="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2"/>
          <p:cNvSpPr/>
          <p:nvPr/>
        </p:nvSpPr>
        <p:spPr>
          <a:xfrm>
            <a:off x="754187" y="4567610"/>
            <a:ext cx="8271600" cy="1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사례들의 공통점: 코딩 전문가가 아닌 </a:t>
            </a:r>
            <a:r>
              <a:rPr b="1" i="0" lang="ko-KR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일반인</a:t>
            </a:r>
            <a:r>
              <a:rPr b="0" i="0" lang="ko-KR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만들었다는 것!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3"/>
          <p:cNvSpPr/>
          <p:nvPr/>
        </p:nvSpPr>
        <p:spPr>
          <a:xfrm>
            <a:off x="496119" y="367010"/>
            <a:ext cx="451200" cy="126600"/>
          </a:xfrm>
          <a:prstGeom prst="roundRect">
            <a:avLst>
              <a:gd fmla="val 7897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3"/>
          <p:cNvSpPr/>
          <p:nvPr/>
        </p:nvSpPr>
        <p:spPr>
          <a:xfrm>
            <a:off x="546125" y="392013"/>
            <a:ext cx="808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3 계속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496119" y="516062"/>
            <a:ext cx="8151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00"/>
              <a:buFont typeface="Roboto Slab"/>
              <a:buNone/>
            </a:pPr>
            <a:r>
              <a:rPr b="1" i="0" lang="ko-KR" sz="18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실제 사례 12선 — 콘텐츠 &amp; 비즈니스 편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860450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3"/>
          <p:cNvSpPr/>
          <p:nvPr/>
        </p:nvSpPr>
        <p:spPr>
          <a:xfrm>
            <a:off x="609823" y="1085329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894978" y="953319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200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lo-fi 음악 유튜브 (사례 7)</a:t>
            </a:r>
            <a:endParaRPr b="0" i="0" sz="1200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894978" y="1198562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한국 고등학생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Suno + Midjourney + CapCut</a:t>
            </a:r>
            <a:r>
              <a:rPr 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구독자 8,000명, </a:t>
            </a:r>
            <a:r>
              <a:rPr b="0" i="0" lang="ko-KR" sz="10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월 수익 30만원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8" name="Google Shape;4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22437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3"/>
          <p:cNvSpPr/>
          <p:nvPr/>
        </p:nvSpPr>
        <p:spPr>
          <a:xfrm>
            <a:off x="609823" y="1747317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894978" y="1615306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200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화장품 광고 영상 (사례 8)</a:t>
            </a:r>
            <a:endParaRPr b="0" i="0" sz="1200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894978" y="1860549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소규모 브랜드 3명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Runway + Suno + CapCut + Claude</a:t>
            </a:r>
            <a:r>
              <a:rPr 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ko-KR" sz="10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영상 비용 90% 절감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(300만→3만원)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2" name="Google Shape;4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84425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3"/>
          <p:cNvSpPr/>
          <p:nvPr/>
        </p:nvSpPr>
        <p:spPr>
          <a:xfrm>
            <a:off x="609823" y="2409304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894978" y="2277294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200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AI 마케팅 전자책 (사례 9)</a:t>
            </a:r>
            <a:endParaRPr b="0" i="0" sz="1200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894978" y="2522537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프리랜서 마케터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Claude + Midjourney + Gamma</a:t>
            </a:r>
            <a:r>
              <a:rPr 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전자책 500부 판매, 약 500만원 수익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6" name="Google Shape;4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846412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3"/>
          <p:cNvSpPr/>
          <p:nvPr/>
        </p:nvSpPr>
        <p:spPr>
          <a:xfrm>
            <a:off x="609823" y="3071292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894978" y="2939281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200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AI 교육 영상 시리즈 (사례 10)</a:t>
            </a:r>
            <a:endParaRPr b="0" i="0" sz="1200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894978" y="3184524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학원 강사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Claude + HeyGen + Canva</a:t>
            </a:r>
            <a:r>
              <a:rPr 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유튜브 2,000명, 과외 문의 주 5건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0" name="Google Shape;4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508400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3"/>
          <p:cNvSpPr/>
          <p:nvPr/>
        </p:nvSpPr>
        <p:spPr>
          <a:xfrm>
            <a:off x="609823" y="3733279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894978" y="3601269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200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AI 캐릭터 굿즈 (사례 11)</a:t>
            </a:r>
            <a:endParaRPr b="0" i="0" sz="1200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894978" y="3846512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고등학생 미술동아리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Midjourney + Canva + 스마트스토어</a:t>
            </a:r>
            <a:r>
              <a:rPr 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ko-KR" sz="10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월 매출 80만원, 축제 완판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4" name="Google Shape;4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4170387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3"/>
          <p:cNvSpPr/>
          <p:nvPr/>
        </p:nvSpPr>
        <p:spPr>
          <a:xfrm>
            <a:off x="609823" y="4395267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894978" y="4263256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200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AI 그림일기 앱 (사례 12)</a:t>
            </a:r>
            <a:endParaRPr b="0" i="0" sz="1200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894978" y="4508499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초등학교 교사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ko-KR" sz="105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Create.xyz</a:t>
            </a:r>
            <a:r>
              <a:rPr 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학부모 만족도 </a:t>
            </a: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4.8/5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4"/>
          <p:cNvSpPr/>
          <p:nvPr/>
        </p:nvSpPr>
        <p:spPr>
          <a:xfrm>
            <a:off x="496119" y="369094"/>
            <a:ext cx="81519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50"/>
              <a:buFont typeface="Roboto Slab"/>
              <a:buNone/>
            </a:pPr>
            <a:r>
              <a:rPr b="0" i="0" lang="ko-KR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12개 사례의 공통 패턴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496119" y="977354"/>
            <a:ext cx="86091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성공한 사례들을 분석하면 놀랍도록 일관된 패턴이 보입니다. 기술 수준이 아니라, </a:t>
            </a:r>
            <a:r>
              <a:rPr b="1" i="0" lang="ko-KR" sz="9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사고방식과 접근법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이들을 특별하게 만들었습니다.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496119" y="1297484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"/>
          <p:cNvSpPr/>
          <p:nvPr/>
        </p:nvSpPr>
        <p:spPr>
          <a:xfrm>
            <a:off x="616223" y="1417588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자기 문제 해결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616223" y="1679897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자기가 겪는 불편함에서 시작. 네일샵, 교실 좌석, 공부 음악 모두 직접 불편을 느낀 사람이 만들었다.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4630192" y="1297484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4"/>
          <p:cNvSpPr/>
          <p:nvPr/>
        </p:nvSpPr>
        <p:spPr>
          <a:xfrm>
            <a:off x="4750296" y="1417588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🚀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빠른 출시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4750296" y="1679897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완벽하지 않아도 먼저 내놓음. PhotoAI, 퀴즈 앱, Chrome 확장 모두 완성도보다 속도를 택했다.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496119" y="2294855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4"/>
          <p:cNvSpPr/>
          <p:nvPr/>
        </p:nvSpPr>
        <p:spPr>
          <a:xfrm>
            <a:off x="616223" y="2414960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🔄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피드백 반영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616223" y="2677269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 반응을 보고 계속 개선. 교실 좌석 앱과 교육 영상은 반복 업데이트로 성장했다.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4630192" y="2294855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4"/>
          <p:cNvSpPr/>
          <p:nvPr/>
        </p:nvSpPr>
        <p:spPr>
          <a:xfrm>
            <a:off x="4750296" y="2414960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🛠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도구 조합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4"/>
          <p:cNvSpPr/>
          <p:nvPr/>
        </p:nvSpPr>
        <p:spPr>
          <a:xfrm>
            <a:off x="4750296" y="2677269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여러 AI를 창의적으로 조합. 화장품 광고는 Runway+Suno+Claude+CapCut 4가지를 함께 사용.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496119" y="3292227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4"/>
          <p:cNvSpPr/>
          <p:nvPr/>
        </p:nvSpPr>
        <p:spPr>
          <a:xfrm>
            <a:off x="616223" y="3412331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틈새 시장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616223" y="3674641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특정 대상에 집중. 수학 교육, 네일샵, 1인 사업가처럼 타겟을 좁힐수록 강력해진다.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4630192" y="3292227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4"/>
          <p:cNvSpPr/>
          <p:nvPr/>
        </p:nvSpPr>
        <p:spPr>
          <a:xfrm>
            <a:off x="4750296" y="3412331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💰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낮은 비용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4750296" y="3674641"/>
            <a:ext cx="37776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구독료만으로 시작. 전 사례 모두 초기 투자가 월 5만원 이하였다.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496119" y="4304109"/>
            <a:ext cx="8151900" cy="470400"/>
          </a:xfrm>
          <a:prstGeom prst="roundRect">
            <a:avLst>
              <a:gd fmla="val 383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4" name="Google Shape;5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223" y="4472880"/>
            <a:ext cx="150168" cy="12010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4"/>
          <p:cNvSpPr/>
          <p:nvPr/>
        </p:nvSpPr>
        <p:spPr>
          <a:xfrm>
            <a:off x="886495" y="4450482"/>
            <a:ext cx="80985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핵심: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이 사람들의 공통점은 "코딩을 잘한다"가 아니라, </a:t>
            </a:r>
            <a:r>
              <a:rPr b="1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어떤 문제를 풀지 명확히 알고 있었다"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는 것!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1" name="Google Shape;5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5"/>
          <p:cNvSpPr/>
          <p:nvPr/>
        </p:nvSpPr>
        <p:spPr>
          <a:xfrm>
            <a:off x="496119" y="662732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570533" y="699939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496119" y="900857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오케스트라란?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406822" y="1474440"/>
            <a:ext cx="2640000" cy="3006300"/>
          </a:xfrm>
          <a:prstGeom prst="roundRect">
            <a:avLst>
              <a:gd fmla="val 705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5"/>
          <p:cNvSpPr/>
          <p:nvPr/>
        </p:nvSpPr>
        <p:spPr>
          <a:xfrm>
            <a:off x="530796" y="1598414"/>
            <a:ext cx="2391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🎼</a:t>
            </a:r>
            <a:r>
              <a:rPr b="0" i="0" lang="ko-KR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오케스트라 지휘자는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530796" y="1920999"/>
            <a:ext cx="23919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악기를 직접 연주하지 않는다. 대신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어떤 악기가 언제, 어떻게 연주할지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결정한다. 전체 흐름을 설계하고, 조화를 만들어내는 것이 지휘자의 역할.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530796" y="2885331"/>
            <a:ext cx="2391900" cy="14400"/>
          </a:xfrm>
          <a:prstGeom prst="roundRect">
            <a:avLst>
              <a:gd fmla="val 59998" name="adj"/>
            </a:avLst>
          </a:prstGeom>
          <a:solidFill>
            <a:srgbClr val="FFFFFF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530796" y="3070101"/>
            <a:ext cx="239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🤖</a:t>
            </a:r>
            <a:r>
              <a:rPr b="0" i="0" lang="ko-KR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AI 오케스트라 지휘자도 마찬가지!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530796" y="3586535"/>
            <a:ext cx="2391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코드를 직접 쓰지 않고,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어떤 AI가 언제, 무엇을 만들지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결정한다. 당신이 지휘자가 되면, AI들이 연주한다.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3264768" y="1598414"/>
            <a:ext cx="1958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지휘자에게 필요한 것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3264768" y="1916237"/>
            <a:ext cx="1958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문제를 정의하는 능력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적절한 AI 도구 선택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결과물을 판단하는 안목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빠르게 반복하는 실행력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3264768" y="3010719"/>
            <a:ext cx="1958700" cy="14400"/>
          </a:xfrm>
          <a:prstGeom prst="roundRect">
            <a:avLst>
              <a:gd fmla="val 59998" name="adj"/>
            </a:avLst>
          </a:prstGeom>
          <a:solidFill>
            <a:srgbClr val="15213F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3264768" y="3195489"/>
            <a:ext cx="1958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지휘자에게 필요 없는 것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3264768" y="3513311"/>
            <a:ext cx="1958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코딩 문법 암기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디자인 툴 숙련도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편집 기술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수천만 원의 자본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6"/>
          <p:cNvSpPr/>
          <p:nvPr/>
        </p:nvSpPr>
        <p:spPr>
          <a:xfrm>
            <a:off x="496119" y="499318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전통 팀 vs AI 오케스트라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6"/>
          <p:cNvSpPr/>
          <p:nvPr/>
        </p:nvSpPr>
        <p:spPr>
          <a:xfrm>
            <a:off x="496119" y="1134889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같은 결과물을 만드는 데 드는 비용과 시간이 </a:t>
            </a:r>
            <a:r>
              <a:rPr b="1" i="0" lang="ko-KR" sz="12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극적으로 달라졌습니다.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아래 표는 역할별 비용을 직접 비교한 것입니다.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/>
          <p:nvPr/>
        </p:nvSpPr>
        <p:spPr>
          <a:xfrm>
            <a:off x="496119" y="1472878"/>
            <a:ext cx="8151900" cy="2535900"/>
          </a:xfrm>
          <a:prstGeom prst="roundRect">
            <a:avLst>
              <a:gd fmla="val 734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4" name="Google Shape;534;p26"/>
          <p:cNvSpPr/>
          <p:nvPr/>
        </p:nvSpPr>
        <p:spPr>
          <a:xfrm>
            <a:off x="496119" y="1836837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5" name="Google Shape;535;p26"/>
          <p:cNvSpPr/>
          <p:nvPr/>
        </p:nvSpPr>
        <p:spPr>
          <a:xfrm>
            <a:off x="496119" y="2198415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6" name="Google Shape;536;p26"/>
          <p:cNvSpPr/>
          <p:nvPr/>
        </p:nvSpPr>
        <p:spPr>
          <a:xfrm>
            <a:off x="496119" y="2559993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7" name="Google Shape;537;p26"/>
          <p:cNvSpPr/>
          <p:nvPr/>
        </p:nvSpPr>
        <p:spPr>
          <a:xfrm>
            <a:off x="496119" y="2921571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8" name="Google Shape;538;p26"/>
          <p:cNvSpPr/>
          <p:nvPr/>
        </p:nvSpPr>
        <p:spPr>
          <a:xfrm>
            <a:off x="496119" y="328314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9" name="Google Shape;539;p26"/>
          <p:cNvSpPr/>
          <p:nvPr/>
        </p:nvSpPr>
        <p:spPr>
          <a:xfrm>
            <a:off x="496119" y="364472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0" name="Google Shape;540;p26"/>
          <p:cNvSpPr/>
          <p:nvPr/>
        </p:nvSpPr>
        <p:spPr>
          <a:xfrm>
            <a:off x="501030" y="1477640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1" name="Google Shape;541;p26"/>
          <p:cNvSpPr/>
          <p:nvPr/>
        </p:nvSpPr>
        <p:spPr>
          <a:xfrm>
            <a:off x="625004" y="1556817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역할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/>
          <p:nvPr/>
        </p:nvSpPr>
        <p:spPr>
          <a:xfrm>
            <a:off x="2536552" y="1477640"/>
            <a:ext cx="244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3" name="Google Shape;543;p26"/>
          <p:cNvSpPr/>
          <p:nvPr/>
        </p:nvSpPr>
        <p:spPr>
          <a:xfrm>
            <a:off x="2660526" y="1556817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전통 (사람 고용)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4979194" y="1477640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5" name="Google Shape;545;p26"/>
          <p:cNvSpPr/>
          <p:nvPr/>
        </p:nvSpPr>
        <p:spPr>
          <a:xfrm>
            <a:off x="5103168" y="1556817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오케스트라 (1인)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7014716" y="1477640"/>
            <a:ext cx="16284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7" name="Google Shape;547;p26"/>
          <p:cNvSpPr/>
          <p:nvPr/>
        </p:nvSpPr>
        <p:spPr>
          <a:xfrm>
            <a:off x="7138690" y="1556817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절감률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625004" y="1918395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2660526" y="1918395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월 400만원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5103168" y="1918395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Code 구독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7138690" y="1918395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~95%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625004" y="2279972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디자이너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2660526" y="2279972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월 300만원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5103168" y="2279972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Midjourney 구독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7138690" y="2279972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~97%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625004" y="2641550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편집자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/>
          <p:nvPr/>
        </p:nvSpPr>
        <p:spPr>
          <a:xfrm>
            <a:off x="2660526" y="2641550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건당 30만원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5103168" y="2641550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Runway + CapCut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7138690" y="2641550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~90%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625004" y="3003128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카피라이터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2660526" y="3003128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건당 10만원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5103168" y="3003128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7138690" y="3003128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~95%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625004" y="3364706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마케팅 매니저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2660526" y="3364706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월 350만원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5103168" y="3364706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+ 본인 판단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7138690" y="3364706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~80%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625004" y="3726284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음악 제작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2660526" y="3726284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건당 50만원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5103168" y="3726284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Suno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7138690" y="3726284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~99%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496119" y="4148212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3" name="Google Shape;5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32799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6"/>
          <p:cNvSpPr/>
          <p:nvPr/>
        </p:nvSpPr>
        <p:spPr>
          <a:xfrm>
            <a:off x="899071" y="4303142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월 1,500만원 이상의 팀을 → </a:t>
            </a:r>
            <a:r>
              <a:rPr b="1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월 </a:t>
            </a:r>
            <a:r>
              <a:rPr b="1" lang="ko-KR" sz="1350"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b="1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만원 AI 구독료</a:t>
            </a:r>
            <a:r>
              <a:rPr b="0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로 대체할 수 있는 시대입니다.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"/>
          <p:cNvSpPr/>
          <p:nvPr/>
        </p:nvSpPr>
        <p:spPr>
          <a:xfrm>
            <a:off x="496119" y="775171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오케스트라 7개 파트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496119" y="1410742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오케스트라는 7개의 전문 파트로 구성됩니다. 각 파트는 독립적으로 작동하면서도 서로 연결되어 하나의 완성된 프로젝트를 만들어냅니다.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2" name="Google Shape;5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48730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7"/>
          <p:cNvSpPr/>
          <p:nvPr/>
        </p:nvSpPr>
        <p:spPr>
          <a:xfrm>
            <a:off x="864234" y="1756459"/>
            <a:ext cx="2210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1. </a:t>
            </a:r>
            <a:r>
              <a:rPr b="1" i="0" lang="ko-KR" sz="16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기획/전략</a:t>
            </a: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(두뇌)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899150" y="2059626"/>
            <a:ext cx="23658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Claude, ChatGPT, Gemini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검증, 시장 분석, 사업 계획 수립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5" name="Google Shape;58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1748730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27"/>
          <p:cNvSpPr/>
          <p:nvPr/>
        </p:nvSpPr>
        <p:spPr>
          <a:xfrm>
            <a:off x="3633107" y="1756459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2. </a:t>
            </a:r>
            <a:r>
              <a:rPr b="1" i="0" lang="ko-KR" sz="16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개발</a:t>
            </a: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(심장)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3668018" y="2059632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Code, Bolt.new, Lovable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웹앱, 모바일 앱, 기능 구현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8" name="Google Shape;5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1748730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7"/>
          <p:cNvSpPr/>
          <p:nvPr/>
        </p:nvSpPr>
        <p:spPr>
          <a:xfrm>
            <a:off x="6402054" y="1756459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3. 디자인 (얼굴)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6436965" y="2059632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Midjourney, Canva AI, DALL-E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로고, 썸네일, 소셜 이미지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1" name="Google Shape;59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704579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7"/>
          <p:cNvSpPr/>
          <p:nvPr/>
        </p:nvSpPr>
        <p:spPr>
          <a:xfrm>
            <a:off x="864234" y="2712307"/>
            <a:ext cx="2210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4. </a:t>
            </a:r>
            <a:r>
              <a:rPr b="1" i="0" lang="ko-KR" sz="16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글쓰기</a:t>
            </a: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(목소리)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899145" y="3015481"/>
            <a:ext cx="2210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Claude, Notion 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블로그, SNS 글, 앱 소개 카피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4" name="Google Shape;59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4991" y="2704579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7"/>
          <p:cNvSpPr/>
          <p:nvPr/>
        </p:nvSpPr>
        <p:spPr>
          <a:xfrm>
            <a:off x="3633107" y="2712307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5. </a:t>
            </a:r>
            <a:r>
              <a:rPr b="1" i="0" lang="ko-KR" sz="16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영상</a:t>
            </a: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(눈)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3668018" y="3015481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Runway, CapCut, HeyGen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쇼츠, 릴스, 광고, 교육 영상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7" name="Google Shape;597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3939" y="2704579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7"/>
          <p:cNvSpPr/>
          <p:nvPr/>
        </p:nvSpPr>
        <p:spPr>
          <a:xfrm>
            <a:off x="6402054" y="2712307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6. 음악/음성 (귀)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6436965" y="3015481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Suno, ElevenLabs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BGM, 효과음, AI 나레이션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0" name="Google Shape;600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6119" y="3660428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7"/>
          <p:cNvSpPr/>
          <p:nvPr/>
        </p:nvSpPr>
        <p:spPr>
          <a:xfrm>
            <a:off x="864234" y="3668156"/>
            <a:ext cx="2210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7. 마케팅 (다리)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899145" y="3971330"/>
            <a:ext cx="2210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+ Meta Ads + Analytics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광고 운영, SNS, 데이터 분석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8" name="Google Shape;6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8"/>
          <p:cNvSpPr/>
          <p:nvPr/>
        </p:nvSpPr>
        <p:spPr>
          <a:xfrm>
            <a:off x="496119" y="342602"/>
            <a:ext cx="4722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1" i="0" lang="ko-KR" sz="2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파트별 프롬프트 예시 ①</a:t>
            </a:r>
            <a:endParaRPr b="1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496119" y="963439"/>
            <a:ext cx="22218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🧠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1: 기획/전략 (두뇌)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1" name="Google Shape;61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265411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8"/>
          <p:cNvSpPr/>
          <p:nvPr/>
        </p:nvSpPr>
        <p:spPr>
          <a:xfrm>
            <a:off x="681856" y="1393999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검증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681856" y="1678037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"공부 타이머 앱의 시장 규모, 경쟁 앱 5개, 차별화 전략을 분석해줘"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시장 분석 보고서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4" name="Google Shape;6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439516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8"/>
          <p:cNvSpPr/>
          <p:nvPr/>
        </p:nvSpPr>
        <p:spPr>
          <a:xfrm>
            <a:off x="681856" y="2568104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사업 계획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8"/>
          <p:cNvSpPr/>
          <p:nvPr/>
        </p:nvSpPr>
        <p:spPr>
          <a:xfrm>
            <a:off x="681856" y="2852142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"중학생 대상 공부 타이머 앱의 3개월 사업 계획서를 작성해줘"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실행 계획서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7" name="Google Shape;61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613621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8"/>
          <p:cNvSpPr/>
          <p:nvPr/>
        </p:nvSpPr>
        <p:spPr>
          <a:xfrm>
            <a:off x="681856" y="3742209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수익 모델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8"/>
          <p:cNvSpPr/>
          <p:nvPr/>
        </p:nvSpPr>
        <p:spPr>
          <a:xfrm>
            <a:off x="681856" y="4026247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"무료 앱에서 수익을 내는 방법 5가지를 비교해줘"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비교표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8"/>
          <p:cNvSpPr/>
          <p:nvPr/>
        </p:nvSpPr>
        <p:spPr>
          <a:xfrm>
            <a:off x="3001714" y="963439"/>
            <a:ext cx="22218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💻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2: 개발 (심장)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1714" y="1265411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28"/>
          <p:cNvSpPr/>
          <p:nvPr/>
        </p:nvSpPr>
        <p:spPr>
          <a:xfrm>
            <a:off x="3187452" y="1393999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웹앱 만들기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8"/>
          <p:cNvSpPr/>
          <p:nvPr/>
        </p:nvSpPr>
        <p:spPr>
          <a:xfrm>
            <a:off x="3187452" y="1678037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"25분 타이머, 과목 선택, 기록 저장이 있는 웹앱을 Flask+HTML로"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작동하는 웹앱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4" name="Google Shape;62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1714" y="2439516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8"/>
          <p:cNvSpPr/>
          <p:nvPr/>
        </p:nvSpPr>
        <p:spPr>
          <a:xfrm>
            <a:off x="3187452" y="2568104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기능 추가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3187452" y="2852142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"기존 타이머에 다크 모드 토글 버튼을 추가해줘"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업데이트된 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7" name="Google Shape;62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1714" y="3613621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8"/>
          <p:cNvSpPr/>
          <p:nvPr/>
        </p:nvSpPr>
        <p:spPr>
          <a:xfrm>
            <a:off x="3187452" y="3742209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버그 수정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3187452" y="4026247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"시작 버튼 눌러도 안 움직여. 이 에러 메시지 나와"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수정된 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9"/>
          <p:cNvSpPr/>
          <p:nvPr/>
        </p:nvSpPr>
        <p:spPr>
          <a:xfrm>
            <a:off x="496119" y="373261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파트별 프롬프트 예시 ②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496119" y="1070818"/>
            <a:ext cx="392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🎨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3: 디자인 (얼굴)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7" name="Google Shape;6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08956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9"/>
          <p:cNvSpPr/>
          <p:nvPr/>
        </p:nvSpPr>
        <p:spPr>
          <a:xfrm>
            <a:off x="691530" y="1547217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앱 로고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691530" y="1865040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"둥근 시계 모티프, 파란+초록 그라데이션, 플랫 디자인, 미니멀"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로고 4장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0" name="Google Shape;6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524199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29"/>
          <p:cNvSpPr/>
          <p:nvPr/>
        </p:nvSpPr>
        <p:spPr>
          <a:xfrm>
            <a:off x="691530" y="2662461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유튜브 썸네일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691530" y="2980283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"놀란 학생 일러스트, 텍스트 공간, 밝은 노란 배경"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썸네일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3" name="Google Shape;6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639443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29"/>
          <p:cNvSpPr/>
          <p:nvPr/>
        </p:nvSpPr>
        <p:spPr>
          <a:xfrm>
            <a:off x="691530" y="3777704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인스타 카드뉴스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9"/>
          <p:cNvSpPr/>
          <p:nvPr/>
        </p:nvSpPr>
        <p:spPr>
          <a:xfrm>
            <a:off x="691530" y="4095527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"공부 습관 팁 5가지, 슬라이드 5장, 파스텔 톤"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카드뉴스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9"/>
          <p:cNvSpPr/>
          <p:nvPr/>
        </p:nvSpPr>
        <p:spPr>
          <a:xfrm>
            <a:off x="4728046" y="1070818"/>
            <a:ext cx="392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🎬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5: 영상 / </a:t>
            </a: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🎵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6: 음악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7" name="Google Shape;6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046" y="1408956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29"/>
          <p:cNvSpPr/>
          <p:nvPr/>
        </p:nvSpPr>
        <p:spPr>
          <a:xfrm>
            <a:off x="4923458" y="1547217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영상 (Runway)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4923458" y="1865040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"학생이 공부하다가 스마트폰 타이머를 확인하는 3초 영상"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클립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0" name="Google Shape;6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046" y="2524199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29"/>
          <p:cNvSpPr/>
          <p:nvPr/>
        </p:nvSpPr>
        <p:spPr>
          <a:xfrm>
            <a:off x="4923458" y="2662461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아바타 (HeyGen)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4923458" y="2980283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"친근한 10대 캐릭터가 앱 사용법을 설명하는 영상"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설명 영상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3" name="Google Shape;6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046" y="3639443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29"/>
          <p:cNvSpPr/>
          <p:nvPr/>
        </p:nvSpPr>
        <p:spPr>
          <a:xfrm>
            <a:off x="4923458" y="3777704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BGM + 나레이션 (Suno / ElevenLabs)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4923458" y="4095527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"잔잔한 lo-fi 힙합, 2분 / 친근한 여성 목소리, 한국어"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배경음악 + AI 음성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0"/>
          <p:cNvSpPr/>
          <p:nvPr/>
        </p:nvSpPr>
        <p:spPr>
          <a:xfrm>
            <a:off x="496119" y="354062"/>
            <a:ext cx="81519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50"/>
              <a:buFont typeface="Roboto Slab"/>
              <a:buNone/>
            </a:pPr>
            <a:r>
              <a:rPr b="0" i="0" lang="ko-KR" sz="2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실전: 유튜브 쇼츠 1개 만들기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496119" y="686813"/>
            <a:ext cx="8609100" cy="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기획사에 의뢰하면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2주 + 300만원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드는 작업을. AI 오케스트라로는 </a:t>
            </a:r>
            <a:r>
              <a:rPr b="1" i="0" lang="ko-KR" sz="11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30분 만에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완성할 수 있습니다.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3" name="Google Shape;6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34467"/>
            <a:ext cx="8151764" cy="35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30"/>
          <p:cNvSpPr/>
          <p:nvPr/>
        </p:nvSpPr>
        <p:spPr>
          <a:xfrm>
            <a:off x="2441329" y="338615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썸네일 제작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0"/>
          <p:cNvSpPr/>
          <p:nvPr/>
        </p:nvSpPr>
        <p:spPr>
          <a:xfrm>
            <a:off x="2441329" y="3669308"/>
            <a:ext cx="12105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Midjourney+Canva 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5549316" y="338615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영상 제작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5549316" y="3669308"/>
            <a:ext cx="12105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Runway+CapCut 20분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891193" y="105219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대본 작성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891193" y="1335347"/>
            <a:ext cx="1210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Claude로 2분 만에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7053279" y="105219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제목·해시태그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7053279" y="1335347"/>
            <a:ext cx="1210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Claude로 2분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4014612" y="105219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배경음악 생성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4014612" y="1335347"/>
            <a:ext cx="1210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Suno로 1분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0"/>
          <p:cNvSpPr/>
          <p:nvPr/>
        </p:nvSpPr>
        <p:spPr>
          <a:xfrm>
            <a:off x="496119" y="4324573"/>
            <a:ext cx="26898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30분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0"/>
          <p:cNvSpPr/>
          <p:nvPr/>
        </p:nvSpPr>
        <p:spPr>
          <a:xfrm>
            <a:off x="496119" y="4592241"/>
            <a:ext cx="2689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오케스트라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0"/>
          <p:cNvSpPr/>
          <p:nvPr/>
        </p:nvSpPr>
        <p:spPr>
          <a:xfrm>
            <a:off x="484962" y="4789925"/>
            <a:ext cx="2689800" cy="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총 소요 시간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0"/>
          <p:cNvSpPr/>
          <p:nvPr/>
        </p:nvSpPr>
        <p:spPr>
          <a:xfrm>
            <a:off x="3227040" y="4324573"/>
            <a:ext cx="26898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5개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/>
          <p:nvPr/>
        </p:nvSpPr>
        <p:spPr>
          <a:xfrm>
            <a:off x="3227040" y="4592241"/>
            <a:ext cx="2689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사용 AI 도구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0"/>
          <p:cNvSpPr/>
          <p:nvPr/>
        </p:nvSpPr>
        <p:spPr>
          <a:xfrm>
            <a:off x="3215883" y="4789925"/>
            <a:ext cx="2689800" cy="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· Midjourney · Suno · Runway · CapCut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/>
          <p:nvPr/>
        </p:nvSpPr>
        <p:spPr>
          <a:xfrm>
            <a:off x="5958036" y="4324573"/>
            <a:ext cx="26898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3만원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0"/>
          <p:cNvSpPr/>
          <p:nvPr/>
        </p:nvSpPr>
        <p:spPr>
          <a:xfrm>
            <a:off x="5958036" y="4592241"/>
            <a:ext cx="2689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총 비용 (구독료)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0"/>
          <p:cNvSpPr/>
          <p:nvPr/>
        </p:nvSpPr>
        <p:spPr>
          <a:xfrm>
            <a:off x="5946879" y="4789925"/>
            <a:ext cx="2689800" cy="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기획사 의뢰 시 300만원 대비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1"/>
          <p:cNvSpPr/>
          <p:nvPr/>
        </p:nvSpPr>
        <p:spPr>
          <a:xfrm>
            <a:off x="496119" y="812974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오케스트라 지휘 3가지 레벨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496119" y="1448544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처음부터 모든 AI를 쓸 필요는 없습니다. 레벨 1부터 시작해서 점차 확장해가세요. </a:t>
            </a:r>
            <a:r>
              <a:rPr b="1" i="0" lang="ko-KR" sz="11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오늘 이 수업에서 여러분은 레벨 1을 시작합니다!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0" name="Google Shape;6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468" y="1786533"/>
            <a:ext cx="1345034" cy="714673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31"/>
          <p:cNvSpPr/>
          <p:nvPr/>
        </p:nvSpPr>
        <p:spPr>
          <a:xfrm>
            <a:off x="2446734" y="2123405"/>
            <a:ext cx="174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3330476" y="1910507"/>
            <a:ext cx="51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레벨 3: 풀 오케스트라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3330476" y="2178769"/>
            <a:ext cx="519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5개 이상 · 앱+브랜딩+콘텐츠+마케팅 = 실제 사업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1"/>
          <p:cNvSpPr/>
          <p:nvPr/>
        </p:nvSpPr>
        <p:spPr>
          <a:xfrm>
            <a:off x="3237458" y="2510730"/>
            <a:ext cx="5379600" cy="7200"/>
          </a:xfrm>
          <a:prstGeom prst="roundRect">
            <a:avLst>
              <a:gd fmla="val 260456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5" name="Google Shape;69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8988" y="2532162"/>
            <a:ext cx="2690067" cy="714673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31"/>
          <p:cNvSpPr/>
          <p:nvPr/>
        </p:nvSpPr>
        <p:spPr>
          <a:xfrm>
            <a:off x="2446734" y="2780481"/>
            <a:ext cx="174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4003030" y="2656136"/>
            <a:ext cx="452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레벨 2: 듀엣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1"/>
          <p:cNvSpPr/>
          <p:nvPr/>
        </p:nvSpPr>
        <p:spPr>
          <a:xfrm>
            <a:off x="4003030" y="2924398"/>
            <a:ext cx="4521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3~4개 · 앱+디자인+영상 = 보여줄 수 있는 프로젝트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/>
          <p:nvPr/>
        </p:nvSpPr>
        <p:spPr>
          <a:xfrm>
            <a:off x="3910012" y="3256359"/>
            <a:ext cx="4707000" cy="7200"/>
          </a:xfrm>
          <a:prstGeom prst="roundRect">
            <a:avLst>
              <a:gd fmla="val 260456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0" name="Google Shape;70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434" y="3277791"/>
            <a:ext cx="4035102" cy="714673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1"/>
          <p:cNvSpPr/>
          <p:nvPr/>
        </p:nvSpPr>
        <p:spPr>
          <a:xfrm>
            <a:off x="2446734" y="3526110"/>
            <a:ext cx="174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4675510" y="3401764"/>
            <a:ext cx="3848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레벨 1: 독주자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1"/>
          <p:cNvSpPr/>
          <p:nvPr/>
        </p:nvSpPr>
        <p:spPr>
          <a:xfrm>
            <a:off x="4675510" y="3670027"/>
            <a:ext cx="3848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1~2개 · 앱 하나 만들기 = 작동하는 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1"/>
          <p:cNvSpPr/>
          <p:nvPr/>
        </p:nvSpPr>
        <p:spPr>
          <a:xfrm>
            <a:off x="496119" y="4131990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레벨이 올라갈수록 만들 수 있는 것이 늘어납니다. 단, </a:t>
            </a:r>
            <a:r>
              <a:rPr b="0" i="0" lang="ko-KR" sz="13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레벨 1의 단단한 기초 위에서만 레벨 3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빛납니다.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2"/>
          <p:cNvSpPr/>
          <p:nvPr/>
        </p:nvSpPr>
        <p:spPr>
          <a:xfrm>
            <a:off x="496119" y="668313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오케스트라 vs 전통 스타트업</a:t>
            </a:r>
            <a:endParaRPr b="1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2"/>
          <p:cNvSpPr/>
          <p:nvPr/>
        </p:nvSpPr>
        <p:spPr>
          <a:xfrm>
            <a:off x="496119" y="1303883"/>
            <a:ext cx="8151900" cy="2535900"/>
          </a:xfrm>
          <a:prstGeom prst="roundRect">
            <a:avLst>
              <a:gd fmla="val 734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2" name="Google Shape;712;p32"/>
          <p:cNvSpPr/>
          <p:nvPr/>
        </p:nvSpPr>
        <p:spPr>
          <a:xfrm>
            <a:off x="496119" y="166784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3" name="Google Shape;713;p32"/>
          <p:cNvSpPr/>
          <p:nvPr/>
        </p:nvSpPr>
        <p:spPr>
          <a:xfrm>
            <a:off x="496119" y="2029420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4" name="Google Shape;714;p32"/>
          <p:cNvSpPr/>
          <p:nvPr/>
        </p:nvSpPr>
        <p:spPr>
          <a:xfrm>
            <a:off x="496119" y="239099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5" name="Google Shape;715;p32"/>
          <p:cNvSpPr/>
          <p:nvPr/>
        </p:nvSpPr>
        <p:spPr>
          <a:xfrm>
            <a:off x="496119" y="275257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6" name="Google Shape;716;p32"/>
          <p:cNvSpPr/>
          <p:nvPr/>
        </p:nvSpPr>
        <p:spPr>
          <a:xfrm>
            <a:off x="496119" y="3114154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7" name="Google Shape;717;p32"/>
          <p:cNvSpPr/>
          <p:nvPr/>
        </p:nvSpPr>
        <p:spPr>
          <a:xfrm>
            <a:off x="496119" y="347573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8" name="Google Shape;718;p32"/>
          <p:cNvSpPr/>
          <p:nvPr/>
        </p:nvSpPr>
        <p:spPr>
          <a:xfrm>
            <a:off x="501030" y="1308646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9" name="Google Shape;719;p32"/>
          <p:cNvSpPr/>
          <p:nvPr/>
        </p:nvSpPr>
        <p:spPr>
          <a:xfrm>
            <a:off x="625004" y="1387822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단계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2"/>
          <p:cNvSpPr/>
          <p:nvPr/>
        </p:nvSpPr>
        <p:spPr>
          <a:xfrm>
            <a:off x="2536552" y="1308646"/>
            <a:ext cx="301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1" name="Google Shape;721;p32"/>
          <p:cNvSpPr/>
          <p:nvPr/>
        </p:nvSpPr>
        <p:spPr>
          <a:xfrm>
            <a:off x="2660526" y="1387822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전통 스타트업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2"/>
          <p:cNvSpPr/>
          <p:nvPr/>
        </p:nvSpPr>
        <p:spPr>
          <a:xfrm>
            <a:off x="5549131" y="1308646"/>
            <a:ext cx="30939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3" name="Google Shape;723;p32"/>
          <p:cNvSpPr/>
          <p:nvPr/>
        </p:nvSpPr>
        <p:spPr>
          <a:xfrm>
            <a:off x="5673105" y="1387822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오케스트라 (1인)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2"/>
          <p:cNvSpPr/>
          <p:nvPr/>
        </p:nvSpPr>
        <p:spPr>
          <a:xfrm>
            <a:off x="625004" y="1749400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 구성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2"/>
          <p:cNvSpPr/>
          <p:nvPr/>
        </p:nvSpPr>
        <p:spPr>
          <a:xfrm>
            <a:off x="2660526" y="1749400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3~5명, 인건비 월 1,500만원+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2"/>
          <p:cNvSpPr/>
          <p:nvPr/>
        </p:nvSpPr>
        <p:spPr>
          <a:xfrm>
            <a:off x="5673105" y="1749400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나 혼자 + AI 구독 월 5~10만원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2"/>
          <p:cNvSpPr/>
          <p:nvPr/>
        </p:nvSpPr>
        <p:spPr>
          <a:xfrm>
            <a:off x="625004" y="2110978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프로토타입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2"/>
          <p:cNvSpPr/>
          <p:nvPr/>
        </p:nvSpPr>
        <p:spPr>
          <a:xfrm>
            <a:off x="2660526" y="2110978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2~4주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2"/>
          <p:cNvSpPr/>
          <p:nvPr/>
        </p:nvSpPr>
        <p:spPr>
          <a:xfrm>
            <a:off x="5673105" y="2110978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1~3일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2"/>
          <p:cNvSpPr/>
          <p:nvPr/>
        </p:nvSpPr>
        <p:spPr>
          <a:xfrm>
            <a:off x="625004" y="2472556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2"/>
          <p:cNvSpPr/>
          <p:nvPr/>
        </p:nvSpPr>
        <p:spPr>
          <a:xfrm>
            <a:off x="2660526" y="2472556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디자이너 채용, 1~2주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2"/>
          <p:cNvSpPr/>
          <p:nvPr/>
        </p:nvSpPr>
        <p:spPr>
          <a:xfrm>
            <a:off x="5673105" y="2472556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Midjourney에 5분 설명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2"/>
          <p:cNvSpPr/>
          <p:nvPr/>
        </p:nvSpPr>
        <p:spPr>
          <a:xfrm>
            <a:off x="625004" y="2834134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광고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2"/>
          <p:cNvSpPr/>
          <p:nvPr/>
        </p:nvSpPr>
        <p:spPr>
          <a:xfrm>
            <a:off x="2660526" y="2834134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촬영팀, 편당 200~500만원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2"/>
          <p:cNvSpPr/>
          <p:nvPr/>
        </p:nvSpPr>
        <p:spPr>
          <a:xfrm>
            <a:off x="5673105" y="2834134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Runway+CapCut, 편당 30분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2"/>
          <p:cNvSpPr/>
          <p:nvPr/>
        </p:nvSpPr>
        <p:spPr>
          <a:xfrm>
            <a:off x="625004" y="3195712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피드백→수정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2"/>
          <p:cNvSpPr/>
          <p:nvPr/>
        </p:nvSpPr>
        <p:spPr>
          <a:xfrm>
            <a:off x="2660526" y="3195712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회의→배분→1~2주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5673105" y="3195712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 부분 고쳐줘" → 10분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2"/>
          <p:cNvSpPr/>
          <p:nvPr/>
        </p:nvSpPr>
        <p:spPr>
          <a:xfrm>
            <a:off x="625004" y="3557290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실패 비용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2"/>
          <p:cNvSpPr/>
          <p:nvPr/>
        </p:nvSpPr>
        <p:spPr>
          <a:xfrm>
            <a:off x="2660526" y="3557290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수천만원 손실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2"/>
          <p:cNvSpPr/>
          <p:nvPr/>
        </p:nvSpPr>
        <p:spPr>
          <a:xfrm>
            <a:off x="5673105" y="3557290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구독료 몇 만원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2"/>
          <p:cNvSpPr/>
          <p:nvPr/>
        </p:nvSpPr>
        <p:spPr>
          <a:xfrm>
            <a:off x="496119" y="3979218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3" name="Google Shape;7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159002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32"/>
          <p:cNvSpPr/>
          <p:nvPr/>
        </p:nvSpPr>
        <p:spPr>
          <a:xfrm>
            <a:off x="899071" y="4134148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 오케스트라의 최대 장점: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"</a:t>
            </a:r>
            <a:r>
              <a:rPr b="0" i="0" lang="ko-KR" sz="17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실패해도 괜찮다</a:t>
            </a:r>
            <a:r>
              <a:rPr b="0" i="0" lang="ko-KR" sz="9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잃을 게 없으니 과감하게 도전할 수 있다!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3"/>
          <p:cNvSpPr/>
          <p:nvPr/>
        </p:nvSpPr>
        <p:spPr>
          <a:xfrm>
            <a:off x="496119" y="341114"/>
            <a:ext cx="8151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850"/>
              <a:buFont typeface="Roboto Slab"/>
              <a:buNone/>
            </a:pPr>
            <a:r>
              <a:rPr b="1" i="0" lang="ko-KR" sz="2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실전: 민수의 1인 사업 4주 계획</a:t>
            </a:r>
            <a:endParaRPr b="1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3"/>
          <p:cNvSpPr/>
          <p:nvPr/>
        </p:nvSpPr>
        <p:spPr>
          <a:xfrm>
            <a:off x="4567238" y="783282"/>
            <a:ext cx="9600" cy="22554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3"/>
          <p:cNvSpPr/>
          <p:nvPr/>
        </p:nvSpPr>
        <p:spPr>
          <a:xfrm>
            <a:off x="4189847" y="885304"/>
            <a:ext cx="285000" cy="96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3"/>
          <p:cNvSpPr/>
          <p:nvPr/>
        </p:nvSpPr>
        <p:spPr>
          <a:xfrm>
            <a:off x="4465179" y="783282"/>
            <a:ext cx="213600" cy="2136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3"/>
          <p:cNvSpPr/>
          <p:nvPr/>
        </p:nvSpPr>
        <p:spPr>
          <a:xfrm>
            <a:off x="4500749" y="801030"/>
            <a:ext cx="142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496119" y="815876"/>
            <a:ext cx="3600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1주차: 기획 + 제작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3"/>
          <p:cNvSpPr/>
          <p:nvPr/>
        </p:nvSpPr>
        <p:spPr>
          <a:xfrm>
            <a:off x="496119" y="1007790"/>
            <a:ext cx="3600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시장 분석, 페르소나 설정, v1 앱 제작, 로고 디자인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사용: 파트 1, 2,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3"/>
          <p:cNvSpPr/>
          <p:nvPr/>
        </p:nvSpPr>
        <p:spPr>
          <a:xfrm>
            <a:off x="4669296" y="1410593"/>
            <a:ext cx="285000" cy="96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3"/>
          <p:cNvSpPr/>
          <p:nvPr/>
        </p:nvSpPr>
        <p:spPr>
          <a:xfrm>
            <a:off x="4465179" y="1308571"/>
            <a:ext cx="213600" cy="2136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3"/>
          <p:cNvSpPr/>
          <p:nvPr/>
        </p:nvSpPr>
        <p:spPr>
          <a:xfrm>
            <a:off x="4500749" y="1326319"/>
            <a:ext cx="142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3"/>
          <p:cNvSpPr/>
          <p:nvPr/>
        </p:nvSpPr>
        <p:spPr>
          <a:xfrm>
            <a:off x="5046836" y="1341165"/>
            <a:ext cx="3600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2주차: 콘텐츠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3"/>
          <p:cNvSpPr/>
          <p:nvPr/>
        </p:nvSpPr>
        <p:spPr>
          <a:xfrm>
            <a:off x="5046836" y="1533079"/>
            <a:ext cx="3600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블로그 3편, 유튜브 쇼츠 3편, 인스타 카드 10장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사용: 파트 3, 4, 5,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3"/>
          <p:cNvSpPr/>
          <p:nvPr/>
        </p:nvSpPr>
        <p:spPr>
          <a:xfrm>
            <a:off x="4189847" y="1879476"/>
            <a:ext cx="285000" cy="96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3"/>
          <p:cNvSpPr/>
          <p:nvPr/>
        </p:nvSpPr>
        <p:spPr>
          <a:xfrm>
            <a:off x="4465179" y="1777454"/>
            <a:ext cx="213600" cy="2136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3"/>
          <p:cNvSpPr/>
          <p:nvPr/>
        </p:nvSpPr>
        <p:spPr>
          <a:xfrm>
            <a:off x="4500749" y="1795202"/>
            <a:ext cx="142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3"/>
          <p:cNvSpPr/>
          <p:nvPr/>
        </p:nvSpPr>
        <p:spPr>
          <a:xfrm>
            <a:off x="496119" y="1810048"/>
            <a:ext cx="3600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3주차: 마케팅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3"/>
          <p:cNvSpPr/>
          <p:nvPr/>
        </p:nvSpPr>
        <p:spPr>
          <a:xfrm>
            <a:off x="496119" y="2001962"/>
            <a:ext cx="3600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인스타 광고 집행, A/B 테스트, 광고 최적화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사용: 파트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3"/>
          <p:cNvSpPr/>
          <p:nvPr/>
        </p:nvSpPr>
        <p:spPr>
          <a:xfrm>
            <a:off x="4669296" y="2348359"/>
            <a:ext cx="285000" cy="96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3"/>
          <p:cNvSpPr/>
          <p:nvPr/>
        </p:nvSpPr>
        <p:spPr>
          <a:xfrm>
            <a:off x="4465179" y="2246337"/>
            <a:ext cx="213600" cy="2136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3"/>
          <p:cNvSpPr/>
          <p:nvPr/>
        </p:nvSpPr>
        <p:spPr>
          <a:xfrm>
            <a:off x="4500749" y="2264085"/>
            <a:ext cx="142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3"/>
          <p:cNvSpPr/>
          <p:nvPr/>
        </p:nvSpPr>
        <p:spPr>
          <a:xfrm>
            <a:off x="5046836" y="2278931"/>
            <a:ext cx="3600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4주차: 성장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3"/>
          <p:cNvSpPr/>
          <p:nvPr/>
        </p:nvSpPr>
        <p:spPr>
          <a:xfrm>
            <a:off x="5046836" y="2470845"/>
            <a:ext cx="3600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피드백 분석, v3 업데이트, 피칭 자료 제작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사용: 파트 1, 2,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3"/>
          <p:cNvSpPr/>
          <p:nvPr/>
        </p:nvSpPr>
        <p:spPr>
          <a:xfrm>
            <a:off x="496119" y="3147715"/>
            <a:ext cx="81519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📅</a:t>
            </a:r>
            <a:r>
              <a:rPr b="0" i="0" lang="ko-KR" sz="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하루 일과 — 학교 다니면서도 가능한 루틴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3"/>
          <p:cNvSpPr/>
          <p:nvPr/>
        </p:nvSpPr>
        <p:spPr>
          <a:xfrm>
            <a:off x="496119" y="3409801"/>
            <a:ext cx="8151900" cy="1394400"/>
          </a:xfrm>
          <a:prstGeom prst="roundRect">
            <a:avLst>
              <a:gd fmla="val 1022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74" name="Google Shape;774;p33"/>
          <p:cNvSpPr/>
          <p:nvPr/>
        </p:nvSpPr>
        <p:spPr>
          <a:xfrm>
            <a:off x="500881" y="3414564"/>
            <a:ext cx="8142300" cy="2307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75" name="Google Shape;775;p33"/>
          <p:cNvSpPr/>
          <p:nvPr/>
        </p:nvSpPr>
        <p:spPr>
          <a:xfrm>
            <a:off x="501030" y="3414564"/>
            <a:ext cx="1221300" cy="2307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76" name="Google Shape;776;p33"/>
          <p:cNvSpPr/>
          <p:nvPr/>
        </p:nvSpPr>
        <p:spPr>
          <a:xfrm>
            <a:off x="595982" y="3462933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ko-KR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시간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3"/>
          <p:cNvSpPr/>
          <p:nvPr/>
        </p:nvSpPr>
        <p:spPr>
          <a:xfrm>
            <a:off x="1722313" y="3414564"/>
            <a:ext cx="3256800" cy="2307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78" name="Google Shape;778;p33"/>
          <p:cNvSpPr/>
          <p:nvPr/>
        </p:nvSpPr>
        <p:spPr>
          <a:xfrm>
            <a:off x="1819647" y="3462933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ko-KR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작업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3"/>
          <p:cNvSpPr/>
          <p:nvPr/>
        </p:nvSpPr>
        <p:spPr>
          <a:xfrm>
            <a:off x="4979194" y="3414564"/>
            <a:ext cx="2035500" cy="2307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80" name="Google Shape;780;p33"/>
          <p:cNvSpPr/>
          <p:nvPr/>
        </p:nvSpPr>
        <p:spPr>
          <a:xfrm>
            <a:off x="5076527" y="3462933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ko-KR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도구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3"/>
          <p:cNvSpPr/>
          <p:nvPr/>
        </p:nvSpPr>
        <p:spPr>
          <a:xfrm>
            <a:off x="7014716" y="3414564"/>
            <a:ext cx="1628400" cy="2307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82" name="Google Shape;782;p33"/>
          <p:cNvSpPr/>
          <p:nvPr/>
        </p:nvSpPr>
        <p:spPr>
          <a:xfrm>
            <a:off x="7112050" y="3462933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ko-KR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소요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3"/>
          <p:cNvSpPr/>
          <p:nvPr/>
        </p:nvSpPr>
        <p:spPr>
          <a:xfrm>
            <a:off x="500881" y="3645396"/>
            <a:ext cx="8142300" cy="2307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84" name="Google Shape;784;p33"/>
          <p:cNvSpPr/>
          <p:nvPr/>
        </p:nvSpPr>
        <p:spPr>
          <a:xfrm>
            <a:off x="595982" y="3693765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07:30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3"/>
          <p:cNvSpPr/>
          <p:nvPr/>
        </p:nvSpPr>
        <p:spPr>
          <a:xfrm>
            <a:off x="1819647" y="3693765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분석 + 피드백 정리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3"/>
          <p:cNvSpPr/>
          <p:nvPr/>
        </p:nvSpPr>
        <p:spPr>
          <a:xfrm>
            <a:off x="5076527" y="3693765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3"/>
          <p:cNvSpPr/>
          <p:nvPr/>
        </p:nvSpPr>
        <p:spPr>
          <a:xfrm>
            <a:off x="7112050" y="3693765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3"/>
          <p:cNvSpPr/>
          <p:nvPr/>
        </p:nvSpPr>
        <p:spPr>
          <a:xfrm>
            <a:off x="500881" y="3876229"/>
            <a:ext cx="8142300" cy="2307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89" name="Google Shape;789;p33"/>
          <p:cNvSpPr/>
          <p:nvPr/>
        </p:nvSpPr>
        <p:spPr>
          <a:xfrm>
            <a:off x="595982" y="3924598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08:30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3"/>
          <p:cNvSpPr/>
          <p:nvPr/>
        </p:nvSpPr>
        <p:spPr>
          <a:xfrm>
            <a:off x="1819647" y="3924598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기능 1개 추가 + 블로그 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5076527" y="3924598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Code + 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3"/>
          <p:cNvSpPr/>
          <p:nvPr/>
        </p:nvSpPr>
        <p:spPr>
          <a:xfrm>
            <a:off x="7112050" y="3924598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45분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3"/>
          <p:cNvSpPr/>
          <p:nvPr/>
        </p:nvSpPr>
        <p:spPr>
          <a:xfrm>
            <a:off x="500881" y="4107061"/>
            <a:ext cx="8142300" cy="2307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94" name="Google Shape;794;p33"/>
          <p:cNvSpPr/>
          <p:nvPr/>
        </p:nvSpPr>
        <p:spPr>
          <a:xfrm>
            <a:off x="595982" y="4155430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12:00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819647" y="4155430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인스타 포스트 업로드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3"/>
          <p:cNvSpPr/>
          <p:nvPr/>
        </p:nvSpPr>
        <p:spPr>
          <a:xfrm>
            <a:off x="5076527" y="4155430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Canva + 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3"/>
          <p:cNvSpPr/>
          <p:nvPr/>
        </p:nvSpPr>
        <p:spPr>
          <a:xfrm>
            <a:off x="7112050" y="4155430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3"/>
          <p:cNvSpPr/>
          <p:nvPr/>
        </p:nvSpPr>
        <p:spPr>
          <a:xfrm>
            <a:off x="500881" y="4337893"/>
            <a:ext cx="8142300" cy="2307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99" name="Google Shape;799;p33"/>
          <p:cNvSpPr/>
          <p:nvPr/>
        </p:nvSpPr>
        <p:spPr>
          <a:xfrm>
            <a:off x="595982" y="4386263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3"/>
          <p:cNvSpPr/>
          <p:nvPr/>
        </p:nvSpPr>
        <p:spPr>
          <a:xfrm>
            <a:off x="1819647" y="4386263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유튜브 쇼츠 + 내일 기획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3"/>
          <p:cNvSpPr/>
          <p:nvPr/>
        </p:nvSpPr>
        <p:spPr>
          <a:xfrm>
            <a:off x="5076527" y="4386263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CapCut + Suno + 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3"/>
          <p:cNvSpPr/>
          <p:nvPr/>
        </p:nvSpPr>
        <p:spPr>
          <a:xfrm>
            <a:off x="7112050" y="4386263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55분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00881" y="4568726"/>
            <a:ext cx="8142300" cy="2307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04" name="Google Shape;804;p33"/>
          <p:cNvSpPr/>
          <p:nvPr/>
        </p:nvSpPr>
        <p:spPr>
          <a:xfrm>
            <a:off x="595982" y="4617095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합계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3"/>
          <p:cNvSpPr/>
          <p:nvPr/>
        </p:nvSpPr>
        <p:spPr>
          <a:xfrm>
            <a:off x="1819647" y="4617095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하루 총 작업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3"/>
          <p:cNvSpPr/>
          <p:nvPr/>
        </p:nvSpPr>
        <p:spPr>
          <a:xfrm>
            <a:off x="5076527" y="4617095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7112050" y="4617095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약 2시간 20분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4"/>
          <p:cNvSpPr/>
          <p:nvPr/>
        </p:nvSpPr>
        <p:spPr>
          <a:xfrm>
            <a:off x="496119" y="462273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실전: 전자책 출판 (풀 오케스트라)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4"/>
          <p:cNvSpPr/>
          <p:nvPr/>
        </p:nvSpPr>
        <p:spPr>
          <a:xfrm>
            <a:off x="496119" y="1353369"/>
            <a:ext cx="8151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전통 방식으로는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작가 + 디자이너 + 마케터 = 200만원 + 2개월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필요합니다.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오케스트라로는? </a:t>
            </a:r>
            <a:r>
              <a:rPr b="1" i="0" lang="ko-KR" sz="12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2만원 + 주말 이틀.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4"/>
          <p:cNvSpPr/>
          <p:nvPr/>
        </p:nvSpPr>
        <p:spPr>
          <a:xfrm>
            <a:off x="496119" y="1889820"/>
            <a:ext cx="8151900" cy="2535900"/>
          </a:xfrm>
          <a:prstGeom prst="roundRect">
            <a:avLst>
              <a:gd fmla="val 734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6" name="Google Shape;816;p34"/>
          <p:cNvSpPr/>
          <p:nvPr/>
        </p:nvSpPr>
        <p:spPr>
          <a:xfrm>
            <a:off x="496119" y="2253779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7" name="Google Shape;817;p34"/>
          <p:cNvSpPr/>
          <p:nvPr/>
        </p:nvSpPr>
        <p:spPr>
          <a:xfrm>
            <a:off x="496119" y="2615357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8" name="Google Shape;818;p34"/>
          <p:cNvSpPr/>
          <p:nvPr/>
        </p:nvSpPr>
        <p:spPr>
          <a:xfrm>
            <a:off x="496119" y="2976935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9" name="Google Shape;819;p34"/>
          <p:cNvSpPr/>
          <p:nvPr/>
        </p:nvSpPr>
        <p:spPr>
          <a:xfrm>
            <a:off x="496119" y="333851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0" name="Google Shape;820;p34"/>
          <p:cNvSpPr/>
          <p:nvPr/>
        </p:nvSpPr>
        <p:spPr>
          <a:xfrm>
            <a:off x="496119" y="3700090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1" name="Google Shape;821;p34"/>
          <p:cNvSpPr/>
          <p:nvPr/>
        </p:nvSpPr>
        <p:spPr>
          <a:xfrm>
            <a:off x="496119" y="406166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2" name="Google Shape;822;p34"/>
          <p:cNvSpPr/>
          <p:nvPr/>
        </p:nvSpPr>
        <p:spPr>
          <a:xfrm>
            <a:off x="501030" y="1894582"/>
            <a:ext cx="22797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3" name="Google Shape;823;p34"/>
          <p:cNvSpPr/>
          <p:nvPr/>
        </p:nvSpPr>
        <p:spPr>
          <a:xfrm>
            <a:off x="625004" y="1973759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단계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/>
          <p:nvPr/>
        </p:nvSpPr>
        <p:spPr>
          <a:xfrm>
            <a:off x="2780854" y="1894582"/>
            <a:ext cx="146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5" name="Google Shape;825;p34"/>
          <p:cNvSpPr/>
          <p:nvPr/>
        </p:nvSpPr>
        <p:spPr>
          <a:xfrm>
            <a:off x="2904827" y="1973759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소요 시간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4"/>
          <p:cNvSpPr/>
          <p:nvPr/>
        </p:nvSpPr>
        <p:spPr>
          <a:xfrm>
            <a:off x="4246438" y="1894582"/>
            <a:ext cx="130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7" name="Google Shape;827;p34"/>
          <p:cNvSpPr/>
          <p:nvPr/>
        </p:nvSpPr>
        <p:spPr>
          <a:xfrm>
            <a:off x="4370412" y="1973759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비용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4"/>
          <p:cNvSpPr/>
          <p:nvPr/>
        </p:nvSpPr>
        <p:spPr>
          <a:xfrm>
            <a:off x="5549131" y="1894582"/>
            <a:ext cx="30939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9" name="Google Shape;829;p34"/>
          <p:cNvSpPr/>
          <p:nvPr/>
        </p:nvSpPr>
        <p:spPr>
          <a:xfrm>
            <a:off x="5673105" y="1973759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담당 AI 파트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4"/>
          <p:cNvSpPr/>
          <p:nvPr/>
        </p:nvSpPr>
        <p:spPr>
          <a:xfrm>
            <a:off x="625004" y="2335337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기획 (목차, 타겟, 차별화)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4"/>
          <p:cNvSpPr/>
          <p:nvPr/>
        </p:nvSpPr>
        <p:spPr>
          <a:xfrm>
            <a:off x="2904827" y="2335337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4"/>
          <p:cNvSpPr/>
          <p:nvPr/>
        </p:nvSpPr>
        <p:spPr>
          <a:xfrm>
            <a:off x="4370412" y="2335337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4"/>
          <p:cNvSpPr/>
          <p:nvPr/>
        </p:nvSpPr>
        <p:spPr>
          <a:xfrm>
            <a:off x="5673105" y="2335337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파트 1 기획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4"/>
          <p:cNvSpPr/>
          <p:nvPr/>
        </p:nvSpPr>
        <p:spPr>
          <a:xfrm>
            <a:off x="625004" y="2696914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집필 (5챕터, 15,000자)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4"/>
          <p:cNvSpPr/>
          <p:nvPr/>
        </p:nvSpPr>
        <p:spPr>
          <a:xfrm>
            <a:off x="2904827" y="2696914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3시간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4"/>
          <p:cNvSpPr/>
          <p:nvPr/>
        </p:nvSpPr>
        <p:spPr>
          <a:xfrm>
            <a:off x="4370412" y="2696914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4"/>
          <p:cNvSpPr/>
          <p:nvPr/>
        </p:nvSpPr>
        <p:spPr>
          <a:xfrm>
            <a:off x="5673105" y="2696914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파트 4 글쓰기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4"/>
          <p:cNvSpPr/>
          <p:nvPr/>
        </p:nvSpPr>
        <p:spPr>
          <a:xfrm>
            <a:off x="625004" y="3058492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디자인 (표지+내지+일러스트)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4"/>
          <p:cNvSpPr/>
          <p:nvPr/>
        </p:nvSpPr>
        <p:spPr>
          <a:xfrm>
            <a:off x="2904827" y="3058492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2시간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4"/>
          <p:cNvSpPr/>
          <p:nvPr/>
        </p:nvSpPr>
        <p:spPr>
          <a:xfrm>
            <a:off x="4370412" y="3058492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1만원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4"/>
          <p:cNvSpPr/>
          <p:nvPr/>
        </p:nvSpPr>
        <p:spPr>
          <a:xfrm>
            <a:off x="5673105" y="3058492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파트 3 디자인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4"/>
          <p:cNvSpPr/>
          <p:nvPr/>
        </p:nvSpPr>
        <p:spPr>
          <a:xfrm>
            <a:off x="625004" y="3420070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마케팅 (영상 3편+카드뉴스 5편)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4"/>
          <p:cNvSpPr/>
          <p:nvPr/>
        </p:nvSpPr>
        <p:spPr>
          <a:xfrm>
            <a:off x="2904827" y="3420070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3시간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4"/>
          <p:cNvSpPr/>
          <p:nvPr/>
        </p:nvSpPr>
        <p:spPr>
          <a:xfrm>
            <a:off x="4370412" y="3420070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1만원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4"/>
          <p:cNvSpPr/>
          <p:nvPr/>
        </p:nvSpPr>
        <p:spPr>
          <a:xfrm>
            <a:off x="5673105" y="3420070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파트 5+6+7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4"/>
          <p:cNvSpPr/>
          <p:nvPr/>
        </p:nvSpPr>
        <p:spPr>
          <a:xfrm>
            <a:off x="625004" y="3781648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등록 + 판매 시작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4"/>
          <p:cNvSpPr/>
          <p:nvPr/>
        </p:nvSpPr>
        <p:spPr>
          <a:xfrm>
            <a:off x="2904827" y="3781648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4"/>
          <p:cNvSpPr/>
          <p:nvPr/>
        </p:nvSpPr>
        <p:spPr>
          <a:xfrm>
            <a:off x="4370412" y="3781648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4"/>
          <p:cNvSpPr/>
          <p:nvPr/>
        </p:nvSpPr>
        <p:spPr>
          <a:xfrm>
            <a:off x="5673105" y="3781648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4"/>
          <p:cNvSpPr/>
          <p:nvPr/>
        </p:nvSpPr>
        <p:spPr>
          <a:xfrm>
            <a:off x="625004" y="4143226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총합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4"/>
          <p:cNvSpPr/>
          <p:nvPr/>
        </p:nvSpPr>
        <p:spPr>
          <a:xfrm>
            <a:off x="2904827" y="4143226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약 10시간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4"/>
          <p:cNvSpPr/>
          <p:nvPr/>
        </p:nvSpPr>
        <p:spPr>
          <a:xfrm>
            <a:off x="4370412" y="4143226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약 2만원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4"/>
          <p:cNvSpPr/>
          <p:nvPr/>
        </p:nvSpPr>
        <p:spPr>
          <a:xfrm>
            <a:off x="5673105" y="4143226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7개 파트 전부 활용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5"/>
          <p:cNvSpPr/>
          <p:nvPr/>
        </p:nvSpPr>
        <p:spPr>
          <a:xfrm>
            <a:off x="496119" y="1199183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5"/>
          <p:cNvSpPr/>
          <p:nvPr/>
        </p:nvSpPr>
        <p:spPr>
          <a:xfrm>
            <a:off x="570533" y="1236390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5"/>
          <p:cNvSpPr/>
          <p:nvPr/>
        </p:nvSpPr>
        <p:spPr>
          <a:xfrm>
            <a:off x="496125" y="1437303"/>
            <a:ext cx="81519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50"/>
              <a:buFont typeface="Roboto Slab"/>
              <a:buNone/>
            </a:pPr>
            <a:r>
              <a:rPr b="1" i="0" lang="ko-KR" sz="3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아이디어를</a:t>
            </a:r>
            <a:r>
              <a:rPr b="1" lang="ko-KR" sz="3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ko-KR" sz="3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사업으로</a:t>
            </a:r>
            <a:endParaRPr b="1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5"/>
          <p:cNvSpPr/>
          <p:nvPr/>
        </p:nvSpPr>
        <p:spPr>
          <a:xfrm>
            <a:off x="496119" y="2693119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좋은 아이디어는 누구에게나 있습니다. 하지만 그것을 실제 수익과 연결하는 사람은 극소수입니다. </a:t>
            </a:r>
            <a:b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오케스트라 시대, 이제 그 간격이 </a:t>
            </a:r>
            <a:r>
              <a:rPr b="1" i="0" lang="ko-KR" sz="13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주말 이틀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좁혀졌습니다.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5"/>
          <p:cNvSpPr/>
          <p:nvPr/>
        </p:nvSpPr>
        <p:spPr>
          <a:xfrm>
            <a:off x="496125" y="3376975"/>
            <a:ext cx="2634600" cy="100110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5"/>
          <p:cNvSpPr/>
          <p:nvPr/>
        </p:nvSpPr>
        <p:spPr>
          <a:xfrm>
            <a:off x="620104" y="3500957"/>
            <a:ext cx="2386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2010년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5"/>
          <p:cNvSpPr/>
          <p:nvPr/>
        </p:nvSpPr>
        <p:spPr>
          <a:xfrm>
            <a:off x="620104" y="3847321"/>
            <a:ext cx="238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개발팀 + 디자이너 + 서버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6개월~1년 · 5,000만원+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5"/>
          <p:cNvSpPr/>
          <p:nvPr/>
        </p:nvSpPr>
        <p:spPr>
          <a:xfrm>
            <a:off x="3254662" y="3376975"/>
            <a:ext cx="2634600" cy="100110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5"/>
          <p:cNvSpPr/>
          <p:nvPr/>
        </p:nvSpPr>
        <p:spPr>
          <a:xfrm>
            <a:off x="3378635" y="3500957"/>
            <a:ext cx="2386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2020년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5"/>
          <p:cNvSpPr/>
          <p:nvPr/>
        </p:nvSpPr>
        <p:spPr>
          <a:xfrm>
            <a:off x="3378635" y="3847321"/>
            <a:ext cx="2386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노코드 + 프리랜서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1~3개월 · 500만원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5"/>
          <p:cNvSpPr/>
          <p:nvPr/>
        </p:nvSpPr>
        <p:spPr>
          <a:xfrm>
            <a:off x="6013273" y="3376975"/>
            <a:ext cx="2634600" cy="100110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5"/>
          <p:cNvSpPr/>
          <p:nvPr/>
        </p:nvSpPr>
        <p:spPr>
          <a:xfrm>
            <a:off x="6137238" y="3500957"/>
            <a:ext cx="2386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2025년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5"/>
          <p:cNvSpPr/>
          <p:nvPr/>
        </p:nvSpPr>
        <p:spPr>
          <a:xfrm>
            <a:off x="6137238" y="3847321"/>
            <a:ext cx="238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+ 노트북 + 아이디어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10일~</a:t>
            </a:r>
            <a:r>
              <a:rPr b="1" lang="ko-KR" sz="12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 · 월 </a:t>
            </a:r>
            <a:r>
              <a:rPr b="1" lang="ko-KR" sz="12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만원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6"/>
          <p:cNvSpPr/>
          <p:nvPr/>
        </p:nvSpPr>
        <p:spPr>
          <a:xfrm>
            <a:off x="496119" y="919179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왜 상업용으로 생각해야 하는가?</a:t>
            </a:r>
            <a:endParaRPr b="1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6"/>
          <p:cNvSpPr/>
          <p:nvPr/>
        </p:nvSpPr>
        <p:spPr>
          <a:xfrm>
            <a:off x="496119" y="1836837"/>
            <a:ext cx="3755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🌱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취미 프로젝트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6"/>
          <p:cNvSpPr/>
          <p:nvPr/>
        </p:nvSpPr>
        <p:spPr>
          <a:xfrm>
            <a:off x="496119" y="2159422"/>
            <a:ext cx="37554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내가 쓰려고 만든다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아무도 안 써도 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디자인 대충 해도 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성장이 없음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피드백을 받을 기회 없음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6"/>
          <p:cNvSpPr/>
          <p:nvPr/>
        </p:nvSpPr>
        <p:spPr>
          <a:xfrm>
            <a:off x="4469606" y="1712863"/>
            <a:ext cx="4272300" cy="1655700"/>
          </a:xfrm>
          <a:prstGeom prst="roundRect">
            <a:avLst>
              <a:gd fmla="val 112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81" name="Google Shape;881;p36"/>
          <p:cNvSpPr/>
          <p:nvPr/>
        </p:nvSpPr>
        <p:spPr>
          <a:xfrm>
            <a:off x="4593580" y="1836837"/>
            <a:ext cx="4024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🌳</a:t>
            </a:r>
            <a:r>
              <a:rPr b="0" i="0" lang="ko-KR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상업용 프로젝트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6"/>
          <p:cNvSpPr/>
          <p:nvPr/>
        </p:nvSpPr>
        <p:spPr>
          <a:xfrm>
            <a:off x="4593580" y="2159422"/>
            <a:ext cx="4024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다른 사람의 문제를 해결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사용자가 있어야 의미 있음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첫인상이 중요 (디자인 필수)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피드백 → 개선 → 성장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실력이 빠르게 올라감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6"/>
          <p:cNvSpPr/>
          <p:nvPr/>
        </p:nvSpPr>
        <p:spPr>
          <a:xfrm>
            <a:off x="496119" y="3619750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4" name="Google Shape;8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799534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36"/>
          <p:cNvSpPr/>
          <p:nvPr/>
        </p:nvSpPr>
        <p:spPr>
          <a:xfrm>
            <a:off x="899071" y="3774680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상업용으로 만들어야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더 진지하게 고민하고, 더 빠르게 성장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합니다. 수익은 그 결과물일 뿐입니다.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7"/>
          <p:cNvSpPr/>
          <p:nvPr/>
        </p:nvSpPr>
        <p:spPr>
          <a:xfrm>
            <a:off x="496119" y="551706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발전 4단계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7"/>
          <p:cNvSpPr/>
          <p:nvPr/>
        </p:nvSpPr>
        <p:spPr>
          <a:xfrm>
            <a:off x="496119" y="1187276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막연한 아이디어를 실제 제품으로 만들기 위해서는 4단계 과정이 필요합니다. 씨앗을 심고, </a:t>
            </a:r>
            <a:r>
              <a:rPr b="0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검증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하고, </a:t>
            </a:r>
            <a:r>
              <a:rPr b="0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벤치마킹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하고, </a:t>
            </a:r>
            <a:r>
              <a:rPr b="0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차별화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하는 과정입니다.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7"/>
          <p:cNvSpPr/>
          <p:nvPr/>
        </p:nvSpPr>
        <p:spPr>
          <a:xfrm>
            <a:off x="682154" y="1835348"/>
            <a:ext cx="38277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7"/>
          <p:cNvSpPr/>
          <p:nvPr/>
        </p:nvSpPr>
        <p:spPr>
          <a:xfrm>
            <a:off x="496119" y="1711300"/>
            <a:ext cx="372000" cy="37200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5" name="Google Shape;8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136" y="1804318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37"/>
          <p:cNvSpPr/>
          <p:nvPr/>
        </p:nvSpPr>
        <p:spPr>
          <a:xfrm>
            <a:off x="620092" y="2207344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1단계: 씨앗 — "이런 거 있으면 좋겠다"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7"/>
          <p:cNvSpPr/>
          <p:nvPr/>
        </p:nvSpPr>
        <p:spPr>
          <a:xfrm>
            <a:off x="620092" y="2531393"/>
            <a:ext cx="3765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불편 일기 쓰기, 주변 관찰, AI에게 아이디어 물어보기. 일상 속 작은 불편함이 최고의 아이디어 원천.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7"/>
          <p:cNvSpPr/>
          <p:nvPr/>
        </p:nvSpPr>
        <p:spPr>
          <a:xfrm>
            <a:off x="4820022" y="1649313"/>
            <a:ext cx="38277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7"/>
          <p:cNvSpPr/>
          <p:nvPr/>
        </p:nvSpPr>
        <p:spPr>
          <a:xfrm>
            <a:off x="4633987" y="1525265"/>
            <a:ext cx="372000" cy="37200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0" name="Google Shape;90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7004" y="1618283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37"/>
          <p:cNvSpPr/>
          <p:nvPr/>
        </p:nvSpPr>
        <p:spPr>
          <a:xfrm>
            <a:off x="4757961" y="2021309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2단계: 검증 — "나만 그런 건가?"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7"/>
          <p:cNvSpPr/>
          <p:nvPr/>
        </p:nvSpPr>
        <p:spPr>
          <a:xfrm>
            <a:off x="4757961" y="2345358"/>
            <a:ext cx="3765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Google Trends로 검색량 확인, 온라인 커뮤니티에서 같은 불편 호소 글 찾기, 간단한 설문조사 진행.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7"/>
          <p:cNvSpPr/>
          <p:nvPr/>
        </p:nvSpPr>
        <p:spPr>
          <a:xfrm>
            <a:off x="682154" y="3430563"/>
            <a:ext cx="38277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7"/>
          <p:cNvSpPr/>
          <p:nvPr/>
        </p:nvSpPr>
        <p:spPr>
          <a:xfrm>
            <a:off x="496119" y="3306514"/>
            <a:ext cx="372000" cy="37200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5" name="Google Shape;90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136" y="3399532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37"/>
          <p:cNvSpPr/>
          <p:nvPr/>
        </p:nvSpPr>
        <p:spPr>
          <a:xfrm>
            <a:off x="620092" y="3802559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3단계: 벤치마킹 — "다른 사람은 어떻게 풀었지?"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7"/>
          <p:cNvSpPr/>
          <p:nvPr/>
        </p:nvSpPr>
        <p:spPr>
          <a:xfrm>
            <a:off x="620092" y="4126607"/>
            <a:ext cx="3765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경쟁 앱 직접 사용해보기, 리뷰 분석, 강점/약점 표 작성. 이미 검증된 시장에 더 나은 해결책 제시.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7"/>
          <p:cNvSpPr/>
          <p:nvPr/>
        </p:nvSpPr>
        <p:spPr>
          <a:xfrm>
            <a:off x="4820022" y="3244528"/>
            <a:ext cx="38277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7"/>
          <p:cNvSpPr/>
          <p:nvPr/>
        </p:nvSpPr>
        <p:spPr>
          <a:xfrm>
            <a:off x="4633987" y="3120479"/>
            <a:ext cx="372000" cy="37200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0" name="Google Shape;91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7004" y="3213497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37"/>
          <p:cNvSpPr/>
          <p:nvPr/>
        </p:nvSpPr>
        <p:spPr>
          <a:xfrm>
            <a:off x="4757961" y="3616523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4단계: 차별화 — "내 것만의 무기는 뭐지?"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7"/>
          <p:cNvSpPr/>
          <p:nvPr/>
        </p:nvSpPr>
        <p:spPr>
          <a:xfrm>
            <a:off x="4757961" y="3940572"/>
            <a:ext cx="3765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독자적 기능 정의, 타겟 좁히기. 좁힐수록 기능이 명확해지고, 사용자의 만족도가 올라간다.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8"/>
          <p:cNvSpPr/>
          <p:nvPr/>
        </p:nvSpPr>
        <p:spPr>
          <a:xfrm>
            <a:off x="496119" y="412328"/>
            <a:ext cx="81519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벤치마킹 실전 &amp; 페르소나 설정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8"/>
          <p:cNvSpPr/>
          <p:nvPr/>
        </p:nvSpPr>
        <p:spPr>
          <a:xfrm>
            <a:off x="496119" y="988888"/>
            <a:ext cx="39435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🔍</a:t>
            </a:r>
            <a:r>
              <a:rPr b="0" i="0" lang="ko-KR" sz="1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경쟁 앱 분석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8"/>
          <p:cNvSpPr/>
          <p:nvPr/>
        </p:nvSpPr>
        <p:spPr>
          <a:xfrm>
            <a:off x="496119" y="1269950"/>
            <a:ext cx="3943500" cy="1331400"/>
          </a:xfrm>
          <a:prstGeom prst="roundRect">
            <a:avLst>
              <a:gd fmla="val 1223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1" name="Google Shape;921;p38"/>
          <p:cNvSpPr/>
          <p:nvPr/>
        </p:nvSpPr>
        <p:spPr>
          <a:xfrm>
            <a:off x="496119" y="1563291"/>
            <a:ext cx="3943500" cy="69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2" name="Google Shape;922;p38"/>
          <p:cNvSpPr/>
          <p:nvPr/>
        </p:nvSpPr>
        <p:spPr>
          <a:xfrm>
            <a:off x="496119" y="1854250"/>
            <a:ext cx="3943500" cy="69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3" name="Google Shape;923;p38"/>
          <p:cNvSpPr/>
          <p:nvPr/>
        </p:nvSpPr>
        <p:spPr>
          <a:xfrm>
            <a:off x="496119" y="2308027"/>
            <a:ext cx="3943500" cy="69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4" name="Google Shape;924;p38"/>
          <p:cNvSpPr/>
          <p:nvPr/>
        </p:nvSpPr>
        <p:spPr>
          <a:xfrm>
            <a:off x="501030" y="1274713"/>
            <a:ext cx="865500" cy="2886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5" name="Google Shape;925;p38"/>
          <p:cNvSpPr/>
          <p:nvPr/>
        </p:nvSpPr>
        <p:spPr>
          <a:xfrm>
            <a:off x="609526" y="1336402"/>
            <a:ext cx="11055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8"/>
          <p:cNvSpPr/>
          <p:nvPr/>
        </p:nvSpPr>
        <p:spPr>
          <a:xfrm>
            <a:off x="1366465" y="1274713"/>
            <a:ext cx="1101600" cy="2886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7" name="Google Shape;927;p38"/>
          <p:cNvSpPr/>
          <p:nvPr/>
        </p:nvSpPr>
        <p:spPr>
          <a:xfrm>
            <a:off x="1474961" y="1336402"/>
            <a:ext cx="13416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강점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8"/>
          <p:cNvSpPr/>
          <p:nvPr/>
        </p:nvSpPr>
        <p:spPr>
          <a:xfrm>
            <a:off x="2467942" y="1274713"/>
            <a:ext cx="983400" cy="2886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9" name="Google Shape;929;p38"/>
          <p:cNvSpPr/>
          <p:nvPr/>
        </p:nvSpPr>
        <p:spPr>
          <a:xfrm>
            <a:off x="2576438" y="1336402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약점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8"/>
          <p:cNvSpPr/>
          <p:nvPr/>
        </p:nvSpPr>
        <p:spPr>
          <a:xfrm>
            <a:off x="3451399" y="1274713"/>
            <a:ext cx="983400" cy="2886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31" name="Google Shape;931;p38"/>
          <p:cNvSpPr/>
          <p:nvPr/>
        </p:nvSpPr>
        <p:spPr>
          <a:xfrm>
            <a:off x="3559894" y="1336402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내 전략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8"/>
          <p:cNvSpPr/>
          <p:nvPr/>
        </p:nvSpPr>
        <p:spPr>
          <a:xfrm>
            <a:off x="609526" y="1627361"/>
            <a:ext cx="11055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Forest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8"/>
          <p:cNvSpPr/>
          <p:nvPr/>
        </p:nvSpPr>
        <p:spPr>
          <a:xfrm>
            <a:off x="1474961" y="1627361"/>
            <a:ext cx="13416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게이미피케이션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8"/>
          <p:cNvSpPr/>
          <p:nvPr/>
        </p:nvSpPr>
        <p:spPr>
          <a:xfrm>
            <a:off x="2576438" y="1627361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기록 없음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8"/>
          <p:cNvSpPr/>
          <p:nvPr/>
        </p:nvSpPr>
        <p:spPr>
          <a:xfrm>
            <a:off x="3559894" y="1627361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통계 추가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8"/>
          <p:cNvSpPr/>
          <p:nvPr/>
        </p:nvSpPr>
        <p:spPr>
          <a:xfrm>
            <a:off x="609526" y="1918320"/>
            <a:ext cx="11055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Todoist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8"/>
          <p:cNvSpPr/>
          <p:nvPr/>
        </p:nvSpPr>
        <p:spPr>
          <a:xfrm>
            <a:off x="1474961" y="1918320"/>
            <a:ext cx="13416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깔끔한 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8"/>
          <p:cNvSpPr/>
          <p:nvPr/>
        </p:nvSpPr>
        <p:spPr>
          <a:xfrm>
            <a:off x="2576438" y="1918320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 없음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8"/>
          <p:cNvSpPr/>
          <p:nvPr/>
        </p:nvSpPr>
        <p:spPr>
          <a:xfrm>
            <a:off x="3559894" y="1918320"/>
            <a:ext cx="766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타이머+할일 통합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8"/>
          <p:cNvSpPr/>
          <p:nvPr/>
        </p:nvSpPr>
        <p:spPr>
          <a:xfrm>
            <a:off x="609526" y="2372097"/>
            <a:ext cx="11055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Focus To-Do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8"/>
          <p:cNvSpPr/>
          <p:nvPr/>
        </p:nvSpPr>
        <p:spPr>
          <a:xfrm>
            <a:off x="1474961" y="2372097"/>
            <a:ext cx="13416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뽀모도로 구조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8"/>
          <p:cNvSpPr/>
          <p:nvPr/>
        </p:nvSpPr>
        <p:spPr>
          <a:xfrm>
            <a:off x="2576438" y="2372097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학생 맞춤 아님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8"/>
          <p:cNvSpPr/>
          <p:nvPr/>
        </p:nvSpPr>
        <p:spPr>
          <a:xfrm>
            <a:off x="3559894" y="2372097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시험 일정 연동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8"/>
          <p:cNvSpPr/>
          <p:nvPr/>
        </p:nvSpPr>
        <p:spPr>
          <a:xfrm>
            <a:off x="496119" y="2735238"/>
            <a:ext cx="3943500" cy="14400"/>
          </a:xfrm>
          <a:prstGeom prst="roundRect">
            <a:avLst>
              <a:gd fmla="val 59998" name="adj"/>
            </a:avLst>
          </a:prstGeom>
          <a:solidFill>
            <a:srgbClr val="15213F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45" name="Google Shape;945;p38"/>
          <p:cNvSpPr/>
          <p:nvPr/>
        </p:nvSpPr>
        <p:spPr>
          <a:xfrm>
            <a:off x="496119" y="2883396"/>
            <a:ext cx="39435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👤</a:t>
            </a:r>
            <a:r>
              <a:rPr b="0" i="0" lang="ko-KR" sz="1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페르소나 기능 우선순위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8"/>
          <p:cNvSpPr/>
          <p:nvPr/>
        </p:nvSpPr>
        <p:spPr>
          <a:xfrm>
            <a:off x="496119" y="3164458"/>
            <a:ext cx="3943500" cy="1440600"/>
          </a:xfrm>
          <a:prstGeom prst="roundRect">
            <a:avLst>
              <a:gd fmla="val 1130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47" name="Google Shape;947;p38"/>
          <p:cNvSpPr/>
          <p:nvPr/>
        </p:nvSpPr>
        <p:spPr>
          <a:xfrm>
            <a:off x="500881" y="3169221"/>
            <a:ext cx="3933900" cy="28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48" name="Google Shape;948;p38"/>
          <p:cNvSpPr/>
          <p:nvPr/>
        </p:nvSpPr>
        <p:spPr>
          <a:xfrm>
            <a:off x="501030" y="3169221"/>
            <a:ext cx="1180200" cy="28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49" name="Google Shape;949;p38"/>
          <p:cNvSpPr/>
          <p:nvPr/>
        </p:nvSpPr>
        <p:spPr>
          <a:xfrm>
            <a:off x="609526" y="3230910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기능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8"/>
          <p:cNvSpPr/>
          <p:nvPr/>
        </p:nvSpPr>
        <p:spPr>
          <a:xfrm>
            <a:off x="1681163" y="3169221"/>
            <a:ext cx="904800" cy="28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51" name="Google Shape;951;p38"/>
          <p:cNvSpPr/>
          <p:nvPr/>
        </p:nvSpPr>
        <p:spPr>
          <a:xfrm>
            <a:off x="1792039" y="3230910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민수(중학생)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8"/>
          <p:cNvSpPr/>
          <p:nvPr/>
        </p:nvSpPr>
        <p:spPr>
          <a:xfrm>
            <a:off x="2585963" y="3169221"/>
            <a:ext cx="904800" cy="28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53" name="Google Shape;953;p38"/>
          <p:cNvSpPr/>
          <p:nvPr/>
        </p:nvSpPr>
        <p:spPr>
          <a:xfrm>
            <a:off x="2696840" y="3230910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서연(고등학생)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8"/>
          <p:cNvSpPr/>
          <p:nvPr/>
        </p:nvSpPr>
        <p:spPr>
          <a:xfrm>
            <a:off x="3490764" y="3169221"/>
            <a:ext cx="944100" cy="28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55" name="Google Shape;955;p38"/>
          <p:cNvSpPr/>
          <p:nvPr/>
        </p:nvSpPr>
        <p:spPr>
          <a:xfrm>
            <a:off x="3601641" y="3230910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준호(공시생)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8"/>
          <p:cNvSpPr/>
          <p:nvPr/>
        </p:nvSpPr>
        <p:spPr>
          <a:xfrm>
            <a:off x="500881" y="3455417"/>
            <a:ext cx="3933900" cy="28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57" name="Google Shape;957;p38"/>
          <p:cNvSpPr/>
          <p:nvPr/>
        </p:nvSpPr>
        <p:spPr>
          <a:xfrm>
            <a:off x="609526" y="3517106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기본 타이머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8"/>
          <p:cNvSpPr/>
          <p:nvPr/>
        </p:nvSpPr>
        <p:spPr>
          <a:xfrm>
            <a:off x="1792039" y="3517106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8"/>
          <p:cNvSpPr/>
          <p:nvPr/>
        </p:nvSpPr>
        <p:spPr>
          <a:xfrm>
            <a:off x="2696840" y="3517106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8"/>
          <p:cNvSpPr/>
          <p:nvPr/>
        </p:nvSpPr>
        <p:spPr>
          <a:xfrm>
            <a:off x="3601641" y="3517106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8"/>
          <p:cNvSpPr/>
          <p:nvPr/>
        </p:nvSpPr>
        <p:spPr>
          <a:xfrm>
            <a:off x="500881" y="3741613"/>
            <a:ext cx="3933900" cy="28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62" name="Google Shape;962;p38"/>
          <p:cNvSpPr/>
          <p:nvPr/>
        </p:nvSpPr>
        <p:spPr>
          <a:xfrm>
            <a:off x="609526" y="3803303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친구 경쟁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8"/>
          <p:cNvSpPr/>
          <p:nvPr/>
        </p:nvSpPr>
        <p:spPr>
          <a:xfrm>
            <a:off x="1792039" y="3803303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8"/>
          <p:cNvSpPr/>
          <p:nvPr/>
        </p:nvSpPr>
        <p:spPr>
          <a:xfrm>
            <a:off x="2696840" y="3803303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있으면 좋음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8"/>
          <p:cNvSpPr/>
          <p:nvPr/>
        </p:nvSpPr>
        <p:spPr>
          <a:xfrm>
            <a:off x="3601641" y="3803303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불필요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8"/>
          <p:cNvSpPr/>
          <p:nvPr/>
        </p:nvSpPr>
        <p:spPr>
          <a:xfrm>
            <a:off x="500881" y="4027810"/>
            <a:ext cx="3933900" cy="28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67" name="Google Shape;967;p38"/>
          <p:cNvSpPr/>
          <p:nvPr/>
        </p:nvSpPr>
        <p:spPr>
          <a:xfrm>
            <a:off x="609526" y="4089499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SNS 차단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8"/>
          <p:cNvSpPr/>
          <p:nvPr/>
        </p:nvSpPr>
        <p:spPr>
          <a:xfrm>
            <a:off x="1792039" y="4089499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8"/>
          <p:cNvSpPr/>
          <p:nvPr/>
        </p:nvSpPr>
        <p:spPr>
          <a:xfrm>
            <a:off x="2696840" y="4089499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있으면 좋음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8"/>
          <p:cNvSpPr/>
          <p:nvPr/>
        </p:nvSpPr>
        <p:spPr>
          <a:xfrm>
            <a:off x="3601641" y="4089499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불필요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8"/>
          <p:cNvSpPr/>
          <p:nvPr/>
        </p:nvSpPr>
        <p:spPr>
          <a:xfrm>
            <a:off x="500881" y="4314006"/>
            <a:ext cx="3933900" cy="28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72" name="Google Shape;972;p38"/>
          <p:cNvSpPr/>
          <p:nvPr/>
        </p:nvSpPr>
        <p:spPr>
          <a:xfrm>
            <a:off x="609526" y="4375696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주간 통계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8"/>
          <p:cNvSpPr/>
          <p:nvPr/>
        </p:nvSpPr>
        <p:spPr>
          <a:xfrm>
            <a:off x="1792039" y="4375696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불필요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8"/>
          <p:cNvSpPr/>
          <p:nvPr/>
        </p:nvSpPr>
        <p:spPr>
          <a:xfrm>
            <a:off x="2696840" y="4375696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있으면 좋음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8"/>
          <p:cNvSpPr/>
          <p:nvPr/>
        </p:nvSpPr>
        <p:spPr>
          <a:xfrm>
            <a:off x="3601641" y="4375696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8"/>
          <p:cNvSpPr/>
          <p:nvPr/>
        </p:nvSpPr>
        <p:spPr>
          <a:xfrm>
            <a:off x="4709145" y="988888"/>
            <a:ext cx="39435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💡</a:t>
            </a: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차별화 3가지 핵심 질문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7" name="Google Shape;97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45" y="1269950"/>
            <a:ext cx="3943501" cy="83567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38"/>
          <p:cNvSpPr/>
          <p:nvPr/>
        </p:nvSpPr>
        <p:spPr>
          <a:xfrm>
            <a:off x="4889078" y="1392734"/>
            <a:ext cx="36408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"기존 앱에 없는 게 뭐지?"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8"/>
          <p:cNvSpPr/>
          <p:nvPr/>
        </p:nvSpPr>
        <p:spPr>
          <a:xfrm>
            <a:off x="4889078" y="1657201"/>
            <a:ext cx="36408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과목별 통계 + 친구 경쟁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1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학생 전용 타이머 앱은 없음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0" name="Google Shape;98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45" y="2200573"/>
            <a:ext cx="3943501" cy="83567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38"/>
          <p:cNvSpPr/>
          <p:nvPr/>
        </p:nvSpPr>
        <p:spPr>
          <a:xfrm>
            <a:off x="4889078" y="2323356"/>
            <a:ext cx="36408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"내가 가장 잘 아는 게 뭐지?"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8"/>
          <p:cNvSpPr/>
          <p:nvPr/>
        </p:nvSpPr>
        <p:spPr>
          <a:xfrm>
            <a:off x="4889078" y="2587823"/>
            <a:ext cx="36408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중학생의 공부 패턴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1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직접 사용자이기 때문에 통찰이 있음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3" name="Google Shape;98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45" y="3131195"/>
            <a:ext cx="3943501" cy="83567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38"/>
          <p:cNvSpPr/>
          <p:nvPr/>
        </p:nvSpPr>
        <p:spPr>
          <a:xfrm>
            <a:off x="4889078" y="3253978"/>
            <a:ext cx="36408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"누구를 위한 건지 딱 정하면?"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8"/>
          <p:cNvSpPr/>
          <p:nvPr/>
        </p:nvSpPr>
        <p:spPr>
          <a:xfrm>
            <a:off x="4889078" y="3518446"/>
            <a:ext cx="36408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시험 기간 중학생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1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좁힐수록 기능이 명확해진다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8"/>
          <p:cNvSpPr/>
          <p:nvPr/>
        </p:nvSpPr>
        <p:spPr>
          <a:xfrm>
            <a:off x="4709145" y="4073649"/>
            <a:ext cx="3943500" cy="550800"/>
          </a:xfrm>
          <a:prstGeom prst="roundRect">
            <a:avLst>
              <a:gd fmla="val 2957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7" name="Google Shape;98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7641" y="4228579"/>
            <a:ext cx="135657" cy="108496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38"/>
          <p:cNvSpPr/>
          <p:nvPr/>
        </p:nvSpPr>
        <p:spPr>
          <a:xfrm>
            <a:off x="5061793" y="4186163"/>
            <a:ext cx="3482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"모든 사람을 위한 앱"은 아무도 안 쓴다. </a:t>
            </a:r>
            <a:r>
              <a:rPr b="1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딱 한 명</a:t>
            </a: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을 정하면, 오히려 더 많은 사람이 쓴다.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9"/>
          <p:cNvSpPr/>
          <p:nvPr/>
        </p:nvSpPr>
        <p:spPr>
          <a:xfrm>
            <a:off x="496119" y="680070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반복적 사고: 계속 업데이트하라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9"/>
          <p:cNvSpPr/>
          <p:nvPr/>
        </p:nvSpPr>
        <p:spPr>
          <a:xfrm>
            <a:off x="496119" y="1315641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완벽한 v1은 없습니다. 시작하고, 사용자의 목소리를 듣고, 빠르게 개선하는 것이 핵심입니다.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ko-KR" sz="11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AI 덕분에 수정 비용이 거의 0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"이 부분 바꿔줘" 한마디면 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9"/>
          <p:cNvSpPr/>
          <p:nvPr/>
        </p:nvSpPr>
        <p:spPr>
          <a:xfrm>
            <a:off x="418018" y="1887932"/>
            <a:ext cx="8151900" cy="2174100"/>
          </a:xfrm>
          <a:prstGeom prst="roundRect">
            <a:avLst>
              <a:gd fmla="val 856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97" name="Google Shape;997;p39"/>
          <p:cNvSpPr/>
          <p:nvPr/>
        </p:nvSpPr>
        <p:spPr>
          <a:xfrm>
            <a:off x="418018" y="2251891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98" name="Google Shape;998;p39"/>
          <p:cNvSpPr/>
          <p:nvPr/>
        </p:nvSpPr>
        <p:spPr>
          <a:xfrm>
            <a:off x="418018" y="2613469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99" name="Google Shape;999;p39"/>
          <p:cNvSpPr/>
          <p:nvPr/>
        </p:nvSpPr>
        <p:spPr>
          <a:xfrm>
            <a:off x="418018" y="2975047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00" name="Google Shape;1000;p39"/>
          <p:cNvSpPr/>
          <p:nvPr/>
        </p:nvSpPr>
        <p:spPr>
          <a:xfrm>
            <a:off x="418018" y="3336625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01" name="Google Shape;1001;p39"/>
          <p:cNvSpPr/>
          <p:nvPr/>
        </p:nvSpPr>
        <p:spPr>
          <a:xfrm>
            <a:off x="418018" y="3698203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02" name="Google Shape;1002;p39"/>
          <p:cNvSpPr/>
          <p:nvPr/>
        </p:nvSpPr>
        <p:spPr>
          <a:xfrm>
            <a:off x="422854" y="1892695"/>
            <a:ext cx="9771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03" name="Google Shape;1003;p39"/>
          <p:cNvSpPr/>
          <p:nvPr/>
        </p:nvSpPr>
        <p:spPr>
          <a:xfrm>
            <a:off x="546828" y="1971871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버전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9"/>
          <p:cNvSpPr/>
          <p:nvPr/>
        </p:nvSpPr>
        <p:spPr>
          <a:xfrm>
            <a:off x="1399911" y="1892695"/>
            <a:ext cx="22797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05" name="Google Shape;1005;p39"/>
          <p:cNvSpPr/>
          <p:nvPr/>
        </p:nvSpPr>
        <p:spPr>
          <a:xfrm>
            <a:off x="1523885" y="1971871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바꾼 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9"/>
          <p:cNvSpPr/>
          <p:nvPr/>
        </p:nvSpPr>
        <p:spPr>
          <a:xfrm>
            <a:off x="3679735" y="1892695"/>
            <a:ext cx="244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07" name="Google Shape;1007;p39"/>
          <p:cNvSpPr/>
          <p:nvPr/>
        </p:nvSpPr>
        <p:spPr>
          <a:xfrm>
            <a:off x="3803709" y="1971871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이유 (피드백)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9"/>
          <p:cNvSpPr/>
          <p:nvPr/>
        </p:nvSpPr>
        <p:spPr>
          <a:xfrm>
            <a:off x="6122376" y="1892695"/>
            <a:ext cx="244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09" name="Google Shape;1009;p39"/>
          <p:cNvSpPr/>
          <p:nvPr/>
        </p:nvSpPr>
        <p:spPr>
          <a:xfrm>
            <a:off x="6246350" y="1971871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결과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9"/>
          <p:cNvSpPr/>
          <p:nvPr/>
        </p:nvSpPr>
        <p:spPr>
          <a:xfrm>
            <a:off x="546828" y="2333449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9"/>
          <p:cNvSpPr/>
          <p:nvPr/>
        </p:nvSpPr>
        <p:spPr>
          <a:xfrm>
            <a:off x="1523885" y="2333449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기본 타이머 완성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9"/>
          <p:cNvSpPr/>
          <p:nvPr/>
        </p:nvSpPr>
        <p:spPr>
          <a:xfrm>
            <a:off x="3803709" y="2333449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첫 출발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9"/>
          <p:cNvSpPr/>
          <p:nvPr/>
        </p:nvSpPr>
        <p:spPr>
          <a:xfrm>
            <a:off x="6246350" y="2333449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작동하지만 아무도 안 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9"/>
          <p:cNvSpPr/>
          <p:nvPr/>
        </p:nvSpPr>
        <p:spPr>
          <a:xfrm>
            <a:off x="546828" y="2695027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9"/>
          <p:cNvSpPr/>
          <p:nvPr/>
        </p:nvSpPr>
        <p:spPr>
          <a:xfrm>
            <a:off x="1523885" y="2695027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다크 모드 추가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9"/>
          <p:cNvSpPr/>
          <p:nvPr/>
        </p:nvSpPr>
        <p:spPr>
          <a:xfrm>
            <a:off x="3803709" y="2695027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"밤에 눈이 아파요"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9"/>
          <p:cNvSpPr/>
          <p:nvPr/>
        </p:nvSpPr>
        <p:spPr>
          <a:xfrm>
            <a:off x="6246350" y="2695027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밤 사용률 2배 증가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9"/>
          <p:cNvSpPr/>
          <p:nvPr/>
        </p:nvSpPr>
        <p:spPr>
          <a:xfrm>
            <a:off x="546828" y="3056605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9"/>
          <p:cNvSpPr/>
          <p:nvPr/>
        </p:nvSpPr>
        <p:spPr>
          <a:xfrm>
            <a:off x="1523885" y="3056605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버튼으로 변경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9"/>
          <p:cNvSpPr/>
          <p:nvPr/>
        </p:nvSpPr>
        <p:spPr>
          <a:xfrm>
            <a:off x="3803709" y="3056605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"드롭다운 불편해요"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9"/>
          <p:cNvSpPr/>
          <p:nvPr/>
        </p:nvSpPr>
        <p:spPr>
          <a:xfrm>
            <a:off x="6246350" y="3056605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선택 속도 50% 빨라짐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9"/>
          <p:cNvSpPr/>
          <p:nvPr/>
        </p:nvSpPr>
        <p:spPr>
          <a:xfrm>
            <a:off x="546828" y="3418183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9"/>
          <p:cNvSpPr/>
          <p:nvPr/>
        </p:nvSpPr>
        <p:spPr>
          <a:xfrm>
            <a:off x="1523885" y="3418183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친구 경쟁 기능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9"/>
          <p:cNvSpPr/>
          <p:nvPr/>
        </p:nvSpPr>
        <p:spPr>
          <a:xfrm>
            <a:off x="3803709" y="3418183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"같이 공부하고 싶어요"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9"/>
          <p:cNvSpPr/>
          <p:nvPr/>
        </p:nvSpPr>
        <p:spPr>
          <a:xfrm>
            <a:off x="6246350" y="3418183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 3배 증가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9"/>
          <p:cNvSpPr/>
          <p:nvPr/>
        </p:nvSpPr>
        <p:spPr>
          <a:xfrm>
            <a:off x="546828" y="3779761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9"/>
          <p:cNvSpPr/>
          <p:nvPr/>
        </p:nvSpPr>
        <p:spPr>
          <a:xfrm>
            <a:off x="1523885" y="3779761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주간 리포트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39"/>
          <p:cNvSpPr/>
          <p:nvPr/>
        </p:nvSpPr>
        <p:spPr>
          <a:xfrm>
            <a:off x="3803709" y="3779761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주말 사용률 낮음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9"/>
          <p:cNvSpPr/>
          <p:nvPr/>
        </p:nvSpPr>
        <p:spPr>
          <a:xfrm>
            <a:off x="6246350" y="3779761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주말 사용률 40% 증가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9"/>
          <p:cNvSpPr/>
          <p:nvPr/>
        </p:nvSpPr>
        <p:spPr>
          <a:xfrm>
            <a:off x="418018" y="4201689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1" name="Google Shape;103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991" y="4381473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39"/>
          <p:cNvSpPr/>
          <p:nvPr/>
        </p:nvSpPr>
        <p:spPr>
          <a:xfrm>
            <a:off x="820970" y="4356619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v1이 완벽하지 않아도 괜찮습니다. 중요한 것은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출시</a:t>
            </a: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하고,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듣고</a:t>
            </a: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고치는 속도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입니다.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0"/>
          <p:cNvSpPr/>
          <p:nvPr/>
        </p:nvSpPr>
        <p:spPr>
          <a:xfrm>
            <a:off x="496119" y="372368"/>
            <a:ext cx="8151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50"/>
              <a:buFont typeface="Roboto Slab"/>
              <a:buNone/>
            </a:pPr>
            <a:r>
              <a:rPr b="0" i="0" lang="ko-KR" sz="2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지휘자의 마인드셋 5원칙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0"/>
          <p:cNvSpPr/>
          <p:nvPr/>
        </p:nvSpPr>
        <p:spPr>
          <a:xfrm>
            <a:off x="496119" y="914400"/>
            <a:ext cx="2651700" cy="1216500"/>
          </a:xfrm>
          <a:prstGeom prst="roundRect">
            <a:avLst>
              <a:gd fmla="val 136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0"/>
          <p:cNvSpPr/>
          <p:nvPr/>
        </p:nvSpPr>
        <p:spPr>
          <a:xfrm>
            <a:off x="606549" y="1024830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1" name="Google Shape;104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632" y="1115913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40"/>
          <p:cNvSpPr/>
          <p:nvPr/>
        </p:nvSpPr>
        <p:spPr>
          <a:xfrm>
            <a:off x="606549" y="1454572"/>
            <a:ext cx="2430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1. 문제부터 시작하라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0"/>
          <p:cNvSpPr/>
          <p:nvPr/>
        </p:nvSpPr>
        <p:spPr>
          <a:xfrm>
            <a:off x="606549" y="1686223"/>
            <a:ext cx="24309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 기술로 뭘 만들지?"가 아니라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 문제를 어떻게 풀지?"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 먼저다.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0"/>
          <p:cNvSpPr/>
          <p:nvPr/>
        </p:nvSpPr>
        <p:spPr>
          <a:xfrm>
            <a:off x="3246165" y="914400"/>
            <a:ext cx="2651700" cy="1216500"/>
          </a:xfrm>
          <a:prstGeom prst="roundRect">
            <a:avLst>
              <a:gd fmla="val 136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40"/>
          <p:cNvSpPr/>
          <p:nvPr/>
        </p:nvSpPr>
        <p:spPr>
          <a:xfrm>
            <a:off x="3356595" y="1024830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6" name="Google Shape;104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7678" y="1115913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40"/>
          <p:cNvSpPr/>
          <p:nvPr/>
        </p:nvSpPr>
        <p:spPr>
          <a:xfrm>
            <a:off x="3356595" y="1454572"/>
            <a:ext cx="2430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2. 완벽보다 시작이 먼저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0"/>
          <p:cNvSpPr/>
          <p:nvPr/>
        </p:nvSpPr>
        <p:spPr>
          <a:xfrm>
            <a:off x="3356595" y="1686223"/>
            <a:ext cx="24309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50%짜리를 내놓고, 나머지 50%는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피드백으로 채워라.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0"/>
          <p:cNvSpPr/>
          <p:nvPr/>
        </p:nvSpPr>
        <p:spPr>
          <a:xfrm>
            <a:off x="5996211" y="914400"/>
            <a:ext cx="2651700" cy="1216500"/>
          </a:xfrm>
          <a:prstGeom prst="roundRect">
            <a:avLst>
              <a:gd fmla="val 136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0"/>
          <p:cNvSpPr/>
          <p:nvPr/>
        </p:nvSpPr>
        <p:spPr>
          <a:xfrm>
            <a:off x="6106641" y="1024830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1" name="Google Shape;1051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7724" y="1115913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40"/>
          <p:cNvSpPr/>
          <p:nvPr/>
        </p:nvSpPr>
        <p:spPr>
          <a:xfrm>
            <a:off x="6106641" y="1454572"/>
            <a:ext cx="2430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3. 계속 물어봐라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0"/>
          <p:cNvSpPr/>
          <p:nvPr/>
        </p:nvSpPr>
        <p:spPr>
          <a:xfrm>
            <a:off x="6106641" y="1686223"/>
            <a:ext cx="24309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사용자에게, AI에게, 경쟁 제품에게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끊임없이 질문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하라.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0"/>
          <p:cNvSpPr/>
          <p:nvPr/>
        </p:nvSpPr>
        <p:spPr>
          <a:xfrm>
            <a:off x="496119" y="2229296"/>
            <a:ext cx="4026600" cy="1049400"/>
          </a:xfrm>
          <a:prstGeom prst="roundRect">
            <a:avLst>
              <a:gd fmla="val 157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0"/>
          <p:cNvSpPr/>
          <p:nvPr/>
        </p:nvSpPr>
        <p:spPr>
          <a:xfrm>
            <a:off x="606549" y="2339727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6" name="Google Shape;1056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632" y="2430810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40"/>
          <p:cNvSpPr/>
          <p:nvPr/>
        </p:nvSpPr>
        <p:spPr>
          <a:xfrm>
            <a:off x="606549" y="2769468"/>
            <a:ext cx="38058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4. AI의 한계를 알아라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0"/>
          <p:cNvSpPr/>
          <p:nvPr/>
        </p:nvSpPr>
        <p:spPr>
          <a:xfrm>
            <a:off x="606549" y="3001119"/>
            <a:ext cx="38058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AI는 도구일 뿐,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판단은 사람의 몫.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항상 검증하고 수정하라.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0"/>
          <p:cNvSpPr/>
          <p:nvPr/>
        </p:nvSpPr>
        <p:spPr>
          <a:xfrm>
            <a:off x="4621188" y="2229296"/>
            <a:ext cx="4026600" cy="1049400"/>
          </a:xfrm>
          <a:prstGeom prst="roundRect">
            <a:avLst>
              <a:gd fmla="val 157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40"/>
          <p:cNvSpPr/>
          <p:nvPr/>
        </p:nvSpPr>
        <p:spPr>
          <a:xfrm>
            <a:off x="4731618" y="2339727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1" name="Google Shape;1061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2701" y="2430810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40"/>
          <p:cNvSpPr/>
          <p:nvPr/>
        </p:nvSpPr>
        <p:spPr>
          <a:xfrm>
            <a:off x="4731618" y="2769468"/>
            <a:ext cx="38058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5. 나만의 이야기를 만들어라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0"/>
          <p:cNvSpPr/>
          <p:nvPr/>
        </p:nvSpPr>
        <p:spPr>
          <a:xfrm>
            <a:off x="4731618" y="3001119"/>
            <a:ext cx="38058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AI는 누구나 쓴다. 차별화는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"어떤 문제를 풀고 싶으냐"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에서 나온다.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0"/>
          <p:cNvSpPr/>
          <p:nvPr/>
        </p:nvSpPr>
        <p:spPr>
          <a:xfrm>
            <a:off x="496119" y="3487713"/>
            <a:ext cx="39411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❌</a:t>
            </a: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사라질 능력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40"/>
          <p:cNvSpPr/>
          <p:nvPr/>
        </p:nvSpPr>
        <p:spPr>
          <a:xfrm>
            <a:off x="496119" y="3763491"/>
            <a:ext cx="39411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 문법 암기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포토샵 도구 조작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편집 기술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단순 번역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수집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0"/>
          <p:cNvSpPr/>
          <p:nvPr/>
        </p:nvSpPr>
        <p:spPr>
          <a:xfrm>
            <a:off x="4631978" y="3389337"/>
            <a:ext cx="4100100" cy="1381800"/>
          </a:xfrm>
          <a:prstGeom prst="roundRect">
            <a:avLst>
              <a:gd fmla="val 1199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0"/>
          <p:cNvSpPr/>
          <p:nvPr/>
        </p:nvSpPr>
        <p:spPr>
          <a:xfrm>
            <a:off x="4742408" y="3487713"/>
            <a:ext cx="38793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살아남는 능력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0"/>
          <p:cNvSpPr/>
          <p:nvPr/>
        </p:nvSpPr>
        <p:spPr>
          <a:xfrm>
            <a:off x="4742408" y="3763491"/>
            <a:ext cx="38793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문제 정의 능력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심미적 판단력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스토리텔링 능력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문화적 맥락 이해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데이터 인사이트 도출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4" name="Google Shape;107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41"/>
          <p:cNvSpPr/>
          <p:nvPr/>
        </p:nvSpPr>
        <p:spPr>
          <a:xfrm>
            <a:off x="3925119" y="1688381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1"/>
          <p:cNvSpPr/>
          <p:nvPr/>
        </p:nvSpPr>
        <p:spPr>
          <a:xfrm>
            <a:off x="3999533" y="1725588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1"/>
          <p:cNvSpPr/>
          <p:nvPr/>
        </p:nvSpPr>
        <p:spPr>
          <a:xfrm>
            <a:off x="3925119" y="1926506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진짜 이걸로 뭘 만들었어?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1"/>
          <p:cNvSpPr/>
          <p:nvPr/>
        </p:nvSpPr>
        <p:spPr>
          <a:xfrm>
            <a:off x="3925119" y="2363614"/>
            <a:ext cx="4722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50"/>
              <a:buFont typeface="Roboto Slab"/>
              <a:buNone/>
            </a:pPr>
            <a:r>
              <a:rPr b="0" i="0" lang="ko-KR" sz="1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실제 사례 12선 — 앱 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1"/>
          <p:cNvSpPr/>
          <p:nvPr/>
        </p:nvSpPr>
        <p:spPr>
          <a:xfrm>
            <a:off x="3925119" y="2859732"/>
            <a:ext cx="4722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코딩 도구로 실제로 무언가를 만든 사람들의 이야기입니다. 개발자도, 전문가도 아닌 평범한 사람들이 </a:t>
            </a:r>
            <a:r>
              <a:rPr b="0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AI를 도구 삼아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앱을 만들고, 수익을 내고, 문제를 해결했습니다. 이제 그 12가지 사례를 직접 확인해보세요.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2"/>
          <p:cNvSpPr/>
          <p:nvPr/>
        </p:nvSpPr>
        <p:spPr>
          <a:xfrm>
            <a:off x="496119" y="406078"/>
            <a:ext cx="81519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550"/>
              <a:buFont typeface="Roboto Slab"/>
              <a:buNone/>
            </a:pPr>
            <a:r>
              <a:rPr b="0" i="0" lang="ko-KR" sz="15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실제 앱 사례 6선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6" name="Google Shape;10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56196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42"/>
          <p:cNvSpPr/>
          <p:nvPr/>
        </p:nvSpPr>
        <p:spPr>
          <a:xfrm>
            <a:off x="604986" y="967457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2"/>
          <p:cNvSpPr/>
          <p:nvPr/>
        </p:nvSpPr>
        <p:spPr>
          <a:xfrm>
            <a:off x="874365" y="845121"/>
            <a:ext cx="7684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PhotoAI.com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2"/>
          <p:cNvSpPr/>
          <p:nvPr/>
        </p:nvSpPr>
        <p:spPr>
          <a:xfrm>
            <a:off x="874365" y="999753"/>
            <a:ext cx="76845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네덜란드 1인 개발자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AI 코딩 + Stable Diffusion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200"/>
              </a:spcBef>
              <a:spcAft>
                <a:spcPts val="0"/>
              </a:spcAft>
              <a:buClr>
                <a:srgbClr val="3257B8"/>
              </a:buClr>
              <a:buSzPts val="600"/>
              <a:buFont typeface="Roboto"/>
              <a:buNone/>
            </a:pPr>
            <a:r>
              <a:rPr b="1" i="0" lang="ko-KR" sz="6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월 매출 1억 원, 직원 0명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0" name="Google Shape;109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78595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42"/>
          <p:cNvSpPr/>
          <p:nvPr/>
        </p:nvSpPr>
        <p:spPr>
          <a:xfrm>
            <a:off x="604986" y="1589856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2"/>
          <p:cNvSpPr/>
          <p:nvPr/>
        </p:nvSpPr>
        <p:spPr>
          <a:xfrm>
            <a:off x="874365" y="1467520"/>
            <a:ext cx="7684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교육용 퀴즈 앱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2"/>
          <p:cNvSpPr/>
          <p:nvPr/>
        </p:nvSpPr>
        <p:spPr>
          <a:xfrm>
            <a:off x="874365" y="1622152"/>
            <a:ext cx="76845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미국 초등학교 교사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Bolt.new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20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 만에 완성, 학생 120명 사용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4" name="Google Shape;109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00994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42"/>
          <p:cNvSpPr/>
          <p:nvPr/>
        </p:nvSpPr>
        <p:spPr>
          <a:xfrm>
            <a:off x="604986" y="2212256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2"/>
          <p:cNvSpPr/>
          <p:nvPr/>
        </p:nvSpPr>
        <p:spPr>
          <a:xfrm>
            <a:off x="874365" y="2089919"/>
            <a:ext cx="7684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중고 교과서 플랫폼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42"/>
          <p:cNvSpPr/>
          <p:nvPr/>
        </p:nvSpPr>
        <p:spPr>
          <a:xfrm>
            <a:off x="874365" y="2244551"/>
            <a:ext cx="76845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한국 대학생 3명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V0 (Vercel)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20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2시간 만에 랜딩페이지, 회원 200명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8" name="Google Shape;109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623393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42"/>
          <p:cNvSpPr/>
          <p:nvPr/>
        </p:nvSpPr>
        <p:spPr>
          <a:xfrm>
            <a:off x="604986" y="2834655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2"/>
          <p:cNvSpPr/>
          <p:nvPr/>
        </p:nvSpPr>
        <p:spPr>
          <a:xfrm>
            <a:off x="874365" y="2712318"/>
            <a:ext cx="7684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네일샵 예약 시스템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2"/>
          <p:cNvSpPr/>
          <p:nvPr/>
        </p:nvSpPr>
        <p:spPr>
          <a:xfrm>
            <a:off x="874365" y="2866951"/>
            <a:ext cx="76845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40대 네일샵 사장님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Lovable + Supabase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200"/>
              </a:spcBef>
              <a:spcAft>
                <a:spcPts val="0"/>
              </a:spcAft>
              <a:buClr>
                <a:srgbClr val="3257B8"/>
              </a:buClr>
              <a:buSzPts val="600"/>
              <a:buFont typeface="Roboto"/>
              <a:buNone/>
            </a:pPr>
            <a:r>
              <a:rPr b="1" i="0" lang="ko-KR" sz="6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전화예약 70% 감소, 노쇼 30% 감소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2" name="Google Shape;110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245793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42"/>
          <p:cNvSpPr/>
          <p:nvPr/>
        </p:nvSpPr>
        <p:spPr>
          <a:xfrm>
            <a:off x="604986" y="3457054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2"/>
          <p:cNvSpPr/>
          <p:nvPr/>
        </p:nvSpPr>
        <p:spPr>
          <a:xfrm>
            <a:off x="874365" y="3334717"/>
            <a:ext cx="7684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교실 좌석 배치 앱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2"/>
          <p:cNvSpPr/>
          <p:nvPr/>
        </p:nvSpPr>
        <p:spPr>
          <a:xfrm>
            <a:off x="874365" y="3489350"/>
            <a:ext cx="76845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중학생 3명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Replit Agent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20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선생님 6명이 매주 사용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6" name="Google Shape;110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868192"/>
            <a:ext cx="81517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42"/>
          <p:cNvSpPr/>
          <p:nvPr/>
        </p:nvSpPr>
        <p:spPr>
          <a:xfrm>
            <a:off x="604986" y="4079453"/>
            <a:ext cx="11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2"/>
          <p:cNvSpPr/>
          <p:nvPr/>
        </p:nvSpPr>
        <p:spPr>
          <a:xfrm>
            <a:off x="874365" y="3957117"/>
            <a:ext cx="76845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YouTube 요약 확장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2"/>
          <p:cNvSpPr/>
          <p:nvPr/>
        </p:nvSpPr>
        <p:spPr>
          <a:xfrm>
            <a:off x="874365" y="4111749"/>
            <a:ext cx="76845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경영학과 대학생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Cursor + Claude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20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주간 사용자 3,000명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2"/>
          <p:cNvSpPr/>
          <p:nvPr/>
        </p:nvSpPr>
        <p:spPr>
          <a:xfrm>
            <a:off x="496119" y="4496916"/>
            <a:ext cx="8151900" cy="240600"/>
          </a:xfrm>
          <a:prstGeom prst="roundRect">
            <a:avLst>
              <a:gd fmla="val 495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1" name="Google Shape;111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518" y="4598045"/>
            <a:ext cx="99268" cy="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42"/>
          <p:cNvSpPr/>
          <p:nvPr/>
        </p:nvSpPr>
        <p:spPr>
          <a:xfrm>
            <a:off x="754187" y="4567610"/>
            <a:ext cx="8271600" cy="1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사례들의 공통점: 코딩 전문가가 아닌 </a:t>
            </a:r>
            <a:r>
              <a:rPr b="1" i="0" lang="ko-KR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일반인</a:t>
            </a:r>
            <a:r>
              <a:rPr b="0" i="0" lang="ko-KR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만들었다는 것!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43"/>
          <p:cNvSpPr/>
          <p:nvPr/>
        </p:nvSpPr>
        <p:spPr>
          <a:xfrm>
            <a:off x="496119" y="367010"/>
            <a:ext cx="451200" cy="126600"/>
          </a:xfrm>
          <a:prstGeom prst="roundRect">
            <a:avLst>
              <a:gd fmla="val 7897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43"/>
          <p:cNvSpPr/>
          <p:nvPr/>
        </p:nvSpPr>
        <p:spPr>
          <a:xfrm>
            <a:off x="546125" y="392013"/>
            <a:ext cx="808500" cy="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3 계속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43"/>
          <p:cNvSpPr/>
          <p:nvPr/>
        </p:nvSpPr>
        <p:spPr>
          <a:xfrm>
            <a:off x="496119" y="516062"/>
            <a:ext cx="8151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실제 사례 12선 — 콘텐츠 &amp; 비즈니스 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1" name="Google Shape;11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860450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43"/>
          <p:cNvSpPr/>
          <p:nvPr/>
        </p:nvSpPr>
        <p:spPr>
          <a:xfrm>
            <a:off x="609823" y="1085329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3"/>
          <p:cNvSpPr/>
          <p:nvPr/>
        </p:nvSpPr>
        <p:spPr>
          <a:xfrm>
            <a:off x="894978" y="953319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lo-fi 음악 유튜브 (사례 7)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43"/>
          <p:cNvSpPr/>
          <p:nvPr/>
        </p:nvSpPr>
        <p:spPr>
          <a:xfrm>
            <a:off x="894978" y="1117104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한국 고등학생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Suno + Midjourney + CapCut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1000"/>
              </a:lnSpc>
              <a:spcBef>
                <a:spcPts val="25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구독자 8,000명, </a:t>
            </a:r>
            <a:r>
              <a:rPr b="0" i="0" lang="ko-KR" sz="6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월 수익 30만원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5" name="Google Shape;112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22437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43"/>
          <p:cNvSpPr/>
          <p:nvPr/>
        </p:nvSpPr>
        <p:spPr>
          <a:xfrm>
            <a:off x="609823" y="1747317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3"/>
          <p:cNvSpPr/>
          <p:nvPr/>
        </p:nvSpPr>
        <p:spPr>
          <a:xfrm>
            <a:off x="894978" y="1615306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화장품 광고 영상 (사례 8)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3"/>
          <p:cNvSpPr/>
          <p:nvPr/>
        </p:nvSpPr>
        <p:spPr>
          <a:xfrm>
            <a:off x="894978" y="1779091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소규모 브랜드 3명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Runway + Suno + CapCut + Claude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1000"/>
              </a:lnSpc>
              <a:spcBef>
                <a:spcPts val="250"/>
              </a:spcBef>
              <a:spcAft>
                <a:spcPts val="0"/>
              </a:spcAft>
              <a:buClr>
                <a:srgbClr val="3257B8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영상 비용 90% 절감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(300만→3만원)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9" name="Google Shape;112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84425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43"/>
          <p:cNvSpPr/>
          <p:nvPr/>
        </p:nvSpPr>
        <p:spPr>
          <a:xfrm>
            <a:off x="609823" y="2409304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3"/>
          <p:cNvSpPr/>
          <p:nvPr/>
        </p:nvSpPr>
        <p:spPr>
          <a:xfrm>
            <a:off x="894978" y="2277294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마케팅 전자책 (사례 9)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3"/>
          <p:cNvSpPr/>
          <p:nvPr/>
        </p:nvSpPr>
        <p:spPr>
          <a:xfrm>
            <a:off x="894978" y="2441079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프리랜서 마케터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Claude + Midjourney + Gamma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1000"/>
              </a:lnSpc>
              <a:spcBef>
                <a:spcPts val="25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전자책 500부 판매, 약 500만원 수익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3" name="Google Shape;113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846412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43"/>
          <p:cNvSpPr/>
          <p:nvPr/>
        </p:nvSpPr>
        <p:spPr>
          <a:xfrm>
            <a:off x="609823" y="3071292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43"/>
          <p:cNvSpPr/>
          <p:nvPr/>
        </p:nvSpPr>
        <p:spPr>
          <a:xfrm>
            <a:off x="894978" y="2939281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교육 영상 시리즈 (사례 10)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43"/>
          <p:cNvSpPr/>
          <p:nvPr/>
        </p:nvSpPr>
        <p:spPr>
          <a:xfrm>
            <a:off x="894978" y="3103066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학원 강사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Claude + HeyGen + Canva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1000"/>
              </a:lnSpc>
              <a:spcBef>
                <a:spcPts val="25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유튜브 2,000명, 과외 문의 주 5건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7" name="Google Shape;113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508400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43"/>
          <p:cNvSpPr/>
          <p:nvPr/>
        </p:nvSpPr>
        <p:spPr>
          <a:xfrm>
            <a:off x="609823" y="3733279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43"/>
          <p:cNvSpPr/>
          <p:nvPr/>
        </p:nvSpPr>
        <p:spPr>
          <a:xfrm>
            <a:off x="894978" y="3601269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캐릭터 굿즈 (사례 11)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3"/>
          <p:cNvSpPr/>
          <p:nvPr/>
        </p:nvSpPr>
        <p:spPr>
          <a:xfrm>
            <a:off x="894978" y="3765054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고등학생 미술동아리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Midjourney + Canva + 스마트스토어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1000"/>
              </a:lnSpc>
              <a:spcBef>
                <a:spcPts val="250"/>
              </a:spcBef>
              <a:spcAft>
                <a:spcPts val="0"/>
              </a:spcAft>
              <a:buClr>
                <a:srgbClr val="3257B8"/>
              </a:buClr>
              <a:buSzPts val="650"/>
              <a:buFont typeface="Roboto"/>
              <a:buNone/>
            </a:pPr>
            <a:r>
              <a:rPr b="1" i="0" lang="ko-KR" sz="6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월 매출 80만원, 축제 완판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1" name="Google Shape;114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4170387"/>
            <a:ext cx="8151763" cy="606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43"/>
          <p:cNvSpPr/>
          <p:nvPr/>
        </p:nvSpPr>
        <p:spPr>
          <a:xfrm>
            <a:off x="609823" y="4395267"/>
            <a:ext cx="125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3"/>
          <p:cNvSpPr/>
          <p:nvPr/>
        </p:nvSpPr>
        <p:spPr>
          <a:xfrm>
            <a:off x="894978" y="4263256"/>
            <a:ext cx="76599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그림일기 앱 (사례 12)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43"/>
          <p:cNvSpPr/>
          <p:nvPr/>
        </p:nvSpPr>
        <p:spPr>
          <a:xfrm>
            <a:off x="894978" y="4427041"/>
            <a:ext cx="76599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초등학교 교사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Create.xyz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1000"/>
              </a:lnSpc>
              <a:spcBef>
                <a:spcPts val="25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학부모 만족도 </a:t>
            </a: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4.8/5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44"/>
          <p:cNvSpPr/>
          <p:nvPr/>
        </p:nvSpPr>
        <p:spPr>
          <a:xfrm>
            <a:off x="496119" y="369094"/>
            <a:ext cx="81519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50"/>
              <a:buFont typeface="Roboto Slab"/>
              <a:buNone/>
            </a:pPr>
            <a:r>
              <a:rPr b="0" i="0" lang="ko-KR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12개 사례의 공통 패턴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44"/>
          <p:cNvSpPr/>
          <p:nvPr/>
        </p:nvSpPr>
        <p:spPr>
          <a:xfrm>
            <a:off x="496119" y="977354"/>
            <a:ext cx="86091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성공한 사례들을 분석하면 놀랍도록 일관된 패턴이 보입니다. 기술 수준이 아니라, </a:t>
            </a:r>
            <a:r>
              <a:rPr b="1" i="0" lang="ko-KR" sz="9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사고방식과 접근법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이들을 특별하게 만들었습니다.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44"/>
          <p:cNvSpPr/>
          <p:nvPr/>
        </p:nvSpPr>
        <p:spPr>
          <a:xfrm>
            <a:off x="496119" y="1297484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44"/>
          <p:cNvSpPr/>
          <p:nvPr/>
        </p:nvSpPr>
        <p:spPr>
          <a:xfrm>
            <a:off x="616223" y="1417588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자기 문제 해결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44"/>
          <p:cNvSpPr/>
          <p:nvPr/>
        </p:nvSpPr>
        <p:spPr>
          <a:xfrm>
            <a:off x="616223" y="1679897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자기가 겪는 불편함에서 시작. 네일샵, 교실 좌석, 공부 음악 모두 직접 불편을 느낀 사람이 만들었다.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44"/>
          <p:cNvSpPr/>
          <p:nvPr/>
        </p:nvSpPr>
        <p:spPr>
          <a:xfrm>
            <a:off x="4630192" y="1297484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44"/>
          <p:cNvSpPr/>
          <p:nvPr/>
        </p:nvSpPr>
        <p:spPr>
          <a:xfrm>
            <a:off x="4750296" y="1417588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🚀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빠른 출시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44"/>
          <p:cNvSpPr/>
          <p:nvPr/>
        </p:nvSpPr>
        <p:spPr>
          <a:xfrm>
            <a:off x="4750296" y="1679897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완벽하지 않아도 먼저 내놓음. PhotoAI, 퀴즈 앱, Chrome 확장 모두 완성도보다 속도를 택했다.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44"/>
          <p:cNvSpPr/>
          <p:nvPr/>
        </p:nvSpPr>
        <p:spPr>
          <a:xfrm>
            <a:off x="496119" y="2294855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44"/>
          <p:cNvSpPr/>
          <p:nvPr/>
        </p:nvSpPr>
        <p:spPr>
          <a:xfrm>
            <a:off x="616223" y="2414960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피드백 반영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44"/>
          <p:cNvSpPr/>
          <p:nvPr/>
        </p:nvSpPr>
        <p:spPr>
          <a:xfrm>
            <a:off x="616223" y="2677269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 반응을 보고 계속 개선. 교실 좌석 앱과 교육 영상은 반복 업데이트로 성장했다.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4"/>
          <p:cNvSpPr/>
          <p:nvPr/>
        </p:nvSpPr>
        <p:spPr>
          <a:xfrm>
            <a:off x="4630192" y="2294855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44"/>
          <p:cNvSpPr/>
          <p:nvPr/>
        </p:nvSpPr>
        <p:spPr>
          <a:xfrm>
            <a:off x="4750296" y="2414960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🛠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도구 조합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44"/>
          <p:cNvSpPr/>
          <p:nvPr/>
        </p:nvSpPr>
        <p:spPr>
          <a:xfrm>
            <a:off x="4750296" y="2677269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여러 AI를 창의적으로 조합. 화장품 광고는 Runway+Suno+Claude+CapCut 4가지를 함께 사용.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4"/>
          <p:cNvSpPr/>
          <p:nvPr/>
        </p:nvSpPr>
        <p:spPr>
          <a:xfrm>
            <a:off x="496119" y="3292227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44"/>
          <p:cNvSpPr/>
          <p:nvPr/>
        </p:nvSpPr>
        <p:spPr>
          <a:xfrm>
            <a:off x="616223" y="3412331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틈새 시장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44"/>
          <p:cNvSpPr/>
          <p:nvPr/>
        </p:nvSpPr>
        <p:spPr>
          <a:xfrm>
            <a:off x="616223" y="3674641"/>
            <a:ext cx="3777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특정 대상에 집중. 수학 교육, 네일샵, 1인 사업가처럼 타겟을 좁힐수록 강력해진다.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4"/>
          <p:cNvSpPr/>
          <p:nvPr/>
        </p:nvSpPr>
        <p:spPr>
          <a:xfrm>
            <a:off x="4630192" y="3292227"/>
            <a:ext cx="4017600" cy="881100"/>
          </a:xfrm>
          <a:prstGeom prst="roundRect">
            <a:avLst>
              <a:gd fmla="val 20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44"/>
          <p:cNvSpPr/>
          <p:nvPr/>
        </p:nvSpPr>
        <p:spPr>
          <a:xfrm>
            <a:off x="4750296" y="3412331"/>
            <a:ext cx="37776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💰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낮은 비용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4"/>
          <p:cNvSpPr/>
          <p:nvPr/>
        </p:nvSpPr>
        <p:spPr>
          <a:xfrm>
            <a:off x="4750296" y="3674641"/>
            <a:ext cx="37776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구독료만으로 시작. 전 사례 모두 초기 투자가 월 5만원 이하였다.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4"/>
          <p:cNvSpPr/>
          <p:nvPr/>
        </p:nvSpPr>
        <p:spPr>
          <a:xfrm>
            <a:off x="496119" y="4304109"/>
            <a:ext cx="8151900" cy="470400"/>
          </a:xfrm>
          <a:prstGeom prst="roundRect">
            <a:avLst>
              <a:gd fmla="val 383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1" name="Google Shape;117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223" y="4472880"/>
            <a:ext cx="150168" cy="120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44"/>
          <p:cNvSpPr/>
          <p:nvPr/>
        </p:nvSpPr>
        <p:spPr>
          <a:xfrm>
            <a:off x="886495" y="4450482"/>
            <a:ext cx="80985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핵심: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이 사람들의 공통점은 "코딩을 잘한다"가 아니라, </a:t>
            </a:r>
            <a:r>
              <a:rPr b="1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"어떤 문제를 풀지 명확히 알고 있었다"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는 것!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8" name="Google Shape;117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45"/>
          <p:cNvSpPr/>
          <p:nvPr/>
        </p:nvSpPr>
        <p:spPr>
          <a:xfrm>
            <a:off x="496119" y="662732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5"/>
          <p:cNvSpPr/>
          <p:nvPr/>
        </p:nvSpPr>
        <p:spPr>
          <a:xfrm>
            <a:off x="570533" y="699939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45"/>
          <p:cNvSpPr/>
          <p:nvPr/>
        </p:nvSpPr>
        <p:spPr>
          <a:xfrm>
            <a:off x="496119" y="900857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오케스트라란?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45"/>
          <p:cNvSpPr/>
          <p:nvPr/>
        </p:nvSpPr>
        <p:spPr>
          <a:xfrm>
            <a:off x="406822" y="1474440"/>
            <a:ext cx="2640000" cy="3006300"/>
          </a:xfrm>
          <a:prstGeom prst="roundRect">
            <a:avLst>
              <a:gd fmla="val 705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5"/>
          <p:cNvSpPr/>
          <p:nvPr/>
        </p:nvSpPr>
        <p:spPr>
          <a:xfrm>
            <a:off x="530796" y="1598414"/>
            <a:ext cx="2391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🎼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오케스트라 지휘자는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45"/>
          <p:cNvSpPr/>
          <p:nvPr/>
        </p:nvSpPr>
        <p:spPr>
          <a:xfrm>
            <a:off x="530796" y="1920999"/>
            <a:ext cx="23919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악기를 직접 연주하지 않는다. 대신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어떤 악기가 언제, 어떻게 연주할지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결정한다. 전체 흐름을 설계하고, 조화를 만들어내는 것이 지휘자의 역할.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45"/>
          <p:cNvSpPr/>
          <p:nvPr/>
        </p:nvSpPr>
        <p:spPr>
          <a:xfrm>
            <a:off x="530796" y="2885331"/>
            <a:ext cx="2391900" cy="14400"/>
          </a:xfrm>
          <a:prstGeom prst="roundRect">
            <a:avLst>
              <a:gd fmla="val 59998" name="adj"/>
            </a:avLst>
          </a:prstGeom>
          <a:solidFill>
            <a:srgbClr val="FFFFFF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45"/>
          <p:cNvSpPr/>
          <p:nvPr/>
        </p:nvSpPr>
        <p:spPr>
          <a:xfrm>
            <a:off x="530796" y="3070101"/>
            <a:ext cx="239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🤖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AI 오케스트라 지휘자도 마찬가지!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5"/>
          <p:cNvSpPr/>
          <p:nvPr/>
        </p:nvSpPr>
        <p:spPr>
          <a:xfrm>
            <a:off x="530796" y="3586535"/>
            <a:ext cx="2391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코드를 직접 쓰지 않고,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어떤 AI가 언제, 무엇을 만들지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결정한다. 당신이 지휘자가 되면, AI들이 연주한다.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45"/>
          <p:cNvSpPr/>
          <p:nvPr/>
        </p:nvSpPr>
        <p:spPr>
          <a:xfrm>
            <a:off x="3264768" y="1598414"/>
            <a:ext cx="1958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지휘자에게 필요한 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45"/>
          <p:cNvSpPr/>
          <p:nvPr/>
        </p:nvSpPr>
        <p:spPr>
          <a:xfrm>
            <a:off x="3264768" y="1916237"/>
            <a:ext cx="1958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문제를 정의하는 능력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적절한 AI 도구 선택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결과물을 판단하는 안목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빠르게 반복하는 실행력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5"/>
          <p:cNvSpPr/>
          <p:nvPr/>
        </p:nvSpPr>
        <p:spPr>
          <a:xfrm>
            <a:off x="3264768" y="3010719"/>
            <a:ext cx="1958700" cy="14400"/>
          </a:xfrm>
          <a:prstGeom prst="roundRect">
            <a:avLst>
              <a:gd fmla="val 59998" name="adj"/>
            </a:avLst>
          </a:prstGeom>
          <a:solidFill>
            <a:srgbClr val="15213F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45"/>
          <p:cNvSpPr/>
          <p:nvPr/>
        </p:nvSpPr>
        <p:spPr>
          <a:xfrm>
            <a:off x="3264768" y="3195489"/>
            <a:ext cx="1958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지휘자에게 필요 없는 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5"/>
          <p:cNvSpPr/>
          <p:nvPr/>
        </p:nvSpPr>
        <p:spPr>
          <a:xfrm>
            <a:off x="3264768" y="3513311"/>
            <a:ext cx="1958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코딩 문법 암기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디자인 툴 숙련도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편집 기술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수천만 원의 자본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6"/>
          <p:cNvSpPr/>
          <p:nvPr/>
        </p:nvSpPr>
        <p:spPr>
          <a:xfrm>
            <a:off x="496119" y="499318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전통 팀 vs AI 오케스트라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46"/>
          <p:cNvSpPr/>
          <p:nvPr/>
        </p:nvSpPr>
        <p:spPr>
          <a:xfrm>
            <a:off x="496119" y="1134889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같은 결과물을 만드는 데 드는 비용과 시간이 </a:t>
            </a:r>
            <a:r>
              <a:rPr b="1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극적으로 달라졌습니다.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아래 표는 역할별 비용을 직접 비교한 것입니다.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46"/>
          <p:cNvSpPr/>
          <p:nvPr/>
        </p:nvSpPr>
        <p:spPr>
          <a:xfrm>
            <a:off x="496119" y="1472878"/>
            <a:ext cx="8151900" cy="2535900"/>
          </a:xfrm>
          <a:prstGeom prst="roundRect">
            <a:avLst>
              <a:gd fmla="val 734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6"/>
          <p:cNvSpPr/>
          <p:nvPr/>
        </p:nvSpPr>
        <p:spPr>
          <a:xfrm>
            <a:off x="496119" y="1836837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46"/>
          <p:cNvSpPr/>
          <p:nvPr/>
        </p:nvSpPr>
        <p:spPr>
          <a:xfrm>
            <a:off x="496119" y="2198415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46"/>
          <p:cNvSpPr/>
          <p:nvPr/>
        </p:nvSpPr>
        <p:spPr>
          <a:xfrm>
            <a:off x="496119" y="2559993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46"/>
          <p:cNvSpPr/>
          <p:nvPr/>
        </p:nvSpPr>
        <p:spPr>
          <a:xfrm>
            <a:off x="496119" y="2921571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46"/>
          <p:cNvSpPr/>
          <p:nvPr/>
        </p:nvSpPr>
        <p:spPr>
          <a:xfrm>
            <a:off x="496119" y="328314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46"/>
          <p:cNvSpPr/>
          <p:nvPr/>
        </p:nvSpPr>
        <p:spPr>
          <a:xfrm>
            <a:off x="496119" y="364472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46"/>
          <p:cNvSpPr/>
          <p:nvPr/>
        </p:nvSpPr>
        <p:spPr>
          <a:xfrm>
            <a:off x="501030" y="1477640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46"/>
          <p:cNvSpPr/>
          <p:nvPr/>
        </p:nvSpPr>
        <p:spPr>
          <a:xfrm>
            <a:off x="625004" y="1556817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역할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46"/>
          <p:cNvSpPr/>
          <p:nvPr/>
        </p:nvSpPr>
        <p:spPr>
          <a:xfrm>
            <a:off x="2536552" y="1477640"/>
            <a:ext cx="244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6"/>
          <p:cNvSpPr/>
          <p:nvPr/>
        </p:nvSpPr>
        <p:spPr>
          <a:xfrm>
            <a:off x="2660526" y="1556817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전통 (사람 고용)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6"/>
          <p:cNvSpPr/>
          <p:nvPr/>
        </p:nvSpPr>
        <p:spPr>
          <a:xfrm>
            <a:off x="4979194" y="1477640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46"/>
          <p:cNvSpPr/>
          <p:nvPr/>
        </p:nvSpPr>
        <p:spPr>
          <a:xfrm>
            <a:off x="5103168" y="1556817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오케스트라 (1인)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46"/>
          <p:cNvSpPr/>
          <p:nvPr/>
        </p:nvSpPr>
        <p:spPr>
          <a:xfrm>
            <a:off x="7014716" y="1477640"/>
            <a:ext cx="16284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6"/>
          <p:cNvSpPr/>
          <p:nvPr/>
        </p:nvSpPr>
        <p:spPr>
          <a:xfrm>
            <a:off x="7138690" y="1556817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절감률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6"/>
          <p:cNvSpPr/>
          <p:nvPr/>
        </p:nvSpPr>
        <p:spPr>
          <a:xfrm>
            <a:off x="625004" y="1918395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6"/>
          <p:cNvSpPr/>
          <p:nvPr/>
        </p:nvSpPr>
        <p:spPr>
          <a:xfrm>
            <a:off x="2660526" y="1918395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월 400만원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46"/>
          <p:cNvSpPr/>
          <p:nvPr/>
        </p:nvSpPr>
        <p:spPr>
          <a:xfrm>
            <a:off x="5103168" y="1918395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Code 구독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46"/>
          <p:cNvSpPr/>
          <p:nvPr/>
        </p:nvSpPr>
        <p:spPr>
          <a:xfrm>
            <a:off x="7138690" y="1918395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46"/>
          <p:cNvSpPr/>
          <p:nvPr/>
        </p:nvSpPr>
        <p:spPr>
          <a:xfrm>
            <a:off x="625004" y="2279972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디자이너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46"/>
          <p:cNvSpPr/>
          <p:nvPr/>
        </p:nvSpPr>
        <p:spPr>
          <a:xfrm>
            <a:off x="2660526" y="2279972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월 300만원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5103168" y="2279972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Midjourney 구독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46"/>
          <p:cNvSpPr/>
          <p:nvPr/>
        </p:nvSpPr>
        <p:spPr>
          <a:xfrm>
            <a:off x="7138690" y="2279972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~97%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46"/>
          <p:cNvSpPr/>
          <p:nvPr/>
        </p:nvSpPr>
        <p:spPr>
          <a:xfrm>
            <a:off x="625004" y="2641550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편집자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46"/>
          <p:cNvSpPr/>
          <p:nvPr/>
        </p:nvSpPr>
        <p:spPr>
          <a:xfrm>
            <a:off x="2660526" y="2641550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건당 30만원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46"/>
          <p:cNvSpPr/>
          <p:nvPr/>
        </p:nvSpPr>
        <p:spPr>
          <a:xfrm>
            <a:off x="5103168" y="2641550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Runway + CapCut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46"/>
          <p:cNvSpPr/>
          <p:nvPr/>
        </p:nvSpPr>
        <p:spPr>
          <a:xfrm>
            <a:off x="7138690" y="2641550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46"/>
          <p:cNvSpPr/>
          <p:nvPr/>
        </p:nvSpPr>
        <p:spPr>
          <a:xfrm>
            <a:off x="625004" y="3003128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카피라이터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6"/>
          <p:cNvSpPr/>
          <p:nvPr/>
        </p:nvSpPr>
        <p:spPr>
          <a:xfrm>
            <a:off x="2660526" y="3003128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건당 10만원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6"/>
          <p:cNvSpPr/>
          <p:nvPr/>
        </p:nvSpPr>
        <p:spPr>
          <a:xfrm>
            <a:off x="5103168" y="3003128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46"/>
          <p:cNvSpPr/>
          <p:nvPr/>
        </p:nvSpPr>
        <p:spPr>
          <a:xfrm>
            <a:off x="7138690" y="3003128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46"/>
          <p:cNvSpPr/>
          <p:nvPr/>
        </p:nvSpPr>
        <p:spPr>
          <a:xfrm>
            <a:off x="625004" y="3364706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마케팅 매니저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46"/>
          <p:cNvSpPr/>
          <p:nvPr/>
        </p:nvSpPr>
        <p:spPr>
          <a:xfrm>
            <a:off x="2660526" y="3364706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월 350만원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46"/>
          <p:cNvSpPr/>
          <p:nvPr/>
        </p:nvSpPr>
        <p:spPr>
          <a:xfrm>
            <a:off x="5103168" y="3364706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+ 본인 판단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6"/>
          <p:cNvSpPr/>
          <p:nvPr/>
        </p:nvSpPr>
        <p:spPr>
          <a:xfrm>
            <a:off x="7138690" y="3364706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~80%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46"/>
          <p:cNvSpPr/>
          <p:nvPr/>
        </p:nvSpPr>
        <p:spPr>
          <a:xfrm>
            <a:off x="625004" y="3726284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음악 제작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6"/>
          <p:cNvSpPr/>
          <p:nvPr/>
        </p:nvSpPr>
        <p:spPr>
          <a:xfrm>
            <a:off x="2660526" y="3726284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건당 50만원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46"/>
          <p:cNvSpPr/>
          <p:nvPr/>
        </p:nvSpPr>
        <p:spPr>
          <a:xfrm>
            <a:off x="5103168" y="3726284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46"/>
          <p:cNvSpPr/>
          <p:nvPr/>
        </p:nvSpPr>
        <p:spPr>
          <a:xfrm>
            <a:off x="7138690" y="3726284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~99%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46"/>
          <p:cNvSpPr/>
          <p:nvPr/>
        </p:nvSpPr>
        <p:spPr>
          <a:xfrm>
            <a:off x="496119" y="4148212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0" name="Google Shape;12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32799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46"/>
          <p:cNvSpPr/>
          <p:nvPr/>
        </p:nvSpPr>
        <p:spPr>
          <a:xfrm>
            <a:off x="899071" y="4303142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월 1,500만원 이상의 팀을 →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월 5만원 AI 구독료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로 대체할 수 있는 시대입니다.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47"/>
          <p:cNvSpPr/>
          <p:nvPr/>
        </p:nvSpPr>
        <p:spPr>
          <a:xfrm>
            <a:off x="496119" y="775171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오케스트라 7개 파트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7"/>
          <p:cNvSpPr/>
          <p:nvPr/>
        </p:nvSpPr>
        <p:spPr>
          <a:xfrm>
            <a:off x="496119" y="1410742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오케스트라는 7개의 전문 파트로 구성됩니다. 각 파트는 독립적으로 작동하면서도 서로 연결되어 하나의 완성된 프로젝트를 만들어냅니다.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9" name="Google Shape;124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48730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47"/>
          <p:cNvSpPr/>
          <p:nvPr/>
        </p:nvSpPr>
        <p:spPr>
          <a:xfrm>
            <a:off x="899145" y="1791370"/>
            <a:ext cx="2210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1. 기획/전략 (두뇌)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47"/>
          <p:cNvSpPr/>
          <p:nvPr/>
        </p:nvSpPr>
        <p:spPr>
          <a:xfrm>
            <a:off x="899145" y="2059632"/>
            <a:ext cx="2210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Claude, ChatGPT, Gemini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검증, 시장 분석, 사업 계획 수립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2" name="Google Shape;125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1748730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47"/>
          <p:cNvSpPr/>
          <p:nvPr/>
        </p:nvSpPr>
        <p:spPr>
          <a:xfrm>
            <a:off x="3668018" y="1791370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2. 개발 (심장)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47"/>
          <p:cNvSpPr/>
          <p:nvPr/>
        </p:nvSpPr>
        <p:spPr>
          <a:xfrm>
            <a:off x="3668018" y="2059632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Code, Bolt.new, Lovable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웹앱, 모바일 앱, 기능 구현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5" name="Google Shape;125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1748730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47"/>
          <p:cNvSpPr/>
          <p:nvPr/>
        </p:nvSpPr>
        <p:spPr>
          <a:xfrm>
            <a:off x="6436965" y="1791370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3. 디자인 (얼굴)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7"/>
          <p:cNvSpPr/>
          <p:nvPr/>
        </p:nvSpPr>
        <p:spPr>
          <a:xfrm>
            <a:off x="6436965" y="2059632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Midjourney, Canva AI, DALL-E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로고, 썸네일, 소셜 이미지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8" name="Google Shape;1258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704579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47"/>
          <p:cNvSpPr/>
          <p:nvPr/>
        </p:nvSpPr>
        <p:spPr>
          <a:xfrm>
            <a:off x="899145" y="2747218"/>
            <a:ext cx="2210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4. 글쓰기 (목소리)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47"/>
          <p:cNvSpPr/>
          <p:nvPr/>
        </p:nvSpPr>
        <p:spPr>
          <a:xfrm>
            <a:off x="899145" y="3015481"/>
            <a:ext cx="2210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Claude, Notion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블로그, SNS 글, 앱 소개 카피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1" name="Google Shape;1261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4991" y="2704579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47"/>
          <p:cNvSpPr/>
          <p:nvPr/>
        </p:nvSpPr>
        <p:spPr>
          <a:xfrm>
            <a:off x="3668018" y="2747218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5. 영상 (눈)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47"/>
          <p:cNvSpPr/>
          <p:nvPr/>
        </p:nvSpPr>
        <p:spPr>
          <a:xfrm>
            <a:off x="3668018" y="3015481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Runway, CapCut, HeyGen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쇼츠, 릴스, 광고, 교육 영상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4" name="Google Shape;1264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3939" y="2704579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47"/>
          <p:cNvSpPr/>
          <p:nvPr/>
        </p:nvSpPr>
        <p:spPr>
          <a:xfrm>
            <a:off x="6436965" y="2747218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6. 음악/음성 (귀)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47"/>
          <p:cNvSpPr/>
          <p:nvPr/>
        </p:nvSpPr>
        <p:spPr>
          <a:xfrm>
            <a:off x="6436965" y="3015481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Suno, ElevenLabs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BGM, 효과음, AI 나레이션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7" name="Google Shape;1267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6119" y="3660428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47"/>
          <p:cNvSpPr/>
          <p:nvPr/>
        </p:nvSpPr>
        <p:spPr>
          <a:xfrm>
            <a:off x="899145" y="3703067"/>
            <a:ext cx="2210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파트 7. 마케팅 (다리)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47"/>
          <p:cNvSpPr/>
          <p:nvPr/>
        </p:nvSpPr>
        <p:spPr>
          <a:xfrm>
            <a:off x="899145" y="3971330"/>
            <a:ext cx="2210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+ Meta Ads + Analytics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광고 운영, SNS, 데이터 분석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5" name="Google Shape;127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48"/>
          <p:cNvSpPr/>
          <p:nvPr/>
        </p:nvSpPr>
        <p:spPr>
          <a:xfrm>
            <a:off x="496119" y="342602"/>
            <a:ext cx="4722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파트별 프롬프트 예시 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48"/>
          <p:cNvSpPr/>
          <p:nvPr/>
        </p:nvSpPr>
        <p:spPr>
          <a:xfrm>
            <a:off x="496119" y="963439"/>
            <a:ext cx="22218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🧠</a:t>
            </a: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1: 기획/전략 (두뇌)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8" name="Google Shape;127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265411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48"/>
          <p:cNvSpPr/>
          <p:nvPr/>
        </p:nvSpPr>
        <p:spPr>
          <a:xfrm>
            <a:off x="681856" y="1393999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검증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48"/>
          <p:cNvSpPr/>
          <p:nvPr/>
        </p:nvSpPr>
        <p:spPr>
          <a:xfrm>
            <a:off x="681856" y="1678037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"공부 타이머 앱의 시장 규모, 경쟁 앱 5개, 차별화 전략을 분석해줘"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시장 분석 보고서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1" name="Google Shape;128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439516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48"/>
          <p:cNvSpPr/>
          <p:nvPr/>
        </p:nvSpPr>
        <p:spPr>
          <a:xfrm>
            <a:off x="681856" y="2568104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사업 계획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48"/>
          <p:cNvSpPr/>
          <p:nvPr/>
        </p:nvSpPr>
        <p:spPr>
          <a:xfrm>
            <a:off x="681856" y="2852142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"중학생 대상 공부 타이머 앱의 3개월 사업 계획서를 작성해줘"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실행 계획서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4" name="Google Shape;128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613621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48"/>
          <p:cNvSpPr/>
          <p:nvPr/>
        </p:nvSpPr>
        <p:spPr>
          <a:xfrm>
            <a:off x="681856" y="3742209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수익 모델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8"/>
          <p:cNvSpPr/>
          <p:nvPr/>
        </p:nvSpPr>
        <p:spPr>
          <a:xfrm>
            <a:off x="681856" y="4026247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"무료 앱에서 수익을 내는 방법 5가지를 비교해줘"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비교표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8"/>
          <p:cNvSpPr/>
          <p:nvPr/>
        </p:nvSpPr>
        <p:spPr>
          <a:xfrm>
            <a:off x="3001714" y="963439"/>
            <a:ext cx="22218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💻</a:t>
            </a: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2: 개발 (심장)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8" name="Google Shape;128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1714" y="1265411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48"/>
          <p:cNvSpPr/>
          <p:nvPr/>
        </p:nvSpPr>
        <p:spPr>
          <a:xfrm>
            <a:off x="3187452" y="1393999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웹앱 만들기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8"/>
          <p:cNvSpPr/>
          <p:nvPr/>
        </p:nvSpPr>
        <p:spPr>
          <a:xfrm>
            <a:off x="3187452" y="1678037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"25분 타이머, 과목 선택, 기록 저장이 있는 웹앱을 Flask+HTML로"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작동하는 웹앱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1" name="Google Shape;129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1714" y="2439516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48"/>
          <p:cNvSpPr/>
          <p:nvPr/>
        </p:nvSpPr>
        <p:spPr>
          <a:xfrm>
            <a:off x="3187452" y="2568104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기능 추가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48"/>
          <p:cNvSpPr/>
          <p:nvPr/>
        </p:nvSpPr>
        <p:spPr>
          <a:xfrm>
            <a:off x="3187452" y="2852142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"기존 타이머에 다크 모드 토글 버튼을 추가해줘"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업데이트된 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4" name="Google Shape;129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1714" y="3613621"/>
            <a:ext cx="2221928" cy="1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48"/>
          <p:cNvSpPr/>
          <p:nvPr/>
        </p:nvSpPr>
        <p:spPr>
          <a:xfrm>
            <a:off x="3187452" y="3742209"/>
            <a:ext cx="19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버그 수정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48"/>
          <p:cNvSpPr/>
          <p:nvPr/>
        </p:nvSpPr>
        <p:spPr>
          <a:xfrm>
            <a:off x="3187452" y="4026247"/>
            <a:ext cx="1907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"시작 버튼 눌러도 안 움직여. 이 에러 메시지 나와"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수정된 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49"/>
          <p:cNvSpPr/>
          <p:nvPr/>
        </p:nvSpPr>
        <p:spPr>
          <a:xfrm>
            <a:off x="496119" y="373261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파트별 프롬프트 예시 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49"/>
          <p:cNvSpPr/>
          <p:nvPr/>
        </p:nvSpPr>
        <p:spPr>
          <a:xfrm>
            <a:off x="496119" y="1070818"/>
            <a:ext cx="392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🎨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3: 디자인 (얼굴)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4" name="Google Shape;130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08956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49"/>
          <p:cNvSpPr/>
          <p:nvPr/>
        </p:nvSpPr>
        <p:spPr>
          <a:xfrm>
            <a:off x="691530" y="1547217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앱 로고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49"/>
          <p:cNvSpPr/>
          <p:nvPr/>
        </p:nvSpPr>
        <p:spPr>
          <a:xfrm>
            <a:off x="691530" y="1865040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"둥근 시계 모티프, 파란+초록 그라데이션, 플랫 디자인, 미니멀"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로고 4장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7" name="Google Shape;13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524199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49"/>
          <p:cNvSpPr/>
          <p:nvPr/>
        </p:nvSpPr>
        <p:spPr>
          <a:xfrm>
            <a:off x="691530" y="2662461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유튜브 썸네일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49"/>
          <p:cNvSpPr/>
          <p:nvPr/>
        </p:nvSpPr>
        <p:spPr>
          <a:xfrm>
            <a:off x="691530" y="2980283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"놀란 학생 일러스트, 텍스트 공간, 밝은 노란 배경"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썸네일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0" name="Google Shape;131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639443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49"/>
          <p:cNvSpPr/>
          <p:nvPr/>
        </p:nvSpPr>
        <p:spPr>
          <a:xfrm>
            <a:off x="691530" y="3777704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인스타 카드뉴스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49"/>
          <p:cNvSpPr/>
          <p:nvPr/>
        </p:nvSpPr>
        <p:spPr>
          <a:xfrm>
            <a:off x="691530" y="4095527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"공부 습관 팁 5가지, 슬라이드 5장, 파스텔 톤"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카드뉴스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49"/>
          <p:cNvSpPr/>
          <p:nvPr/>
        </p:nvSpPr>
        <p:spPr>
          <a:xfrm>
            <a:off x="4728046" y="1070818"/>
            <a:ext cx="392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🎬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5: 영상 /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🎵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파트 6: 음악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4" name="Google Shape;131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046" y="1408956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49"/>
          <p:cNvSpPr/>
          <p:nvPr/>
        </p:nvSpPr>
        <p:spPr>
          <a:xfrm>
            <a:off x="4923458" y="1547217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영상 (Runway)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49"/>
          <p:cNvSpPr/>
          <p:nvPr/>
        </p:nvSpPr>
        <p:spPr>
          <a:xfrm>
            <a:off x="4923458" y="1865040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"학생이 공부하다가 스마트폰 타이머를 확인하는 3초 영상"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클립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7" name="Google Shape;131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046" y="2524199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49"/>
          <p:cNvSpPr/>
          <p:nvPr/>
        </p:nvSpPr>
        <p:spPr>
          <a:xfrm>
            <a:off x="4923458" y="2662461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아바타 (HeyGen)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49"/>
          <p:cNvSpPr/>
          <p:nvPr/>
        </p:nvSpPr>
        <p:spPr>
          <a:xfrm>
            <a:off x="4923458" y="2980283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"친근한 10대 캐릭터가 앱 사용법을 설명하는 영상"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설명 영상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0" name="Google Shape;132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046" y="3639443"/>
            <a:ext cx="3924597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49"/>
          <p:cNvSpPr/>
          <p:nvPr/>
        </p:nvSpPr>
        <p:spPr>
          <a:xfrm>
            <a:off x="4923458" y="3777704"/>
            <a:ext cx="359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BGM + 나레이션 (Suno / ElevenLabs)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49"/>
          <p:cNvSpPr/>
          <p:nvPr/>
        </p:nvSpPr>
        <p:spPr>
          <a:xfrm>
            <a:off x="4923458" y="4095527"/>
            <a:ext cx="359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"잔잔한 lo-fi 힙합, 2분 / 친근한 여성 목소리, 한국어"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배경음악 + AI 음성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50"/>
          <p:cNvSpPr/>
          <p:nvPr/>
        </p:nvSpPr>
        <p:spPr>
          <a:xfrm>
            <a:off x="496119" y="354062"/>
            <a:ext cx="81519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50"/>
              <a:buFont typeface="Roboto Slab"/>
              <a:buNone/>
            </a:pPr>
            <a:r>
              <a:rPr b="0" i="0" lang="ko-KR" sz="1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실전: 유튜브 쇼츠 1개 만들기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50"/>
          <p:cNvSpPr/>
          <p:nvPr/>
        </p:nvSpPr>
        <p:spPr>
          <a:xfrm>
            <a:off x="496119" y="619869"/>
            <a:ext cx="8609100" cy="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기획사에 의뢰하면 </a:t>
            </a:r>
            <a:r>
              <a:rPr b="1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2주 + 300만원</a:t>
            </a:r>
            <a:r>
              <a:rPr b="0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드는 작업을. AI 오케스트라로는 </a:t>
            </a:r>
            <a:r>
              <a:rPr b="1" i="0" lang="ko-KR" sz="5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30분 만에</a:t>
            </a:r>
            <a:r>
              <a:rPr b="0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완성할 수 있습니다.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0" name="Google Shape;133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34467"/>
            <a:ext cx="8151764" cy="35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50"/>
          <p:cNvSpPr/>
          <p:nvPr/>
        </p:nvSpPr>
        <p:spPr>
          <a:xfrm>
            <a:off x="2441329" y="338615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썸네일 제작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50"/>
          <p:cNvSpPr/>
          <p:nvPr/>
        </p:nvSpPr>
        <p:spPr>
          <a:xfrm>
            <a:off x="2441329" y="3669308"/>
            <a:ext cx="12105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Midjourney+Canva 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50"/>
          <p:cNvSpPr/>
          <p:nvPr/>
        </p:nvSpPr>
        <p:spPr>
          <a:xfrm>
            <a:off x="5549316" y="338615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영상 제작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50"/>
          <p:cNvSpPr/>
          <p:nvPr/>
        </p:nvSpPr>
        <p:spPr>
          <a:xfrm>
            <a:off x="5549316" y="3669308"/>
            <a:ext cx="12105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Runway+CapCut 20분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50"/>
          <p:cNvSpPr/>
          <p:nvPr/>
        </p:nvSpPr>
        <p:spPr>
          <a:xfrm>
            <a:off x="891193" y="105219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대본 작성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50"/>
          <p:cNvSpPr/>
          <p:nvPr/>
        </p:nvSpPr>
        <p:spPr>
          <a:xfrm>
            <a:off x="891193" y="1335347"/>
            <a:ext cx="1210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Claude로 2분 만에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50"/>
          <p:cNvSpPr/>
          <p:nvPr/>
        </p:nvSpPr>
        <p:spPr>
          <a:xfrm>
            <a:off x="7053279" y="105219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제목·해시태그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50"/>
          <p:cNvSpPr/>
          <p:nvPr/>
        </p:nvSpPr>
        <p:spPr>
          <a:xfrm>
            <a:off x="7053279" y="1335347"/>
            <a:ext cx="1210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Claude로 2분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50"/>
          <p:cNvSpPr/>
          <p:nvPr/>
        </p:nvSpPr>
        <p:spPr>
          <a:xfrm>
            <a:off x="4014612" y="1052191"/>
            <a:ext cx="1210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배경음악 생성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0"/>
          <p:cNvSpPr/>
          <p:nvPr/>
        </p:nvSpPr>
        <p:spPr>
          <a:xfrm>
            <a:off x="4014612" y="1335347"/>
            <a:ext cx="1210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Suno로 1분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0"/>
          <p:cNvSpPr/>
          <p:nvPr/>
        </p:nvSpPr>
        <p:spPr>
          <a:xfrm>
            <a:off x="496119" y="4324573"/>
            <a:ext cx="26898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30분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50"/>
          <p:cNvSpPr/>
          <p:nvPr/>
        </p:nvSpPr>
        <p:spPr>
          <a:xfrm>
            <a:off x="496119" y="4592241"/>
            <a:ext cx="2689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오케스트라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50"/>
          <p:cNvSpPr/>
          <p:nvPr/>
        </p:nvSpPr>
        <p:spPr>
          <a:xfrm>
            <a:off x="496119" y="4711824"/>
            <a:ext cx="2689800" cy="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총 소요 시간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50"/>
          <p:cNvSpPr/>
          <p:nvPr/>
        </p:nvSpPr>
        <p:spPr>
          <a:xfrm>
            <a:off x="3227040" y="4324573"/>
            <a:ext cx="26898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5개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50"/>
          <p:cNvSpPr/>
          <p:nvPr/>
        </p:nvSpPr>
        <p:spPr>
          <a:xfrm>
            <a:off x="3227040" y="4592241"/>
            <a:ext cx="2689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사용 AI 도구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50"/>
          <p:cNvSpPr/>
          <p:nvPr/>
        </p:nvSpPr>
        <p:spPr>
          <a:xfrm>
            <a:off x="3227040" y="4711824"/>
            <a:ext cx="2689800" cy="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· Midjourney · Suno · Runway · CapCut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50"/>
          <p:cNvSpPr/>
          <p:nvPr/>
        </p:nvSpPr>
        <p:spPr>
          <a:xfrm>
            <a:off x="5958036" y="4324573"/>
            <a:ext cx="26898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3만원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50"/>
          <p:cNvSpPr/>
          <p:nvPr/>
        </p:nvSpPr>
        <p:spPr>
          <a:xfrm>
            <a:off x="5958036" y="4592241"/>
            <a:ext cx="2689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총 비용 (구독료)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50"/>
          <p:cNvSpPr/>
          <p:nvPr/>
        </p:nvSpPr>
        <p:spPr>
          <a:xfrm>
            <a:off x="5958036" y="4711824"/>
            <a:ext cx="2689800" cy="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기획사 의뢰 시 300만원 대비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51"/>
          <p:cNvSpPr/>
          <p:nvPr/>
        </p:nvSpPr>
        <p:spPr>
          <a:xfrm>
            <a:off x="496119" y="812974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오케스트라 지휘 3가지 레벨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51"/>
          <p:cNvSpPr/>
          <p:nvPr/>
        </p:nvSpPr>
        <p:spPr>
          <a:xfrm>
            <a:off x="496119" y="1448544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처음부터 모든 AI를 쓸 필요는 없습니다. 레벨 1부터 시작해서 점차 확장해가세요. </a:t>
            </a:r>
            <a:r>
              <a:rPr b="1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오늘 이 수업에서 여러분은 레벨 1을 시작합니다!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7" name="Google Shape;135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468" y="1786533"/>
            <a:ext cx="1345034" cy="714673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51"/>
          <p:cNvSpPr/>
          <p:nvPr/>
        </p:nvSpPr>
        <p:spPr>
          <a:xfrm>
            <a:off x="2446734" y="2123405"/>
            <a:ext cx="174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51"/>
          <p:cNvSpPr/>
          <p:nvPr/>
        </p:nvSpPr>
        <p:spPr>
          <a:xfrm>
            <a:off x="3330476" y="1910507"/>
            <a:ext cx="51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레벨 3: 풀 오케스트라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51"/>
          <p:cNvSpPr/>
          <p:nvPr/>
        </p:nvSpPr>
        <p:spPr>
          <a:xfrm>
            <a:off x="3330476" y="2178769"/>
            <a:ext cx="519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5개 이상 · 앱+브랜딩+콘텐츠+마케팅 = 실제 사업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51"/>
          <p:cNvSpPr/>
          <p:nvPr/>
        </p:nvSpPr>
        <p:spPr>
          <a:xfrm>
            <a:off x="3237458" y="2510730"/>
            <a:ext cx="5379600" cy="7200"/>
          </a:xfrm>
          <a:prstGeom prst="roundRect">
            <a:avLst>
              <a:gd fmla="val 260456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2" name="Google Shape;136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8988" y="2532162"/>
            <a:ext cx="2690067" cy="714673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51"/>
          <p:cNvSpPr/>
          <p:nvPr/>
        </p:nvSpPr>
        <p:spPr>
          <a:xfrm>
            <a:off x="2446734" y="2780481"/>
            <a:ext cx="174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51"/>
          <p:cNvSpPr/>
          <p:nvPr/>
        </p:nvSpPr>
        <p:spPr>
          <a:xfrm>
            <a:off x="4003030" y="2656136"/>
            <a:ext cx="452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레벨 2: 듀엣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51"/>
          <p:cNvSpPr/>
          <p:nvPr/>
        </p:nvSpPr>
        <p:spPr>
          <a:xfrm>
            <a:off x="4003030" y="2924398"/>
            <a:ext cx="4521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3~4개 · 앱+디자인+영상 = 보여줄 수 있는 프로젝트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51"/>
          <p:cNvSpPr/>
          <p:nvPr/>
        </p:nvSpPr>
        <p:spPr>
          <a:xfrm>
            <a:off x="3910012" y="3256359"/>
            <a:ext cx="4707000" cy="7200"/>
          </a:xfrm>
          <a:prstGeom prst="roundRect">
            <a:avLst>
              <a:gd fmla="val 260456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7" name="Google Shape;1367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434" y="3277791"/>
            <a:ext cx="4035102" cy="714673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1"/>
          <p:cNvSpPr/>
          <p:nvPr/>
        </p:nvSpPr>
        <p:spPr>
          <a:xfrm>
            <a:off x="2446734" y="3526110"/>
            <a:ext cx="1743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51"/>
          <p:cNvSpPr/>
          <p:nvPr/>
        </p:nvSpPr>
        <p:spPr>
          <a:xfrm>
            <a:off x="4675510" y="3401764"/>
            <a:ext cx="3848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레벨 1: 독주자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51"/>
          <p:cNvSpPr/>
          <p:nvPr/>
        </p:nvSpPr>
        <p:spPr>
          <a:xfrm>
            <a:off x="4675510" y="3670027"/>
            <a:ext cx="3848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1~2개 · 앱 하나 만들기 = 작동하는 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51"/>
          <p:cNvSpPr/>
          <p:nvPr/>
        </p:nvSpPr>
        <p:spPr>
          <a:xfrm>
            <a:off x="496119" y="4131990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레벨이 올라갈수록 만들 수 있는 것이 늘어납니다. 단, 레벨 1의 단단한 기초 위에서만 레벨 3이 빛납니다.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52"/>
          <p:cNvSpPr/>
          <p:nvPr/>
        </p:nvSpPr>
        <p:spPr>
          <a:xfrm>
            <a:off x="496119" y="668313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오케스트라 vs 전통 스타트업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52"/>
          <p:cNvSpPr/>
          <p:nvPr/>
        </p:nvSpPr>
        <p:spPr>
          <a:xfrm>
            <a:off x="496119" y="1303883"/>
            <a:ext cx="8151900" cy="2535900"/>
          </a:xfrm>
          <a:prstGeom prst="roundRect">
            <a:avLst>
              <a:gd fmla="val 734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52"/>
          <p:cNvSpPr/>
          <p:nvPr/>
        </p:nvSpPr>
        <p:spPr>
          <a:xfrm>
            <a:off x="496119" y="166784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52"/>
          <p:cNvSpPr/>
          <p:nvPr/>
        </p:nvSpPr>
        <p:spPr>
          <a:xfrm>
            <a:off x="496119" y="2029420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52"/>
          <p:cNvSpPr/>
          <p:nvPr/>
        </p:nvSpPr>
        <p:spPr>
          <a:xfrm>
            <a:off x="496119" y="239099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52"/>
          <p:cNvSpPr/>
          <p:nvPr/>
        </p:nvSpPr>
        <p:spPr>
          <a:xfrm>
            <a:off x="496119" y="275257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52"/>
          <p:cNvSpPr/>
          <p:nvPr/>
        </p:nvSpPr>
        <p:spPr>
          <a:xfrm>
            <a:off x="496119" y="3114154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52"/>
          <p:cNvSpPr/>
          <p:nvPr/>
        </p:nvSpPr>
        <p:spPr>
          <a:xfrm>
            <a:off x="496119" y="347573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52"/>
          <p:cNvSpPr/>
          <p:nvPr/>
        </p:nvSpPr>
        <p:spPr>
          <a:xfrm>
            <a:off x="501030" y="1308646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52"/>
          <p:cNvSpPr/>
          <p:nvPr/>
        </p:nvSpPr>
        <p:spPr>
          <a:xfrm>
            <a:off x="625004" y="1387822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단계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52"/>
          <p:cNvSpPr/>
          <p:nvPr/>
        </p:nvSpPr>
        <p:spPr>
          <a:xfrm>
            <a:off x="2536552" y="1308646"/>
            <a:ext cx="301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52"/>
          <p:cNvSpPr/>
          <p:nvPr/>
        </p:nvSpPr>
        <p:spPr>
          <a:xfrm>
            <a:off x="2660526" y="1387822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전통 스타트업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52"/>
          <p:cNvSpPr/>
          <p:nvPr/>
        </p:nvSpPr>
        <p:spPr>
          <a:xfrm>
            <a:off x="5549131" y="1308646"/>
            <a:ext cx="30939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52"/>
          <p:cNvSpPr/>
          <p:nvPr/>
        </p:nvSpPr>
        <p:spPr>
          <a:xfrm>
            <a:off x="5673105" y="1387822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오케스트라 (1인)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52"/>
          <p:cNvSpPr/>
          <p:nvPr/>
        </p:nvSpPr>
        <p:spPr>
          <a:xfrm>
            <a:off x="625004" y="1749400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 구성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2"/>
          <p:cNvSpPr/>
          <p:nvPr/>
        </p:nvSpPr>
        <p:spPr>
          <a:xfrm>
            <a:off x="2660526" y="1749400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3~5명, 인건비 월 1,500만원+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52"/>
          <p:cNvSpPr/>
          <p:nvPr/>
        </p:nvSpPr>
        <p:spPr>
          <a:xfrm>
            <a:off x="5673105" y="1749400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나 혼자 + AI 구독 월 5~10만원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52"/>
          <p:cNvSpPr/>
          <p:nvPr/>
        </p:nvSpPr>
        <p:spPr>
          <a:xfrm>
            <a:off x="625004" y="2110978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프로토타입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52"/>
          <p:cNvSpPr/>
          <p:nvPr/>
        </p:nvSpPr>
        <p:spPr>
          <a:xfrm>
            <a:off x="2660526" y="2110978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2~4주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52"/>
          <p:cNvSpPr/>
          <p:nvPr/>
        </p:nvSpPr>
        <p:spPr>
          <a:xfrm>
            <a:off x="5673105" y="2110978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1~3일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52"/>
          <p:cNvSpPr/>
          <p:nvPr/>
        </p:nvSpPr>
        <p:spPr>
          <a:xfrm>
            <a:off x="625004" y="2472556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52"/>
          <p:cNvSpPr/>
          <p:nvPr/>
        </p:nvSpPr>
        <p:spPr>
          <a:xfrm>
            <a:off x="2660526" y="2472556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디자이너 채용, 1~2주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52"/>
          <p:cNvSpPr/>
          <p:nvPr/>
        </p:nvSpPr>
        <p:spPr>
          <a:xfrm>
            <a:off x="5673105" y="2472556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Midjourney에 5분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52"/>
          <p:cNvSpPr/>
          <p:nvPr/>
        </p:nvSpPr>
        <p:spPr>
          <a:xfrm>
            <a:off x="625004" y="2834134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광고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52"/>
          <p:cNvSpPr/>
          <p:nvPr/>
        </p:nvSpPr>
        <p:spPr>
          <a:xfrm>
            <a:off x="2660526" y="2834134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촬영팀, 편당 200~500만원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52"/>
          <p:cNvSpPr/>
          <p:nvPr/>
        </p:nvSpPr>
        <p:spPr>
          <a:xfrm>
            <a:off x="5673105" y="2834134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Runway+CapCut, 편당 30분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52"/>
          <p:cNvSpPr/>
          <p:nvPr/>
        </p:nvSpPr>
        <p:spPr>
          <a:xfrm>
            <a:off x="625004" y="3195712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피드백→수정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52"/>
          <p:cNvSpPr/>
          <p:nvPr/>
        </p:nvSpPr>
        <p:spPr>
          <a:xfrm>
            <a:off x="2660526" y="3195712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회의→배분→1~2주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52"/>
          <p:cNvSpPr/>
          <p:nvPr/>
        </p:nvSpPr>
        <p:spPr>
          <a:xfrm>
            <a:off x="5673105" y="3195712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 부분 고쳐줘" → 10분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52"/>
          <p:cNvSpPr/>
          <p:nvPr/>
        </p:nvSpPr>
        <p:spPr>
          <a:xfrm>
            <a:off x="625004" y="3557290"/>
            <a:ext cx="224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실패 비용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52"/>
          <p:cNvSpPr/>
          <p:nvPr/>
        </p:nvSpPr>
        <p:spPr>
          <a:xfrm>
            <a:off x="2660526" y="3557290"/>
            <a:ext cx="3221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수천만원 손실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52"/>
          <p:cNvSpPr/>
          <p:nvPr/>
        </p:nvSpPr>
        <p:spPr>
          <a:xfrm>
            <a:off x="5673105" y="3557290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구독료 몇 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52"/>
          <p:cNvSpPr/>
          <p:nvPr/>
        </p:nvSpPr>
        <p:spPr>
          <a:xfrm>
            <a:off x="496119" y="3979218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0" name="Google Shape;141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159002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52"/>
          <p:cNvSpPr/>
          <p:nvPr/>
        </p:nvSpPr>
        <p:spPr>
          <a:xfrm>
            <a:off x="899071" y="4134148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 오케스트라의 최대 장점: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"실패해도 괜찮다" — 잃을 게 없으니 과감하게 도전할 수 있다!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53"/>
          <p:cNvSpPr/>
          <p:nvPr/>
        </p:nvSpPr>
        <p:spPr>
          <a:xfrm>
            <a:off x="496119" y="341114"/>
            <a:ext cx="8151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850"/>
              <a:buFont typeface="Roboto Slab"/>
              <a:buNone/>
            </a:pPr>
            <a:r>
              <a:rPr b="0" i="0" lang="ko-KR" sz="18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실전: 민수의 1인 사업 4주 계획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53"/>
          <p:cNvSpPr/>
          <p:nvPr/>
        </p:nvSpPr>
        <p:spPr>
          <a:xfrm>
            <a:off x="4567238" y="783282"/>
            <a:ext cx="9600" cy="22554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53"/>
          <p:cNvSpPr/>
          <p:nvPr/>
        </p:nvSpPr>
        <p:spPr>
          <a:xfrm>
            <a:off x="4189847" y="885304"/>
            <a:ext cx="285000" cy="96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53"/>
          <p:cNvSpPr/>
          <p:nvPr/>
        </p:nvSpPr>
        <p:spPr>
          <a:xfrm>
            <a:off x="4465179" y="783282"/>
            <a:ext cx="213600" cy="2136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53"/>
          <p:cNvSpPr/>
          <p:nvPr/>
        </p:nvSpPr>
        <p:spPr>
          <a:xfrm>
            <a:off x="4500749" y="801030"/>
            <a:ext cx="142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53"/>
          <p:cNvSpPr/>
          <p:nvPr/>
        </p:nvSpPr>
        <p:spPr>
          <a:xfrm>
            <a:off x="496119" y="815876"/>
            <a:ext cx="3600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1주차: 기획 + 제작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3"/>
          <p:cNvSpPr/>
          <p:nvPr/>
        </p:nvSpPr>
        <p:spPr>
          <a:xfrm>
            <a:off x="496119" y="1007790"/>
            <a:ext cx="3600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시장 분석, 페르소나 설정, v1 앱 제작, 로고 디자인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사용: 파트 1, 2, 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53"/>
          <p:cNvSpPr/>
          <p:nvPr/>
        </p:nvSpPr>
        <p:spPr>
          <a:xfrm>
            <a:off x="4669296" y="1410593"/>
            <a:ext cx="285000" cy="96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53"/>
          <p:cNvSpPr/>
          <p:nvPr/>
        </p:nvSpPr>
        <p:spPr>
          <a:xfrm>
            <a:off x="4465179" y="1308571"/>
            <a:ext cx="213600" cy="2136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53"/>
          <p:cNvSpPr/>
          <p:nvPr/>
        </p:nvSpPr>
        <p:spPr>
          <a:xfrm>
            <a:off x="4500749" y="1326319"/>
            <a:ext cx="142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53"/>
          <p:cNvSpPr/>
          <p:nvPr/>
        </p:nvSpPr>
        <p:spPr>
          <a:xfrm>
            <a:off x="5046836" y="1341165"/>
            <a:ext cx="3600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2주차: 콘텐츠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53"/>
          <p:cNvSpPr/>
          <p:nvPr/>
        </p:nvSpPr>
        <p:spPr>
          <a:xfrm>
            <a:off x="5046836" y="1533079"/>
            <a:ext cx="3600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블로그 3편, 유튜브 쇼츠 3편, 인스타 카드 10장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사용: 파트 3, 4, 5, 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53"/>
          <p:cNvSpPr/>
          <p:nvPr/>
        </p:nvSpPr>
        <p:spPr>
          <a:xfrm>
            <a:off x="4189847" y="1879476"/>
            <a:ext cx="285000" cy="96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53"/>
          <p:cNvSpPr/>
          <p:nvPr/>
        </p:nvSpPr>
        <p:spPr>
          <a:xfrm>
            <a:off x="4465179" y="1777454"/>
            <a:ext cx="213600" cy="2136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53"/>
          <p:cNvSpPr/>
          <p:nvPr/>
        </p:nvSpPr>
        <p:spPr>
          <a:xfrm>
            <a:off x="4500749" y="1795202"/>
            <a:ext cx="142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53"/>
          <p:cNvSpPr/>
          <p:nvPr/>
        </p:nvSpPr>
        <p:spPr>
          <a:xfrm>
            <a:off x="496119" y="1810048"/>
            <a:ext cx="3600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3주차: 마케팅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53"/>
          <p:cNvSpPr/>
          <p:nvPr/>
        </p:nvSpPr>
        <p:spPr>
          <a:xfrm>
            <a:off x="496119" y="2001962"/>
            <a:ext cx="3600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인스타 광고 집행, A/B 테스트, 광고 최적화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사용: 파트 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53"/>
          <p:cNvSpPr/>
          <p:nvPr/>
        </p:nvSpPr>
        <p:spPr>
          <a:xfrm>
            <a:off x="4669296" y="2348359"/>
            <a:ext cx="285000" cy="9600"/>
          </a:xfrm>
          <a:prstGeom prst="roundRect">
            <a:avLst>
              <a:gd fmla="val 149564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53"/>
          <p:cNvSpPr/>
          <p:nvPr/>
        </p:nvSpPr>
        <p:spPr>
          <a:xfrm>
            <a:off x="4465179" y="2246337"/>
            <a:ext cx="213600" cy="2136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53"/>
          <p:cNvSpPr/>
          <p:nvPr/>
        </p:nvSpPr>
        <p:spPr>
          <a:xfrm>
            <a:off x="4500749" y="2264085"/>
            <a:ext cx="142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53"/>
          <p:cNvSpPr/>
          <p:nvPr/>
        </p:nvSpPr>
        <p:spPr>
          <a:xfrm>
            <a:off x="5046836" y="2278931"/>
            <a:ext cx="3600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4주차: 성장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53"/>
          <p:cNvSpPr/>
          <p:nvPr/>
        </p:nvSpPr>
        <p:spPr>
          <a:xfrm>
            <a:off x="5046836" y="2470845"/>
            <a:ext cx="3600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피드백 분석, v3 업데이트, 피칭 자료 제작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사용: 파트 1, 2, 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53"/>
          <p:cNvSpPr/>
          <p:nvPr/>
        </p:nvSpPr>
        <p:spPr>
          <a:xfrm>
            <a:off x="496119" y="3147715"/>
            <a:ext cx="81519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📅</a:t>
            </a:r>
            <a:r>
              <a:rPr b="0" i="0" lang="ko-KR" sz="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하루 일과 — 학교 다니면서도 가능한 루틴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53"/>
          <p:cNvSpPr/>
          <p:nvPr/>
        </p:nvSpPr>
        <p:spPr>
          <a:xfrm>
            <a:off x="496119" y="3409801"/>
            <a:ext cx="8151900" cy="1394400"/>
          </a:xfrm>
          <a:prstGeom prst="roundRect">
            <a:avLst>
              <a:gd fmla="val 1022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3"/>
          <p:cNvSpPr/>
          <p:nvPr/>
        </p:nvSpPr>
        <p:spPr>
          <a:xfrm>
            <a:off x="500881" y="3414564"/>
            <a:ext cx="8142300" cy="2307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3"/>
          <p:cNvSpPr/>
          <p:nvPr/>
        </p:nvSpPr>
        <p:spPr>
          <a:xfrm>
            <a:off x="501030" y="3414564"/>
            <a:ext cx="1221300" cy="2307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3"/>
          <p:cNvSpPr/>
          <p:nvPr/>
        </p:nvSpPr>
        <p:spPr>
          <a:xfrm>
            <a:off x="595982" y="3462933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시간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53"/>
          <p:cNvSpPr/>
          <p:nvPr/>
        </p:nvSpPr>
        <p:spPr>
          <a:xfrm>
            <a:off x="1722313" y="3414564"/>
            <a:ext cx="3256800" cy="2307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53"/>
          <p:cNvSpPr/>
          <p:nvPr/>
        </p:nvSpPr>
        <p:spPr>
          <a:xfrm>
            <a:off x="1819647" y="3462933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작업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53"/>
          <p:cNvSpPr/>
          <p:nvPr/>
        </p:nvSpPr>
        <p:spPr>
          <a:xfrm>
            <a:off x="4979194" y="3414564"/>
            <a:ext cx="2035500" cy="2307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53"/>
          <p:cNvSpPr/>
          <p:nvPr/>
        </p:nvSpPr>
        <p:spPr>
          <a:xfrm>
            <a:off x="5076527" y="3462933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도구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53"/>
          <p:cNvSpPr/>
          <p:nvPr/>
        </p:nvSpPr>
        <p:spPr>
          <a:xfrm>
            <a:off x="7014716" y="3414564"/>
            <a:ext cx="1628400" cy="2307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53"/>
          <p:cNvSpPr/>
          <p:nvPr/>
        </p:nvSpPr>
        <p:spPr>
          <a:xfrm>
            <a:off x="7112050" y="3462933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소요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53"/>
          <p:cNvSpPr/>
          <p:nvPr/>
        </p:nvSpPr>
        <p:spPr>
          <a:xfrm>
            <a:off x="500881" y="3645396"/>
            <a:ext cx="8142300" cy="2307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53"/>
          <p:cNvSpPr/>
          <p:nvPr/>
        </p:nvSpPr>
        <p:spPr>
          <a:xfrm>
            <a:off x="595982" y="3693765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07:30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53"/>
          <p:cNvSpPr/>
          <p:nvPr/>
        </p:nvSpPr>
        <p:spPr>
          <a:xfrm>
            <a:off x="1819647" y="3693765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분석 + 피드백 정리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53"/>
          <p:cNvSpPr/>
          <p:nvPr/>
        </p:nvSpPr>
        <p:spPr>
          <a:xfrm>
            <a:off x="5076527" y="3693765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53"/>
          <p:cNvSpPr/>
          <p:nvPr/>
        </p:nvSpPr>
        <p:spPr>
          <a:xfrm>
            <a:off x="7112050" y="3693765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53"/>
          <p:cNvSpPr/>
          <p:nvPr/>
        </p:nvSpPr>
        <p:spPr>
          <a:xfrm>
            <a:off x="500881" y="3876229"/>
            <a:ext cx="8142300" cy="2307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53"/>
          <p:cNvSpPr/>
          <p:nvPr/>
        </p:nvSpPr>
        <p:spPr>
          <a:xfrm>
            <a:off x="595982" y="3924598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08:30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53"/>
          <p:cNvSpPr/>
          <p:nvPr/>
        </p:nvSpPr>
        <p:spPr>
          <a:xfrm>
            <a:off x="1819647" y="3924598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기능 1개 추가 + 블로그 글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53"/>
          <p:cNvSpPr/>
          <p:nvPr/>
        </p:nvSpPr>
        <p:spPr>
          <a:xfrm>
            <a:off x="5076527" y="3924598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 Code + Claude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53"/>
          <p:cNvSpPr/>
          <p:nvPr/>
        </p:nvSpPr>
        <p:spPr>
          <a:xfrm>
            <a:off x="7112050" y="3924598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45분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53"/>
          <p:cNvSpPr/>
          <p:nvPr/>
        </p:nvSpPr>
        <p:spPr>
          <a:xfrm>
            <a:off x="500881" y="4107061"/>
            <a:ext cx="8142300" cy="2307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53"/>
          <p:cNvSpPr/>
          <p:nvPr/>
        </p:nvSpPr>
        <p:spPr>
          <a:xfrm>
            <a:off x="595982" y="4155430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12:00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53"/>
          <p:cNvSpPr/>
          <p:nvPr/>
        </p:nvSpPr>
        <p:spPr>
          <a:xfrm>
            <a:off x="1819647" y="4155430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인스타 포스트 업로드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53"/>
          <p:cNvSpPr/>
          <p:nvPr/>
        </p:nvSpPr>
        <p:spPr>
          <a:xfrm>
            <a:off x="5076527" y="4155430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Canva + Claude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53"/>
          <p:cNvSpPr/>
          <p:nvPr/>
        </p:nvSpPr>
        <p:spPr>
          <a:xfrm>
            <a:off x="7112050" y="4155430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53"/>
          <p:cNvSpPr/>
          <p:nvPr/>
        </p:nvSpPr>
        <p:spPr>
          <a:xfrm>
            <a:off x="500881" y="4337893"/>
            <a:ext cx="8142300" cy="2307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53"/>
          <p:cNvSpPr/>
          <p:nvPr/>
        </p:nvSpPr>
        <p:spPr>
          <a:xfrm>
            <a:off x="595982" y="4386263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16:00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53"/>
          <p:cNvSpPr/>
          <p:nvPr/>
        </p:nvSpPr>
        <p:spPr>
          <a:xfrm>
            <a:off x="1819647" y="4386263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유튜브 쇼츠 + 내일 기획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53"/>
          <p:cNvSpPr/>
          <p:nvPr/>
        </p:nvSpPr>
        <p:spPr>
          <a:xfrm>
            <a:off x="5076527" y="4386263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CapCut + Suno + Claude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53"/>
          <p:cNvSpPr/>
          <p:nvPr/>
        </p:nvSpPr>
        <p:spPr>
          <a:xfrm>
            <a:off x="7112050" y="4386263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55분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53"/>
          <p:cNvSpPr/>
          <p:nvPr/>
        </p:nvSpPr>
        <p:spPr>
          <a:xfrm>
            <a:off x="500881" y="4568726"/>
            <a:ext cx="8142300" cy="2307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3"/>
          <p:cNvSpPr/>
          <p:nvPr/>
        </p:nvSpPr>
        <p:spPr>
          <a:xfrm>
            <a:off x="595982" y="4617095"/>
            <a:ext cx="1486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합계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53"/>
          <p:cNvSpPr/>
          <p:nvPr/>
        </p:nvSpPr>
        <p:spPr>
          <a:xfrm>
            <a:off x="1819647" y="4617095"/>
            <a:ext cx="3519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하루 총 작업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53"/>
          <p:cNvSpPr/>
          <p:nvPr/>
        </p:nvSpPr>
        <p:spPr>
          <a:xfrm>
            <a:off x="5076527" y="4617095"/>
            <a:ext cx="2298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53"/>
          <p:cNvSpPr/>
          <p:nvPr/>
        </p:nvSpPr>
        <p:spPr>
          <a:xfrm>
            <a:off x="7112050" y="4617095"/>
            <a:ext cx="1893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약 2시간 20분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54"/>
          <p:cNvSpPr/>
          <p:nvPr/>
        </p:nvSpPr>
        <p:spPr>
          <a:xfrm>
            <a:off x="496119" y="717798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실전: 전자책 출판 (풀 오케스트라)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54"/>
          <p:cNvSpPr/>
          <p:nvPr/>
        </p:nvSpPr>
        <p:spPr>
          <a:xfrm>
            <a:off x="496119" y="1353369"/>
            <a:ext cx="8151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전통 방식으로는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작가 + 디자이너 + 마케터 = 200만원 + 2개월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필요합니다.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오케스트라로는? </a:t>
            </a:r>
            <a:r>
              <a:rPr b="1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2만원 + 주말 이틀.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54"/>
          <p:cNvSpPr/>
          <p:nvPr/>
        </p:nvSpPr>
        <p:spPr>
          <a:xfrm>
            <a:off x="496119" y="1889820"/>
            <a:ext cx="8151900" cy="2535900"/>
          </a:xfrm>
          <a:prstGeom prst="roundRect">
            <a:avLst>
              <a:gd fmla="val 734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54"/>
          <p:cNvSpPr/>
          <p:nvPr/>
        </p:nvSpPr>
        <p:spPr>
          <a:xfrm>
            <a:off x="496119" y="2253779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54"/>
          <p:cNvSpPr/>
          <p:nvPr/>
        </p:nvSpPr>
        <p:spPr>
          <a:xfrm>
            <a:off x="496119" y="2615357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54"/>
          <p:cNvSpPr/>
          <p:nvPr/>
        </p:nvSpPr>
        <p:spPr>
          <a:xfrm>
            <a:off x="496119" y="2976935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54"/>
          <p:cNvSpPr/>
          <p:nvPr/>
        </p:nvSpPr>
        <p:spPr>
          <a:xfrm>
            <a:off x="496119" y="333851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54"/>
          <p:cNvSpPr/>
          <p:nvPr/>
        </p:nvSpPr>
        <p:spPr>
          <a:xfrm>
            <a:off x="496119" y="3700090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54"/>
          <p:cNvSpPr/>
          <p:nvPr/>
        </p:nvSpPr>
        <p:spPr>
          <a:xfrm>
            <a:off x="496119" y="406166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54"/>
          <p:cNvSpPr/>
          <p:nvPr/>
        </p:nvSpPr>
        <p:spPr>
          <a:xfrm>
            <a:off x="501030" y="1894582"/>
            <a:ext cx="22797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54"/>
          <p:cNvSpPr/>
          <p:nvPr/>
        </p:nvSpPr>
        <p:spPr>
          <a:xfrm>
            <a:off x="625004" y="1973759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단계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54"/>
          <p:cNvSpPr/>
          <p:nvPr/>
        </p:nvSpPr>
        <p:spPr>
          <a:xfrm>
            <a:off x="2780854" y="1894582"/>
            <a:ext cx="146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54"/>
          <p:cNvSpPr/>
          <p:nvPr/>
        </p:nvSpPr>
        <p:spPr>
          <a:xfrm>
            <a:off x="2904827" y="1973759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소요 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54"/>
          <p:cNvSpPr/>
          <p:nvPr/>
        </p:nvSpPr>
        <p:spPr>
          <a:xfrm>
            <a:off x="4246438" y="1894582"/>
            <a:ext cx="130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54"/>
          <p:cNvSpPr/>
          <p:nvPr/>
        </p:nvSpPr>
        <p:spPr>
          <a:xfrm>
            <a:off x="4370412" y="1973759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비용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54"/>
          <p:cNvSpPr/>
          <p:nvPr/>
        </p:nvSpPr>
        <p:spPr>
          <a:xfrm>
            <a:off x="5549131" y="1894582"/>
            <a:ext cx="30939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54"/>
          <p:cNvSpPr/>
          <p:nvPr/>
        </p:nvSpPr>
        <p:spPr>
          <a:xfrm>
            <a:off x="5673105" y="1973759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담당 AI 파트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54"/>
          <p:cNvSpPr/>
          <p:nvPr/>
        </p:nvSpPr>
        <p:spPr>
          <a:xfrm>
            <a:off x="625004" y="2335337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기획 (목차, 타겟, 차별화)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54"/>
          <p:cNvSpPr/>
          <p:nvPr/>
        </p:nvSpPr>
        <p:spPr>
          <a:xfrm>
            <a:off x="2904827" y="2335337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54"/>
          <p:cNvSpPr/>
          <p:nvPr/>
        </p:nvSpPr>
        <p:spPr>
          <a:xfrm>
            <a:off x="4370412" y="2335337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54"/>
          <p:cNvSpPr/>
          <p:nvPr/>
        </p:nvSpPr>
        <p:spPr>
          <a:xfrm>
            <a:off x="5673105" y="2335337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파트 1 기획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54"/>
          <p:cNvSpPr/>
          <p:nvPr/>
        </p:nvSpPr>
        <p:spPr>
          <a:xfrm>
            <a:off x="625004" y="2696914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집필 (5챕터, 15,000자)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54"/>
          <p:cNvSpPr/>
          <p:nvPr/>
        </p:nvSpPr>
        <p:spPr>
          <a:xfrm>
            <a:off x="2904827" y="2696914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54"/>
          <p:cNvSpPr/>
          <p:nvPr/>
        </p:nvSpPr>
        <p:spPr>
          <a:xfrm>
            <a:off x="4370412" y="2696914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54"/>
          <p:cNvSpPr/>
          <p:nvPr/>
        </p:nvSpPr>
        <p:spPr>
          <a:xfrm>
            <a:off x="5673105" y="2696914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파트 4 글쓰기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54"/>
          <p:cNvSpPr/>
          <p:nvPr/>
        </p:nvSpPr>
        <p:spPr>
          <a:xfrm>
            <a:off x="625004" y="3058492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디자인 (표지+내지+일러스트)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54"/>
          <p:cNvSpPr/>
          <p:nvPr/>
        </p:nvSpPr>
        <p:spPr>
          <a:xfrm>
            <a:off x="2904827" y="3058492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54"/>
          <p:cNvSpPr/>
          <p:nvPr/>
        </p:nvSpPr>
        <p:spPr>
          <a:xfrm>
            <a:off x="4370412" y="3058492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54"/>
          <p:cNvSpPr/>
          <p:nvPr/>
        </p:nvSpPr>
        <p:spPr>
          <a:xfrm>
            <a:off x="5673105" y="3058492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파트 3 디자인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54"/>
          <p:cNvSpPr/>
          <p:nvPr/>
        </p:nvSpPr>
        <p:spPr>
          <a:xfrm>
            <a:off x="625004" y="3420070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마케팅 (영상 3편+카드뉴스 5편)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54"/>
          <p:cNvSpPr/>
          <p:nvPr/>
        </p:nvSpPr>
        <p:spPr>
          <a:xfrm>
            <a:off x="2904827" y="3420070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54"/>
          <p:cNvSpPr/>
          <p:nvPr/>
        </p:nvSpPr>
        <p:spPr>
          <a:xfrm>
            <a:off x="4370412" y="3420070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54"/>
          <p:cNvSpPr/>
          <p:nvPr/>
        </p:nvSpPr>
        <p:spPr>
          <a:xfrm>
            <a:off x="5673105" y="3420070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파트 5+6+7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54"/>
          <p:cNvSpPr/>
          <p:nvPr/>
        </p:nvSpPr>
        <p:spPr>
          <a:xfrm>
            <a:off x="625004" y="3781648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등록 + 판매 시작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54"/>
          <p:cNvSpPr/>
          <p:nvPr/>
        </p:nvSpPr>
        <p:spPr>
          <a:xfrm>
            <a:off x="2904827" y="3781648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54"/>
          <p:cNvSpPr/>
          <p:nvPr/>
        </p:nvSpPr>
        <p:spPr>
          <a:xfrm>
            <a:off x="4370412" y="3781648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54"/>
          <p:cNvSpPr/>
          <p:nvPr/>
        </p:nvSpPr>
        <p:spPr>
          <a:xfrm>
            <a:off x="5673105" y="3781648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54"/>
          <p:cNvSpPr/>
          <p:nvPr/>
        </p:nvSpPr>
        <p:spPr>
          <a:xfrm>
            <a:off x="625004" y="4143226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총합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54"/>
          <p:cNvSpPr/>
          <p:nvPr/>
        </p:nvSpPr>
        <p:spPr>
          <a:xfrm>
            <a:off x="2904827" y="4143226"/>
            <a:ext cx="1674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약 10시간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54"/>
          <p:cNvSpPr/>
          <p:nvPr/>
        </p:nvSpPr>
        <p:spPr>
          <a:xfrm>
            <a:off x="4370412" y="4143226"/>
            <a:ext cx="151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약 2만원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54"/>
          <p:cNvSpPr/>
          <p:nvPr/>
        </p:nvSpPr>
        <p:spPr>
          <a:xfrm>
            <a:off x="5673105" y="4143226"/>
            <a:ext cx="330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7개 파트 전부 활용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55"/>
          <p:cNvSpPr/>
          <p:nvPr/>
        </p:nvSpPr>
        <p:spPr>
          <a:xfrm>
            <a:off x="496119" y="1199183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55"/>
          <p:cNvSpPr/>
          <p:nvPr/>
        </p:nvSpPr>
        <p:spPr>
          <a:xfrm>
            <a:off x="570533" y="1236390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55"/>
          <p:cNvSpPr/>
          <p:nvPr/>
        </p:nvSpPr>
        <p:spPr>
          <a:xfrm>
            <a:off x="496119" y="1437308"/>
            <a:ext cx="81519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50"/>
              <a:buFont typeface="Roboto Slab"/>
              <a:buNone/>
            </a:pPr>
            <a:r>
              <a:rPr b="0" i="0" lang="ko-KR" sz="3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아이디어를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50"/>
              <a:buFont typeface="Roboto Slab"/>
              <a:buNone/>
            </a:pPr>
            <a:r>
              <a:rPr b="0" i="0" lang="ko-KR" sz="3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사업으로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55"/>
          <p:cNvSpPr/>
          <p:nvPr/>
        </p:nvSpPr>
        <p:spPr>
          <a:xfrm>
            <a:off x="496119" y="2693119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좋은 아이디어는 누구에게나 있습니다. 하지만 그것을 실제 수익과 연결하는 사람은 극소수입니다. AI 오케스트라 시대, 이제 그 간격이 </a:t>
            </a:r>
            <a:r>
              <a:rPr b="1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주말 이틀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좁혀졌습니다.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55"/>
          <p:cNvSpPr/>
          <p:nvPr/>
        </p:nvSpPr>
        <p:spPr>
          <a:xfrm>
            <a:off x="496119" y="3031108"/>
            <a:ext cx="2634600" cy="91320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55"/>
          <p:cNvSpPr/>
          <p:nvPr/>
        </p:nvSpPr>
        <p:spPr>
          <a:xfrm>
            <a:off x="620092" y="3155082"/>
            <a:ext cx="2386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2010년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55"/>
          <p:cNvSpPr/>
          <p:nvPr/>
        </p:nvSpPr>
        <p:spPr>
          <a:xfrm>
            <a:off x="620092" y="3423345"/>
            <a:ext cx="238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개발팀 + 디자이너 + 서버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6개월~1년 · 5,000만원+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55"/>
          <p:cNvSpPr/>
          <p:nvPr/>
        </p:nvSpPr>
        <p:spPr>
          <a:xfrm>
            <a:off x="3254648" y="3031108"/>
            <a:ext cx="2634600" cy="91320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55"/>
          <p:cNvSpPr/>
          <p:nvPr/>
        </p:nvSpPr>
        <p:spPr>
          <a:xfrm>
            <a:off x="3378622" y="3155082"/>
            <a:ext cx="2386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2020년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55"/>
          <p:cNvSpPr/>
          <p:nvPr/>
        </p:nvSpPr>
        <p:spPr>
          <a:xfrm>
            <a:off x="3378622" y="3423345"/>
            <a:ext cx="2386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노코드 + 프리랜서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1~3개월 · 500만원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55"/>
          <p:cNvSpPr/>
          <p:nvPr/>
        </p:nvSpPr>
        <p:spPr>
          <a:xfrm>
            <a:off x="6013252" y="3031108"/>
            <a:ext cx="2634600" cy="91320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55"/>
          <p:cNvSpPr/>
          <p:nvPr/>
        </p:nvSpPr>
        <p:spPr>
          <a:xfrm>
            <a:off x="6137225" y="3155082"/>
            <a:ext cx="2386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2025년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55"/>
          <p:cNvSpPr/>
          <p:nvPr/>
        </p:nvSpPr>
        <p:spPr>
          <a:xfrm>
            <a:off x="6137225" y="3423345"/>
            <a:ext cx="238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+ 노트북 + 아이디어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1일~1주 · 월 5만원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56"/>
          <p:cNvSpPr/>
          <p:nvPr/>
        </p:nvSpPr>
        <p:spPr>
          <a:xfrm>
            <a:off x="496119" y="1139279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왜 상업용으로 생각해야 하는가?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56"/>
          <p:cNvSpPr/>
          <p:nvPr/>
        </p:nvSpPr>
        <p:spPr>
          <a:xfrm>
            <a:off x="496119" y="1836837"/>
            <a:ext cx="3755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🌱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취미 프로젝트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56"/>
          <p:cNvSpPr/>
          <p:nvPr/>
        </p:nvSpPr>
        <p:spPr>
          <a:xfrm>
            <a:off x="496119" y="2159422"/>
            <a:ext cx="37554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내가 쓰려고 만든다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아무도 안 써도 OK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디자인 대충 해도 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성장이 없음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피드백을 받을 기회 없음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56"/>
          <p:cNvSpPr/>
          <p:nvPr/>
        </p:nvSpPr>
        <p:spPr>
          <a:xfrm>
            <a:off x="4469606" y="1712863"/>
            <a:ext cx="4272300" cy="1655700"/>
          </a:xfrm>
          <a:prstGeom prst="roundRect">
            <a:avLst>
              <a:gd fmla="val 112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56"/>
          <p:cNvSpPr/>
          <p:nvPr/>
        </p:nvSpPr>
        <p:spPr>
          <a:xfrm>
            <a:off x="4593580" y="1836837"/>
            <a:ext cx="4024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🌳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상업용 프로젝트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56"/>
          <p:cNvSpPr/>
          <p:nvPr/>
        </p:nvSpPr>
        <p:spPr>
          <a:xfrm>
            <a:off x="4593580" y="2159422"/>
            <a:ext cx="4024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다른 사람의 문제를 해결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사용자가 있어야 의미 있음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첫인상이 중요 (디자인 필수)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피드백 → 개선 → 성장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실력이 빠르게 올라감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56"/>
          <p:cNvSpPr/>
          <p:nvPr/>
        </p:nvSpPr>
        <p:spPr>
          <a:xfrm>
            <a:off x="496119" y="3508177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1" name="Google Shape;155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687961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56"/>
          <p:cNvSpPr/>
          <p:nvPr/>
        </p:nvSpPr>
        <p:spPr>
          <a:xfrm>
            <a:off x="899071" y="3663107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상업용으로 만들어야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더 진지하게 고민하고, 더 빠르게 성장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합니다. 수익은 그 결과물일 뿐입니다.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57"/>
          <p:cNvSpPr/>
          <p:nvPr/>
        </p:nvSpPr>
        <p:spPr>
          <a:xfrm>
            <a:off x="496119" y="551706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발전 4단계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57"/>
          <p:cNvSpPr/>
          <p:nvPr/>
        </p:nvSpPr>
        <p:spPr>
          <a:xfrm>
            <a:off x="496119" y="1187276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막연한 아이디어를 실제 제품으로 만들기 위해서는 4단계 과정이 필요합니다. 씨앗을 심고, 검증하고, 벤치마킹하고, 차별화하는 과정입니다.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57"/>
          <p:cNvSpPr/>
          <p:nvPr/>
        </p:nvSpPr>
        <p:spPr>
          <a:xfrm>
            <a:off x="682154" y="1835348"/>
            <a:ext cx="38277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57"/>
          <p:cNvSpPr/>
          <p:nvPr/>
        </p:nvSpPr>
        <p:spPr>
          <a:xfrm>
            <a:off x="496119" y="1711300"/>
            <a:ext cx="372000" cy="37200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2" name="Google Shape;156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136" y="1804318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57"/>
          <p:cNvSpPr/>
          <p:nvPr/>
        </p:nvSpPr>
        <p:spPr>
          <a:xfrm>
            <a:off x="620092" y="2207344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1단계: 씨앗 — "이런 거 있으면 좋겠다"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57"/>
          <p:cNvSpPr/>
          <p:nvPr/>
        </p:nvSpPr>
        <p:spPr>
          <a:xfrm>
            <a:off x="620092" y="2475607"/>
            <a:ext cx="3765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불편 일기 쓰기, 주변 관찰, AI에게 아이디어 물어보기. 일상 속 작은 불편함이 최고의 아이디어 원천.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57"/>
          <p:cNvSpPr/>
          <p:nvPr/>
        </p:nvSpPr>
        <p:spPr>
          <a:xfrm>
            <a:off x="4820022" y="1649313"/>
            <a:ext cx="38277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57"/>
          <p:cNvSpPr/>
          <p:nvPr/>
        </p:nvSpPr>
        <p:spPr>
          <a:xfrm>
            <a:off x="4633987" y="1525265"/>
            <a:ext cx="372000" cy="37200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7" name="Google Shape;156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7004" y="1618283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57"/>
          <p:cNvSpPr/>
          <p:nvPr/>
        </p:nvSpPr>
        <p:spPr>
          <a:xfrm>
            <a:off x="4757961" y="2021309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2단계: 검증 — "나만 그런 건가?"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57"/>
          <p:cNvSpPr/>
          <p:nvPr/>
        </p:nvSpPr>
        <p:spPr>
          <a:xfrm>
            <a:off x="4757961" y="2289572"/>
            <a:ext cx="3765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Google Trends로 검색량 확인, 온라인 커뮤니티에서 같은 불편 호소 글 찾기, 간단한 설문조사 진행.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57"/>
          <p:cNvSpPr/>
          <p:nvPr/>
        </p:nvSpPr>
        <p:spPr>
          <a:xfrm>
            <a:off x="682154" y="3430563"/>
            <a:ext cx="38277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57"/>
          <p:cNvSpPr/>
          <p:nvPr/>
        </p:nvSpPr>
        <p:spPr>
          <a:xfrm>
            <a:off x="496119" y="3306514"/>
            <a:ext cx="372000" cy="37200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2" name="Google Shape;1572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136" y="3399532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57"/>
          <p:cNvSpPr/>
          <p:nvPr/>
        </p:nvSpPr>
        <p:spPr>
          <a:xfrm>
            <a:off x="620092" y="3802559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3단계: 벤치마킹 — "다른 사람은 어떻게 풀었지?"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57"/>
          <p:cNvSpPr/>
          <p:nvPr/>
        </p:nvSpPr>
        <p:spPr>
          <a:xfrm>
            <a:off x="620092" y="4070821"/>
            <a:ext cx="3765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경쟁 앱 직접 사용해보기, 리뷰 분석, 강점/약점 표 작성. 이미 검증된 시장에 더 나은 해결책 제시.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57"/>
          <p:cNvSpPr/>
          <p:nvPr/>
        </p:nvSpPr>
        <p:spPr>
          <a:xfrm>
            <a:off x="4820022" y="3244528"/>
            <a:ext cx="38277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57"/>
          <p:cNvSpPr/>
          <p:nvPr/>
        </p:nvSpPr>
        <p:spPr>
          <a:xfrm>
            <a:off x="4633987" y="3120479"/>
            <a:ext cx="372000" cy="37200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7" name="Google Shape;1577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7004" y="3213497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57"/>
          <p:cNvSpPr/>
          <p:nvPr/>
        </p:nvSpPr>
        <p:spPr>
          <a:xfrm>
            <a:off x="4757961" y="3616523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4단계: 차별화 — "내 것만의 무기는 뭐지?"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57"/>
          <p:cNvSpPr/>
          <p:nvPr/>
        </p:nvSpPr>
        <p:spPr>
          <a:xfrm>
            <a:off x="4757961" y="3884786"/>
            <a:ext cx="3765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독자적 기능 정의, 타겟 좁히기. 좁힐수록 기능이 명확해지고, 사용자의 만족도가 올라간다.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58"/>
          <p:cNvSpPr/>
          <p:nvPr/>
        </p:nvSpPr>
        <p:spPr>
          <a:xfrm>
            <a:off x="496119" y="412328"/>
            <a:ext cx="81519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00"/>
              <a:buFont typeface="Roboto Slab"/>
              <a:buNone/>
            </a:pPr>
            <a:r>
              <a:rPr b="0" i="0" lang="ko-KR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벤치마킹 실전 &amp; 페르소나 설정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58"/>
          <p:cNvSpPr/>
          <p:nvPr/>
        </p:nvSpPr>
        <p:spPr>
          <a:xfrm>
            <a:off x="496119" y="988888"/>
            <a:ext cx="39435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🔍</a:t>
            </a: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경쟁 앱 분석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58"/>
          <p:cNvSpPr/>
          <p:nvPr/>
        </p:nvSpPr>
        <p:spPr>
          <a:xfrm>
            <a:off x="496119" y="1269950"/>
            <a:ext cx="3943500" cy="1331400"/>
          </a:xfrm>
          <a:prstGeom prst="roundRect">
            <a:avLst>
              <a:gd fmla="val 1223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58"/>
          <p:cNvSpPr/>
          <p:nvPr/>
        </p:nvSpPr>
        <p:spPr>
          <a:xfrm>
            <a:off x="496119" y="1563291"/>
            <a:ext cx="3943500" cy="69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58"/>
          <p:cNvSpPr/>
          <p:nvPr/>
        </p:nvSpPr>
        <p:spPr>
          <a:xfrm>
            <a:off x="496119" y="1854250"/>
            <a:ext cx="3943500" cy="69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58"/>
          <p:cNvSpPr/>
          <p:nvPr/>
        </p:nvSpPr>
        <p:spPr>
          <a:xfrm>
            <a:off x="496119" y="2308027"/>
            <a:ext cx="3943500" cy="69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58"/>
          <p:cNvSpPr/>
          <p:nvPr/>
        </p:nvSpPr>
        <p:spPr>
          <a:xfrm>
            <a:off x="501030" y="1274713"/>
            <a:ext cx="865500" cy="2886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58"/>
          <p:cNvSpPr/>
          <p:nvPr/>
        </p:nvSpPr>
        <p:spPr>
          <a:xfrm>
            <a:off x="609526" y="1336402"/>
            <a:ext cx="11055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58"/>
          <p:cNvSpPr/>
          <p:nvPr/>
        </p:nvSpPr>
        <p:spPr>
          <a:xfrm>
            <a:off x="1366465" y="1274713"/>
            <a:ext cx="1101600" cy="2886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58"/>
          <p:cNvSpPr/>
          <p:nvPr/>
        </p:nvSpPr>
        <p:spPr>
          <a:xfrm>
            <a:off x="1474961" y="1336402"/>
            <a:ext cx="13416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강점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58"/>
          <p:cNvSpPr/>
          <p:nvPr/>
        </p:nvSpPr>
        <p:spPr>
          <a:xfrm>
            <a:off x="2467942" y="1274713"/>
            <a:ext cx="983400" cy="2886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58"/>
          <p:cNvSpPr/>
          <p:nvPr/>
        </p:nvSpPr>
        <p:spPr>
          <a:xfrm>
            <a:off x="2576438" y="1336402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약점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58"/>
          <p:cNvSpPr/>
          <p:nvPr/>
        </p:nvSpPr>
        <p:spPr>
          <a:xfrm>
            <a:off x="3451399" y="1274713"/>
            <a:ext cx="983400" cy="2886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58"/>
          <p:cNvSpPr/>
          <p:nvPr/>
        </p:nvSpPr>
        <p:spPr>
          <a:xfrm>
            <a:off x="3559894" y="1336402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내 전략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58"/>
          <p:cNvSpPr/>
          <p:nvPr/>
        </p:nvSpPr>
        <p:spPr>
          <a:xfrm>
            <a:off x="609526" y="1627361"/>
            <a:ext cx="11055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Forest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58"/>
          <p:cNvSpPr/>
          <p:nvPr/>
        </p:nvSpPr>
        <p:spPr>
          <a:xfrm>
            <a:off x="1474961" y="1627361"/>
            <a:ext cx="13416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게이미피케이션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58"/>
          <p:cNvSpPr/>
          <p:nvPr/>
        </p:nvSpPr>
        <p:spPr>
          <a:xfrm>
            <a:off x="2576438" y="1627361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기록 없음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58"/>
          <p:cNvSpPr/>
          <p:nvPr/>
        </p:nvSpPr>
        <p:spPr>
          <a:xfrm>
            <a:off x="3559894" y="1627361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통계 추가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58"/>
          <p:cNvSpPr/>
          <p:nvPr/>
        </p:nvSpPr>
        <p:spPr>
          <a:xfrm>
            <a:off x="609526" y="1918320"/>
            <a:ext cx="11055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Todoist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58"/>
          <p:cNvSpPr/>
          <p:nvPr/>
        </p:nvSpPr>
        <p:spPr>
          <a:xfrm>
            <a:off x="1474961" y="1918320"/>
            <a:ext cx="13416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깔끔한 UI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58"/>
          <p:cNvSpPr/>
          <p:nvPr/>
        </p:nvSpPr>
        <p:spPr>
          <a:xfrm>
            <a:off x="2576438" y="1918320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 없음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58"/>
          <p:cNvSpPr/>
          <p:nvPr/>
        </p:nvSpPr>
        <p:spPr>
          <a:xfrm>
            <a:off x="3559894" y="1918320"/>
            <a:ext cx="766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타이머+할일 통합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58"/>
          <p:cNvSpPr/>
          <p:nvPr/>
        </p:nvSpPr>
        <p:spPr>
          <a:xfrm>
            <a:off x="609526" y="2372097"/>
            <a:ext cx="11055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Focus To-Do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58"/>
          <p:cNvSpPr/>
          <p:nvPr/>
        </p:nvSpPr>
        <p:spPr>
          <a:xfrm>
            <a:off x="1474961" y="2372097"/>
            <a:ext cx="13416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뽀모도로 구조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58"/>
          <p:cNvSpPr/>
          <p:nvPr/>
        </p:nvSpPr>
        <p:spPr>
          <a:xfrm>
            <a:off x="2576438" y="2372097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학생 맞춤 아님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58"/>
          <p:cNvSpPr/>
          <p:nvPr/>
        </p:nvSpPr>
        <p:spPr>
          <a:xfrm>
            <a:off x="3559894" y="2372097"/>
            <a:ext cx="12237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시험 일정 연동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58"/>
          <p:cNvSpPr/>
          <p:nvPr/>
        </p:nvSpPr>
        <p:spPr>
          <a:xfrm>
            <a:off x="496119" y="2735238"/>
            <a:ext cx="3943500" cy="14400"/>
          </a:xfrm>
          <a:prstGeom prst="roundRect">
            <a:avLst>
              <a:gd fmla="val 59998" name="adj"/>
            </a:avLst>
          </a:prstGeom>
          <a:solidFill>
            <a:srgbClr val="15213F">
              <a:alpha val="5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58"/>
          <p:cNvSpPr/>
          <p:nvPr/>
        </p:nvSpPr>
        <p:spPr>
          <a:xfrm>
            <a:off x="496119" y="2883396"/>
            <a:ext cx="39435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👤</a:t>
            </a: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페르소나 기능 우선순위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58"/>
          <p:cNvSpPr/>
          <p:nvPr/>
        </p:nvSpPr>
        <p:spPr>
          <a:xfrm>
            <a:off x="496119" y="3164458"/>
            <a:ext cx="3943500" cy="1440600"/>
          </a:xfrm>
          <a:prstGeom prst="roundRect">
            <a:avLst>
              <a:gd fmla="val 1130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58"/>
          <p:cNvSpPr/>
          <p:nvPr/>
        </p:nvSpPr>
        <p:spPr>
          <a:xfrm>
            <a:off x="500881" y="3169221"/>
            <a:ext cx="3933900" cy="28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58"/>
          <p:cNvSpPr/>
          <p:nvPr/>
        </p:nvSpPr>
        <p:spPr>
          <a:xfrm>
            <a:off x="501030" y="3169221"/>
            <a:ext cx="1180200" cy="28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58"/>
          <p:cNvSpPr/>
          <p:nvPr/>
        </p:nvSpPr>
        <p:spPr>
          <a:xfrm>
            <a:off x="609526" y="3230910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기능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58"/>
          <p:cNvSpPr/>
          <p:nvPr/>
        </p:nvSpPr>
        <p:spPr>
          <a:xfrm>
            <a:off x="1681163" y="3169221"/>
            <a:ext cx="904800" cy="28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58"/>
          <p:cNvSpPr/>
          <p:nvPr/>
        </p:nvSpPr>
        <p:spPr>
          <a:xfrm>
            <a:off x="1792039" y="3230910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민수(중학생)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58"/>
          <p:cNvSpPr/>
          <p:nvPr/>
        </p:nvSpPr>
        <p:spPr>
          <a:xfrm>
            <a:off x="2585963" y="3169221"/>
            <a:ext cx="904800" cy="28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58"/>
          <p:cNvSpPr/>
          <p:nvPr/>
        </p:nvSpPr>
        <p:spPr>
          <a:xfrm>
            <a:off x="2696840" y="3230910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서연(고등학생)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8"/>
          <p:cNvSpPr/>
          <p:nvPr/>
        </p:nvSpPr>
        <p:spPr>
          <a:xfrm>
            <a:off x="3490764" y="3169221"/>
            <a:ext cx="944100" cy="28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58"/>
          <p:cNvSpPr/>
          <p:nvPr/>
        </p:nvSpPr>
        <p:spPr>
          <a:xfrm>
            <a:off x="3601641" y="3230910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준호(공시생)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58"/>
          <p:cNvSpPr/>
          <p:nvPr/>
        </p:nvSpPr>
        <p:spPr>
          <a:xfrm>
            <a:off x="500881" y="3455417"/>
            <a:ext cx="3933900" cy="28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58"/>
          <p:cNvSpPr/>
          <p:nvPr/>
        </p:nvSpPr>
        <p:spPr>
          <a:xfrm>
            <a:off x="609526" y="3517106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기본 타이머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58"/>
          <p:cNvSpPr/>
          <p:nvPr/>
        </p:nvSpPr>
        <p:spPr>
          <a:xfrm>
            <a:off x="1792039" y="3517106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58"/>
          <p:cNvSpPr/>
          <p:nvPr/>
        </p:nvSpPr>
        <p:spPr>
          <a:xfrm>
            <a:off x="2696840" y="3517106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58"/>
          <p:cNvSpPr/>
          <p:nvPr/>
        </p:nvSpPr>
        <p:spPr>
          <a:xfrm>
            <a:off x="3601641" y="3517106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58"/>
          <p:cNvSpPr/>
          <p:nvPr/>
        </p:nvSpPr>
        <p:spPr>
          <a:xfrm>
            <a:off x="500881" y="3741613"/>
            <a:ext cx="3933900" cy="28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58"/>
          <p:cNvSpPr/>
          <p:nvPr/>
        </p:nvSpPr>
        <p:spPr>
          <a:xfrm>
            <a:off x="609526" y="3803303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친구 경쟁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58"/>
          <p:cNvSpPr/>
          <p:nvPr/>
        </p:nvSpPr>
        <p:spPr>
          <a:xfrm>
            <a:off x="1792039" y="3803303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58"/>
          <p:cNvSpPr/>
          <p:nvPr/>
        </p:nvSpPr>
        <p:spPr>
          <a:xfrm>
            <a:off x="2696840" y="3803303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있으면 좋음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58"/>
          <p:cNvSpPr/>
          <p:nvPr/>
        </p:nvSpPr>
        <p:spPr>
          <a:xfrm>
            <a:off x="3601641" y="3803303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불필요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58"/>
          <p:cNvSpPr/>
          <p:nvPr/>
        </p:nvSpPr>
        <p:spPr>
          <a:xfrm>
            <a:off x="500881" y="4027810"/>
            <a:ext cx="3933900" cy="2862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58"/>
          <p:cNvSpPr/>
          <p:nvPr/>
        </p:nvSpPr>
        <p:spPr>
          <a:xfrm>
            <a:off x="609526" y="4089499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SNS 차단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58"/>
          <p:cNvSpPr/>
          <p:nvPr/>
        </p:nvSpPr>
        <p:spPr>
          <a:xfrm>
            <a:off x="1792039" y="4089499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58"/>
          <p:cNvSpPr/>
          <p:nvPr/>
        </p:nvSpPr>
        <p:spPr>
          <a:xfrm>
            <a:off x="2696840" y="4089499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있으면 좋음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58"/>
          <p:cNvSpPr/>
          <p:nvPr/>
        </p:nvSpPr>
        <p:spPr>
          <a:xfrm>
            <a:off x="3601641" y="4089499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불필요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58"/>
          <p:cNvSpPr/>
          <p:nvPr/>
        </p:nvSpPr>
        <p:spPr>
          <a:xfrm>
            <a:off x="500881" y="4314006"/>
            <a:ext cx="3933900" cy="2862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58"/>
          <p:cNvSpPr/>
          <p:nvPr/>
        </p:nvSpPr>
        <p:spPr>
          <a:xfrm>
            <a:off x="609526" y="4375696"/>
            <a:ext cx="1418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주간 통계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58"/>
          <p:cNvSpPr/>
          <p:nvPr/>
        </p:nvSpPr>
        <p:spPr>
          <a:xfrm>
            <a:off x="1792039" y="4375696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불필요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58"/>
          <p:cNvSpPr/>
          <p:nvPr/>
        </p:nvSpPr>
        <p:spPr>
          <a:xfrm>
            <a:off x="2696840" y="4375696"/>
            <a:ext cx="11403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있으면 좋음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58"/>
          <p:cNvSpPr/>
          <p:nvPr/>
        </p:nvSpPr>
        <p:spPr>
          <a:xfrm>
            <a:off x="3601641" y="4375696"/>
            <a:ext cx="11820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58"/>
          <p:cNvSpPr/>
          <p:nvPr/>
        </p:nvSpPr>
        <p:spPr>
          <a:xfrm>
            <a:off x="4709145" y="988888"/>
            <a:ext cx="39435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💡</a:t>
            </a: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차별화 3가지 핵심 질문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4" name="Google Shape;164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45" y="1269950"/>
            <a:ext cx="3943501" cy="835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58"/>
          <p:cNvSpPr/>
          <p:nvPr/>
        </p:nvSpPr>
        <p:spPr>
          <a:xfrm>
            <a:off x="4889078" y="1392734"/>
            <a:ext cx="36408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"기존 앱에 없는 게 뭐지?"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58"/>
          <p:cNvSpPr/>
          <p:nvPr/>
        </p:nvSpPr>
        <p:spPr>
          <a:xfrm>
            <a:off x="4889078" y="1657201"/>
            <a:ext cx="36408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과목별 통계 + 친구 경쟁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1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학생 전용 타이머 앱은 없음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7" name="Google Shape;164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45" y="2200573"/>
            <a:ext cx="3943501" cy="835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58"/>
          <p:cNvSpPr/>
          <p:nvPr/>
        </p:nvSpPr>
        <p:spPr>
          <a:xfrm>
            <a:off x="4889078" y="2323356"/>
            <a:ext cx="36408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"내가 가장 잘 아는 게 뭐지?"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58"/>
          <p:cNvSpPr/>
          <p:nvPr/>
        </p:nvSpPr>
        <p:spPr>
          <a:xfrm>
            <a:off x="4889078" y="2587823"/>
            <a:ext cx="36408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중학생의 공부 패턴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1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직접 사용자이기 때문에 통찰이 있음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0" name="Google Shape;165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45" y="3131195"/>
            <a:ext cx="3943501" cy="8356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p58"/>
          <p:cNvSpPr/>
          <p:nvPr/>
        </p:nvSpPr>
        <p:spPr>
          <a:xfrm>
            <a:off x="4889078" y="3253978"/>
            <a:ext cx="36408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"누구를 위한 건지 딱 정하면?"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58"/>
          <p:cNvSpPr/>
          <p:nvPr/>
        </p:nvSpPr>
        <p:spPr>
          <a:xfrm>
            <a:off x="4889078" y="3518446"/>
            <a:ext cx="36408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시험 기간 중학생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1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좁힐수록 기능이 명확해진다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58"/>
          <p:cNvSpPr/>
          <p:nvPr/>
        </p:nvSpPr>
        <p:spPr>
          <a:xfrm>
            <a:off x="4709145" y="4073649"/>
            <a:ext cx="3943500" cy="550800"/>
          </a:xfrm>
          <a:prstGeom prst="roundRect">
            <a:avLst>
              <a:gd fmla="val 2957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4" name="Google Shape;165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7641" y="4228579"/>
            <a:ext cx="135657" cy="10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55" name="Google Shape;1655;p58"/>
          <p:cNvSpPr/>
          <p:nvPr/>
        </p:nvSpPr>
        <p:spPr>
          <a:xfrm>
            <a:off x="5061793" y="4186163"/>
            <a:ext cx="3482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"모든 사람을 위한 앱"은 아무도 안 쓴다. </a:t>
            </a:r>
            <a:r>
              <a:rPr b="1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딱 한 명</a:t>
            </a: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을 정하면, 오히려 더 많은 사람이 쓴다.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59"/>
          <p:cNvSpPr/>
          <p:nvPr/>
        </p:nvSpPr>
        <p:spPr>
          <a:xfrm>
            <a:off x="496119" y="680070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반복적 사고: 계속 업데이트하라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59"/>
          <p:cNvSpPr/>
          <p:nvPr/>
        </p:nvSpPr>
        <p:spPr>
          <a:xfrm>
            <a:off x="496119" y="1315641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완벽한 v1은 없습니다. 시작하고, 사용자의 목소리를 듣고, 빠르게 개선하는 것이 핵심입니다. </a:t>
            </a:r>
            <a:r>
              <a:rPr b="1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AI 덕분에 수정 비용이 거의 0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"이 부분 바꿔줘" 한마디면 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59"/>
          <p:cNvSpPr/>
          <p:nvPr/>
        </p:nvSpPr>
        <p:spPr>
          <a:xfrm>
            <a:off x="496119" y="1653629"/>
            <a:ext cx="8151900" cy="2174100"/>
          </a:xfrm>
          <a:prstGeom prst="roundRect">
            <a:avLst>
              <a:gd fmla="val 856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59"/>
          <p:cNvSpPr/>
          <p:nvPr/>
        </p:nvSpPr>
        <p:spPr>
          <a:xfrm>
            <a:off x="496119" y="201758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59"/>
          <p:cNvSpPr/>
          <p:nvPr/>
        </p:nvSpPr>
        <p:spPr>
          <a:xfrm>
            <a:off x="496119" y="237916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59"/>
          <p:cNvSpPr/>
          <p:nvPr/>
        </p:nvSpPr>
        <p:spPr>
          <a:xfrm>
            <a:off x="496119" y="2740744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59"/>
          <p:cNvSpPr/>
          <p:nvPr/>
        </p:nvSpPr>
        <p:spPr>
          <a:xfrm>
            <a:off x="496119" y="310232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59"/>
          <p:cNvSpPr/>
          <p:nvPr/>
        </p:nvSpPr>
        <p:spPr>
          <a:xfrm>
            <a:off x="496119" y="3463900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59"/>
          <p:cNvSpPr/>
          <p:nvPr/>
        </p:nvSpPr>
        <p:spPr>
          <a:xfrm>
            <a:off x="500955" y="1658392"/>
            <a:ext cx="9771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59"/>
          <p:cNvSpPr/>
          <p:nvPr/>
        </p:nvSpPr>
        <p:spPr>
          <a:xfrm>
            <a:off x="624929" y="1737568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버전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59"/>
          <p:cNvSpPr/>
          <p:nvPr/>
        </p:nvSpPr>
        <p:spPr>
          <a:xfrm>
            <a:off x="1478012" y="1658392"/>
            <a:ext cx="22797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59"/>
          <p:cNvSpPr/>
          <p:nvPr/>
        </p:nvSpPr>
        <p:spPr>
          <a:xfrm>
            <a:off x="1601986" y="1737568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바꾼 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59"/>
          <p:cNvSpPr/>
          <p:nvPr/>
        </p:nvSpPr>
        <p:spPr>
          <a:xfrm>
            <a:off x="3757836" y="1658392"/>
            <a:ext cx="244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59"/>
          <p:cNvSpPr/>
          <p:nvPr/>
        </p:nvSpPr>
        <p:spPr>
          <a:xfrm>
            <a:off x="3881810" y="1737568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이유 (피드백)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59"/>
          <p:cNvSpPr/>
          <p:nvPr/>
        </p:nvSpPr>
        <p:spPr>
          <a:xfrm>
            <a:off x="6200477" y="1658392"/>
            <a:ext cx="244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59"/>
          <p:cNvSpPr/>
          <p:nvPr/>
        </p:nvSpPr>
        <p:spPr>
          <a:xfrm>
            <a:off x="6324451" y="1737568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결과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59"/>
          <p:cNvSpPr/>
          <p:nvPr/>
        </p:nvSpPr>
        <p:spPr>
          <a:xfrm>
            <a:off x="624929" y="2099146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59"/>
          <p:cNvSpPr/>
          <p:nvPr/>
        </p:nvSpPr>
        <p:spPr>
          <a:xfrm>
            <a:off x="1601986" y="2099146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기본 타이머 완성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59"/>
          <p:cNvSpPr/>
          <p:nvPr/>
        </p:nvSpPr>
        <p:spPr>
          <a:xfrm>
            <a:off x="3881810" y="2099146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첫 출발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59"/>
          <p:cNvSpPr/>
          <p:nvPr/>
        </p:nvSpPr>
        <p:spPr>
          <a:xfrm>
            <a:off x="6324451" y="2099146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작동하지만 아무도 안 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59"/>
          <p:cNvSpPr/>
          <p:nvPr/>
        </p:nvSpPr>
        <p:spPr>
          <a:xfrm>
            <a:off x="624929" y="2460724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59"/>
          <p:cNvSpPr/>
          <p:nvPr/>
        </p:nvSpPr>
        <p:spPr>
          <a:xfrm>
            <a:off x="1601986" y="2460724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다크 모드 추가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59"/>
          <p:cNvSpPr/>
          <p:nvPr/>
        </p:nvSpPr>
        <p:spPr>
          <a:xfrm>
            <a:off x="3881810" y="2460724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"밤에 눈이 아파요"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59"/>
          <p:cNvSpPr/>
          <p:nvPr/>
        </p:nvSpPr>
        <p:spPr>
          <a:xfrm>
            <a:off x="6324451" y="2460724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밤 사용률 2배 증가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59"/>
          <p:cNvSpPr/>
          <p:nvPr/>
        </p:nvSpPr>
        <p:spPr>
          <a:xfrm>
            <a:off x="624929" y="2822302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59"/>
          <p:cNvSpPr/>
          <p:nvPr/>
        </p:nvSpPr>
        <p:spPr>
          <a:xfrm>
            <a:off x="1601986" y="2822302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버튼으로 변경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59"/>
          <p:cNvSpPr/>
          <p:nvPr/>
        </p:nvSpPr>
        <p:spPr>
          <a:xfrm>
            <a:off x="3881810" y="2822302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"드롭다운 불편해요"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59"/>
          <p:cNvSpPr/>
          <p:nvPr/>
        </p:nvSpPr>
        <p:spPr>
          <a:xfrm>
            <a:off x="6324451" y="2822302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선택 속도 50% 빨라짐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59"/>
          <p:cNvSpPr/>
          <p:nvPr/>
        </p:nvSpPr>
        <p:spPr>
          <a:xfrm>
            <a:off x="624929" y="3183880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59"/>
          <p:cNvSpPr/>
          <p:nvPr/>
        </p:nvSpPr>
        <p:spPr>
          <a:xfrm>
            <a:off x="1601986" y="3183880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친구 경쟁 기능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59"/>
          <p:cNvSpPr/>
          <p:nvPr/>
        </p:nvSpPr>
        <p:spPr>
          <a:xfrm>
            <a:off x="3881810" y="3183880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"같이 공부하고 싶어요"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59"/>
          <p:cNvSpPr/>
          <p:nvPr/>
        </p:nvSpPr>
        <p:spPr>
          <a:xfrm>
            <a:off x="6324451" y="3183880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 3배 증가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59"/>
          <p:cNvSpPr/>
          <p:nvPr/>
        </p:nvSpPr>
        <p:spPr>
          <a:xfrm>
            <a:off x="624929" y="3545458"/>
            <a:ext cx="118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59"/>
          <p:cNvSpPr/>
          <p:nvPr/>
        </p:nvSpPr>
        <p:spPr>
          <a:xfrm>
            <a:off x="1601986" y="3545458"/>
            <a:ext cx="248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주간 리포트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59"/>
          <p:cNvSpPr/>
          <p:nvPr/>
        </p:nvSpPr>
        <p:spPr>
          <a:xfrm>
            <a:off x="3881810" y="3545458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주말 사용률 낮음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59"/>
          <p:cNvSpPr/>
          <p:nvPr/>
        </p:nvSpPr>
        <p:spPr>
          <a:xfrm>
            <a:off x="6324451" y="3545458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주말 사용률 40% 증가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59"/>
          <p:cNvSpPr/>
          <p:nvPr/>
        </p:nvSpPr>
        <p:spPr>
          <a:xfrm>
            <a:off x="496119" y="3967386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8" name="Google Shape;169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14717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9" name="Google Shape;1699;p59"/>
          <p:cNvSpPr/>
          <p:nvPr/>
        </p:nvSpPr>
        <p:spPr>
          <a:xfrm>
            <a:off x="899071" y="4122316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v1이 완벽하지 않아도 괜찮습니다. 중요한 것은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출시하고, 듣고, 고치는 속도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60"/>
          <p:cNvSpPr/>
          <p:nvPr/>
        </p:nvSpPr>
        <p:spPr>
          <a:xfrm>
            <a:off x="496119" y="372368"/>
            <a:ext cx="8151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50"/>
              <a:buFont typeface="Roboto Slab"/>
              <a:buNone/>
            </a:pPr>
            <a:r>
              <a:rPr b="0" i="0" lang="ko-KR" sz="2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지휘자의 마인드셋 5원칙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60"/>
          <p:cNvSpPr/>
          <p:nvPr/>
        </p:nvSpPr>
        <p:spPr>
          <a:xfrm>
            <a:off x="496119" y="914400"/>
            <a:ext cx="2651700" cy="1216500"/>
          </a:xfrm>
          <a:prstGeom prst="roundRect">
            <a:avLst>
              <a:gd fmla="val 136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60"/>
          <p:cNvSpPr/>
          <p:nvPr/>
        </p:nvSpPr>
        <p:spPr>
          <a:xfrm>
            <a:off x="606549" y="1024830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8" name="Google Shape;170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632" y="1115913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60"/>
          <p:cNvSpPr/>
          <p:nvPr/>
        </p:nvSpPr>
        <p:spPr>
          <a:xfrm>
            <a:off x="997053" y="1097539"/>
            <a:ext cx="2430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1. 문제부터 시작하라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60"/>
          <p:cNvSpPr/>
          <p:nvPr/>
        </p:nvSpPr>
        <p:spPr>
          <a:xfrm>
            <a:off x="606549" y="1507707"/>
            <a:ext cx="24309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 기술로 뭘 만들지?"가 아니라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 문제를 어떻게 풀지?"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 먼저다.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60"/>
          <p:cNvSpPr/>
          <p:nvPr/>
        </p:nvSpPr>
        <p:spPr>
          <a:xfrm>
            <a:off x="3246165" y="914400"/>
            <a:ext cx="2651700" cy="1216500"/>
          </a:xfrm>
          <a:prstGeom prst="roundRect">
            <a:avLst>
              <a:gd fmla="val 136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60"/>
          <p:cNvSpPr/>
          <p:nvPr/>
        </p:nvSpPr>
        <p:spPr>
          <a:xfrm>
            <a:off x="3356595" y="1024830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3" name="Google Shape;1713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7678" y="1115913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60"/>
          <p:cNvSpPr/>
          <p:nvPr/>
        </p:nvSpPr>
        <p:spPr>
          <a:xfrm>
            <a:off x="3747099" y="1097539"/>
            <a:ext cx="2430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2. 완벽보다 시작이 먼저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60"/>
          <p:cNvSpPr/>
          <p:nvPr/>
        </p:nvSpPr>
        <p:spPr>
          <a:xfrm>
            <a:off x="3356595" y="1507707"/>
            <a:ext cx="24309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50%짜리를 내놓고, 나머지 50%는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피드백으로 채워라.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60"/>
          <p:cNvSpPr/>
          <p:nvPr/>
        </p:nvSpPr>
        <p:spPr>
          <a:xfrm>
            <a:off x="5996211" y="914400"/>
            <a:ext cx="2651700" cy="1216500"/>
          </a:xfrm>
          <a:prstGeom prst="roundRect">
            <a:avLst>
              <a:gd fmla="val 136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60"/>
          <p:cNvSpPr/>
          <p:nvPr/>
        </p:nvSpPr>
        <p:spPr>
          <a:xfrm>
            <a:off x="6106641" y="1024830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8" name="Google Shape;1718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7724" y="1115913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60"/>
          <p:cNvSpPr/>
          <p:nvPr/>
        </p:nvSpPr>
        <p:spPr>
          <a:xfrm>
            <a:off x="6497145" y="1097539"/>
            <a:ext cx="2430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3. 계속 물어봐라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60"/>
          <p:cNvSpPr/>
          <p:nvPr/>
        </p:nvSpPr>
        <p:spPr>
          <a:xfrm>
            <a:off x="6106641" y="1507707"/>
            <a:ext cx="24309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사용자에게, AI에게, 경쟁 제품에게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끊임없이 질문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하라.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60"/>
          <p:cNvSpPr/>
          <p:nvPr/>
        </p:nvSpPr>
        <p:spPr>
          <a:xfrm>
            <a:off x="496119" y="2229296"/>
            <a:ext cx="4026600" cy="1049400"/>
          </a:xfrm>
          <a:prstGeom prst="roundRect">
            <a:avLst>
              <a:gd fmla="val 157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60"/>
          <p:cNvSpPr/>
          <p:nvPr/>
        </p:nvSpPr>
        <p:spPr>
          <a:xfrm>
            <a:off x="606549" y="2339727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3" name="Google Shape;1723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632" y="2430810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4" name="Google Shape;1724;p60"/>
          <p:cNvSpPr/>
          <p:nvPr/>
        </p:nvSpPr>
        <p:spPr>
          <a:xfrm>
            <a:off x="997053" y="2412435"/>
            <a:ext cx="38058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4. AI의 한계를 알아라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60"/>
          <p:cNvSpPr/>
          <p:nvPr/>
        </p:nvSpPr>
        <p:spPr>
          <a:xfrm>
            <a:off x="606549" y="2822603"/>
            <a:ext cx="38058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AI는 도구일 뿐,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판단은 사람의 몫.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항상 검증하고 수정하라.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60"/>
          <p:cNvSpPr/>
          <p:nvPr/>
        </p:nvSpPr>
        <p:spPr>
          <a:xfrm>
            <a:off x="4621188" y="2229296"/>
            <a:ext cx="4026600" cy="1049400"/>
          </a:xfrm>
          <a:prstGeom prst="roundRect">
            <a:avLst>
              <a:gd fmla="val 157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60"/>
          <p:cNvSpPr/>
          <p:nvPr/>
        </p:nvSpPr>
        <p:spPr>
          <a:xfrm>
            <a:off x="4731618" y="2339727"/>
            <a:ext cx="331500" cy="3315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8" name="Google Shape;1728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2701" y="2430810"/>
            <a:ext cx="149126" cy="1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60"/>
          <p:cNvSpPr/>
          <p:nvPr/>
        </p:nvSpPr>
        <p:spPr>
          <a:xfrm>
            <a:off x="5122122" y="2412435"/>
            <a:ext cx="38058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5. 나만의 이야기를 만들어라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60"/>
          <p:cNvSpPr/>
          <p:nvPr/>
        </p:nvSpPr>
        <p:spPr>
          <a:xfrm>
            <a:off x="4731618" y="2822603"/>
            <a:ext cx="38058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AI는 누구나 쓴다. 차별화는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"어떤 문제를 풀고 싶으냐"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에서 나온다.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60"/>
          <p:cNvSpPr/>
          <p:nvPr/>
        </p:nvSpPr>
        <p:spPr>
          <a:xfrm>
            <a:off x="496119" y="3487713"/>
            <a:ext cx="39411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❌</a:t>
            </a:r>
            <a:r>
              <a:rPr b="0" i="0" lang="ko-KR" sz="1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사라질 능력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60"/>
          <p:cNvSpPr/>
          <p:nvPr/>
        </p:nvSpPr>
        <p:spPr>
          <a:xfrm>
            <a:off x="496119" y="3763491"/>
            <a:ext cx="39411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 문법 암기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포토샵 도구 조작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영상 편집 기술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단순 번역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수집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60"/>
          <p:cNvSpPr/>
          <p:nvPr/>
        </p:nvSpPr>
        <p:spPr>
          <a:xfrm>
            <a:off x="4631978" y="3389337"/>
            <a:ext cx="4100100" cy="1381800"/>
          </a:xfrm>
          <a:prstGeom prst="roundRect">
            <a:avLst>
              <a:gd fmla="val 1199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60"/>
          <p:cNvSpPr/>
          <p:nvPr/>
        </p:nvSpPr>
        <p:spPr>
          <a:xfrm>
            <a:off x="4742408" y="3487713"/>
            <a:ext cx="38793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ko-KR" sz="12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살아남는 능력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0"/>
          <p:cNvSpPr/>
          <p:nvPr/>
        </p:nvSpPr>
        <p:spPr>
          <a:xfrm>
            <a:off x="4742408" y="3763491"/>
            <a:ext cx="38793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문제 정의 능력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심미적 판단력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스토리텔링 능력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문화적 맥락 이해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420" lvl="0" marL="17272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데이터 인사이트 도출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1" name="Google Shape;174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61"/>
          <p:cNvSpPr/>
          <p:nvPr/>
        </p:nvSpPr>
        <p:spPr>
          <a:xfrm>
            <a:off x="496119" y="1823219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PART 6. 직접 만들어보자!</a:t>
            </a:r>
            <a:endParaRPr b="1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61"/>
          <p:cNvSpPr/>
          <p:nvPr/>
        </p:nvSpPr>
        <p:spPr>
          <a:xfrm>
            <a:off x="496119" y="2396803"/>
            <a:ext cx="4722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 서버와 HTML을 이용해 실제로 동작하는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공부 타이머 앱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만들어봅니다. 브라우저가 어떻게 서버와 대화하는지, 데이터가 어떻게 저장되는지 — 개념부터 구조까지 한 번에 정리합니다!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61"/>
          <p:cNvSpPr/>
          <p:nvPr/>
        </p:nvSpPr>
        <p:spPr>
          <a:xfrm>
            <a:off x="496119" y="3187502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45" name="Google Shape;1745;p61"/>
          <p:cNvSpPr/>
          <p:nvPr/>
        </p:nvSpPr>
        <p:spPr>
          <a:xfrm>
            <a:off x="570533" y="3224709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61"/>
          <p:cNvSpPr/>
          <p:nvPr/>
        </p:nvSpPr>
        <p:spPr>
          <a:xfrm>
            <a:off x="1022450" y="3187500"/>
            <a:ext cx="1333500" cy="188700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47" name="Google Shape;1747;p61"/>
          <p:cNvSpPr/>
          <p:nvPr/>
        </p:nvSpPr>
        <p:spPr>
          <a:xfrm>
            <a:off x="1096863" y="3224709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FLASK + HTML 실습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62"/>
          <p:cNvSpPr/>
          <p:nvPr/>
        </p:nvSpPr>
        <p:spPr>
          <a:xfrm>
            <a:off x="496119" y="1079376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Flask 서버 + HTML의 비밀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62"/>
          <p:cNvSpPr/>
          <p:nvPr/>
        </p:nvSpPr>
        <p:spPr>
          <a:xfrm>
            <a:off x="496119" y="1714946"/>
            <a:ext cx="8151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우리가 만드는 앱은 사실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식당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 똑같이 작동합니다.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손님(브라우저)이 주문하면, 주방장(Flask)이 요리해서 가져다주고, 재료는 냉장고(records.json)에 보관하죠!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62"/>
          <p:cNvSpPr/>
          <p:nvPr/>
        </p:nvSpPr>
        <p:spPr>
          <a:xfrm>
            <a:off x="496119" y="2530322"/>
            <a:ext cx="8151900" cy="1812600"/>
          </a:xfrm>
          <a:prstGeom prst="roundRect">
            <a:avLst>
              <a:gd fmla="val 1027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6" name="Google Shape;1756;p62"/>
          <p:cNvSpPr/>
          <p:nvPr/>
        </p:nvSpPr>
        <p:spPr>
          <a:xfrm>
            <a:off x="496119" y="289428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7" name="Google Shape;1757;p62"/>
          <p:cNvSpPr/>
          <p:nvPr/>
        </p:nvSpPr>
        <p:spPr>
          <a:xfrm>
            <a:off x="496119" y="3255860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8" name="Google Shape;1758;p62"/>
          <p:cNvSpPr/>
          <p:nvPr/>
        </p:nvSpPr>
        <p:spPr>
          <a:xfrm>
            <a:off x="496119" y="3617437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9" name="Google Shape;1759;p62"/>
          <p:cNvSpPr/>
          <p:nvPr/>
        </p:nvSpPr>
        <p:spPr>
          <a:xfrm>
            <a:off x="496119" y="3979015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0" name="Google Shape;1760;p62"/>
          <p:cNvSpPr/>
          <p:nvPr/>
        </p:nvSpPr>
        <p:spPr>
          <a:xfrm>
            <a:off x="2536552" y="2530322"/>
            <a:ext cx="7800" cy="18126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1" name="Google Shape;1761;p62"/>
          <p:cNvSpPr/>
          <p:nvPr/>
        </p:nvSpPr>
        <p:spPr>
          <a:xfrm>
            <a:off x="4572074" y="2530322"/>
            <a:ext cx="7800" cy="18126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2" name="Google Shape;1762;p62"/>
          <p:cNvSpPr/>
          <p:nvPr/>
        </p:nvSpPr>
        <p:spPr>
          <a:xfrm>
            <a:off x="6607597" y="2530322"/>
            <a:ext cx="7800" cy="18126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3" name="Google Shape;1763;p62"/>
          <p:cNvSpPr/>
          <p:nvPr/>
        </p:nvSpPr>
        <p:spPr>
          <a:xfrm>
            <a:off x="501030" y="2535085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4" name="Google Shape;1764;p62"/>
          <p:cNvSpPr/>
          <p:nvPr/>
        </p:nvSpPr>
        <p:spPr>
          <a:xfrm>
            <a:off x="625004" y="2614262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구성 요소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62"/>
          <p:cNvSpPr/>
          <p:nvPr/>
        </p:nvSpPr>
        <p:spPr>
          <a:xfrm>
            <a:off x="2536552" y="2535085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6" name="Google Shape;1766;p62"/>
          <p:cNvSpPr/>
          <p:nvPr/>
        </p:nvSpPr>
        <p:spPr>
          <a:xfrm>
            <a:off x="2662907" y="2614262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식당 비유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62"/>
          <p:cNvSpPr/>
          <p:nvPr/>
        </p:nvSpPr>
        <p:spPr>
          <a:xfrm>
            <a:off x="4572074" y="2535085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8" name="Google Shape;1768;p62"/>
          <p:cNvSpPr/>
          <p:nvPr/>
        </p:nvSpPr>
        <p:spPr>
          <a:xfrm>
            <a:off x="4698429" y="2614262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실제 역할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62"/>
          <p:cNvSpPr/>
          <p:nvPr/>
        </p:nvSpPr>
        <p:spPr>
          <a:xfrm>
            <a:off x="6607597" y="2535085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0" name="Google Shape;1770;p62"/>
          <p:cNvSpPr/>
          <p:nvPr/>
        </p:nvSpPr>
        <p:spPr>
          <a:xfrm>
            <a:off x="6733952" y="2614262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우리 프로젝트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62"/>
          <p:cNvSpPr/>
          <p:nvPr/>
        </p:nvSpPr>
        <p:spPr>
          <a:xfrm>
            <a:off x="625004" y="2975839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62"/>
          <p:cNvSpPr/>
          <p:nvPr/>
        </p:nvSpPr>
        <p:spPr>
          <a:xfrm>
            <a:off x="2662907" y="2975839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손님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62"/>
          <p:cNvSpPr/>
          <p:nvPr/>
        </p:nvSpPr>
        <p:spPr>
          <a:xfrm>
            <a:off x="4698429" y="2975839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표시, 입력 받기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62"/>
          <p:cNvSpPr/>
          <p:nvPr/>
        </p:nvSpPr>
        <p:spPr>
          <a:xfrm>
            <a:off x="6733952" y="2975839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타이머, 버튼 클릭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62"/>
          <p:cNvSpPr/>
          <p:nvPr/>
        </p:nvSpPr>
        <p:spPr>
          <a:xfrm>
            <a:off x="625004" y="3337417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 서버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62"/>
          <p:cNvSpPr/>
          <p:nvPr/>
        </p:nvSpPr>
        <p:spPr>
          <a:xfrm>
            <a:off x="2662907" y="3337417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주방장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62"/>
          <p:cNvSpPr/>
          <p:nvPr/>
        </p:nvSpPr>
        <p:spPr>
          <a:xfrm>
            <a:off x="4698429" y="3337417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요청 처리, 응답 전달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62"/>
          <p:cNvSpPr/>
          <p:nvPr/>
        </p:nvSpPr>
        <p:spPr>
          <a:xfrm>
            <a:off x="6733952" y="3337417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HTML 전달, 기록 저장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62"/>
          <p:cNvSpPr/>
          <p:nvPr/>
        </p:nvSpPr>
        <p:spPr>
          <a:xfrm>
            <a:off x="625004" y="3698995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records.json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62"/>
          <p:cNvSpPr/>
          <p:nvPr/>
        </p:nvSpPr>
        <p:spPr>
          <a:xfrm>
            <a:off x="2662907" y="3698995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냉장고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62"/>
          <p:cNvSpPr/>
          <p:nvPr/>
        </p:nvSpPr>
        <p:spPr>
          <a:xfrm>
            <a:off x="4698429" y="3698995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영구 저장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62"/>
          <p:cNvSpPr/>
          <p:nvPr/>
        </p:nvSpPr>
        <p:spPr>
          <a:xfrm>
            <a:off x="6733952" y="3698995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과목, 시간, 날짜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62"/>
          <p:cNvSpPr/>
          <p:nvPr/>
        </p:nvSpPr>
        <p:spPr>
          <a:xfrm>
            <a:off x="625004" y="4060573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HTTP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62"/>
          <p:cNvSpPr/>
          <p:nvPr/>
        </p:nvSpPr>
        <p:spPr>
          <a:xfrm>
            <a:off x="2662907" y="4060573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주문서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62"/>
          <p:cNvSpPr/>
          <p:nvPr/>
        </p:nvSpPr>
        <p:spPr>
          <a:xfrm>
            <a:off x="4698429" y="4060573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대화 규칙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62"/>
          <p:cNvSpPr/>
          <p:nvPr/>
        </p:nvSpPr>
        <p:spPr>
          <a:xfrm>
            <a:off x="6733952" y="4060573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GET /, POST /save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92" name="Google Shape;179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3" name="Google Shape;1793;p63"/>
          <p:cNvSpPr/>
          <p:nvPr/>
        </p:nvSpPr>
        <p:spPr>
          <a:xfrm>
            <a:off x="496119" y="723826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127.0.0.1:5000 — 이 숫자의 의미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63"/>
          <p:cNvSpPr/>
          <p:nvPr/>
        </p:nvSpPr>
        <p:spPr>
          <a:xfrm>
            <a:off x="496119" y="1297409"/>
            <a:ext cx="47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주소창에 입력하는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127.0.0.1:5000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이 숫자들이 도대체 무슨 뜻일까요? 아파트 주소를 떠올리면 쉽게 이해할 수 있어요!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63"/>
          <p:cNvSpPr/>
          <p:nvPr/>
        </p:nvSpPr>
        <p:spPr>
          <a:xfrm>
            <a:off x="496119" y="1833860"/>
            <a:ext cx="2299500" cy="1111500"/>
          </a:xfrm>
          <a:prstGeom prst="roundRect">
            <a:avLst>
              <a:gd fmla="val 167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63"/>
          <p:cNvSpPr/>
          <p:nvPr/>
        </p:nvSpPr>
        <p:spPr>
          <a:xfrm>
            <a:off x="620092" y="1957834"/>
            <a:ext cx="2051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127.0.0.1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63"/>
          <p:cNvSpPr/>
          <p:nvPr/>
        </p:nvSpPr>
        <p:spPr>
          <a:xfrm>
            <a:off x="620092" y="2226097"/>
            <a:ext cx="20514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 컴퓨터 자체를 가리키는 주소. "우리 집 주소"예요. 인터넷이 아닌 내 컴퓨터 안에서만 통하는 특별한 주소입니다.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63"/>
          <p:cNvSpPr/>
          <p:nvPr/>
        </p:nvSpPr>
        <p:spPr>
          <a:xfrm>
            <a:off x="2919487" y="1833860"/>
            <a:ext cx="2299500" cy="1111500"/>
          </a:xfrm>
          <a:prstGeom prst="roundRect">
            <a:avLst>
              <a:gd fmla="val 167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63"/>
          <p:cNvSpPr/>
          <p:nvPr/>
        </p:nvSpPr>
        <p:spPr>
          <a:xfrm>
            <a:off x="3043461" y="1957834"/>
            <a:ext cx="2051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: (콜론)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63"/>
          <p:cNvSpPr/>
          <p:nvPr/>
        </p:nvSpPr>
        <p:spPr>
          <a:xfrm>
            <a:off x="3043461" y="2226097"/>
            <a:ext cx="20514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주소와 포트 번호를 구분하는 기호. 아파트에서 동(棟)과 호수를 나눌 때 쓰는 표시와 같습니다.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63"/>
          <p:cNvSpPr/>
          <p:nvPr/>
        </p:nvSpPr>
        <p:spPr>
          <a:xfrm>
            <a:off x="496119" y="3069431"/>
            <a:ext cx="4722900" cy="714600"/>
          </a:xfrm>
          <a:prstGeom prst="roundRect">
            <a:avLst>
              <a:gd fmla="val 26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63"/>
          <p:cNvSpPr/>
          <p:nvPr/>
        </p:nvSpPr>
        <p:spPr>
          <a:xfrm>
            <a:off x="620092" y="3193405"/>
            <a:ext cx="4474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63"/>
          <p:cNvSpPr/>
          <p:nvPr/>
        </p:nvSpPr>
        <p:spPr>
          <a:xfrm>
            <a:off x="620092" y="3461668"/>
            <a:ext cx="4474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Flask가 사용하는 포트 번호. "5000호 방"입니다. 서버가 손님을 기다리는 문 번호예요.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63"/>
          <p:cNvSpPr/>
          <p:nvPr/>
        </p:nvSpPr>
        <p:spPr>
          <a:xfrm>
            <a:off x="496119" y="3923630"/>
            <a:ext cx="4722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5" name="Google Shape;1805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410341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63"/>
          <p:cNvSpPr/>
          <p:nvPr/>
        </p:nvSpPr>
        <p:spPr>
          <a:xfrm>
            <a:off x="899071" y="4078560"/>
            <a:ext cx="4653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"내 컴퓨터의 5000번 방에서 Flask 서버가 손님을 기다리고 있다!"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64"/>
          <p:cNvSpPr/>
          <p:nvPr/>
        </p:nvSpPr>
        <p:spPr>
          <a:xfrm>
            <a:off x="496044" y="518617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app.py가 하는 일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64"/>
          <p:cNvSpPr/>
          <p:nvPr/>
        </p:nvSpPr>
        <p:spPr>
          <a:xfrm>
            <a:off x="406822" y="1234976"/>
            <a:ext cx="4103100" cy="3247200"/>
          </a:xfrm>
          <a:prstGeom prst="roundRect">
            <a:avLst>
              <a:gd fmla="val 573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14" name="Google Shape;1814;p64"/>
          <p:cNvSpPr/>
          <p:nvPr/>
        </p:nvSpPr>
        <p:spPr>
          <a:xfrm>
            <a:off x="530796" y="1358950"/>
            <a:ext cx="3855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🍽️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Flask 메뉴판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64"/>
          <p:cNvSpPr/>
          <p:nvPr/>
        </p:nvSpPr>
        <p:spPr>
          <a:xfrm>
            <a:off x="530796" y="1681535"/>
            <a:ext cx="3855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app.py는 식당의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전체 운영 매뉴얼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입니다. "어떤 주소로 오면 무엇을 해줘라"를 모두 정의하죠.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64"/>
          <p:cNvSpPr/>
          <p:nvPr/>
        </p:nvSpPr>
        <p:spPr>
          <a:xfrm>
            <a:off x="530796" y="2190080"/>
            <a:ext cx="38553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GET / → 메인 화면 보여주기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POST /save → 공부 기록 저장하기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GET /records → 기록 불러오기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64"/>
          <p:cNvSpPr/>
          <p:nvPr/>
        </p:nvSpPr>
        <p:spPr>
          <a:xfrm>
            <a:off x="4728046" y="1374502"/>
            <a:ext cx="3924600" cy="2968200"/>
          </a:xfrm>
          <a:prstGeom prst="roundRect">
            <a:avLst>
              <a:gd fmla="val 627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64"/>
          <p:cNvSpPr/>
          <p:nvPr/>
        </p:nvSpPr>
        <p:spPr>
          <a:xfrm>
            <a:off x="4728046" y="1738461"/>
            <a:ext cx="39246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64"/>
          <p:cNvSpPr/>
          <p:nvPr/>
        </p:nvSpPr>
        <p:spPr>
          <a:xfrm>
            <a:off x="4728046" y="2100039"/>
            <a:ext cx="39246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64"/>
          <p:cNvSpPr/>
          <p:nvPr/>
        </p:nvSpPr>
        <p:spPr>
          <a:xfrm>
            <a:off x="4728046" y="2660079"/>
            <a:ext cx="39246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64"/>
          <p:cNvSpPr/>
          <p:nvPr/>
        </p:nvSpPr>
        <p:spPr>
          <a:xfrm>
            <a:off x="4728046" y="3220120"/>
            <a:ext cx="39246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64"/>
          <p:cNvSpPr/>
          <p:nvPr/>
        </p:nvSpPr>
        <p:spPr>
          <a:xfrm>
            <a:off x="4728046" y="3780160"/>
            <a:ext cx="39246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64"/>
          <p:cNvSpPr/>
          <p:nvPr/>
        </p:nvSpPr>
        <p:spPr>
          <a:xfrm>
            <a:off x="4857304" y="1458441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구성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64"/>
          <p:cNvSpPr/>
          <p:nvPr/>
        </p:nvSpPr>
        <p:spPr>
          <a:xfrm>
            <a:off x="6162005" y="1458441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역할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64"/>
          <p:cNvSpPr/>
          <p:nvPr/>
        </p:nvSpPr>
        <p:spPr>
          <a:xfrm>
            <a:off x="7466707" y="1458441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식당 비유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64"/>
          <p:cNvSpPr/>
          <p:nvPr/>
        </p:nvSpPr>
        <p:spPr>
          <a:xfrm>
            <a:off x="4857304" y="1820019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 앱 만들기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64"/>
          <p:cNvSpPr/>
          <p:nvPr/>
        </p:nvSpPr>
        <p:spPr>
          <a:xfrm>
            <a:off x="6162005" y="1820019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 객체 생성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64"/>
          <p:cNvSpPr/>
          <p:nvPr/>
        </p:nvSpPr>
        <p:spPr>
          <a:xfrm>
            <a:off x="7466707" y="1820019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주방을 연다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64"/>
          <p:cNvSpPr/>
          <p:nvPr/>
        </p:nvSpPr>
        <p:spPr>
          <a:xfrm>
            <a:off x="4857304" y="2181597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라우트 등록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64"/>
          <p:cNvSpPr/>
          <p:nvPr/>
        </p:nvSpPr>
        <p:spPr>
          <a:xfrm>
            <a:off x="6162005" y="2181597"/>
            <a:ext cx="1056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 주소로 오면 이것을 해라"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64"/>
          <p:cNvSpPr/>
          <p:nvPr/>
        </p:nvSpPr>
        <p:spPr>
          <a:xfrm>
            <a:off x="7466707" y="2181597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메뉴판에 요리 등록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64"/>
          <p:cNvSpPr/>
          <p:nvPr/>
        </p:nvSpPr>
        <p:spPr>
          <a:xfrm>
            <a:off x="4857304" y="2741637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HTML 전달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64"/>
          <p:cNvSpPr/>
          <p:nvPr/>
        </p:nvSpPr>
        <p:spPr>
          <a:xfrm>
            <a:off x="6162005" y="2741637"/>
            <a:ext cx="1056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templates에서 파일 → 브라우저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64"/>
          <p:cNvSpPr/>
          <p:nvPr/>
        </p:nvSpPr>
        <p:spPr>
          <a:xfrm>
            <a:off x="7466707" y="2741637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요리를 접시에 담기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64"/>
          <p:cNvSpPr/>
          <p:nvPr/>
        </p:nvSpPr>
        <p:spPr>
          <a:xfrm>
            <a:off x="4857304" y="3301678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받기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64"/>
          <p:cNvSpPr/>
          <p:nvPr/>
        </p:nvSpPr>
        <p:spPr>
          <a:xfrm>
            <a:off x="6162005" y="3301678"/>
            <a:ext cx="1056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브라우저가 보낸 정보 읽기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64"/>
          <p:cNvSpPr/>
          <p:nvPr/>
        </p:nvSpPr>
        <p:spPr>
          <a:xfrm>
            <a:off x="7466707" y="3301678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주문서 내용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64"/>
          <p:cNvSpPr/>
          <p:nvPr/>
        </p:nvSpPr>
        <p:spPr>
          <a:xfrm>
            <a:off x="4857304" y="3861718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저장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64"/>
          <p:cNvSpPr/>
          <p:nvPr/>
        </p:nvSpPr>
        <p:spPr>
          <a:xfrm>
            <a:off x="6162005" y="3861718"/>
            <a:ext cx="1056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JSON 파일에 기록 쓰기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64"/>
          <p:cNvSpPr/>
          <p:nvPr/>
        </p:nvSpPr>
        <p:spPr>
          <a:xfrm>
            <a:off x="7466707" y="3861718"/>
            <a:ext cx="151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냉장고에 재료 보관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65"/>
          <p:cNvSpPr/>
          <p:nvPr/>
        </p:nvSpPr>
        <p:spPr>
          <a:xfrm>
            <a:off x="496119" y="1080269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GET vs POST — 두 가지 주문 방식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65"/>
          <p:cNvSpPr/>
          <p:nvPr/>
        </p:nvSpPr>
        <p:spPr>
          <a:xfrm>
            <a:off x="496119" y="1715839"/>
            <a:ext cx="8151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HTTP 요청에는 크게 두 가지 방식이 있습니다.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GET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은 정보를 가져오는 것,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POST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는 정보를 보내는 것! 식당으로 치면 메뉴판 달라는 것 vs 주문서 제출하는 것이에요.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65"/>
          <p:cNvSpPr/>
          <p:nvPr/>
        </p:nvSpPr>
        <p:spPr>
          <a:xfrm>
            <a:off x="496119" y="2252290"/>
            <a:ext cx="8151900" cy="1810800"/>
          </a:xfrm>
          <a:prstGeom prst="roundRect">
            <a:avLst>
              <a:gd fmla="val 102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49" name="Google Shape;1849;p65"/>
          <p:cNvSpPr/>
          <p:nvPr/>
        </p:nvSpPr>
        <p:spPr>
          <a:xfrm>
            <a:off x="496125" y="2252300"/>
            <a:ext cx="3828000" cy="18108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50" name="Google Shape;1850;p65"/>
          <p:cNvSpPr/>
          <p:nvPr/>
        </p:nvSpPr>
        <p:spPr>
          <a:xfrm>
            <a:off x="620092" y="2376264"/>
            <a:ext cx="3828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🔵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GET 요청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65"/>
          <p:cNvSpPr/>
          <p:nvPr/>
        </p:nvSpPr>
        <p:spPr>
          <a:xfrm>
            <a:off x="620092" y="2649289"/>
            <a:ext cx="38280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뜻: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"정보를 가져와라"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방향: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서버 → 브라우저 (읽기)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언제?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주소창에 URL을 입력할 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앱: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홈페이지 보기, 기록 불러오기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비유: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"메뉴판 달라고 하기"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65"/>
          <p:cNvSpPr/>
          <p:nvPr/>
        </p:nvSpPr>
        <p:spPr>
          <a:xfrm>
            <a:off x="4572000" y="2252290"/>
            <a:ext cx="4075800" cy="18108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53" name="Google Shape;1853;p65"/>
          <p:cNvSpPr/>
          <p:nvPr/>
        </p:nvSpPr>
        <p:spPr>
          <a:xfrm>
            <a:off x="4695974" y="2376264"/>
            <a:ext cx="3828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🟢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POST 요청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65"/>
          <p:cNvSpPr/>
          <p:nvPr/>
        </p:nvSpPr>
        <p:spPr>
          <a:xfrm>
            <a:off x="4695974" y="2649289"/>
            <a:ext cx="38280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뜻: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"정보를 보내라"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방향: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브라우저 → 서버 (쓰기)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언제?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기록을 저장할 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앱: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공부 기록 저장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비유: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"주문서 제출하기"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66"/>
          <p:cNvSpPr/>
          <p:nvPr/>
        </p:nvSpPr>
        <p:spPr>
          <a:xfrm>
            <a:off x="496119" y="341114"/>
            <a:ext cx="8151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타이머 동작 알고리즘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66"/>
          <p:cNvSpPr/>
          <p:nvPr/>
        </p:nvSpPr>
        <p:spPr>
          <a:xfrm>
            <a:off x="496125" y="612425"/>
            <a:ext cx="63612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oboto Slab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⏱️</a:t>
            </a:r>
            <a:r>
              <a:rPr b="0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시작 버튼 → 카운트다운 알고리즘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66"/>
          <p:cNvSpPr/>
          <p:nvPr/>
        </p:nvSpPr>
        <p:spPr>
          <a:xfrm>
            <a:off x="496125" y="807134"/>
            <a:ext cx="6361200" cy="1395300"/>
          </a:xfrm>
          <a:prstGeom prst="roundRect">
            <a:avLst>
              <a:gd fmla="val 951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863" name="Google Shape;1863;p66"/>
          <p:cNvSpPr/>
          <p:nvPr/>
        </p:nvSpPr>
        <p:spPr>
          <a:xfrm>
            <a:off x="503698" y="813930"/>
            <a:ext cx="6345300" cy="1728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864" name="Google Shape;1864;p66"/>
          <p:cNvSpPr/>
          <p:nvPr/>
        </p:nvSpPr>
        <p:spPr>
          <a:xfrm>
            <a:off x="563389" y="777032"/>
            <a:ext cx="16608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66"/>
          <p:cNvSpPr/>
          <p:nvPr/>
        </p:nvSpPr>
        <p:spPr>
          <a:xfrm>
            <a:off x="1895698" y="777032"/>
            <a:ext cx="1658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동작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66"/>
          <p:cNvSpPr/>
          <p:nvPr/>
        </p:nvSpPr>
        <p:spPr>
          <a:xfrm>
            <a:off x="4836597" y="847266"/>
            <a:ext cx="26409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66"/>
          <p:cNvSpPr/>
          <p:nvPr/>
        </p:nvSpPr>
        <p:spPr>
          <a:xfrm>
            <a:off x="503698" y="986662"/>
            <a:ext cx="6345300" cy="1728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868" name="Google Shape;1868;p66"/>
          <p:cNvSpPr/>
          <p:nvPr/>
        </p:nvSpPr>
        <p:spPr>
          <a:xfrm>
            <a:off x="563389" y="898103"/>
            <a:ext cx="16608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66"/>
          <p:cNvSpPr/>
          <p:nvPr/>
        </p:nvSpPr>
        <p:spPr>
          <a:xfrm>
            <a:off x="1895698" y="898103"/>
            <a:ext cx="1658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사용자가 '시작' 클릭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66"/>
          <p:cNvSpPr/>
          <p:nvPr/>
        </p:nvSpPr>
        <p:spPr>
          <a:xfrm>
            <a:off x="4836597" y="1019998"/>
            <a:ext cx="26409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이벤트 발생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66"/>
          <p:cNvSpPr/>
          <p:nvPr/>
        </p:nvSpPr>
        <p:spPr>
          <a:xfrm>
            <a:off x="503698" y="1159396"/>
            <a:ext cx="6345300" cy="1728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872" name="Google Shape;1872;p66"/>
          <p:cNvSpPr/>
          <p:nvPr/>
        </p:nvSpPr>
        <p:spPr>
          <a:xfrm>
            <a:off x="563389" y="1019175"/>
            <a:ext cx="16608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66"/>
          <p:cNvSpPr/>
          <p:nvPr/>
        </p:nvSpPr>
        <p:spPr>
          <a:xfrm>
            <a:off x="1895698" y="1019175"/>
            <a:ext cx="1658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1초마다 반복 실행 예약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66"/>
          <p:cNvSpPr/>
          <p:nvPr/>
        </p:nvSpPr>
        <p:spPr>
          <a:xfrm>
            <a:off x="4836597" y="1192732"/>
            <a:ext cx="26409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JavaScript가 담당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66"/>
          <p:cNvSpPr/>
          <p:nvPr/>
        </p:nvSpPr>
        <p:spPr>
          <a:xfrm>
            <a:off x="503698" y="1332130"/>
            <a:ext cx="6345300" cy="1728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876" name="Google Shape;1876;p66"/>
          <p:cNvSpPr/>
          <p:nvPr/>
        </p:nvSpPr>
        <p:spPr>
          <a:xfrm>
            <a:off x="563389" y="1140247"/>
            <a:ext cx="16608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66"/>
          <p:cNvSpPr/>
          <p:nvPr/>
        </p:nvSpPr>
        <p:spPr>
          <a:xfrm>
            <a:off x="1895698" y="1140247"/>
            <a:ext cx="1658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 1초마다 남은 시간 -1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66"/>
          <p:cNvSpPr/>
          <p:nvPr/>
        </p:nvSpPr>
        <p:spPr>
          <a:xfrm>
            <a:off x="4836597" y="1365466"/>
            <a:ext cx="26409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1500초 → 1499초 → ...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66"/>
          <p:cNvSpPr/>
          <p:nvPr/>
        </p:nvSpPr>
        <p:spPr>
          <a:xfrm>
            <a:off x="503698" y="1504862"/>
            <a:ext cx="6345300" cy="1728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880" name="Google Shape;1880;p66"/>
          <p:cNvSpPr/>
          <p:nvPr/>
        </p:nvSpPr>
        <p:spPr>
          <a:xfrm>
            <a:off x="563389" y="1261318"/>
            <a:ext cx="16608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66"/>
          <p:cNvSpPr/>
          <p:nvPr/>
        </p:nvSpPr>
        <p:spPr>
          <a:xfrm>
            <a:off x="1895698" y="1261318"/>
            <a:ext cx="1658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분:초로 변환 후 화면 업데이트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66"/>
          <p:cNvSpPr/>
          <p:nvPr/>
        </p:nvSpPr>
        <p:spPr>
          <a:xfrm>
            <a:off x="4836597" y="1538198"/>
            <a:ext cx="26409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1499초 → 24:59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66"/>
          <p:cNvSpPr/>
          <p:nvPr/>
        </p:nvSpPr>
        <p:spPr>
          <a:xfrm>
            <a:off x="503698" y="1677596"/>
            <a:ext cx="6345300" cy="1728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884" name="Google Shape;1884;p66"/>
          <p:cNvSpPr/>
          <p:nvPr/>
        </p:nvSpPr>
        <p:spPr>
          <a:xfrm>
            <a:off x="563389" y="1382390"/>
            <a:ext cx="16608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66"/>
          <p:cNvSpPr/>
          <p:nvPr/>
        </p:nvSpPr>
        <p:spPr>
          <a:xfrm>
            <a:off x="1895698" y="1382390"/>
            <a:ext cx="1658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남은 시간 = 0이면 정지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66"/>
          <p:cNvSpPr/>
          <p:nvPr/>
        </p:nvSpPr>
        <p:spPr>
          <a:xfrm>
            <a:off x="4836597" y="1710932"/>
            <a:ext cx="26409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반복 실행 멈춤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66"/>
          <p:cNvSpPr/>
          <p:nvPr/>
        </p:nvSpPr>
        <p:spPr>
          <a:xfrm>
            <a:off x="503698" y="1850330"/>
            <a:ext cx="6345300" cy="1728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888" name="Google Shape;1888;p66"/>
          <p:cNvSpPr/>
          <p:nvPr/>
        </p:nvSpPr>
        <p:spPr>
          <a:xfrm>
            <a:off x="563389" y="1503462"/>
            <a:ext cx="16608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66"/>
          <p:cNvSpPr/>
          <p:nvPr/>
        </p:nvSpPr>
        <p:spPr>
          <a:xfrm>
            <a:off x="1895698" y="1503462"/>
            <a:ext cx="1658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"수고했어!" 메시지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66"/>
          <p:cNvSpPr/>
          <p:nvPr/>
        </p:nvSpPr>
        <p:spPr>
          <a:xfrm>
            <a:off x="4836597" y="1883666"/>
            <a:ext cx="26409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사용자에게 알림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66"/>
          <p:cNvSpPr/>
          <p:nvPr/>
        </p:nvSpPr>
        <p:spPr>
          <a:xfrm>
            <a:off x="503698" y="2023062"/>
            <a:ext cx="6345300" cy="1728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892" name="Google Shape;1892;p66"/>
          <p:cNvSpPr/>
          <p:nvPr/>
        </p:nvSpPr>
        <p:spPr>
          <a:xfrm>
            <a:off x="563389" y="1624533"/>
            <a:ext cx="16608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66"/>
          <p:cNvSpPr/>
          <p:nvPr/>
        </p:nvSpPr>
        <p:spPr>
          <a:xfrm>
            <a:off x="1895698" y="1624533"/>
            <a:ext cx="1658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서버에 기록 저장 요청 (POST)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66"/>
          <p:cNvSpPr/>
          <p:nvPr/>
        </p:nvSpPr>
        <p:spPr>
          <a:xfrm>
            <a:off x="4836597" y="2056398"/>
            <a:ext cx="26409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Flask가 records.json에 저장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66"/>
          <p:cNvSpPr/>
          <p:nvPr/>
        </p:nvSpPr>
        <p:spPr>
          <a:xfrm>
            <a:off x="223050" y="2978136"/>
            <a:ext cx="4000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🎮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각 버튼의 역할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66"/>
          <p:cNvSpPr/>
          <p:nvPr/>
        </p:nvSpPr>
        <p:spPr>
          <a:xfrm>
            <a:off x="222942" y="3270453"/>
            <a:ext cx="1984500" cy="350100"/>
          </a:xfrm>
          <a:prstGeom prst="roundRect">
            <a:avLst>
              <a:gd fmla="val 2658" name="adj"/>
            </a:avLst>
          </a:prstGeom>
          <a:solidFill>
            <a:srgbClr val="FBFCFE"/>
          </a:solidFill>
          <a:ln cap="flat" cmpd="sng" w="952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897" name="Google Shape;1897;p66"/>
          <p:cNvSpPr/>
          <p:nvPr/>
        </p:nvSpPr>
        <p:spPr>
          <a:xfrm>
            <a:off x="294454" y="3341965"/>
            <a:ext cx="18417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▶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시작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66"/>
          <p:cNvSpPr/>
          <p:nvPr/>
        </p:nvSpPr>
        <p:spPr>
          <a:xfrm>
            <a:off x="294454" y="3474571"/>
            <a:ext cx="18417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1초마다 반복 실행 시작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66"/>
          <p:cNvSpPr/>
          <p:nvPr/>
        </p:nvSpPr>
        <p:spPr>
          <a:xfrm>
            <a:off x="2238521" y="3270453"/>
            <a:ext cx="1984800" cy="350100"/>
          </a:xfrm>
          <a:prstGeom prst="roundRect">
            <a:avLst>
              <a:gd fmla="val 2658" name="adj"/>
            </a:avLst>
          </a:prstGeom>
          <a:solidFill>
            <a:srgbClr val="FBFCFE"/>
          </a:solidFill>
          <a:ln cap="flat" cmpd="sng" w="952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00" name="Google Shape;1900;p66"/>
          <p:cNvSpPr/>
          <p:nvPr/>
        </p:nvSpPr>
        <p:spPr>
          <a:xfrm>
            <a:off x="2310033" y="3341965"/>
            <a:ext cx="18417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⏸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일시정지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66"/>
          <p:cNvSpPr/>
          <p:nvPr/>
        </p:nvSpPr>
        <p:spPr>
          <a:xfrm>
            <a:off x="2310033" y="3474571"/>
            <a:ext cx="18417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반복 실행 멈춤 (시간은 유지)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66"/>
          <p:cNvSpPr/>
          <p:nvPr/>
        </p:nvSpPr>
        <p:spPr>
          <a:xfrm>
            <a:off x="222942" y="3651379"/>
            <a:ext cx="4000200" cy="350100"/>
          </a:xfrm>
          <a:prstGeom prst="roundRect">
            <a:avLst>
              <a:gd fmla="val 2658" name="adj"/>
            </a:avLst>
          </a:prstGeom>
          <a:solidFill>
            <a:srgbClr val="FBFCFE"/>
          </a:solidFill>
          <a:ln cap="flat" cmpd="sng" w="952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03" name="Google Shape;1903;p66"/>
          <p:cNvSpPr/>
          <p:nvPr/>
        </p:nvSpPr>
        <p:spPr>
          <a:xfrm>
            <a:off x="294454" y="3722891"/>
            <a:ext cx="38574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🔄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리셋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66"/>
          <p:cNvSpPr/>
          <p:nvPr/>
        </p:nvSpPr>
        <p:spPr>
          <a:xfrm>
            <a:off x="294454" y="3855496"/>
            <a:ext cx="3857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반복 멈춤 + 시간을 25:00으로 되돌림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5" name="Google Shape;190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3872" y="2401326"/>
            <a:ext cx="2457025" cy="24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67"/>
          <p:cNvSpPr/>
          <p:nvPr/>
        </p:nvSpPr>
        <p:spPr>
          <a:xfrm>
            <a:off x="496119" y="346546"/>
            <a:ext cx="8151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요청과 응답 — 전체 흐름 따라가기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67"/>
          <p:cNvSpPr/>
          <p:nvPr/>
        </p:nvSpPr>
        <p:spPr>
          <a:xfrm>
            <a:off x="496125" y="691599"/>
            <a:ext cx="86091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민수가 공부 타이머를 사용하는 과정을 따라가 보면, 브라우저와 서버가 어떻게 대화하는지 한눈에 볼 수 있습니다.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모든 통신은 반드시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요청 → 응답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쌍으로 이루어집니다!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67"/>
          <p:cNvSpPr/>
          <p:nvPr/>
        </p:nvSpPr>
        <p:spPr>
          <a:xfrm>
            <a:off x="6590422" y="3248976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GET /records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67"/>
          <p:cNvSpPr/>
          <p:nvPr/>
        </p:nvSpPr>
        <p:spPr>
          <a:xfrm>
            <a:off x="5090512" y="3248976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저장 완료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67"/>
          <p:cNvSpPr/>
          <p:nvPr/>
        </p:nvSpPr>
        <p:spPr>
          <a:xfrm>
            <a:off x="3598753" y="3248976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POST /save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6" name="Google Shape;191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141" y="1272210"/>
            <a:ext cx="7890645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917" name="Google Shape;1917;p67"/>
          <p:cNvSpPr/>
          <p:nvPr/>
        </p:nvSpPr>
        <p:spPr>
          <a:xfrm>
            <a:off x="2106994" y="3248976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HTML 응답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67"/>
          <p:cNvSpPr/>
          <p:nvPr/>
        </p:nvSpPr>
        <p:spPr>
          <a:xfrm>
            <a:off x="582627" y="3248976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GET 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67"/>
          <p:cNvSpPr/>
          <p:nvPr/>
        </p:nvSpPr>
        <p:spPr>
          <a:xfrm>
            <a:off x="496125" y="4557989"/>
            <a:ext cx="8151900" cy="439800"/>
          </a:xfrm>
          <a:prstGeom prst="roundRect">
            <a:avLst>
              <a:gd fmla="val 5500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0" name="Google Shape;192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105" y="4738673"/>
            <a:ext cx="77465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1921" name="Google Shape;1921;p67"/>
          <p:cNvSpPr/>
          <p:nvPr/>
        </p:nvSpPr>
        <p:spPr>
          <a:xfrm>
            <a:off x="686377" y="4663296"/>
            <a:ext cx="5809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oboto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핵심:</a:t>
            </a:r>
            <a:r>
              <a:rPr b="0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서버가 먼저 말을 거는 법은 없다! 브라우저가 먼저 요청해야 서버가 응답합니다.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68"/>
          <p:cNvSpPr/>
          <p:nvPr/>
        </p:nvSpPr>
        <p:spPr>
          <a:xfrm>
            <a:off x="496119" y="365075"/>
            <a:ext cx="8151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HTML 화면 구조 — 무엇이 어디에?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68"/>
          <p:cNvSpPr/>
          <p:nvPr/>
        </p:nvSpPr>
        <p:spPr>
          <a:xfrm>
            <a:off x="496119" y="1047006"/>
            <a:ext cx="43494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🖥️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타이머 앱 화면 구성 요소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68"/>
          <p:cNvSpPr/>
          <p:nvPr/>
        </p:nvSpPr>
        <p:spPr>
          <a:xfrm>
            <a:off x="496119" y="1377702"/>
            <a:ext cx="4349400" cy="2665200"/>
          </a:xfrm>
          <a:prstGeom prst="roundRect">
            <a:avLst>
              <a:gd fmla="val 687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0" name="Google Shape;1930;p68"/>
          <p:cNvSpPr/>
          <p:nvPr/>
        </p:nvSpPr>
        <p:spPr>
          <a:xfrm>
            <a:off x="496119" y="1732434"/>
            <a:ext cx="43494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1" name="Google Shape;1931;p68"/>
          <p:cNvSpPr/>
          <p:nvPr/>
        </p:nvSpPr>
        <p:spPr>
          <a:xfrm>
            <a:off x="496119" y="2084784"/>
            <a:ext cx="43494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2" name="Google Shape;1932;p68"/>
          <p:cNvSpPr/>
          <p:nvPr/>
        </p:nvSpPr>
        <p:spPr>
          <a:xfrm>
            <a:off x="496119" y="2437135"/>
            <a:ext cx="43494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3" name="Google Shape;1933;p68"/>
          <p:cNvSpPr/>
          <p:nvPr/>
        </p:nvSpPr>
        <p:spPr>
          <a:xfrm>
            <a:off x="496119" y="2983334"/>
            <a:ext cx="43494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4" name="Google Shape;1934;p68"/>
          <p:cNvSpPr/>
          <p:nvPr/>
        </p:nvSpPr>
        <p:spPr>
          <a:xfrm>
            <a:off x="496119" y="3335685"/>
            <a:ext cx="43494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5" name="Google Shape;1935;p68"/>
          <p:cNvSpPr/>
          <p:nvPr/>
        </p:nvSpPr>
        <p:spPr>
          <a:xfrm>
            <a:off x="496119" y="3688035"/>
            <a:ext cx="43494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6" name="Google Shape;1936;p68"/>
          <p:cNvSpPr/>
          <p:nvPr/>
        </p:nvSpPr>
        <p:spPr>
          <a:xfrm>
            <a:off x="1585913" y="1377702"/>
            <a:ext cx="7500" cy="2665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7" name="Google Shape;1937;p68"/>
          <p:cNvSpPr/>
          <p:nvPr/>
        </p:nvSpPr>
        <p:spPr>
          <a:xfrm>
            <a:off x="2670870" y="1377702"/>
            <a:ext cx="7500" cy="2665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8" name="Google Shape;1938;p68"/>
          <p:cNvSpPr/>
          <p:nvPr/>
        </p:nvSpPr>
        <p:spPr>
          <a:xfrm>
            <a:off x="3755827" y="1377702"/>
            <a:ext cx="7500" cy="2665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39" name="Google Shape;1939;p68"/>
          <p:cNvSpPr/>
          <p:nvPr/>
        </p:nvSpPr>
        <p:spPr>
          <a:xfrm>
            <a:off x="500955" y="1382464"/>
            <a:ext cx="1085100" cy="350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40" name="Google Shape;1940;p68"/>
          <p:cNvSpPr/>
          <p:nvPr/>
        </p:nvSpPr>
        <p:spPr>
          <a:xfrm>
            <a:off x="622995" y="1459334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번호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68"/>
          <p:cNvSpPr/>
          <p:nvPr/>
        </p:nvSpPr>
        <p:spPr>
          <a:xfrm>
            <a:off x="1585913" y="1382464"/>
            <a:ext cx="1085100" cy="350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42" name="Google Shape;1942;p68"/>
          <p:cNvSpPr/>
          <p:nvPr/>
        </p:nvSpPr>
        <p:spPr>
          <a:xfrm>
            <a:off x="1710333" y="1459334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영역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68"/>
          <p:cNvSpPr/>
          <p:nvPr/>
        </p:nvSpPr>
        <p:spPr>
          <a:xfrm>
            <a:off x="2670870" y="1382464"/>
            <a:ext cx="1085100" cy="350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44" name="Google Shape;1944;p68"/>
          <p:cNvSpPr/>
          <p:nvPr/>
        </p:nvSpPr>
        <p:spPr>
          <a:xfrm>
            <a:off x="2795290" y="1459334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역할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68"/>
          <p:cNvSpPr/>
          <p:nvPr/>
        </p:nvSpPr>
        <p:spPr>
          <a:xfrm>
            <a:off x="3755827" y="1382464"/>
            <a:ext cx="1085100" cy="350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46" name="Google Shape;1946;p68"/>
          <p:cNvSpPr/>
          <p:nvPr/>
        </p:nvSpPr>
        <p:spPr>
          <a:xfrm>
            <a:off x="3880247" y="1459334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비유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68"/>
          <p:cNvSpPr/>
          <p:nvPr/>
        </p:nvSpPr>
        <p:spPr>
          <a:xfrm>
            <a:off x="622995" y="1811685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68"/>
          <p:cNvSpPr/>
          <p:nvPr/>
        </p:nvSpPr>
        <p:spPr>
          <a:xfrm>
            <a:off x="1710333" y="1811685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제목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68"/>
          <p:cNvSpPr/>
          <p:nvPr/>
        </p:nvSpPr>
        <p:spPr>
          <a:xfrm>
            <a:off x="2795290" y="1811685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앱 이름 표시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68"/>
          <p:cNvSpPr/>
          <p:nvPr/>
        </p:nvSpPr>
        <p:spPr>
          <a:xfrm>
            <a:off x="3880247" y="1811685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간판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68"/>
          <p:cNvSpPr/>
          <p:nvPr/>
        </p:nvSpPr>
        <p:spPr>
          <a:xfrm>
            <a:off x="622995" y="2164035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68"/>
          <p:cNvSpPr/>
          <p:nvPr/>
        </p:nvSpPr>
        <p:spPr>
          <a:xfrm>
            <a:off x="1710333" y="2164035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선택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68"/>
          <p:cNvSpPr/>
          <p:nvPr/>
        </p:nvSpPr>
        <p:spPr>
          <a:xfrm>
            <a:off x="2795290" y="2164035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드롭다운 메뉴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68"/>
          <p:cNvSpPr/>
          <p:nvPr/>
        </p:nvSpPr>
        <p:spPr>
          <a:xfrm>
            <a:off x="3880247" y="2164035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메뉴 카테고리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68"/>
          <p:cNvSpPr/>
          <p:nvPr/>
        </p:nvSpPr>
        <p:spPr>
          <a:xfrm>
            <a:off x="622995" y="2516386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③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68"/>
          <p:cNvSpPr/>
          <p:nvPr/>
        </p:nvSpPr>
        <p:spPr>
          <a:xfrm>
            <a:off x="1710333" y="2516386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 숫자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68"/>
          <p:cNvSpPr/>
          <p:nvPr/>
        </p:nvSpPr>
        <p:spPr>
          <a:xfrm>
            <a:off x="2795290" y="2516386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카운트다운 표시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68"/>
          <p:cNvSpPr/>
          <p:nvPr/>
        </p:nvSpPr>
        <p:spPr>
          <a:xfrm>
            <a:off x="3880247" y="2516386"/>
            <a:ext cx="8385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조리 시간 표시판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68"/>
          <p:cNvSpPr/>
          <p:nvPr/>
        </p:nvSpPr>
        <p:spPr>
          <a:xfrm>
            <a:off x="622995" y="3062585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④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68"/>
          <p:cNvSpPr/>
          <p:nvPr/>
        </p:nvSpPr>
        <p:spPr>
          <a:xfrm>
            <a:off x="1710333" y="3062585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버튼 3개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68"/>
          <p:cNvSpPr/>
          <p:nvPr/>
        </p:nvSpPr>
        <p:spPr>
          <a:xfrm>
            <a:off x="2795290" y="3062585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시작/정지/리셋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68"/>
          <p:cNvSpPr/>
          <p:nvPr/>
        </p:nvSpPr>
        <p:spPr>
          <a:xfrm>
            <a:off x="3880247" y="3062585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주문/취소/변경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68"/>
          <p:cNvSpPr/>
          <p:nvPr/>
        </p:nvSpPr>
        <p:spPr>
          <a:xfrm>
            <a:off x="622995" y="3414936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68"/>
          <p:cNvSpPr/>
          <p:nvPr/>
        </p:nvSpPr>
        <p:spPr>
          <a:xfrm>
            <a:off x="1710333" y="3414936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기록 목록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68"/>
          <p:cNvSpPr/>
          <p:nvPr/>
        </p:nvSpPr>
        <p:spPr>
          <a:xfrm>
            <a:off x="2795290" y="3414936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공부 이력 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68"/>
          <p:cNvSpPr/>
          <p:nvPr/>
        </p:nvSpPr>
        <p:spPr>
          <a:xfrm>
            <a:off x="3880247" y="3414936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주문 영수증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68"/>
          <p:cNvSpPr/>
          <p:nvPr/>
        </p:nvSpPr>
        <p:spPr>
          <a:xfrm>
            <a:off x="622995" y="3767286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68"/>
          <p:cNvSpPr/>
          <p:nvPr/>
        </p:nvSpPr>
        <p:spPr>
          <a:xfrm>
            <a:off x="1710333" y="3767286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CSS 디자인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68"/>
          <p:cNvSpPr/>
          <p:nvPr/>
        </p:nvSpPr>
        <p:spPr>
          <a:xfrm>
            <a:off x="2795290" y="3767286"/>
            <a:ext cx="1293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색상, 크기, 정렬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68"/>
          <p:cNvSpPr/>
          <p:nvPr/>
        </p:nvSpPr>
        <p:spPr>
          <a:xfrm>
            <a:off x="3880247" y="3767286"/>
            <a:ext cx="1295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인테리어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p68"/>
          <p:cNvSpPr/>
          <p:nvPr/>
        </p:nvSpPr>
        <p:spPr>
          <a:xfrm>
            <a:off x="5148114" y="1047006"/>
            <a:ext cx="35046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📐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AI 프롬프트 예시 (위→아래 순서)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68"/>
          <p:cNvSpPr/>
          <p:nvPr/>
        </p:nvSpPr>
        <p:spPr>
          <a:xfrm>
            <a:off x="5148114" y="1377702"/>
            <a:ext cx="244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68"/>
          <p:cNvSpPr/>
          <p:nvPr/>
        </p:nvSpPr>
        <p:spPr>
          <a:xfrm>
            <a:off x="5148114" y="1570955"/>
            <a:ext cx="1692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68"/>
          <p:cNvSpPr/>
          <p:nvPr/>
        </p:nvSpPr>
        <p:spPr>
          <a:xfrm>
            <a:off x="5148114" y="1660550"/>
            <a:ext cx="1692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앱 제목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68"/>
          <p:cNvSpPr/>
          <p:nvPr/>
        </p:nvSpPr>
        <p:spPr>
          <a:xfrm>
            <a:off x="5148114" y="1971452"/>
            <a:ext cx="1692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"제목을 화면 맨 위 가운데에 크게 넣어줘"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68"/>
          <p:cNvSpPr/>
          <p:nvPr/>
        </p:nvSpPr>
        <p:spPr>
          <a:xfrm>
            <a:off x="6960394" y="1377702"/>
            <a:ext cx="244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68"/>
          <p:cNvSpPr/>
          <p:nvPr/>
        </p:nvSpPr>
        <p:spPr>
          <a:xfrm>
            <a:off x="6960394" y="1570955"/>
            <a:ext cx="16923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68"/>
          <p:cNvSpPr/>
          <p:nvPr/>
        </p:nvSpPr>
        <p:spPr>
          <a:xfrm>
            <a:off x="6960394" y="1660550"/>
            <a:ext cx="16923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과목 드롭다운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68"/>
          <p:cNvSpPr/>
          <p:nvPr/>
        </p:nvSpPr>
        <p:spPr>
          <a:xfrm>
            <a:off x="6960394" y="1971452"/>
            <a:ext cx="16923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"수학/영어/국어/과학 고를 수 있는 드롭다운"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68"/>
          <p:cNvSpPr/>
          <p:nvPr/>
        </p:nvSpPr>
        <p:spPr>
          <a:xfrm>
            <a:off x="5148114" y="2570857"/>
            <a:ext cx="244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68"/>
          <p:cNvSpPr/>
          <p:nvPr/>
        </p:nvSpPr>
        <p:spPr>
          <a:xfrm>
            <a:off x="5148114" y="2751906"/>
            <a:ext cx="1692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68"/>
          <p:cNvSpPr/>
          <p:nvPr/>
        </p:nvSpPr>
        <p:spPr>
          <a:xfrm>
            <a:off x="5148114" y="2853705"/>
            <a:ext cx="1692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타이머 숫자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68"/>
          <p:cNvSpPr/>
          <p:nvPr/>
        </p:nvSpPr>
        <p:spPr>
          <a:xfrm>
            <a:off x="5148114" y="3164607"/>
            <a:ext cx="1692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"25:00 형식의 큰 숫자, 가운데 정렬, 60px"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68"/>
          <p:cNvSpPr/>
          <p:nvPr/>
        </p:nvSpPr>
        <p:spPr>
          <a:xfrm>
            <a:off x="6960394" y="2570857"/>
            <a:ext cx="244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68"/>
          <p:cNvSpPr/>
          <p:nvPr/>
        </p:nvSpPr>
        <p:spPr>
          <a:xfrm>
            <a:off x="6960394" y="2751906"/>
            <a:ext cx="16923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68"/>
          <p:cNvSpPr/>
          <p:nvPr/>
        </p:nvSpPr>
        <p:spPr>
          <a:xfrm>
            <a:off x="6960394" y="2853705"/>
            <a:ext cx="16923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버튼 3개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68"/>
          <p:cNvSpPr/>
          <p:nvPr/>
        </p:nvSpPr>
        <p:spPr>
          <a:xfrm>
            <a:off x="6960394" y="3164607"/>
            <a:ext cx="16923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"초록 시작, 노랑 정지, 빨강 리셋 버튼"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68"/>
          <p:cNvSpPr/>
          <p:nvPr/>
        </p:nvSpPr>
        <p:spPr>
          <a:xfrm>
            <a:off x="5148114" y="3764012"/>
            <a:ext cx="244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68"/>
          <p:cNvSpPr/>
          <p:nvPr/>
        </p:nvSpPr>
        <p:spPr>
          <a:xfrm>
            <a:off x="5148114" y="3932858"/>
            <a:ext cx="35046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68"/>
          <p:cNvSpPr/>
          <p:nvPr/>
        </p:nvSpPr>
        <p:spPr>
          <a:xfrm>
            <a:off x="5148114" y="4046860"/>
            <a:ext cx="35046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기록 테이블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68"/>
          <p:cNvSpPr/>
          <p:nvPr/>
        </p:nvSpPr>
        <p:spPr>
          <a:xfrm>
            <a:off x="5148114" y="4323437"/>
            <a:ext cx="3504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"날짜, 과목, 시간이 나오는 기록 테이블"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7" name="Google Shape;199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69"/>
          <p:cNvSpPr/>
          <p:nvPr/>
        </p:nvSpPr>
        <p:spPr>
          <a:xfrm>
            <a:off x="496125" y="298725"/>
            <a:ext cx="49842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1" i="0" lang="ko-KR" sz="2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JavaScript가 하는 일 — 화면을 움직이는 마법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69"/>
          <p:cNvSpPr/>
          <p:nvPr/>
        </p:nvSpPr>
        <p:spPr>
          <a:xfrm>
            <a:off x="496119" y="821308"/>
            <a:ext cx="47229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HTML이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9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무대 세트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라면, JavaScript는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9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배우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입니다. 버튼 클릭에 반응하고, 타이머 숫자를 줄이고, 서버에 데이터를 전송하는 모든 동적 동작을 JavaScript가 담당합니다!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0" name="Google Shape;2000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260615"/>
            <a:ext cx="242218" cy="242218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69"/>
          <p:cNvSpPr/>
          <p:nvPr/>
        </p:nvSpPr>
        <p:spPr>
          <a:xfrm>
            <a:off x="810972" y="1309288"/>
            <a:ext cx="21726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이벤트 감지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69"/>
          <p:cNvSpPr/>
          <p:nvPr/>
        </p:nvSpPr>
        <p:spPr>
          <a:xfrm>
            <a:off x="496119" y="1559935"/>
            <a:ext cx="47229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버튼 클릭을 감지합니다. 초인종이 울리면 반응하는 것처럼 "시작 버튼 클릭"을 포착해요.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3" name="Google Shape;2003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083634"/>
            <a:ext cx="242218" cy="242218"/>
          </a:xfrm>
          <a:prstGeom prst="rect">
            <a:avLst/>
          </a:prstGeom>
          <a:noFill/>
          <a:ln>
            <a:noFill/>
          </a:ln>
        </p:spPr>
      </p:pic>
      <p:sp>
        <p:nvSpPr>
          <p:cNvPr id="2004" name="Google Shape;2004;p69"/>
          <p:cNvSpPr/>
          <p:nvPr/>
        </p:nvSpPr>
        <p:spPr>
          <a:xfrm>
            <a:off x="810972" y="2132312"/>
            <a:ext cx="21726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시간 계산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69"/>
          <p:cNvSpPr/>
          <p:nvPr/>
        </p:nvSpPr>
        <p:spPr>
          <a:xfrm>
            <a:off x="496119" y="2382955"/>
            <a:ext cx="47229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1초마다 숫자를 줄입니다. 모래시계처럼 1500 → 1499 → 1498... 매 초 계산이 이루어집니다.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6" name="Google Shape;2006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906654"/>
            <a:ext cx="242218" cy="242218"/>
          </a:xfrm>
          <a:prstGeom prst="rect">
            <a:avLst/>
          </a:prstGeom>
          <a:noFill/>
          <a:ln>
            <a:noFill/>
          </a:ln>
        </p:spPr>
      </p:pic>
      <p:sp>
        <p:nvSpPr>
          <p:cNvPr id="2007" name="Google Shape;2007;p69"/>
          <p:cNvSpPr/>
          <p:nvPr/>
        </p:nvSpPr>
        <p:spPr>
          <a:xfrm>
            <a:off x="810972" y="2955337"/>
            <a:ext cx="21726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업데이트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69"/>
          <p:cNvSpPr/>
          <p:nvPr/>
        </p:nvSpPr>
        <p:spPr>
          <a:xfrm>
            <a:off x="496119" y="3205974"/>
            <a:ext cx="47229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계산 결과를 화면에 표시합니다. 전광판 숫자를 바꾸듯 "24:59"로 실시간 업데이트해요.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9" name="Google Shape;2009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3729673"/>
            <a:ext cx="242218" cy="242218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69"/>
          <p:cNvSpPr/>
          <p:nvPr/>
        </p:nvSpPr>
        <p:spPr>
          <a:xfrm>
            <a:off x="810972" y="3778362"/>
            <a:ext cx="21726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서버 통신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69"/>
          <p:cNvSpPr/>
          <p:nvPr/>
        </p:nvSpPr>
        <p:spPr>
          <a:xfrm>
            <a:off x="496119" y="4028994"/>
            <a:ext cx="47229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Flask에 기록을 전송합니다. 편지를 보내듯 POST /save 요청을 서버로 날립니다.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69"/>
          <p:cNvSpPr/>
          <p:nvPr/>
        </p:nvSpPr>
        <p:spPr>
          <a:xfrm>
            <a:off x="496119" y="4408363"/>
            <a:ext cx="4722900" cy="330300"/>
          </a:xfrm>
          <a:prstGeom prst="roundRect">
            <a:avLst>
              <a:gd fmla="val 440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3" name="Google Shape;2013;p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006" y="4535091"/>
            <a:ext cx="121072" cy="96887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69"/>
          <p:cNvSpPr/>
          <p:nvPr/>
        </p:nvSpPr>
        <p:spPr>
          <a:xfrm>
            <a:off x="810964" y="4508227"/>
            <a:ext cx="4768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쉬운 구분법: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HTML은 "무대 세트" (고정), JavaScript는 "배우" (움직임)!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70"/>
          <p:cNvSpPr/>
          <p:nvPr/>
        </p:nvSpPr>
        <p:spPr>
          <a:xfrm>
            <a:off x="496119" y="385167"/>
            <a:ext cx="81519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50"/>
              <a:buFont typeface="Roboto Slab"/>
              <a:buNone/>
            </a:pPr>
            <a:r>
              <a:rPr b="1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데이터가 저장되는 과정 — records.json</a:t>
            </a:r>
            <a:endParaRPr b="1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70"/>
          <p:cNvSpPr/>
          <p:nvPr/>
        </p:nvSpPr>
        <p:spPr>
          <a:xfrm>
            <a:off x="496119" y="904726"/>
            <a:ext cx="3952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📦</a:t>
            </a:r>
            <a:r>
              <a:rPr b="0" i="0" lang="ko-KR" sz="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저장 데이터 구조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70"/>
          <p:cNvSpPr/>
          <p:nvPr/>
        </p:nvSpPr>
        <p:spPr>
          <a:xfrm>
            <a:off x="496119" y="1159073"/>
            <a:ext cx="3952800" cy="1297800"/>
          </a:xfrm>
          <a:prstGeom prst="roundRect">
            <a:avLst>
              <a:gd fmla="val 1165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23" name="Google Shape;2023;p70"/>
          <p:cNvSpPr/>
          <p:nvPr/>
        </p:nvSpPr>
        <p:spPr>
          <a:xfrm>
            <a:off x="496119" y="1420044"/>
            <a:ext cx="3952800" cy="63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24" name="Google Shape;2024;p70"/>
          <p:cNvSpPr/>
          <p:nvPr/>
        </p:nvSpPr>
        <p:spPr>
          <a:xfrm>
            <a:off x="496119" y="1678632"/>
            <a:ext cx="3952800" cy="63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25" name="Google Shape;2025;p70"/>
          <p:cNvSpPr/>
          <p:nvPr/>
        </p:nvSpPr>
        <p:spPr>
          <a:xfrm>
            <a:off x="496119" y="1937221"/>
            <a:ext cx="3952800" cy="63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26" name="Google Shape;2026;p70"/>
          <p:cNvSpPr/>
          <p:nvPr/>
        </p:nvSpPr>
        <p:spPr>
          <a:xfrm>
            <a:off x="496119" y="2195810"/>
            <a:ext cx="3952800" cy="63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27" name="Google Shape;2027;p70"/>
          <p:cNvSpPr/>
          <p:nvPr/>
        </p:nvSpPr>
        <p:spPr>
          <a:xfrm>
            <a:off x="1486793" y="1159073"/>
            <a:ext cx="6300" cy="129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28" name="Google Shape;2028;p70"/>
          <p:cNvSpPr/>
          <p:nvPr/>
        </p:nvSpPr>
        <p:spPr>
          <a:xfrm>
            <a:off x="2472630" y="1159073"/>
            <a:ext cx="6300" cy="129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29" name="Google Shape;2029;p70"/>
          <p:cNvSpPr/>
          <p:nvPr/>
        </p:nvSpPr>
        <p:spPr>
          <a:xfrm>
            <a:off x="3458468" y="1159073"/>
            <a:ext cx="6300" cy="129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30" name="Google Shape;2030;p70"/>
          <p:cNvSpPr/>
          <p:nvPr/>
        </p:nvSpPr>
        <p:spPr>
          <a:xfrm>
            <a:off x="500955" y="1163836"/>
            <a:ext cx="985800" cy="25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31" name="Google Shape;2031;p70"/>
          <p:cNvSpPr/>
          <p:nvPr/>
        </p:nvSpPr>
        <p:spPr>
          <a:xfrm>
            <a:off x="601712" y="1217712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필드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70"/>
          <p:cNvSpPr/>
          <p:nvPr/>
        </p:nvSpPr>
        <p:spPr>
          <a:xfrm>
            <a:off x="1486793" y="1163836"/>
            <a:ext cx="985800" cy="25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33" name="Google Shape;2033;p70"/>
          <p:cNvSpPr/>
          <p:nvPr/>
        </p:nvSpPr>
        <p:spPr>
          <a:xfrm>
            <a:off x="1589931" y="1217712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의미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70"/>
          <p:cNvSpPr/>
          <p:nvPr/>
        </p:nvSpPr>
        <p:spPr>
          <a:xfrm>
            <a:off x="2472630" y="1163836"/>
            <a:ext cx="985800" cy="25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35" name="Google Shape;2035;p70"/>
          <p:cNvSpPr/>
          <p:nvPr/>
        </p:nvSpPr>
        <p:spPr>
          <a:xfrm>
            <a:off x="2575768" y="1217712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예시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70"/>
          <p:cNvSpPr/>
          <p:nvPr/>
        </p:nvSpPr>
        <p:spPr>
          <a:xfrm>
            <a:off x="3458468" y="1163836"/>
            <a:ext cx="985800" cy="2562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37" name="Google Shape;2037;p70"/>
          <p:cNvSpPr/>
          <p:nvPr/>
        </p:nvSpPr>
        <p:spPr>
          <a:xfrm>
            <a:off x="3561606" y="1217712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비유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70"/>
          <p:cNvSpPr/>
          <p:nvPr/>
        </p:nvSpPr>
        <p:spPr>
          <a:xfrm>
            <a:off x="601712" y="1476301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subject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70"/>
          <p:cNvSpPr/>
          <p:nvPr/>
        </p:nvSpPr>
        <p:spPr>
          <a:xfrm>
            <a:off x="1589931" y="1476301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이름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70"/>
          <p:cNvSpPr/>
          <p:nvPr/>
        </p:nvSpPr>
        <p:spPr>
          <a:xfrm>
            <a:off x="2575768" y="1476301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"수학"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p70"/>
          <p:cNvSpPr/>
          <p:nvPr/>
        </p:nvSpPr>
        <p:spPr>
          <a:xfrm>
            <a:off x="3561606" y="1476301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요리 종류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70"/>
          <p:cNvSpPr/>
          <p:nvPr/>
        </p:nvSpPr>
        <p:spPr>
          <a:xfrm>
            <a:off x="601712" y="1734889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duration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70"/>
          <p:cNvSpPr/>
          <p:nvPr/>
        </p:nvSpPr>
        <p:spPr>
          <a:xfrm>
            <a:off x="1589931" y="1734889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공부한 시간(분)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70"/>
          <p:cNvSpPr/>
          <p:nvPr/>
        </p:nvSpPr>
        <p:spPr>
          <a:xfrm>
            <a:off x="2575768" y="1734889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70"/>
          <p:cNvSpPr/>
          <p:nvPr/>
        </p:nvSpPr>
        <p:spPr>
          <a:xfrm>
            <a:off x="3561606" y="1734889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조리 시간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70"/>
          <p:cNvSpPr/>
          <p:nvPr/>
        </p:nvSpPr>
        <p:spPr>
          <a:xfrm>
            <a:off x="601712" y="1993478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70"/>
          <p:cNvSpPr/>
          <p:nvPr/>
        </p:nvSpPr>
        <p:spPr>
          <a:xfrm>
            <a:off x="1589931" y="1993478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날짜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70"/>
          <p:cNvSpPr/>
          <p:nvPr/>
        </p:nvSpPr>
        <p:spPr>
          <a:xfrm>
            <a:off x="2575768" y="1993478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"2025-07-23"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70"/>
          <p:cNvSpPr/>
          <p:nvPr/>
        </p:nvSpPr>
        <p:spPr>
          <a:xfrm>
            <a:off x="3561606" y="1993478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주문 날짜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70"/>
          <p:cNvSpPr/>
          <p:nvPr/>
        </p:nvSpPr>
        <p:spPr>
          <a:xfrm>
            <a:off x="601712" y="2252067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70"/>
          <p:cNvSpPr/>
          <p:nvPr/>
        </p:nvSpPr>
        <p:spPr>
          <a:xfrm>
            <a:off x="1589931" y="2252067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70"/>
          <p:cNvSpPr/>
          <p:nvPr/>
        </p:nvSpPr>
        <p:spPr>
          <a:xfrm>
            <a:off x="2575768" y="2252067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"14:30:00"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70"/>
          <p:cNvSpPr/>
          <p:nvPr/>
        </p:nvSpPr>
        <p:spPr>
          <a:xfrm>
            <a:off x="3561606" y="2252067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주문 시각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70"/>
          <p:cNvSpPr/>
          <p:nvPr/>
        </p:nvSpPr>
        <p:spPr>
          <a:xfrm>
            <a:off x="496119" y="2548905"/>
            <a:ext cx="3952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📋</a:t>
            </a:r>
            <a:r>
              <a:rPr b="0" i="0" lang="ko-KR" sz="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저장 데이터 예시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70"/>
          <p:cNvSpPr/>
          <p:nvPr/>
        </p:nvSpPr>
        <p:spPr>
          <a:xfrm>
            <a:off x="496119" y="2803252"/>
            <a:ext cx="3952800" cy="1863000"/>
          </a:xfrm>
          <a:prstGeom prst="roundRect">
            <a:avLst>
              <a:gd fmla="val 812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56" name="Google Shape;2056;p70"/>
          <p:cNvSpPr/>
          <p:nvPr/>
        </p:nvSpPr>
        <p:spPr>
          <a:xfrm>
            <a:off x="500881" y="2808015"/>
            <a:ext cx="3943500" cy="2538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57" name="Google Shape;2057;p70"/>
          <p:cNvSpPr/>
          <p:nvPr/>
        </p:nvSpPr>
        <p:spPr>
          <a:xfrm>
            <a:off x="601712" y="2861890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70"/>
          <p:cNvSpPr/>
          <p:nvPr/>
        </p:nvSpPr>
        <p:spPr>
          <a:xfrm>
            <a:off x="1589931" y="2861890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70"/>
          <p:cNvSpPr/>
          <p:nvPr/>
        </p:nvSpPr>
        <p:spPr>
          <a:xfrm>
            <a:off x="2575768" y="2861890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70"/>
          <p:cNvSpPr/>
          <p:nvPr/>
        </p:nvSpPr>
        <p:spPr>
          <a:xfrm>
            <a:off x="3561606" y="2861890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날짜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70"/>
          <p:cNvSpPr/>
          <p:nvPr/>
        </p:nvSpPr>
        <p:spPr>
          <a:xfrm>
            <a:off x="500881" y="3061841"/>
            <a:ext cx="3943500" cy="3999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62" name="Google Shape;2062;p70"/>
          <p:cNvSpPr/>
          <p:nvPr/>
        </p:nvSpPr>
        <p:spPr>
          <a:xfrm>
            <a:off x="601712" y="3115717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70"/>
          <p:cNvSpPr/>
          <p:nvPr/>
        </p:nvSpPr>
        <p:spPr>
          <a:xfrm>
            <a:off x="1589931" y="3115717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70"/>
          <p:cNvSpPr/>
          <p:nvPr/>
        </p:nvSpPr>
        <p:spPr>
          <a:xfrm>
            <a:off x="2575768" y="3115717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70"/>
          <p:cNvSpPr/>
          <p:nvPr/>
        </p:nvSpPr>
        <p:spPr>
          <a:xfrm>
            <a:off x="3561606" y="3115717"/>
            <a:ext cx="781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2025-07-23 09:30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70"/>
          <p:cNvSpPr/>
          <p:nvPr/>
        </p:nvSpPr>
        <p:spPr>
          <a:xfrm>
            <a:off x="500881" y="3461742"/>
            <a:ext cx="3943500" cy="3999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67" name="Google Shape;2067;p70"/>
          <p:cNvSpPr/>
          <p:nvPr/>
        </p:nvSpPr>
        <p:spPr>
          <a:xfrm>
            <a:off x="601712" y="3515618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70"/>
          <p:cNvSpPr/>
          <p:nvPr/>
        </p:nvSpPr>
        <p:spPr>
          <a:xfrm>
            <a:off x="1589931" y="3515618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70"/>
          <p:cNvSpPr/>
          <p:nvPr/>
        </p:nvSpPr>
        <p:spPr>
          <a:xfrm>
            <a:off x="2575768" y="3515618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15분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70"/>
          <p:cNvSpPr/>
          <p:nvPr/>
        </p:nvSpPr>
        <p:spPr>
          <a:xfrm>
            <a:off x="3561606" y="3515618"/>
            <a:ext cx="781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2025-07-23 10:15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70"/>
          <p:cNvSpPr/>
          <p:nvPr/>
        </p:nvSpPr>
        <p:spPr>
          <a:xfrm>
            <a:off x="500881" y="3861643"/>
            <a:ext cx="3943500" cy="3999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72" name="Google Shape;2072;p70"/>
          <p:cNvSpPr/>
          <p:nvPr/>
        </p:nvSpPr>
        <p:spPr>
          <a:xfrm>
            <a:off x="601712" y="3915519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70"/>
          <p:cNvSpPr/>
          <p:nvPr/>
        </p:nvSpPr>
        <p:spPr>
          <a:xfrm>
            <a:off x="1589931" y="3915519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국어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70"/>
          <p:cNvSpPr/>
          <p:nvPr/>
        </p:nvSpPr>
        <p:spPr>
          <a:xfrm>
            <a:off x="2575768" y="3915519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70"/>
          <p:cNvSpPr/>
          <p:nvPr/>
        </p:nvSpPr>
        <p:spPr>
          <a:xfrm>
            <a:off x="3561606" y="3915519"/>
            <a:ext cx="781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2025-07-23 14:00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70"/>
          <p:cNvSpPr/>
          <p:nvPr/>
        </p:nvSpPr>
        <p:spPr>
          <a:xfrm>
            <a:off x="500881" y="4261545"/>
            <a:ext cx="3943500" cy="3999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77" name="Google Shape;2077;p70"/>
          <p:cNvSpPr/>
          <p:nvPr/>
        </p:nvSpPr>
        <p:spPr>
          <a:xfrm>
            <a:off x="601712" y="4315420"/>
            <a:ext cx="1239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70"/>
          <p:cNvSpPr/>
          <p:nvPr/>
        </p:nvSpPr>
        <p:spPr>
          <a:xfrm>
            <a:off x="1589931" y="4315420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70"/>
          <p:cNvSpPr/>
          <p:nvPr/>
        </p:nvSpPr>
        <p:spPr>
          <a:xfrm>
            <a:off x="2575768" y="4315420"/>
            <a:ext cx="1236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70"/>
          <p:cNvSpPr/>
          <p:nvPr/>
        </p:nvSpPr>
        <p:spPr>
          <a:xfrm>
            <a:off x="3561606" y="4315420"/>
            <a:ext cx="781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2025-07-24 08:30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70"/>
          <p:cNvSpPr/>
          <p:nvPr/>
        </p:nvSpPr>
        <p:spPr>
          <a:xfrm>
            <a:off x="4699695" y="904726"/>
            <a:ext cx="3952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🔄</a:t>
            </a:r>
            <a:r>
              <a:rPr b="0" i="0" lang="ko-KR" sz="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저장 과정 단계별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70"/>
          <p:cNvSpPr/>
          <p:nvPr/>
        </p:nvSpPr>
        <p:spPr>
          <a:xfrm>
            <a:off x="4699695" y="1159073"/>
            <a:ext cx="226800" cy="2268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70"/>
          <p:cNvSpPr/>
          <p:nvPr/>
        </p:nvSpPr>
        <p:spPr>
          <a:xfrm>
            <a:off x="4737460" y="1177937"/>
            <a:ext cx="1512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70"/>
          <p:cNvSpPr/>
          <p:nvPr/>
        </p:nvSpPr>
        <p:spPr>
          <a:xfrm>
            <a:off x="5008301" y="1193675"/>
            <a:ext cx="17013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브라우저 (JS)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70"/>
          <p:cNvSpPr/>
          <p:nvPr/>
        </p:nvSpPr>
        <p:spPr>
          <a:xfrm>
            <a:off x="5008301" y="1432992"/>
            <a:ext cx="17013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과목, 시간, 날짜를 묶어서 서버에 보냄 → 주문서 작성해서 전달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70"/>
          <p:cNvSpPr/>
          <p:nvPr/>
        </p:nvSpPr>
        <p:spPr>
          <a:xfrm>
            <a:off x="6727329" y="1159073"/>
            <a:ext cx="226800" cy="2268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70"/>
          <p:cNvSpPr/>
          <p:nvPr/>
        </p:nvSpPr>
        <p:spPr>
          <a:xfrm>
            <a:off x="6765094" y="1177937"/>
            <a:ext cx="1512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70"/>
          <p:cNvSpPr/>
          <p:nvPr/>
        </p:nvSpPr>
        <p:spPr>
          <a:xfrm>
            <a:off x="7141869" y="1193675"/>
            <a:ext cx="17013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서버 (Flask)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70"/>
          <p:cNvSpPr/>
          <p:nvPr/>
        </p:nvSpPr>
        <p:spPr>
          <a:xfrm>
            <a:off x="7141875" y="1433000"/>
            <a:ext cx="17013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받은 데이터를 읽고, 기존 records.json을 열어서 새 데이터 추가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70"/>
          <p:cNvSpPr/>
          <p:nvPr/>
        </p:nvSpPr>
        <p:spPr>
          <a:xfrm>
            <a:off x="4699695" y="1888852"/>
            <a:ext cx="226800" cy="2268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70"/>
          <p:cNvSpPr/>
          <p:nvPr/>
        </p:nvSpPr>
        <p:spPr>
          <a:xfrm>
            <a:off x="4737460" y="1907716"/>
            <a:ext cx="1512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70"/>
          <p:cNvSpPr/>
          <p:nvPr/>
        </p:nvSpPr>
        <p:spPr>
          <a:xfrm>
            <a:off x="5008301" y="1923459"/>
            <a:ext cx="38349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저장 완료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70"/>
          <p:cNvSpPr/>
          <p:nvPr/>
        </p:nvSpPr>
        <p:spPr>
          <a:xfrm>
            <a:off x="5008301" y="2162775"/>
            <a:ext cx="3834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파일 저장 후 "성공!" 응답 전송 → 브라우저가 기록 목록 새로고침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70"/>
          <p:cNvSpPr/>
          <p:nvPr/>
        </p:nvSpPr>
        <p:spPr>
          <a:xfrm>
            <a:off x="4699695" y="2400970"/>
            <a:ext cx="3952800" cy="343800"/>
          </a:xfrm>
          <a:prstGeom prst="roundRect">
            <a:avLst>
              <a:gd fmla="val 4398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5" name="Google Shape;209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451" y="2543473"/>
            <a:ext cx="125983" cy="100757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70"/>
          <p:cNvSpPr/>
          <p:nvPr/>
        </p:nvSpPr>
        <p:spPr>
          <a:xfrm>
            <a:off x="5028189" y="2499799"/>
            <a:ext cx="4189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파일이 없으면?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걱정 마세요! Flask가 자동으로 빈 파일을 만들어줍니다. 😊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71"/>
          <p:cNvSpPr/>
          <p:nvPr/>
        </p:nvSpPr>
        <p:spPr>
          <a:xfrm>
            <a:off x="496119" y="348407"/>
            <a:ext cx="8151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에러가 나면? — 흔한 실수 TOP 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71"/>
          <p:cNvSpPr/>
          <p:nvPr/>
        </p:nvSpPr>
        <p:spPr>
          <a:xfrm>
            <a:off x="496119" y="929804"/>
            <a:ext cx="86091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에러는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실패가 아니라 힌트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입니다! 컴퓨터가 "여기가 문제야"라고 알려주는 것이에요. 흔한 에러 5가지와 해결법을 미리 알아두면 당황하지 않을 수 있어요.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71"/>
          <p:cNvSpPr/>
          <p:nvPr/>
        </p:nvSpPr>
        <p:spPr>
          <a:xfrm>
            <a:off x="496119" y="1232669"/>
            <a:ext cx="8151900" cy="2141700"/>
          </a:xfrm>
          <a:prstGeom prst="roundRect">
            <a:avLst>
              <a:gd fmla="val 814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71"/>
          <p:cNvSpPr/>
          <p:nvPr/>
        </p:nvSpPr>
        <p:spPr>
          <a:xfrm>
            <a:off x="496119" y="1560388"/>
            <a:ext cx="8151900" cy="7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71"/>
          <p:cNvSpPr/>
          <p:nvPr/>
        </p:nvSpPr>
        <p:spPr>
          <a:xfrm>
            <a:off x="496119" y="1890489"/>
            <a:ext cx="8151900" cy="7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71"/>
          <p:cNvSpPr/>
          <p:nvPr/>
        </p:nvSpPr>
        <p:spPr>
          <a:xfrm>
            <a:off x="496119" y="2215828"/>
            <a:ext cx="8151900" cy="7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71"/>
          <p:cNvSpPr/>
          <p:nvPr/>
        </p:nvSpPr>
        <p:spPr>
          <a:xfrm>
            <a:off x="496119" y="2541166"/>
            <a:ext cx="8151900" cy="7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71"/>
          <p:cNvSpPr/>
          <p:nvPr/>
        </p:nvSpPr>
        <p:spPr>
          <a:xfrm>
            <a:off x="496119" y="3046735"/>
            <a:ext cx="8151900" cy="7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71"/>
          <p:cNvSpPr/>
          <p:nvPr/>
        </p:nvSpPr>
        <p:spPr>
          <a:xfrm>
            <a:off x="2536552" y="1232669"/>
            <a:ext cx="7200" cy="21417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71"/>
          <p:cNvSpPr/>
          <p:nvPr/>
        </p:nvSpPr>
        <p:spPr>
          <a:xfrm>
            <a:off x="4572074" y="1232669"/>
            <a:ext cx="7200" cy="21417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71"/>
          <p:cNvSpPr/>
          <p:nvPr/>
        </p:nvSpPr>
        <p:spPr>
          <a:xfrm>
            <a:off x="6607597" y="1232669"/>
            <a:ext cx="7200" cy="21417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71"/>
          <p:cNvSpPr/>
          <p:nvPr/>
        </p:nvSpPr>
        <p:spPr>
          <a:xfrm>
            <a:off x="501030" y="1237431"/>
            <a:ext cx="2035500" cy="323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71"/>
          <p:cNvSpPr/>
          <p:nvPr/>
        </p:nvSpPr>
        <p:spPr>
          <a:xfrm>
            <a:off x="617265" y="1307604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순위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71"/>
          <p:cNvSpPr/>
          <p:nvPr/>
        </p:nvSpPr>
        <p:spPr>
          <a:xfrm>
            <a:off x="2536552" y="1237431"/>
            <a:ext cx="2035500" cy="323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71"/>
          <p:cNvSpPr/>
          <p:nvPr/>
        </p:nvSpPr>
        <p:spPr>
          <a:xfrm>
            <a:off x="2655168" y="1307604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에러 상황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71"/>
          <p:cNvSpPr/>
          <p:nvPr/>
        </p:nvSpPr>
        <p:spPr>
          <a:xfrm>
            <a:off x="4572074" y="1237431"/>
            <a:ext cx="2035500" cy="323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71"/>
          <p:cNvSpPr/>
          <p:nvPr/>
        </p:nvSpPr>
        <p:spPr>
          <a:xfrm>
            <a:off x="4690690" y="1307604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원인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71"/>
          <p:cNvSpPr/>
          <p:nvPr/>
        </p:nvSpPr>
        <p:spPr>
          <a:xfrm>
            <a:off x="6607597" y="1237431"/>
            <a:ext cx="2035500" cy="323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71"/>
          <p:cNvSpPr/>
          <p:nvPr/>
        </p:nvSpPr>
        <p:spPr>
          <a:xfrm>
            <a:off x="6726213" y="1307604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해결 방법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71"/>
          <p:cNvSpPr/>
          <p:nvPr/>
        </p:nvSpPr>
        <p:spPr>
          <a:xfrm>
            <a:off x="617265" y="1632942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1️⃣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71"/>
          <p:cNvSpPr/>
          <p:nvPr/>
        </p:nvSpPr>
        <p:spPr>
          <a:xfrm>
            <a:off x="2655168" y="1632942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페이지가 안 열림 (연결 거부)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71"/>
          <p:cNvSpPr/>
          <p:nvPr/>
        </p:nvSpPr>
        <p:spPr>
          <a:xfrm>
            <a:off x="4690690" y="1632942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 서버를 안 켰음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71"/>
          <p:cNvSpPr/>
          <p:nvPr/>
        </p:nvSpPr>
        <p:spPr>
          <a:xfrm>
            <a:off x="6726213" y="1632942"/>
            <a:ext cx="2257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터미널에서 </a:t>
            </a:r>
            <a:r>
              <a:rPr b="0" i="0" lang="ko-KR" sz="9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python app.py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실행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71"/>
          <p:cNvSpPr/>
          <p:nvPr/>
        </p:nvSpPr>
        <p:spPr>
          <a:xfrm>
            <a:off x="617265" y="1963043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2️⃣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71"/>
          <p:cNvSpPr/>
          <p:nvPr/>
        </p:nvSpPr>
        <p:spPr>
          <a:xfrm>
            <a:off x="2655168" y="1963043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화면이 안 보임 (404 Not Found)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71"/>
          <p:cNvSpPr/>
          <p:nvPr/>
        </p:nvSpPr>
        <p:spPr>
          <a:xfrm>
            <a:off x="4690690" y="1963043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templates 폴더 이름 오타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71"/>
          <p:cNvSpPr/>
          <p:nvPr/>
        </p:nvSpPr>
        <p:spPr>
          <a:xfrm>
            <a:off x="6726213" y="1963043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templates 철자 확인 (s 필수!)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71"/>
          <p:cNvSpPr/>
          <p:nvPr/>
        </p:nvSpPr>
        <p:spPr>
          <a:xfrm>
            <a:off x="617265" y="2288381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3️⃣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71"/>
          <p:cNvSpPr/>
          <p:nvPr/>
        </p:nvSpPr>
        <p:spPr>
          <a:xfrm>
            <a:off x="2655168" y="2288381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타이머가 안 움직임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71"/>
          <p:cNvSpPr/>
          <p:nvPr/>
        </p:nvSpPr>
        <p:spPr>
          <a:xfrm>
            <a:off x="4690690" y="2288381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JavaScript 로직 오류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71"/>
          <p:cNvSpPr/>
          <p:nvPr/>
        </p:nvSpPr>
        <p:spPr>
          <a:xfrm>
            <a:off x="6726213" y="2288381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 콘솔(F12)에서 에러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71"/>
          <p:cNvSpPr/>
          <p:nvPr/>
        </p:nvSpPr>
        <p:spPr>
          <a:xfrm>
            <a:off x="617265" y="2613720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4️⃣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71"/>
          <p:cNvSpPr/>
          <p:nvPr/>
        </p:nvSpPr>
        <p:spPr>
          <a:xfrm>
            <a:off x="2655168" y="2613720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기록이 안 저장됨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71"/>
          <p:cNvSpPr/>
          <p:nvPr/>
        </p:nvSpPr>
        <p:spPr>
          <a:xfrm>
            <a:off x="4690690" y="2613720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POST 요청 경로 불일치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71"/>
          <p:cNvSpPr/>
          <p:nvPr/>
        </p:nvSpPr>
        <p:spPr>
          <a:xfrm>
            <a:off x="6726213" y="2613720"/>
            <a:ext cx="1800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app.py 라우트 주소와 JS 요청 주소 비교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71"/>
          <p:cNvSpPr/>
          <p:nvPr/>
        </p:nvSpPr>
        <p:spPr>
          <a:xfrm>
            <a:off x="617265" y="3119289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5️⃣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71"/>
          <p:cNvSpPr/>
          <p:nvPr/>
        </p:nvSpPr>
        <p:spPr>
          <a:xfrm>
            <a:off x="2655168" y="3119289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한글이 깨짐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71"/>
          <p:cNvSpPr/>
          <p:nvPr/>
        </p:nvSpPr>
        <p:spPr>
          <a:xfrm>
            <a:off x="4690690" y="3119289"/>
            <a:ext cx="2255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파일 인코딩 문제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71"/>
          <p:cNvSpPr/>
          <p:nvPr/>
        </p:nvSpPr>
        <p:spPr>
          <a:xfrm>
            <a:off x="6726213" y="3119289"/>
            <a:ext cx="22578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UTF-8로 저장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1" name="Google Shape;214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497089"/>
            <a:ext cx="2717229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2142" name="Google Shape;2142;p71"/>
          <p:cNvSpPr/>
          <p:nvPr/>
        </p:nvSpPr>
        <p:spPr>
          <a:xfrm>
            <a:off x="612353" y="4071268"/>
            <a:ext cx="2484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1단계: 읽기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71"/>
          <p:cNvSpPr/>
          <p:nvPr/>
        </p:nvSpPr>
        <p:spPr>
          <a:xfrm>
            <a:off x="612353" y="4318322"/>
            <a:ext cx="2484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에러 메시지를 읽는다. 빨간 글씨를 무시하지 마세요! 의사의 진단서입니다.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4" name="Google Shape;2144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3497089"/>
            <a:ext cx="2717229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71"/>
          <p:cNvSpPr/>
          <p:nvPr/>
        </p:nvSpPr>
        <p:spPr>
          <a:xfrm>
            <a:off x="3329583" y="4071268"/>
            <a:ext cx="2484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2단계: 복사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71"/>
          <p:cNvSpPr/>
          <p:nvPr/>
        </p:nvSpPr>
        <p:spPr>
          <a:xfrm>
            <a:off x="3329583" y="4318322"/>
            <a:ext cx="2484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에러 메시지를 복사해서 AI에게 붙여넣기. 전문가에게 진단서를 보여주는 것!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7" name="Google Shape;2147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3497089"/>
            <a:ext cx="2717229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2148" name="Google Shape;2148;p71"/>
          <p:cNvSpPr/>
          <p:nvPr/>
        </p:nvSpPr>
        <p:spPr>
          <a:xfrm>
            <a:off x="6046812" y="4071268"/>
            <a:ext cx="2484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3단계: 수정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71"/>
          <p:cNvSpPr/>
          <p:nvPr/>
        </p:nvSpPr>
        <p:spPr>
          <a:xfrm>
            <a:off x="6046812" y="4318322"/>
            <a:ext cx="2484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AI가 알려준 수정 사항을 적용하고 다시 실행. 처방대로 약 먹고 재검사!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72"/>
          <p:cNvSpPr/>
          <p:nvPr/>
        </p:nvSpPr>
        <p:spPr>
          <a:xfrm>
            <a:off x="496119" y="615255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각 언어의 역할 정리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72"/>
          <p:cNvSpPr/>
          <p:nvPr/>
        </p:nvSpPr>
        <p:spPr>
          <a:xfrm>
            <a:off x="496119" y="1250826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Python, HTML, JavaScript — 세 언어가 팀을 이루어 하나의 앱을 만듭니다. 각자 맡은 역할이 명확하게 나뉘어 있어요!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7" name="Google Shape;215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8815"/>
            <a:ext cx="1150069" cy="11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2158" name="Google Shape;2158;p72"/>
          <p:cNvSpPr/>
          <p:nvPr/>
        </p:nvSpPr>
        <p:spPr>
          <a:xfrm>
            <a:off x="496119" y="2893888"/>
            <a:ext cx="2613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🐍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Python (Flask)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72"/>
          <p:cNvSpPr/>
          <p:nvPr/>
        </p:nvSpPr>
        <p:spPr>
          <a:xfrm>
            <a:off x="496119" y="3166914"/>
            <a:ext cx="26139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실행 장소: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내 컴퓨터 (서버)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역할: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HTML 전달, 기록 저장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비유: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주방장 — 주문을 받아 요리하고 전달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0" name="Google Shape;216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1588815"/>
            <a:ext cx="1150069" cy="11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2161" name="Google Shape;2161;p72"/>
          <p:cNvSpPr/>
          <p:nvPr/>
        </p:nvSpPr>
        <p:spPr>
          <a:xfrm>
            <a:off x="3264991" y="2893888"/>
            <a:ext cx="2613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📄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HTML + 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72"/>
          <p:cNvSpPr/>
          <p:nvPr/>
        </p:nvSpPr>
        <p:spPr>
          <a:xfrm>
            <a:off x="3264991" y="3166914"/>
            <a:ext cx="26139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실행 장소: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브라우저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역할: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타이머, 버튼, 색상 표시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비유: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접시 + 데코 — 요리를 담는 그릇과 인테리어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3" name="Google Shape;2163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1588815"/>
            <a:ext cx="1150069" cy="11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2164" name="Google Shape;2164;p72"/>
          <p:cNvSpPr/>
          <p:nvPr/>
        </p:nvSpPr>
        <p:spPr>
          <a:xfrm>
            <a:off x="6033939" y="2893888"/>
            <a:ext cx="2613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⚡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JavaScript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72"/>
          <p:cNvSpPr/>
          <p:nvPr/>
        </p:nvSpPr>
        <p:spPr>
          <a:xfrm>
            <a:off x="6033939" y="3166914"/>
            <a:ext cx="26139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실행 장소: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브라우저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역할: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카운트다운, 서버 통신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비유: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서빙 로봇 — 화면을 실시간으로 움직이게 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72"/>
          <p:cNvSpPr/>
          <p:nvPr/>
        </p:nvSpPr>
        <p:spPr>
          <a:xfrm>
            <a:off x="496119" y="4050655"/>
            <a:ext cx="14400" cy="477600"/>
          </a:xfrm>
          <a:prstGeom prst="roundRect">
            <a:avLst>
              <a:gd fmla="val 5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72"/>
          <p:cNvSpPr/>
          <p:nvPr/>
        </p:nvSpPr>
        <p:spPr>
          <a:xfrm>
            <a:off x="682154" y="4190181"/>
            <a:ext cx="8422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민수의 깨달음: "Flask는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배달부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HTML은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상품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JavaScript는 상품 안에서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움직이는 부분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records.json은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창고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구나!"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73"/>
          <p:cNvSpPr/>
          <p:nvPr/>
        </p:nvSpPr>
        <p:spPr>
          <a:xfrm>
            <a:off x="496119" y="395139"/>
            <a:ext cx="81519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00"/>
              <a:buFont typeface="Roboto Slab"/>
              <a:buNone/>
            </a:pPr>
            <a:r>
              <a:rPr b="0" i="0" lang="ko-KR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왜 Flask + HTML 조합인가?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73"/>
          <p:cNvSpPr/>
          <p:nvPr/>
        </p:nvSpPr>
        <p:spPr>
          <a:xfrm>
            <a:off x="496119" y="989930"/>
            <a:ext cx="81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HTML만으로는 할 수 없는 것들이 있습니다.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데이터를 영구 저장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하고,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다음 접속에도 유지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하려면 반드시 서버(Flask)가 필요합니다. 이것이 바로 Flask + HTML 조합을 쓰는 이유예요!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73"/>
          <p:cNvSpPr/>
          <p:nvPr/>
        </p:nvSpPr>
        <p:spPr>
          <a:xfrm>
            <a:off x="496119" y="1486049"/>
            <a:ext cx="8151900" cy="2677800"/>
          </a:xfrm>
          <a:prstGeom prst="roundRect">
            <a:avLst>
              <a:gd fmla="val 662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73"/>
          <p:cNvSpPr/>
          <p:nvPr/>
        </p:nvSpPr>
        <p:spPr>
          <a:xfrm>
            <a:off x="496119" y="1822549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73"/>
          <p:cNvSpPr/>
          <p:nvPr/>
        </p:nvSpPr>
        <p:spPr>
          <a:xfrm>
            <a:off x="496119" y="2156668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73"/>
          <p:cNvSpPr/>
          <p:nvPr/>
        </p:nvSpPr>
        <p:spPr>
          <a:xfrm>
            <a:off x="496119" y="2490788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73"/>
          <p:cNvSpPr/>
          <p:nvPr/>
        </p:nvSpPr>
        <p:spPr>
          <a:xfrm>
            <a:off x="496119" y="2824907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73"/>
          <p:cNvSpPr/>
          <p:nvPr/>
        </p:nvSpPr>
        <p:spPr>
          <a:xfrm>
            <a:off x="496119" y="3159026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73"/>
          <p:cNvSpPr/>
          <p:nvPr/>
        </p:nvSpPr>
        <p:spPr>
          <a:xfrm>
            <a:off x="496119" y="3493145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73"/>
          <p:cNvSpPr/>
          <p:nvPr/>
        </p:nvSpPr>
        <p:spPr>
          <a:xfrm>
            <a:off x="496119" y="3827264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73"/>
          <p:cNvSpPr/>
          <p:nvPr/>
        </p:nvSpPr>
        <p:spPr>
          <a:xfrm>
            <a:off x="2536552" y="1486049"/>
            <a:ext cx="7500" cy="267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73"/>
          <p:cNvSpPr/>
          <p:nvPr/>
        </p:nvSpPr>
        <p:spPr>
          <a:xfrm>
            <a:off x="4572074" y="1486049"/>
            <a:ext cx="7500" cy="267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73"/>
          <p:cNvSpPr/>
          <p:nvPr/>
        </p:nvSpPr>
        <p:spPr>
          <a:xfrm>
            <a:off x="6607597" y="1486049"/>
            <a:ext cx="7500" cy="267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73"/>
          <p:cNvSpPr/>
          <p:nvPr/>
        </p:nvSpPr>
        <p:spPr>
          <a:xfrm>
            <a:off x="501030" y="1490811"/>
            <a:ext cx="2035500" cy="3318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73"/>
          <p:cNvSpPr/>
          <p:nvPr/>
        </p:nvSpPr>
        <p:spPr>
          <a:xfrm>
            <a:off x="619199" y="1563142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기능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73"/>
          <p:cNvSpPr/>
          <p:nvPr/>
        </p:nvSpPr>
        <p:spPr>
          <a:xfrm>
            <a:off x="2536552" y="1490811"/>
            <a:ext cx="2035500" cy="3318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73"/>
          <p:cNvSpPr/>
          <p:nvPr/>
        </p:nvSpPr>
        <p:spPr>
          <a:xfrm>
            <a:off x="2657103" y="1563142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HTML만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73"/>
          <p:cNvSpPr/>
          <p:nvPr/>
        </p:nvSpPr>
        <p:spPr>
          <a:xfrm>
            <a:off x="4572074" y="1490811"/>
            <a:ext cx="2035500" cy="3318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73"/>
          <p:cNvSpPr/>
          <p:nvPr/>
        </p:nvSpPr>
        <p:spPr>
          <a:xfrm>
            <a:off x="4692625" y="1563142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Flask+HTML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73"/>
          <p:cNvSpPr/>
          <p:nvPr/>
        </p:nvSpPr>
        <p:spPr>
          <a:xfrm>
            <a:off x="6607597" y="1490811"/>
            <a:ext cx="2035500" cy="3318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73"/>
          <p:cNvSpPr/>
          <p:nvPr/>
        </p:nvSpPr>
        <p:spPr>
          <a:xfrm>
            <a:off x="6728147" y="1563142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이유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73"/>
          <p:cNvSpPr/>
          <p:nvPr/>
        </p:nvSpPr>
        <p:spPr>
          <a:xfrm>
            <a:off x="619199" y="1897261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 보여주기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73"/>
          <p:cNvSpPr/>
          <p:nvPr/>
        </p:nvSpPr>
        <p:spPr>
          <a:xfrm>
            <a:off x="2657103" y="1897261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73"/>
          <p:cNvSpPr/>
          <p:nvPr/>
        </p:nvSpPr>
        <p:spPr>
          <a:xfrm>
            <a:off x="4692625" y="1897261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73"/>
          <p:cNvSpPr/>
          <p:nvPr/>
        </p:nvSpPr>
        <p:spPr>
          <a:xfrm>
            <a:off x="6728147" y="1897261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표시는 HTML/JS 역할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73"/>
          <p:cNvSpPr/>
          <p:nvPr/>
        </p:nvSpPr>
        <p:spPr>
          <a:xfrm>
            <a:off x="619199" y="2231380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버튼 클릭 반응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73"/>
          <p:cNvSpPr/>
          <p:nvPr/>
        </p:nvSpPr>
        <p:spPr>
          <a:xfrm>
            <a:off x="2657103" y="2231380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73"/>
          <p:cNvSpPr/>
          <p:nvPr/>
        </p:nvSpPr>
        <p:spPr>
          <a:xfrm>
            <a:off x="4692625" y="2231380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73"/>
          <p:cNvSpPr/>
          <p:nvPr/>
        </p:nvSpPr>
        <p:spPr>
          <a:xfrm>
            <a:off x="6728147" y="2231380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JavaScript가 처리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73"/>
          <p:cNvSpPr/>
          <p:nvPr/>
        </p:nvSpPr>
        <p:spPr>
          <a:xfrm>
            <a:off x="619199" y="2565499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공부 기록 저장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73"/>
          <p:cNvSpPr/>
          <p:nvPr/>
        </p:nvSpPr>
        <p:spPr>
          <a:xfrm>
            <a:off x="2657103" y="2565499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73"/>
          <p:cNvSpPr/>
          <p:nvPr/>
        </p:nvSpPr>
        <p:spPr>
          <a:xfrm>
            <a:off x="4692625" y="2565499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73"/>
          <p:cNvSpPr/>
          <p:nvPr/>
        </p:nvSpPr>
        <p:spPr>
          <a:xfrm>
            <a:off x="6728147" y="2565499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 없이는 파일에 쓸 수 없다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73"/>
          <p:cNvSpPr/>
          <p:nvPr/>
        </p:nvSpPr>
        <p:spPr>
          <a:xfrm>
            <a:off x="619199" y="2899618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다음 접속 시 기록 유지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73"/>
          <p:cNvSpPr/>
          <p:nvPr/>
        </p:nvSpPr>
        <p:spPr>
          <a:xfrm>
            <a:off x="2657103" y="2899618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73"/>
          <p:cNvSpPr/>
          <p:nvPr/>
        </p:nvSpPr>
        <p:spPr>
          <a:xfrm>
            <a:off x="4692625" y="2899618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73"/>
          <p:cNvSpPr/>
          <p:nvPr/>
        </p:nvSpPr>
        <p:spPr>
          <a:xfrm>
            <a:off x="6728147" y="2899618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서버가 데이터를 영구 보관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73"/>
          <p:cNvSpPr/>
          <p:nvPr/>
        </p:nvSpPr>
        <p:spPr>
          <a:xfrm>
            <a:off x="619199" y="3233738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여러 기기에서 접속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73"/>
          <p:cNvSpPr/>
          <p:nvPr/>
        </p:nvSpPr>
        <p:spPr>
          <a:xfrm>
            <a:off x="2657103" y="3233738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73"/>
          <p:cNvSpPr/>
          <p:nvPr/>
        </p:nvSpPr>
        <p:spPr>
          <a:xfrm>
            <a:off x="4692625" y="3233738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73"/>
          <p:cNvSpPr/>
          <p:nvPr/>
        </p:nvSpPr>
        <p:spPr>
          <a:xfrm>
            <a:off x="6728147" y="3233738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서버는 네트워크로 접근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73"/>
          <p:cNvSpPr/>
          <p:nvPr/>
        </p:nvSpPr>
        <p:spPr>
          <a:xfrm>
            <a:off x="619199" y="3567857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통계/분석 계산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73"/>
          <p:cNvSpPr/>
          <p:nvPr/>
        </p:nvSpPr>
        <p:spPr>
          <a:xfrm>
            <a:off x="2657103" y="3567857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⚠️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73"/>
          <p:cNvSpPr/>
          <p:nvPr/>
        </p:nvSpPr>
        <p:spPr>
          <a:xfrm>
            <a:off x="4692625" y="3567857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73"/>
          <p:cNvSpPr/>
          <p:nvPr/>
        </p:nvSpPr>
        <p:spPr>
          <a:xfrm>
            <a:off x="6728147" y="3567857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Python의 데이터 처리 능력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73"/>
          <p:cNvSpPr/>
          <p:nvPr/>
        </p:nvSpPr>
        <p:spPr>
          <a:xfrm>
            <a:off x="619199" y="3901976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 구분 (로그인)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73"/>
          <p:cNvSpPr/>
          <p:nvPr/>
        </p:nvSpPr>
        <p:spPr>
          <a:xfrm>
            <a:off x="2657103" y="3901976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73"/>
          <p:cNvSpPr/>
          <p:nvPr/>
        </p:nvSpPr>
        <p:spPr>
          <a:xfrm>
            <a:off x="4692625" y="3901976"/>
            <a:ext cx="225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73"/>
          <p:cNvSpPr/>
          <p:nvPr/>
        </p:nvSpPr>
        <p:spPr>
          <a:xfrm>
            <a:off x="6728147" y="3901976"/>
            <a:ext cx="22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서버가 세션 관리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73"/>
          <p:cNvSpPr/>
          <p:nvPr/>
        </p:nvSpPr>
        <p:spPr>
          <a:xfrm>
            <a:off x="496119" y="4290492"/>
            <a:ext cx="8151900" cy="457800"/>
          </a:xfrm>
          <a:prstGeom prst="roundRect">
            <a:avLst>
              <a:gd fmla="val 387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3" name="Google Shape;222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288" y="4458593"/>
            <a:ext cx="147786" cy="118170"/>
          </a:xfrm>
          <a:prstGeom prst="rect">
            <a:avLst/>
          </a:prstGeom>
          <a:noFill/>
          <a:ln>
            <a:noFill/>
          </a:ln>
        </p:spPr>
      </p:pic>
      <p:sp>
        <p:nvSpPr>
          <p:cNvPr id="2224" name="Google Shape;2224;p73"/>
          <p:cNvSpPr/>
          <p:nvPr/>
        </p:nvSpPr>
        <p:spPr>
          <a:xfrm>
            <a:off x="880244" y="4432697"/>
            <a:ext cx="810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Flask를 추가하는 순간, 단순한 웹 페이지가 </a:t>
            </a:r>
            <a:r>
              <a:rPr b="1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진짜 앱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으로 진화합니다! 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74"/>
          <p:cNvSpPr/>
          <p:nvPr/>
        </p:nvSpPr>
        <p:spPr>
          <a:xfrm>
            <a:off x="496119" y="1739205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폴더 구조 &amp; 주의사항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74"/>
          <p:cNvSpPr/>
          <p:nvPr/>
        </p:nvSpPr>
        <p:spPr>
          <a:xfrm>
            <a:off x="496119" y="2176314"/>
            <a:ext cx="8151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📁</a:t>
            </a:r>
            <a:r>
              <a:rPr b="0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study-timer 폴더 구조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74"/>
          <p:cNvSpPr/>
          <p:nvPr/>
        </p:nvSpPr>
        <p:spPr>
          <a:xfrm>
            <a:off x="496119" y="2560960"/>
            <a:ext cx="8151900" cy="843300"/>
          </a:xfrm>
          <a:prstGeom prst="roundRect">
            <a:avLst>
              <a:gd fmla="val 2206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33" name="Google Shape;2233;p74"/>
          <p:cNvSpPr/>
          <p:nvPr/>
        </p:nvSpPr>
        <p:spPr>
          <a:xfrm>
            <a:off x="489942" y="2560960"/>
            <a:ext cx="8164200" cy="843300"/>
          </a:xfrm>
          <a:prstGeom prst="roundRect">
            <a:avLst>
              <a:gd fmla="val 2206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34" name="Google Shape;2234;p74"/>
          <p:cNvSpPr/>
          <p:nvPr/>
        </p:nvSpPr>
        <p:spPr>
          <a:xfrm>
            <a:off x="644947" y="2684934"/>
            <a:ext cx="78540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ko-KR" sz="125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study-timer/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ko-KR" sz="125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├── app.py ← Flask 서버 코드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50"/>
              <a:buFont typeface="Consolas"/>
              <a:buNone/>
            </a:pPr>
            <a:r>
              <a:rPr b="0" i="0" lang="ko-KR" sz="125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├── templates/ 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75"/>
          <p:cNvSpPr/>
          <p:nvPr/>
        </p:nvSpPr>
        <p:spPr>
          <a:xfrm>
            <a:off x="496119" y="355625"/>
            <a:ext cx="8151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850"/>
              <a:buFont typeface="Roboto Slab"/>
              <a:buNone/>
            </a:pPr>
            <a:r>
              <a:rPr b="0" i="0" lang="ko-KR" sz="18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마무리 — 민수의 대답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75"/>
          <p:cNvSpPr/>
          <p:nvPr/>
        </p:nvSpPr>
        <p:spPr>
          <a:xfrm>
            <a:off x="496119" y="797793"/>
            <a:ext cx="9600" cy="297600"/>
          </a:xfrm>
          <a:prstGeom prst="roundRect">
            <a:avLst>
              <a:gd fmla="val 60000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75"/>
          <p:cNvSpPr/>
          <p:nvPr/>
        </p:nvSpPr>
        <p:spPr>
          <a:xfrm>
            <a:off x="638547" y="879574"/>
            <a:ext cx="84666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민수의 처음 질문: </a:t>
            </a:r>
            <a:r>
              <a:rPr b="1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"나 혼자서도 뭔가 만들 수 있을까?"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75"/>
          <p:cNvSpPr/>
          <p:nvPr/>
        </p:nvSpPr>
        <p:spPr>
          <a:xfrm>
            <a:off x="496119" y="1204466"/>
            <a:ext cx="815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550"/>
              <a:buFont typeface="Roboto Slab"/>
              <a:buNone/>
            </a:pPr>
            <a:r>
              <a:rPr b="0" i="0" lang="ko-KR" sz="25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AI와 함께라면, 할 수 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4" name="Google Shape;2244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22983"/>
            <a:ext cx="474836" cy="569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45" name="Google Shape;2245;p75"/>
          <p:cNvSpPr/>
          <p:nvPr/>
        </p:nvSpPr>
        <p:spPr>
          <a:xfrm>
            <a:off x="1043657" y="1817936"/>
            <a:ext cx="76041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기획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75"/>
          <p:cNvSpPr/>
          <p:nvPr/>
        </p:nvSpPr>
        <p:spPr>
          <a:xfrm>
            <a:off x="1043657" y="2070398"/>
            <a:ext cx="76041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만들고 싶은 것을 구체적으로 정한다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7" name="Google Shape;224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292772"/>
            <a:ext cx="474836" cy="569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75"/>
          <p:cNvSpPr/>
          <p:nvPr/>
        </p:nvSpPr>
        <p:spPr>
          <a:xfrm>
            <a:off x="1043657" y="2387724"/>
            <a:ext cx="76041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💬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설명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75"/>
          <p:cNvSpPr/>
          <p:nvPr/>
        </p:nvSpPr>
        <p:spPr>
          <a:xfrm>
            <a:off x="1043657" y="2640186"/>
            <a:ext cx="76041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AI에게 내가 원하는 것을 정확히 전달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0" name="Google Shape;2250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862560"/>
            <a:ext cx="474836" cy="569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75"/>
          <p:cNvSpPr/>
          <p:nvPr/>
        </p:nvSpPr>
        <p:spPr>
          <a:xfrm>
            <a:off x="1043657" y="2957513"/>
            <a:ext cx="76041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확인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75"/>
          <p:cNvSpPr/>
          <p:nvPr/>
        </p:nvSpPr>
        <p:spPr>
          <a:xfrm>
            <a:off x="1043657" y="3209975"/>
            <a:ext cx="76041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결과물이 의도대로 동작하는지 검증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3" name="Google Shape;2253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432349"/>
            <a:ext cx="474836" cy="569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54" name="Google Shape;2254;p75"/>
          <p:cNvSpPr/>
          <p:nvPr/>
        </p:nvSpPr>
        <p:spPr>
          <a:xfrm>
            <a:off x="1043657" y="3527301"/>
            <a:ext cx="76041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🔧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수정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75"/>
          <p:cNvSpPr/>
          <p:nvPr/>
        </p:nvSpPr>
        <p:spPr>
          <a:xfrm>
            <a:off x="1043657" y="3779763"/>
            <a:ext cx="76041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안 되는 부분을 찾아 AI와 함께 고침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6" name="Google Shape;2256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4002137"/>
            <a:ext cx="474836" cy="569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57" name="Google Shape;2257;p75"/>
          <p:cNvSpPr/>
          <p:nvPr/>
        </p:nvSpPr>
        <p:spPr>
          <a:xfrm>
            <a:off x="1043657" y="4097089"/>
            <a:ext cx="76041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🔁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반복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75"/>
          <p:cNvSpPr/>
          <p:nvPr/>
        </p:nvSpPr>
        <p:spPr>
          <a:xfrm>
            <a:off x="1043657" y="4349552"/>
            <a:ext cx="76041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완성될 때까지 계속 개선한다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75"/>
          <p:cNvSpPr/>
          <p:nvPr/>
        </p:nvSpPr>
        <p:spPr>
          <a:xfrm>
            <a:off x="267519" y="4653707"/>
            <a:ext cx="86091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공식은 코딩에도, 영상에도, 디자인에도, 음악에도, 사업에도 통한다. 도구만 바뀔 뿐, 방법은 같다. 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"코딩을 잘하는 사람"이 아니라 </a:t>
            </a:r>
            <a:b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설명을 잘하는 사람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 만드는 시대. "</a:t>
            </a:r>
            <a:r>
              <a:rPr b="1" i="0" lang="ko-KR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AI를 잘 지휘하는 사람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 이기는 시대.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65" name="Google Shape;226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66" name="Google Shape;2266;p76"/>
          <p:cNvSpPr/>
          <p:nvPr/>
        </p:nvSpPr>
        <p:spPr>
          <a:xfrm>
            <a:off x="3925119" y="345802"/>
            <a:ext cx="4722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 수업 후 여러분은...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76"/>
          <p:cNvSpPr/>
          <p:nvPr/>
        </p:nvSpPr>
        <p:spPr>
          <a:xfrm>
            <a:off x="3925119" y="907554"/>
            <a:ext cx="4722900" cy="1884900"/>
          </a:xfrm>
          <a:prstGeom prst="roundRect">
            <a:avLst>
              <a:gd fmla="val 97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76"/>
          <p:cNvSpPr/>
          <p:nvPr/>
        </p:nvSpPr>
        <p:spPr>
          <a:xfrm>
            <a:off x="4047158" y="1029593"/>
            <a:ext cx="44787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배운 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76"/>
          <p:cNvSpPr/>
          <p:nvPr/>
        </p:nvSpPr>
        <p:spPr>
          <a:xfrm>
            <a:off x="4047158" y="1297186"/>
            <a:ext cx="44787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939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코딩이 뭔지 알게 됐다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도구 8개의 차이를 알게 됐다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실제 사례 12가지를 봤다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오케스트라 개념을 익혔다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사업적 사고 방법을 배웠다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Flask의 동작 원리를 이해했다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76"/>
          <p:cNvSpPr/>
          <p:nvPr/>
        </p:nvSpPr>
        <p:spPr>
          <a:xfrm>
            <a:off x="3925119" y="2912715"/>
            <a:ext cx="4722900" cy="1884900"/>
          </a:xfrm>
          <a:prstGeom prst="roundRect">
            <a:avLst>
              <a:gd fmla="val 97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76"/>
          <p:cNvSpPr/>
          <p:nvPr/>
        </p:nvSpPr>
        <p:spPr>
          <a:xfrm>
            <a:off x="4047158" y="3034754"/>
            <a:ext cx="44787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🚀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다음 단계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76"/>
          <p:cNvSpPr/>
          <p:nvPr/>
        </p:nvSpPr>
        <p:spPr>
          <a:xfrm>
            <a:off x="4047158" y="3302347"/>
            <a:ext cx="44787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직접 프롬프트를 써서 앱을 만들어 본다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자신에게 맞는 도구를 골라 시작한다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내가 겪는 불편함을 아이디어로 바꿔본다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레벨 1부터 시작, 점차 도구를 추가한다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페르소나를 정하고 피드백을 받아본다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이제 실습 시간에 직접 만든다!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77"/>
          <p:cNvSpPr/>
          <p:nvPr/>
        </p:nvSpPr>
        <p:spPr>
          <a:xfrm>
            <a:off x="496119" y="984052"/>
            <a:ext cx="8151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감사합니다!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77"/>
          <p:cNvSpPr/>
          <p:nvPr/>
        </p:nvSpPr>
        <p:spPr>
          <a:xfrm>
            <a:off x="496119" y="1571923"/>
            <a:ext cx="81519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50"/>
              <a:buFont typeface="Roboto Slab"/>
              <a:buNone/>
            </a:pPr>
            <a:r>
              <a:rPr b="0" i="0" lang="ko-KR" sz="3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나도 할 수 있다!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77"/>
          <p:cNvSpPr/>
          <p:nvPr/>
        </p:nvSpPr>
        <p:spPr>
          <a:xfrm>
            <a:off x="496119" y="2292846"/>
            <a:ext cx="8151900" cy="893100"/>
          </a:xfrm>
          <a:prstGeom prst="roundRect">
            <a:avLst>
              <a:gd fmla="val 208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77"/>
          <p:cNvSpPr/>
          <p:nvPr/>
        </p:nvSpPr>
        <p:spPr>
          <a:xfrm>
            <a:off x="496119" y="2292846"/>
            <a:ext cx="2717100" cy="4467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77"/>
          <p:cNvSpPr/>
          <p:nvPr/>
        </p:nvSpPr>
        <p:spPr>
          <a:xfrm>
            <a:off x="620092" y="2416820"/>
            <a:ext cx="2469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🎯 기획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77"/>
          <p:cNvSpPr/>
          <p:nvPr/>
        </p:nvSpPr>
        <p:spPr>
          <a:xfrm>
            <a:off x="3213348" y="2292846"/>
            <a:ext cx="2717100" cy="4467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77"/>
          <p:cNvSpPr/>
          <p:nvPr/>
        </p:nvSpPr>
        <p:spPr>
          <a:xfrm>
            <a:off x="3213348" y="2292846"/>
            <a:ext cx="14400" cy="446700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77"/>
          <p:cNvSpPr/>
          <p:nvPr/>
        </p:nvSpPr>
        <p:spPr>
          <a:xfrm>
            <a:off x="3337322" y="2416820"/>
            <a:ext cx="2469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💬 설명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p77"/>
          <p:cNvSpPr/>
          <p:nvPr/>
        </p:nvSpPr>
        <p:spPr>
          <a:xfrm>
            <a:off x="5930578" y="2292846"/>
            <a:ext cx="2717100" cy="4467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77"/>
          <p:cNvSpPr/>
          <p:nvPr/>
        </p:nvSpPr>
        <p:spPr>
          <a:xfrm>
            <a:off x="5930578" y="2292846"/>
            <a:ext cx="14400" cy="446700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77"/>
          <p:cNvSpPr/>
          <p:nvPr/>
        </p:nvSpPr>
        <p:spPr>
          <a:xfrm>
            <a:off x="6054551" y="2416820"/>
            <a:ext cx="2469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✅ 확인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77"/>
          <p:cNvSpPr/>
          <p:nvPr/>
        </p:nvSpPr>
        <p:spPr>
          <a:xfrm>
            <a:off x="496119" y="2739405"/>
            <a:ext cx="4075800" cy="4467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77"/>
          <p:cNvSpPr/>
          <p:nvPr/>
        </p:nvSpPr>
        <p:spPr>
          <a:xfrm>
            <a:off x="496119" y="2739405"/>
            <a:ext cx="4075800" cy="14400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77"/>
          <p:cNvSpPr/>
          <p:nvPr/>
        </p:nvSpPr>
        <p:spPr>
          <a:xfrm>
            <a:off x="620092" y="2863379"/>
            <a:ext cx="3828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🔧 수정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77"/>
          <p:cNvSpPr/>
          <p:nvPr/>
        </p:nvSpPr>
        <p:spPr>
          <a:xfrm>
            <a:off x="4571926" y="2739405"/>
            <a:ext cx="4075800" cy="4467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77"/>
          <p:cNvSpPr/>
          <p:nvPr/>
        </p:nvSpPr>
        <p:spPr>
          <a:xfrm>
            <a:off x="4571926" y="2739405"/>
            <a:ext cx="14400" cy="446700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77"/>
          <p:cNvSpPr/>
          <p:nvPr/>
        </p:nvSpPr>
        <p:spPr>
          <a:xfrm>
            <a:off x="4571926" y="2739405"/>
            <a:ext cx="4075800" cy="14400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77"/>
          <p:cNvSpPr/>
          <p:nvPr/>
        </p:nvSpPr>
        <p:spPr>
          <a:xfrm>
            <a:off x="4695899" y="2863379"/>
            <a:ext cx="3828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🔁 반복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77"/>
          <p:cNvSpPr/>
          <p:nvPr/>
        </p:nvSpPr>
        <p:spPr>
          <a:xfrm>
            <a:off x="267519" y="3325490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5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5단계만 기억하면, </a:t>
            </a:r>
            <a:r>
              <a:rPr b="1" i="0" lang="ko-KR" sz="15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무엇이든</a:t>
            </a:r>
            <a:r>
              <a:rPr b="0" i="0" lang="ko-KR" sz="15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만들 수 있습니다.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77"/>
          <p:cNvSpPr/>
          <p:nvPr/>
        </p:nvSpPr>
        <p:spPr>
          <a:xfrm>
            <a:off x="496119" y="3663479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8" name="Google Shape;2298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843263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299" name="Google Shape;2299;p77"/>
          <p:cNvSpPr/>
          <p:nvPr/>
        </p:nvSpPr>
        <p:spPr>
          <a:xfrm>
            <a:off x="899071" y="3818409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📅 </a:t>
            </a:r>
            <a:r>
              <a:rPr b="1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다음 시간:</a:t>
            </a:r>
            <a:r>
              <a:rPr b="0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실습 — Flask + HTML로 공부 타이머 직접 만들기! 준비되셨나요? 😊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257B8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257B8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