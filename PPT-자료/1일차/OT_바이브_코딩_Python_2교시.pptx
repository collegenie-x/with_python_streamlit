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Roboto Slab"/>
      <p:regular r:id="rId43"/>
      <p:bold r:id="rId44"/>
    </p:embeddedFont>
    <p:embeddedFont>
      <p:font typeface="Roboto Slab Light"/>
      <p:regular r:id="rId45"/>
      <p:bold r:id="rId46"/>
    </p:embeddedFont>
    <p:embeddedFont>
      <p:font typeface="Noto Sans Medium"/>
      <p:regular r:id="rId47"/>
      <p:bold r:id="rId48"/>
      <p:italic r:id="rId49"/>
      <p:boldItalic r:id="rId50"/>
    </p:embeddedFont>
    <p:embeddedFont>
      <p:font typeface="Roboto"/>
      <p:regular r:id="rId51"/>
      <p:bold r:id="rId52"/>
      <p:italic r:id="rId53"/>
      <p:boldItalic r:id="rId54"/>
    </p:embeddedFont>
    <p:embeddedFont>
      <p:font typeface="Helvetica Neue"/>
      <p:regular r:id="rId55"/>
      <p:bold r:id="rId56"/>
      <p:italic r:id="rId57"/>
      <p:boldItalic r:id="rId58"/>
    </p:embeddedFont>
    <p:embeddedFont>
      <p:font typeface="Helvetica Neue Light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RobotoSlab-bold.fntdata"/><Relationship Id="rId43" Type="http://schemas.openxmlformats.org/officeDocument/2006/relationships/font" Target="fonts/RobotoSlab-regular.fntdata"/><Relationship Id="rId46" Type="http://schemas.openxmlformats.org/officeDocument/2006/relationships/font" Target="fonts/RobotoSlabLight-bold.fntdata"/><Relationship Id="rId45" Type="http://schemas.openxmlformats.org/officeDocument/2006/relationships/font" Target="fonts/RobotoSlab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NotoSansMedium-bold.fntdata"/><Relationship Id="rId47" Type="http://schemas.openxmlformats.org/officeDocument/2006/relationships/font" Target="fonts/NotoSansMedium-regular.fntdata"/><Relationship Id="rId49" Type="http://schemas.openxmlformats.org/officeDocument/2006/relationships/font" Target="fonts/NotoSa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HelveticaNeueLight-boldItalic.fntdata"/><Relationship Id="rId61" Type="http://schemas.openxmlformats.org/officeDocument/2006/relationships/font" Target="fonts/HelveticaNeueLight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HelveticaNeueLight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regular.fntdata"/><Relationship Id="rId50" Type="http://schemas.openxmlformats.org/officeDocument/2006/relationships/font" Target="fonts/NotoSansMedium-boldItalic.fntdata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6.xml"/><Relationship Id="rId55" Type="http://schemas.openxmlformats.org/officeDocument/2006/relationships/font" Target="fonts/HelveticaNeue-regular.fntdata"/><Relationship Id="rId10" Type="http://schemas.openxmlformats.org/officeDocument/2006/relationships/slide" Target="slides/slide5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8.xml"/><Relationship Id="rId57" Type="http://schemas.openxmlformats.org/officeDocument/2006/relationships/font" Target="fonts/HelveticaNeue-italic.fntdata"/><Relationship Id="rId12" Type="http://schemas.openxmlformats.org/officeDocument/2006/relationships/slide" Target="slides/slide7.xml"/><Relationship Id="rId56" Type="http://schemas.openxmlformats.org/officeDocument/2006/relationships/font" Target="fonts/HelveticaNeue-bold.fntdata"/><Relationship Id="rId15" Type="http://schemas.openxmlformats.org/officeDocument/2006/relationships/slide" Target="slides/slide10.xml"/><Relationship Id="rId59" Type="http://schemas.openxmlformats.org/officeDocument/2006/relationships/font" Target="fonts/HelveticaNeueLight-regular.fntdata"/><Relationship Id="rId14" Type="http://schemas.openxmlformats.org/officeDocument/2006/relationships/slide" Target="slides/slide9.xml"/><Relationship Id="rId58" Type="http://schemas.openxmlformats.org/officeDocument/2006/relationships/font" Target="fonts/HelveticaNeue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9489d3436_0_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f9489d3436_0_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f9489d3436_0_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9489d3436_0_16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f9489d3436_0_16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f9489d3436_0_16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9489d3436_0_3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f9489d3436_0_3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f9489d3436_0_3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9489d3436_0_3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f9489d3436_0_3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9489d3436_0_3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489d3436_0_73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9489d3436_0_73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9489d3436_0_73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9489d3436_0_61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f9489d3436_0_61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9489d3436_0_61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9489d3436_0_93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f9489d3436_0_93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9489d3436_0_93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9489d3436_0_10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f9489d3436_0_10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9489d3436_0_10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9489d3436_0_116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f9489d3436_0_116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f9489d3436_0_116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95501bb5d_0_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f95501bb5d_0_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95501bb5d_0_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9489d3436_0_13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f9489d3436_0_13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9489d3436_0_13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9489d3436_0_16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g3f9489d3436_0_16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f9489d3436_0_16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9489d3436_0_171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f9489d3436_0_171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9489d3436_0_171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9489d3436_0_192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f9489d3436_0_192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f9489d3436_0_192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9489d3436_0_207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f9489d3436_0_207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f9489d3436_0_207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9489d3436_0_229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f9489d3436_0_229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9489d3436_0_229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9489d3436_0_245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f9489d3436_0_245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f9489d3436_0_245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9489d3436_0_25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f9489d3436_0_25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f9489d3436_0_25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9489d3436_0_3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f9489d3436_0_31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9489d3436_0_31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9489d3436_0_32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f9489d3436_0_32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f9489d3436_0_32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9489d3436_0_286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g3f9489d3436_0_286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9489d3436_0_286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9489d3436_0_4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f9489d3436_0_41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f9489d3436_0_41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9489d3436_0_4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g3f9489d3436_0_43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f9489d3436_0_43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9489d3436_0_46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g3f9489d3436_0_46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f9489d3436_0_46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f9489d3436_0_4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f9489d3436_0_47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f9489d3436_0_47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9489d3436_0_5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f9489d3436_0_57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f9489d3436_0_57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9489d3436_0_5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f9489d3436_0_57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g3f9489d3436_0_57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f9489d3436_0_60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2" name="Google Shape;622;g3f9489d3436_0_60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f9489d3436_0_60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f9489d3436_0_63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g3f9489d3436_0_63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f9489d3436_0_63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f9489d3436_0_6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g3f9489d3436_0_65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g3f9489d3436_0_65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f9489d3436_0_6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3f9489d3436_0_69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g3f9489d3436_0_69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f9489d3436_0_7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3f9489d3436_0_72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3f9489d3436_0_72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f9489d3436_0_7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g3f9489d3436_0_74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f9489d3436_0_74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f9489d3436_0_75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g3f9489d3436_0_75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g3f9489d3436_0_75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f9489d3436_0_7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4" name="Google Shape;794;g3f9489d3436_0_76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g3f9489d3436_0_76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f9489d3436_0_7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3" name="Google Shape;823;g3f9489d3436_0_79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g3f9489d3436_0_79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f95501bb5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f95501bb5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1" y="273846"/>
            <a:ext cx="78867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50" lIns="32750" spcFirstLastPara="1" rIns="32750" wrap="square" tIns="327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Medium"/>
              <a:buNone/>
              <a:defRPr sz="21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792295"/>
            <a:ext cx="7886700" cy="3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750" lIns="32750" spcFirstLastPara="1" rIns="32750" wrap="square" tIns="32750">
            <a:normAutofit/>
          </a:bodyPr>
          <a:lstStyle>
            <a:lvl1pPr indent="-374650" lvl="0" marL="4572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Noto Sans Medium"/>
              <a:buChar char="●"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indent="-374650" lvl="1" marL="9144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Noto Sans Medium"/>
              <a:buChar char="○"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indent="-374650" lvl="2" marL="1371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Noto Sans Medium"/>
              <a:buChar char="■"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indent="-374650" lvl="3" marL="18288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Noto Sans Medium"/>
              <a:buChar char="●"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indent="-374650" lvl="4" marL="22860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Noto Sans Medium"/>
              <a:buChar char="○"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indent="-336550" lvl="5" marL="27432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■"/>
              <a:defRPr/>
            </a:lvl6pPr>
            <a:lvl7pPr indent="-336550" lvl="6" marL="32004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  <a:defRPr/>
            </a:lvl7pPr>
            <a:lvl8pPr indent="-336550" lvl="7" marL="36576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○"/>
              <a:defRPr/>
            </a:lvl8pPr>
            <a:lvl9pPr indent="-336550" lvl="8" marL="4114800" algn="l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17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49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9450" lIns="58925" spcFirstLastPara="1" rIns="58925" wrap="square" tIns="2945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9450" lIns="58925" spcFirstLastPara="1" rIns="58925" wrap="square" tIns="2945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  <a:defRPr b="1" i="0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456344" y="4902398"/>
            <a:ext cx="2265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2750" lIns="32750" spcFirstLastPara="1" rIns="32750" wrap="square" tIns="327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b="0" i="0" sz="1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b="0" i="0" sz="1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b="0" i="0" sz="1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b="0" i="0" sz="1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b="0" i="0" sz="1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b="0" i="0" sz="1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b="0" i="0" sz="1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b="0" i="0" sz="1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b="0" i="0" sz="1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628651" y="668936"/>
            <a:ext cx="7886700" cy="0"/>
          </a:xfrm>
          <a:prstGeom prst="straightConnector1">
            <a:avLst/>
          </a:prstGeom>
          <a:noFill/>
          <a:ln cap="flat" cmpd="sng" w="12275">
            <a:solidFill>
              <a:srgbClr val="009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7" name="Google Shape;5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33271" y="273846"/>
            <a:ext cx="482079" cy="382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jp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jpg"/><Relationship Id="rId4" Type="http://schemas.openxmlformats.org/officeDocument/2006/relationships/image" Target="../media/image3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44.png"/><Relationship Id="rId8" Type="http://schemas.openxmlformats.org/officeDocument/2006/relationships/image" Target="../media/image3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7.png"/><Relationship Id="rId8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" name="Google Shape;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9" y="0"/>
            <a:ext cx="342891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/>
          <p:nvPr/>
        </p:nvSpPr>
        <p:spPr>
          <a:xfrm>
            <a:off x="496119" y="1240036"/>
            <a:ext cx="47229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8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10가지 프로젝트 중 하나를 고르자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96119" y="1813619"/>
            <a:ext cx="5179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1일차 2교시 — 팀이 직접 토론해서 </a:t>
            </a:r>
            <a:r>
              <a:rPr b="1" i="0" lang="ko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"우리가 만들 프로젝트"</a:t>
            </a: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를 결정한다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96119" y="2151608"/>
            <a:ext cx="2299200" cy="913200"/>
          </a:xfrm>
          <a:prstGeom prst="roundRect">
            <a:avLst>
              <a:gd fmla="val 203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" name="Google Shape;70;p15"/>
          <p:cNvSpPr/>
          <p:nvPr/>
        </p:nvSpPr>
        <p:spPr>
          <a:xfrm>
            <a:off x="620093" y="2275582"/>
            <a:ext cx="2051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대상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620093" y="2543845"/>
            <a:ext cx="2051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중학교 2학년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2919492" y="2151608"/>
            <a:ext cx="2299200" cy="913200"/>
          </a:xfrm>
          <a:prstGeom prst="roundRect">
            <a:avLst>
              <a:gd fmla="val 203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" name="Google Shape;73;p15"/>
          <p:cNvSpPr/>
          <p:nvPr/>
        </p:nvSpPr>
        <p:spPr>
          <a:xfrm>
            <a:off x="3043466" y="2275582"/>
            <a:ext cx="2051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산출물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043466" y="2543845"/>
            <a:ext cx="2051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팀별 한 줄 기획서 + 역할 분담표 + 화면 흐름도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96125" y="3188728"/>
            <a:ext cx="4722900" cy="993600"/>
          </a:xfrm>
          <a:prstGeom prst="roundRect">
            <a:avLst>
              <a:gd fmla="val 260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" name="Google Shape;76;p15"/>
          <p:cNvSpPr/>
          <p:nvPr/>
        </p:nvSpPr>
        <p:spPr>
          <a:xfrm>
            <a:off x="620093" y="3312691"/>
            <a:ext cx="44748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핵심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620093" y="3580954"/>
            <a:ext cx="4474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선생님이 정해주는 게 아니라, 팀원이 직접 토론해서 고른다 </a:t>
            </a:r>
            <a:b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(학생 주도성)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496119" y="1549300"/>
            <a:ext cx="8151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이 시간의 흐름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184871"/>
            <a:ext cx="2717161" cy="49611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>
            <a:off x="620093" y="2804964"/>
            <a:ext cx="2469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1교시에서 배운 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20093" y="3073226"/>
            <a:ext cx="2469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세상이 바뀌고 있다 / AI 시대 공부법 / 기획 &gt; 코딩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53" y="2184871"/>
            <a:ext cx="2717161" cy="49611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3337327" y="2804964"/>
            <a:ext cx="2469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2교시 — 지금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337327" y="3073226"/>
            <a:ext cx="2469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"그래서 우리가 직접 만들어볼 거야" — 10가지 아이디어 소개 → 팀 토론 → 프로젝트 확정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" name="Google Shape;9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87" y="2184871"/>
            <a:ext cx="2717161" cy="49611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6054561" y="2804964"/>
            <a:ext cx="2469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2~4일차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6054561" y="3073226"/>
            <a:ext cx="2469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선택한 프로젝트를 </a:t>
            </a:r>
            <a:r>
              <a:rPr b="1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바이브 코딩</a:t>
            </a: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으로 실제로 만든다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891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/>
          <p:nvPr/>
        </p:nvSpPr>
        <p:spPr>
          <a:xfrm>
            <a:off x="3925125" y="2185244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3999539" y="2222450"/>
            <a:ext cx="7728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3925125" y="2423369"/>
            <a:ext cx="47229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00"/>
              <a:buFont typeface="Roboto Slab"/>
              <a:buNone/>
            </a:pPr>
            <a:r>
              <a:rPr b="0" i="0" lang="ko" sz="3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바이브 코딩 라이브 데모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496119" y="1035323"/>
            <a:ext cx="8151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"말만 했는데 앱이 나왔어?"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96119" y="1670894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2교시 시작하자마자, 선생님이 직접 보여준다.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496119" y="2008882"/>
            <a:ext cx="14400" cy="477600"/>
          </a:xfrm>
          <a:prstGeom prst="roundRect">
            <a:avLst>
              <a:gd fmla="val 59999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0" name="Google Shape;110;p18"/>
          <p:cNvSpPr/>
          <p:nvPr/>
        </p:nvSpPr>
        <p:spPr>
          <a:xfrm>
            <a:off x="682155" y="2148409"/>
            <a:ext cx="8422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1" i="0" lang="ko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선생님</a:t>
            </a:r>
            <a:r>
              <a:rPr b="0" i="0" lang="ko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"급식 별점 앱 만들어줘. 오늘 메뉴가 위에 보이고, 별점을 1~5점으로 매기는 슬라이더가 있고, 제출 버튼이 있어. Python Streamlit으로 만들어줘."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96119" y="2835373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 Light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96119" y="3031827"/>
            <a:ext cx="26346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496119" y="3122389"/>
            <a:ext cx="2634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AI가 코드를 만든다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496119" y="3446438"/>
            <a:ext cx="263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30초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254653" y="2835373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 Light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3254653" y="3031827"/>
            <a:ext cx="26346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3254653" y="3122389"/>
            <a:ext cx="2634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터미널에서 실행한다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3254653" y="3446438"/>
            <a:ext cx="263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6013261" y="2835373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 Light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6013261" y="3031827"/>
            <a:ext cx="26346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6013261" y="3122389"/>
            <a:ext cx="2634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브라우저에 앱이 뜬다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013261" y="3446438"/>
            <a:ext cx="263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"와, 말만 했는데 앱이 나왔어?"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96119" y="3809230"/>
            <a:ext cx="81516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3" y="3989015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/>
          <p:nvPr/>
        </p:nvSpPr>
        <p:spPr>
          <a:xfrm>
            <a:off x="899072" y="3976588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"/>
              <a:buNone/>
            </a:pPr>
            <a:r>
              <a:rPr b="1" i="0" lang="ko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"나도 할 수 있겠는데?"</a:t>
            </a:r>
            <a:r>
              <a:rPr b="0" i="0" lang="ko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이 자신감이 나머지 3일의 연료다.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496132" y="1002822"/>
            <a:ext cx="8151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" sz="2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우리가 쓸 도구 — Python + Streamlit</a:t>
            </a:r>
            <a:endParaRPr b="1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150417"/>
            <a:ext cx="310075" cy="310084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961208" y="2150417"/>
            <a:ext cx="21489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Python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961208" y="2418680"/>
            <a:ext cx="2148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프로그래밍 언어. 요리 재료에 해당한다.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7" y="2150417"/>
            <a:ext cx="310075" cy="31008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/>
          <p:nvPr/>
        </p:nvSpPr>
        <p:spPr>
          <a:xfrm>
            <a:off x="3730086" y="2150417"/>
            <a:ext cx="21489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Streamlit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3730086" y="2418680"/>
            <a:ext cx="2148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Python으로 웹앱을 쉽게 만드는 도구. 레고 블록처럼 조립만 하면 앱이 된다.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48" y="2150417"/>
            <a:ext cx="310075" cy="31008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/>
          <p:nvPr/>
        </p:nvSpPr>
        <p:spPr>
          <a:xfrm>
            <a:off x="6499037" y="2150417"/>
            <a:ext cx="21489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(Claude / ChatGPT)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6499037" y="2418680"/>
            <a:ext cx="2148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코드를 대신 짜주는 도우미. 메뉴만 정하면 만들어주는 전문 요리사.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955131"/>
            <a:ext cx="2634490" cy="67344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/>
          <p:nvPr/>
        </p:nvSpPr>
        <p:spPr>
          <a:xfrm>
            <a:off x="691531" y="3093392"/>
            <a:ext cx="230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Python만 → 까만 화면에 글자만 나옴 </a:t>
            </a:r>
            <a:r>
              <a:rPr b="1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(재미없음)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54653" y="2955131"/>
            <a:ext cx="2634565" cy="67344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/>
          <p:nvPr/>
        </p:nvSpPr>
        <p:spPr>
          <a:xfrm>
            <a:off x="3450065" y="3093392"/>
            <a:ext cx="230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Python + Streamlit → 버튼, 슬라이더, 차트가 있는 웹앱 </a:t>
            </a:r>
            <a:r>
              <a:rPr b="1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(재미있음)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3261" y="2955131"/>
            <a:ext cx="2634490" cy="67344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/>
          <p:nvPr/>
        </p:nvSpPr>
        <p:spPr>
          <a:xfrm>
            <a:off x="6208673" y="3093392"/>
            <a:ext cx="23010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Python + Streamlit + AI → 말만 하면 웹앱이 나옴 </a:t>
            </a:r>
            <a:r>
              <a:rPr b="1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(마법)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/>
          <p:nvPr/>
        </p:nvSpPr>
        <p:spPr>
          <a:xfrm>
            <a:off x="496194" y="978662"/>
            <a:ext cx="8151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" sz="2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바이브 코딩이란 — 30초 복습</a:t>
            </a:r>
            <a:endParaRPr b="1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496119" y="1846957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AI에게 </a:t>
            </a:r>
            <a:r>
              <a:rPr b="1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"원하는 것"을 말로 설명</a:t>
            </a: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하면 AI가 코드를 만들어주는 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406825" y="2184951"/>
            <a:ext cx="4103100" cy="1590000"/>
          </a:xfrm>
          <a:prstGeom prst="roundRect">
            <a:avLst>
              <a:gd fmla="val 1320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5" name="Google Shape;155;p20"/>
          <p:cNvSpPr/>
          <p:nvPr/>
        </p:nvSpPr>
        <p:spPr>
          <a:xfrm>
            <a:off x="530797" y="2308919"/>
            <a:ext cx="3855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" sz="15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사람이 하는 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530797" y="2626742"/>
            <a:ext cx="38553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"뭘 만들지?" 정하기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"누가 쓸 건데?" 생각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"이거 괜찮아?" 판단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전체 구조 설계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4728054" y="2308919"/>
            <a:ext cx="3924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AI가 하는 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4728054" y="2626742"/>
            <a:ext cx="39246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 작성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에러 수정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반복 작업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세부 구현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496119" y="4059477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코딩 문법을 외울 필요 없다. </a:t>
            </a:r>
            <a:r>
              <a:rPr b="1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한국어로 말하면 된다.</a:t>
            </a: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대신 </a:t>
            </a:r>
            <a:r>
              <a:rPr b="1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" sz="13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뭘 만들지 정확히 정하는 것</a:t>
            </a:r>
            <a:r>
              <a:rPr b="1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중요하다. </a:t>
            </a:r>
            <a:b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그래서 지금부터 할 것이 → </a:t>
            </a:r>
            <a:r>
              <a:rPr b="1" i="0" lang="ko" sz="13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프로젝트를 고르는 것</a:t>
            </a: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/>
          <p:nvPr/>
        </p:nvSpPr>
        <p:spPr>
          <a:xfrm>
            <a:off x="496119" y="1349425"/>
            <a:ext cx="8151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" sz="28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프론트엔드만으로 할 수 있는 것 vs 서버가 필요한 것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406822" y="1923008"/>
            <a:ext cx="4103100" cy="1235400"/>
          </a:xfrm>
          <a:prstGeom prst="roundRect">
            <a:avLst>
              <a:gd fmla="val 150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7" name="Google Shape;167;p21"/>
          <p:cNvSpPr/>
          <p:nvPr/>
        </p:nvSpPr>
        <p:spPr>
          <a:xfrm>
            <a:off x="530797" y="2046982"/>
            <a:ext cx="3855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1" i="0" lang="ko" sz="15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서버 없이 가능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530797" y="2364805"/>
            <a:ext cx="431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0" i="0" lang="ko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"나만 쓰고, 내 컴퓨터에만 저장하면 되면"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530797" y="2674888"/>
            <a:ext cx="38553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나만 공부 기록 볼래 → 내 브라우저에 저장하면 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혼자 하는 방탈출 게임 → 내 화면에서만 돌아가면 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4728054" y="2046982"/>
            <a:ext cx="3924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서버 필요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4728054" y="2364805"/>
            <a:ext cx="4381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"여러 사람이 동시에 쓰고, 데이터를 모아야 하면"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4728054" y="2674888"/>
            <a:ext cx="39246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친구랑 공부 시간 비교 → 친구 데이터를 모아야 하니까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00"/>
              <a:buFont typeface="Roboto"/>
              <a:buChar char="•"/>
            </a:pPr>
            <a:r>
              <a:rPr b="0" i="0" lang="ko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전교생 급식 별점 수집 → 여러 명의 별점을 합쳐야 하니까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496125" y="3298100"/>
            <a:ext cx="85659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preencoded.png" id="174" name="Google Shape;1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3" y="347789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/>
          <p:nvPr/>
        </p:nvSpPr>
        <p:spPr>
          <a:xfrm>
            <a:off x="899072" y="3453036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"/>
              <a:buNone/>
            </a:pPr>
            <a:r>
              <a:rPr b="1" i="0" lang="ko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수업에서는 서버 없이 만들 수 있는 프로젝트를 한다.</a:t>
            </a:r>
            <a:r>
              <a:rPr b="0" i="0" lang="ko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핵심 기능을 먼저 만들고 → 나중에 서버를 붙이면 진짜 서비스가 된다.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1" name="Google Shape;1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891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/>
          <p:nvPr/>
        </p:nvSpPr>
        <p:spPr>
          <a:xfrm>
            <a:off x="3925125" y="1917800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3999539" y="1955006"/>
            <a:ext cx="7728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3925125" y="2155925"/>
            <a:ext cx="47229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00"/>
              <a:buFont typeface="Roboto Slab"/>
              <a:buNone/>
            </a:pPr>
            <a:r>
              <a:rPr b="1" i="0" lang="ko" sz="3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10가지 프로젝트 아이디어 소개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/>
          <p:nvPr/>
        </p:nvSpPr>
        <p:spPr>
          <a:xfrm>
            <a:off x="496119" y="921842"/>
            <a:ext cx="8151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소개 전 안내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3"/>
          <p:cNvSpPr/>
          <p:nvPr/>
        </p:nvSpPr>
        <p:spPr>
          <a:xfrm>
            <a:off x="496119" y="1557412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지금부터 </a:t>
            </a:r>
            <a:r>
              <a:rPr b="1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10가지 아이디어</a:t>
            </a: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를 보여줄 거야. 전부 </a:t>
            </a:r>
            <a:r>
              <a:rPr b="1" i="0" lang="ko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Python + Streamlit + 바이브 코딩</a:t>
            </a: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으로 만들 수 있어. 코딩 몰라도 돼.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895401"/>
            <a:ext cx="4013795" cy="11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/>
          <p:nvPr/>
        </p:nvSpPr>
        <p:spPr>
          <a:xfrm>
            <a:off x="2428655" y="1988418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634381" y="2391519"/>
            <a:ext cx="3737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" sz="1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하나를 골라도 되고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634381" y="2719313"/>
            <a:ext cx="3737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10개 중 팀이 원하는 아이디어를 선택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995" y="1895401"/>
            <a:ext cx="4013795" cy="11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/>
          <p:nvPr/>
        </p:nvSpPr>
        <p:spPr>
          <a:xfrm>
            <a:off x="6566531" y="1988418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4772256" y="2391519"/>
            <a:ext cx="3737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" sz="1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직접 만들어도 돼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4772256" y="2719313"/>
            <a:ext cx="3737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10개에 없는 새로운 아이디어도 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120479"/>
            <a:ext cx="4013795" cy="11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/>
          <p:nvPr/>
        </p:nvSpPr>
        <p:spPr>
          <a:xfrm>
            <a:off x="2428655" y="3213497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634381" y="3616598"/>
            <a:ext cx="3737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" sz="1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2개를 합쳐도 돼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634381" y="3944392"/>
            <a:ext cx="3737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두 아이디어를 결합해서 새로운 것을 만들어도 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4" name="Google Shape;2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995" y="3120479"/>
            <a:ext cx="4013795" cy="11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3"/>
          <p:cNvSpPr/>
          <p:nvPr/>
        </p:nvSpPr>
        <p:spPr>
          <a:xfrm>
            <a:off x="6566531" y="3213497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4772256" y="3616598"/>
            <a:ext cx="3737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" sz="1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이유가 있어야 해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772256" y="3944392"/>
            <a:ext cx="3737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1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"우리 팀이 왜 이걸 만드는가"</a:t>
            </a: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이유가 핵심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>
            <a:off x="496119" y="344760"/>
            <a:ext cx="8151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500"/>
              <a:buFont typeface="Roboto Slab"/>
              <a:buNone/>
            </a:pPr>
            <a:r>
              <a:rPr b="0" i="0" lang="ko" sz="1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10가지 아이디어 한눈에 보기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4" name="Google Shape;21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00" y="727975"/>
            <a:ext cx="7611473" cy="428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0" name="Google Shape;22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891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/>
          <p:nvPr/>
        </p:nvSpPr>
        <p:spPr>
          <a:xfrm>
            <a:off x="3925125" y="594271"/>
            <a:ext cx="47229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00"/>
              <a:buFont typeface="Roboto Slab"/>
              <a:buNone/>
            </a:pPr>
            <a:r>
              <a:rPr lang="ko" sz="24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</a:t>
            </a:r>
            <a:r>
              <a:rPr lang="ko" sz="2400">
                <a:solidFill>
                  <a:srgbClr val="009FFF"/>
                </a:solidFill>
                <a:latin typeface="Roboto"/>
                <a:ea typeface="Roboto"/>
                <a:cs typeface="Roboto"/>
                <a:sym typeface="Roboto"/>
              </a:rPr>
              <a:t>①</a:t>
            </a:r>
            <a:r>
              <a:rPr lang="ko" sz="24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 </a:t>
            </a:r>
            <a:r>
              <a:rPr b="0" i="0" lang="ko" sz="25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감정 방탈출 게임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3925125" y="1083692"/>
            <a:ext cx="51798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줄 설명</a:t>
            </a: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감정을 입력하면 스토리가 갈라지는 텍스트 방탈출 게임 | </a:t>
            </a:r>
            <a:r>
              <a:rPr b="1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 필요</a:t>
            </a: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아니오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3925125" y="1358950"/>
            <a:ext cx="2312700" cy="615600"/>
          </a:xfrm>
          <a:prstGeom prst="roundRect">
            <a:avLst>
              <a:gd fmla="val 267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5"/>
          <p:cNvSpPr/>
          <p:nvPr/>
        </p:nvSpPr>
        <p:spPr>
          <a:xfrm>
            <a:off x="4034961" y="1468785"/>
            <a:ext cx="2093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4034961" y="1698873"/>
            <a:ext cx="20931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35개 (인트로 → 방 23개 → 엔딩)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6335177" y="1358950"/>
            <a:ext cx="2312700" cy="615600"/>
          </a:xfrm>
          <a:prstGeom prst="roundRect">
            <a:avLst>
              <a:gd fmla="val 267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6445013" y="1468785"/>
            <a:ext cx="2093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핵심 로직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6445013" y="1698873"/>
            <a:ext cx="20931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선택지를 고르면 다음 방으로 이동 (상태 머신)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3925125" y="2071836"/>
            <a:ext cx="4722900" cy="615600"/>
          </a:xfrm>
          <a:prstGeom prst="roundRect">
            <a:avLst>
              <a:gd fmla="val 267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4034961" y="2181671"/>
            <a:ext cx="4503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바이럴 포인트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4034961" y="2411760"/>
            <a:ext cx="45030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"나는 용감한 탐험가래ㅋㅋ" 결과 캡처 공유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6673" y="2796853"/>
            <a:ext cx="3299512" cy="195828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/>
          <p:nvPr/>
        </p:nvSpPr>
        <p:spPr>
          <a:xfrm>
            <a:off x="6933231" y="4300899"/>
            <a:ext cx="8202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엔딩 결과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899569" y="4300899"/>
            <a:ext cx="8202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방 선택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4849053" y="4300899"/>
            <a:ext cx="820200" cy="1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감정 입력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/>
          <p:nvPr/>
        </p:nvSpPr>
        <p:spPr>
          <a:xfrm>
            <a:off x="496198" y="686825"/>
            <a:ext cx="4683000" cy="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 ② 우리 학교 설문 리서치 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6"/>
          <p:cNvSpPr/>
          <p:nvPr/>
        </p:nvSpPr>
        <p:spPr>
          <a:xfrm>
            <a:off x="496119" y="2136875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1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줄 설명</a:t>
            </a: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5분 만에 설문을 만들고, 결과를 실시간 차트로 보는 도구 | </a:t>
            </a:r>
            <a:b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누가 쓰나</a:t>
            </a: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반장, 동아리 회장, 학급 회의 | </a:t>
            </a:r>
            <a:r>
              <a:rPr b="1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 필요</a:t>
            </a:r>
            <a:r>
              <a:rPr b="0" i="0" lang="ko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MVP는 아니오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406822" y="2846933"/>
            <a:ext cx="4103100" cy="1167300"/>
          </a:xfrm>
          <a:prstGeom prst="roundRect">
            <a:avLst>
              <a:gd fmla="val 1594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44" name="Google Shape;244;p26"/>
          <p:cNvSpPr/>
          <p:nvPr/>
        </p:nvSpPr>
        <p:spPr>
          <a:xfrm>
            <a:off x="530797" y="2970907"/>
            <a:ext cx="3855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핵심 스펙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530797" y="3288730"/>
            <a:ext cx="38553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Char char="•"/>
            </a:pPr>
            <a:r>
              <a:rPr b="0" i="0" lang="ko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화면 수: 3개 (설문 만들기 → 응답하기 → 결과 대시보드)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Char char="•"/>
            </a:pPr>
            <a:r>
              <a:rPr b="0" i="0" lang="ko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핵심 로직: 질문 입력 → JSON 저장 → 응답 수집 → 차트 생성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Char char="•"/>
            </a:pPr>
            <a:r>
              <a:rPr b="0" i="0" lang="ko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바이럴: "반장이 5분 만에 설문 만듦, 결과가 실시간 차트!"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/>
          <p:nvPr/>
        </p:nvSpPr>
        <p:spPr>
          <a:xfrm>
            <a:off x="4728054" y="2970907"/>
            <a:ext cx="3924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플레이 흐름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4728054" y="3288730"/>
            <a:ext cx="39246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Calibri"/>
              <a:buAutoNum type="arabicPeriod"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설문 제작자: 질문 5개 입력 → 유형 선택 (객관식/별점/주관식)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Calibri"/>
              <a:buAutoNum type="arabicPeriod"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응답자: 폼에 답변 → 제출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Calibri"/>
              <a:buAutoNum type="arabicPeriod"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결과: 문항별 바 차트 + AI 요약 코멘트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3" name="Google Shape;25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9" y="0"/>
            <a:ext cx="342891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7"/>
          <p:cNvSpPr/>
          <p:nvPr/>
        </p:nvSpPr>
        <p:spPr>
          <a:xfrm>
            <a:off x="496119" y="449771"/>
            <a:ext cx="47229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lang="ko" sz="19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 3 </a:t>
            </a:r>
            <a:r>
              <a:rPr b="1" i="0" lang="ko" sz="1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취향 추천 테스트 (MBTI 스타일)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496119" y="1193304"/>
            <a:ext cx="5179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1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줄 설명</a:t>
            </a: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5개 질문에 답하면 나에게 딱 맞는 웹툰/노래/영화를 추천 | </a:t>
            </a:r>
            <a:r>
              <a:rPr b="1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 필요</a:t>
            </a: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아니오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496119" y="1531292"/>
            <a:ext cx="4722900" cy="714600"/>
          </a:xfrm>
          <a:prstGeom prst="roundRect">
            <a:avLst>
              <a:gd fmla="val 260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7"/>
          <p:cNvSpPr/>
          <p:nvPr/>
        </p:nvSpPr>
        <p:spPr>
          <a:xfrm>
            <a:off x="620093" y="1655267"/>
            <a:ext cx="44748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수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620093" y="1923529"/>
            <a:ext cx="4474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3개 (시작 → 질문 5개 → 결과 카드)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496119" y="2369939"/>
            <a:ext cx="4722900" cy="714600"/>
          </a:xfrm>
          <a:prstGeom prst="roundRect">
            <a:avLst>
              <a:gd fmla="val 260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7"/>
          <p:cNvSpPr/>
          <p:nvPr/>
        </p:nvSpPr>
        <p:spPr>
          <a:xfrm>
            <a:off x="620093" y="2493913"/>
            <a:ext cx="44748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핵심 로직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620093" y="2762176"/>
            <a:ext cx="4474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선택지마다 유형별 점수 → 합산 → 최고 점수 유형 = 결과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496119" y="3208585"/>
            <a:ext cx="4722900" cy="714600"/>
          </a:xfrm>
          <a:prstGeom prst="roundRect">
            <a:avLst>
              <a:gd fmla="val 260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7"/>
          <p:cNvSpPr/>
          <p:nvPr/>
        </p:nvSpPr>
        <p:spPr>
          <a:xfrm>
            <a:off x="620093" y="3332560"/>
            <a:ext cx="44748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바이럴 포인트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620093" y="3600822"/>
            <a:ext cx="4474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"나 감성 힐링형이래ㅋㅋ 너도 해봐" 카톡 공유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496119" y="4047232"/>
            <a:ext cx="4722900" cy="714600"/>
          </a:xfrm>
          <a:prstGeom prst="roundRect">
            <a:avLst>
              <a:gd fmla="val 260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7"/>
          <p:cNvSpPr/>
          <p:nvPr/>
        </p:nvSpPr>
        <p:spPr>
          <a:xfrm>
            <a:off x="620093" y="4171206"/>
            <a:ext cx="44748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확장성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620093" y="4439468"/>
            <a:ext cx="4474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웹툰/K-pop/영화/공부법 등 테스트 주제 무한 확장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496119" y="1320180"/>
            <a:ext cx="8151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 ④ 급식 별점 &amp; 리뷰판 / ⑤ 공부 타이머 &amp; 집중 기록기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496119" y="2033290"/>
            <a:ext cx="6378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"/>
          <p:cNvSpPr/>
          <p:nvPr/>
        </p:nvSpPr>
        <p:spPr>
          <a:xfrm>
            <a:off x="570533" y="2070497"/>
            <a:ext cx="9462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아이디어 ④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496119" y="2271415"/>
            <a:ext cx="3924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" sz="1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급식 별점 &amp; 리뷰판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496119" y="2589237"/>
            <a:ext cx="392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매일 급식에 별점을 매기고, 이달의 메뉴 TOP 5를 보는 앱. 누가 쓰나: 점심 먹고 "오늘 급식 쩐다/별로" 하는 모든 학생. 서버 필요: MVP는 아니오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496119" y="3097783"/>
            <a:ext cx="39246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수: 2개 (별점 입력 → 대시보드)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 로직: 별점 저장 → 메뉴별 평균 → 랭킹 정렬 → 추이 차트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바이럴: "치킨이 1등이래ㅋㅋ" 급식표 올라오는 날 단톡 공유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4728054" y="2033290"/>
            <a:ext cx="6378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4802468" y="2070497"/>
            <a:ext cx="9462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아이디어 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4728054" y="2271415"/>
            <a:ext cx="3924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" sz="17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공부 타이머 &amp; 집중 기록기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4728054" y="2589237"/>
            <a:ext cx="392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 공부 시간을 타이머로 기록하고, 주간 패턴을 차트로 보는 앱. 누가 쓰나: "오늘 진짜 몇 시간 공부했지?" 궁금한 학생. 서버 필요: 아니오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4728054" y="3097783"/>
            <a:ext cx="39246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수: 2개 (타이머 → 주간 리포트)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 로직: 25분 뽀모도로 타이머 → 과목/시간/날짜 저장 → 차트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동기부여: 연속 공부 일수(스트릭) + 주간 차트의 성장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891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/>
          <p:nvPr/>
        </p:nvSpPr>
        <p:spPr>
          <a:xfrm>
            <a:off x="3925125" y="645765"/>
            <a:ext cx="47229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lang="ko" sz="25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아이디어 ⑥</a:t>
            </a:r>
            <a:r>
              <a:rPr lang="ko" sz="25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" sz="2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 과목 튜터 챗봇</a:t>
            </a:r>
            <a:endParaRPr b="1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3925125" y="1041128"/>
            <a:ext cx="51798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줄 설명</a:t>
            </a:r>
            <a:r>
              <a:rPr b="0" i="0" lang="ko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"이 문제 어떻게 풀어?" 물으면 단계별로 친절하게 알려주는 AI 튜터 | </a:t>
            </a:r>
            <a:r>
              <a:rPr b="1" i="0" lang="ko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 필요</a:t>
            </a:r>
            <a:r>
              <a:rPr b="0" i="0" lang="ko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아니오 (AI API 키만 필요)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25" y="1249784"/>
            <a:ext cx="4722641" cy="52246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/>
          <p:nvPr/>
        </p:nvSpPr>
        <p:spPr>
          <a:xfrm>
            <a:off x="4065768" y="1352327"/>
            <a:ext cx="4479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수 &amp; 핵심 로직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9"/>
          <p:cNvSpPr/>
          <p:nvPr/>
        </p:nvSpPr>
        <p:spPr>
          <a:xfrm>
            <a:off x="4065768" y="1539479"/>
            <a:ext cx="44796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1개 (채팅 화면) — 시스템 프롬프트("중2 튜터") + 대화 이력 관리 + AI 호출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5" name="Google Shape;29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25" y="1841972"/>
            <a:ext cx="4722641" cy="52246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9"/>
          <p:cNvSpPr/>
          <p:nvPr/>
        </p:nvSpPr>
        <p:spPr>
          <a:xfrm>
            <a:off x="4065768" y="1944514"/>
            <a:ext cx="4479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차별점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9"/>
          <p:cNvSpPr/>
          <p:nvPr/>
        </p:nvSpPr>
        <p:spPr>
          <a:xfrm>
            <a:off x="4065768" y="2131665"/>
            <a:ext cx="44796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"아깝다! 거의 다 됐어!" 격려하는 톤 + 확인 퀴즈 제공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25" y="2434159"/>
            <a:ext cx="4722641" cy="52246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4065768" y="2536701"/>
            <a:ext cx="44796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난이도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4065768" y="2723852"/>
            <a:ext cx="44796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 — AI API 연결이 필요해서 약간 어려움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1634" y="3035052"/>
            <a:ext cx="2749607" cy="163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/>
          <p:nvPr/>
        </p:nvSpPr>
        <p:spPr>
          <a:xfrm>
            <a:off x="6825438" y="4288424"/>
            <a:ext cx="6837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확인 퀴즈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5964052" y="4288424"/>
            <a:ext cx="6837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단계별 풀이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5088622" y="4288424"/>
            <a:ext cx="6837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과목 선택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/>
          <p:nvPr/>
        </p:nvSpPr>
        <p:spPr>
          <a:xfrm>
            <a:off x="496119" y="1126406"/>
            <a:ext cx="81516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 ⑦ 플레이리스트 무드 추천기 / ⑧ 용돈 가계부 &amp; 소비 분석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496119" y="2227064"/>
            <a:ext cx="6378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570533" y="2264271"/>
            <a:ext cx="9462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아이디어 ⑦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0"/>
          <p:cNvSpPr/>
          <p:nvPr/>
        </p:nvSpPr>
        <p:spPr>
          <a:xfrm>
            <a:off x="496119" y="2465189"/>
            <a:ext cx="39246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플레이리스트 무드 추천기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0"/>
          <p:cNvSpPr/>
          <p:nvPr/>
        </p:nvSpPr>
        <p:spPr>
          <a:xfrm>
            <a:off x="496119" y="2783012"/>
            <a:ext cx="392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"지금 기분"을 고르면 딱 맞는 노래 5곡을 추천. 등하교길 이어폰 끼는 친구들에게 딱. 서버 필요: 아니오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0"/>
          <p:cNvSpPr/>
          <p:nvPr/>
        </p:nvSpPr>
        <p:spPr>
          <a:xfrm>
            <a:off x="496119" y="3291557"/>
            <a:ext cx="39246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수: 2개 (무드 선택 → 추천 리스트)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 로직: 무드 → 태그 매핑 → JSON 곡 목록 필터 → 랜덤 5곡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1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난이도 ★☆☆ — 처음 만들어보는 팀에게 추천!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0"/>
          <p:cNvSpPr/>
          <p:nvPr/>
        </p:nvSpPr>
        <p:spPr>
          <a:xfrm>
            <a:off x="4638757" y="2087538"/>
            <a:ext cx="4103100" cy="1929600"/>
          </a:xfrm>
          <a:prstGeom prst="roundRect">
            <a:avLst>
              <a:gd fmla="val 964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4762731" y="2227064"/>
            <a:ext cx="637800" cy="188700"/>
          </a:xfrm>
          <a:prstGeom prst="roundRect">
            <a:avLst>
              <a:gd fmla="val 7894" name="adj"/>
            </a:avLst>
          </a:prstGeom>
          <a:solidFill>
            <a:srgbClr val="101C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4837145" y="2264271"/>
            <a:ext cx="9462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아이디어 ⑧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0"/>
          <p:cNvSpPr/>
          <p:nvPr/>
        </p:nvSpPr>
        <p:spPr>
          <a:xfrm>
            <a:off x="4762731" y="2465189"/>
            <a:ext cx="38553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용돈 가계부 &amp; 소비 분석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4762731" y="2783012"/>
            <a:ext cx="3855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용돈 지출을 기록하면 "어디에 가장 많이 썼는지" 차트로 보여주는 앱. 월말에 "용돈이 왜 다 사라졌지?" 하는 학생에게 딱. 서버 필요: 아니오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0"/>
          <p:cNvSpPr/>
          <p:nvPr/>
        </p:nvSpPr>
        <p:spPr>
          <a:xfrm>
            <a:off x="4762731" y="3291557"/>
            <a:ext cx="38553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화면 수: 2개 (지출 입력 → 월간 리포트)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핵심 로직: 금액+카테고리 저장 → 카테고리별 합산 → 파이 차트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동기부여: "편의점 45%면 너무 많다..." 데이터로 보면 절약 동기 생김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7" name="Google Shape;32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9" y="0"/>
            <a:ext cx="342891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1"/>
          <p:cNvSpPr/>
          <p:nvPr/>
        </p:nvSpPr>
        <p:spPr>
          <a:xfrm>
            <a:off x="496119" y="796156"/>
            <a:ext cx="6378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1"/>
          <p:cNvSpPr/>
          <p:nvPr/>
        </p:nvSpPr>
        <p:spPr>
          <a:xfrm>
            <a:off x="570533" y="833363"/>
            <a:ext cx="9462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아이디어 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496119" y="1034281"/>
            <a:ext cx="47229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시간표 &amp; 준비물 알리미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496119" y="1607865"/>
            <a:ext cx="4722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1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줄 설명</a:t>
            </a: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"내일 뭐 가져가야 하지?" 시간표+준비물을 한눈에 보여주는 앱 | </a:t>
            </a:r>
            <a:r>
              <a:rPr b="1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 필요</a:t>
            </a: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MVP는 아니오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496119" y="2268290"/>
            <a:ext cx="22101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핵심 스펙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496119" y="2586112"/>
            <a:ext cx="22101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수: 1개 (시간표 + 준비물 체크리스트)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 로직: 오늘 요일 → 시간표 JSON 조회 → 과목별 준비물 매핑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1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난이도 ★☆☆ — 쉬움! 실용적이라 바로 쓸 수 있음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Char char="•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확장성: 변경 알림 → 반 전체 공유 → 학교 SaaS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3013551" y="2268290"/>
            <a:ext cx="22101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플레이 흐름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3013551" y="2586112"/>
            <a:ext cx="2210100" cy="11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Calibri"/>
              <a:buAutoNum type="arabicPeriod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앱 접속 → 자동으로 "내일" 시간표 표시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Calibri"/>
              <a:buAutoNum type="arabicPeriod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1교시: 체육 — 체육복, 실내화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Calibri"/>
              <a:buAutoNum type="arabicPeriod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2교시: 미술 — 물감, 붓, 스케치북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Calibri"/>
              <a:buAutoNum type="arabicPeriod"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하나씩 "챙겼다" 체크 → "다 챙겼어요!" 완료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1" name="Google Shape;34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9" y="0"/>
            <a:ext cx="342891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2"/>
          <p:cNvSpPr/>
          <p:nvPr/>
        </p:nvSpPr>
        <p:spPr>
          <a:xfrm>
            <a:off x="496119" y="358899"/>
            <a:ext cx="573900" cy="169800"/>
          </a:xfrm>
          <a:prstGeom prst="roundRect">
            <a:avLst>
              <a:gd fmla="val 7896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2"/>
          <p:cNvSpPr/>
          <p:nvPr/>
        </p:nvSpPr>
        <p:spPr>
          <a:xfrm>
            <a:off x="563092" y="392385"/>
            <a:ext cx="897300" cy="1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아이디어 ⑩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2"/>
          <p:cNvSpPr/>
          <p:nvPr/>
        </p:nvSpPr>
        <p:spPr>
          <a:xfrm>
            <a:off x="496119" y="568747"/>
            <a:ext cx="4722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00"/>
              <a:buFont typeface="Roboto Slab"/>
              <a:buNone/>
            </a:pPr>
            <a:r>
              <a:rPr b="0" i="0" lang="ko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환경/기후 데이터 대시보드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496119" y="1068288"/>
            <a:ext cx="47229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줄 설명</a:t>
            </a: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우리 동네 10년간 기온/미세먼지 변화를 차트로 보여주는 대시보드 | </a:t>
            </a:r>
            <a:r>
              <a:rPr b="1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 필요</a:t>
            </a: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아니오 (공공데이터 CSV 활용)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2"/>
          <p:cNvSpPr/>
          <p:nvPr/>
        </p:nvSpPr>
        <p:spPr>
          <a:xfrm>
            <a:off x="496119" y="1520651"/>
            <a:ext cx="4722900" cy="627600"/>
          </a:xfrm>
          <a:prstGeom prst="roundRect">
            <a:avLst>
              <a:gd fmla="val 266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2"/>
          <p:cNvSpPr/>
          <p:nvPr/>
        </p:nvSpPr>
        <p:spPr>
          <a:xfrm>
            <a:off x="607740" y="1632272"/>
            <a:ext cx="44994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607740" y="1866900"/>
            <a:ext cx="44994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1개 (필터 + 차트 + AI 코멘트)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2"/>
          <p:cNvSpPr/>
          <p:nvPr/>
        </p:nvSpPr>
        <p:spPr>
          <a:xfrm>
            <a:off x="496119" y="2248644"/>
            <a:ext cx="4722900" cy="627600"/>
          </a:xfrm>
          <a:prstGeom prst="roundRect">
            <a:avLst>
              <a:gd fmla="val 266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607740" y="2360265"/>
            <a:ext cx="44994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핵심 로직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2"/>
          <p:cNvSpPr/>
          <p:nvPr/>
        </p:nvSpPr>
        <p:spPr>
          <a:xfrm>
            <a:off x="607740" y="2594893"/>
            <a:ext cx="44994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CSV 파싱 → 지역/기간 필터 → 꺾은선 차트 → AI 해석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2"/>
          <p:cNvSpPr/>
          <p:nvPr/>
        </p:nvSpPr>
        <p:spPr>
          <a:xfrm>
            <a:off x="496119" y="2976637"/>
            <a:ext cx="4722900" cy="627600"/>
          </a:xfrm>
          <a:prstGeom prst="roundRect">
            <a:avLst>
              <a:gd fmla="val 266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2"/>
          <p:cNvSpPr/>
          <p:nvPr/>
        </p:nvSpPr>
        <p:spPr>
          <a:xfrm>
            <a:off x="607740" y="3088258"/>
            <a:ext cx="44994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실용성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607740" y="3322886"/>
            <a:ext cx="44994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수행평가 자료로 바로 활용 가능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496119" y="3704630"/>
            <a:ext cx="4722900" cy="627600"/>
          </a:xfrm>
          <a:prstGeom prst="roundRect">
            <a:avLst>
              <a:gd fmla="val 266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2"/>
          <p:cNvSpPr/>
          <p:nvPr/>
        </p:nvSpPr>
        <p:spPr>
          <a:xfrm>
            <a:off x="607740" y="3816251"/>
            <a:ext cx="44994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확장성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/>
          <p:cNvSpPr/>
          <p:nvPr/>
        </p:nvSpPr>
        <p:spPr>
          <a:xfrm>
            <a:off x="607740" y="4050878"/>
            <a:ext cx="4499400" cy="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교사 수업 자료 → 교육청 납품 → ESG 기업 대시보드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/>
          <p:cNvSpPr/>
          <p:nvPr/>
        </p:nvSpPr>
        <p:spPr>
          <a:xfrm>
            <a:off x="496119" y="4445198"/>
            <a:ext cx="47229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지역 선택 → 항목 선택 (기온/미세먼지/강수량) → 10년간 추이 차트 → 두 지역 비교 → AI 해석: </a:t>
            </a:r>
            <a:r>
              <a:rPr b="0" i="1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"서울 평균 기온 10년간 1.2도 상승"</a:t>
            </a: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리포트 다운로드 (발표용)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4" name="Google Shape;36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3"/>
          <p:cNvSpPr/>
          <p:nvPr/>
        </p:nvSpPr>
        <p:spPr>
          <a:xfrm>
            <a:off x="496119" y="2185690"/>
            <a:ext cx="4722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종합 비교표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496119" y="2759273"/>
            <a:ext cx="518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10가지 프로젝트 아이디어를 난이도, 바이럴 가능성, 실용성 기준으로 한눈에 비교합니다.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/>
          <p:nvPr/>
        </p:nvSpPr>
        <p:spPr>
          <a:xfrm>
            <a:off x="496119" y="580653"/>
            <a:ext cx="8151900" cy="3982200"/>
          </a:xfrm>
          <a:prstGeom prst="roundRect">
            <a:avLst>
              <a:gd fmla="val 467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73" name="Google Shape;373;p34"/>
          <p:cNvSpPr/>
          <p:nvPr/>
        </p:nvSpPr>
        <p:spPr>
          <a:xfrm>
            <a:off x="496119" y="94461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74" name="Google Shape;374;p34"/>
          <p:cNvSpPr/>
          <p:nvPr/>
        </p:nvSpPr>
        <p:spPr>
          <a:xfrm>
            <a:off x="496119" y="1306190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75" name="Google Shape;375;p34"/>
          <p:cNvSpPr/>
          <p:nvPr/>
        </p:nvSpPr>
        <p:spPr>
          <a:xfrm>
            <a:off x="496119" y="166776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76" name="Google Shape;376;p34"/>
          <p:cNvSpPr/>
          <p:nvPr/>
        </p:nvSpPr>
        <p:spPr>
          <a:xfrm>
            <a:off x="496119" y="2029346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77" name="Google Shape;377;p34"/>
          <p:cNvSpPr/>
          <p:nvPr/>
        </p:nvSpPr>
        <p:spPr>
          <a:xfrm>
            <a:off x="496119" y="2390924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78" name="Google Shape;378;p34"/>
          <p:cNvSpPr/>
          <p:nvPr/>
        </p:nvSpPr>
        <p:spPr>
          <a:xfrm>
            <a:off x="496119" y="275250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79" name="Google Shape;379;p34"/>
          <p:cNvSpPr/>
          <p:nvPr/>
        </p:nvSpPr>
        <p:spPr>
          <a:xfrm>
            <a:off x="496119" y="3114080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0" name="Google Shape;380;p34"/>
          <p:cNvSpPr/>
          <p:nvPr/>
        </p:nvSpPr>
        <p:spPr>
          <a:xfrm>
            <a:off x="496119" y="347565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1" name="Google Shape;381;p34"/>
          <p:cNvSpPr/>
          <p:nvPr/>
        </p:nvSpPr>
        <p:spPr>
          <a:xfrm>
            <a:off x="496119" y="3837236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2" name="Google Shape;382;p34"/>
          <p:cNvSpPr/>
          <p:nvPr/>
        </p:nvSpPr>
        <p:spPr>
          <a:xfrm>
            <a:off x="496119" y="4198813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3" name="Google Shape;383;p34"/>
          <p:cNvSpPr/>
          <p:nvPr/>
        </p:nvSpPr>
        <p:spPr>
          <a:xfrm>
            <a:off x="1315343" y="580653"/>
            <a:ext cx="7800" cy="3982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4" name="Google Shape;384;p34"/>
          <p:cNvSpPr/>
          <p:nvPr/>
        </p:nvSpPr>
        <p:spPr>
          <a:xfrm>
            <a:off x="2684859" y="580653"/>
            <a:ext cx="7800" cy="3982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5" name="Google Shape;385;p34"/>
          <p:cNvSpPr/>
          <p:nvPr/>
        </p:nvSpPr>
        <p:spPr>
          <a:xfrm>
            <a:off x="6200626" y="580653"/>
            <a:ext cx="7800" cy="3982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6" name="Google Shape;386;p34"/>
          <p:cNvSpPr/>
          <p:nvPr/>
        </p:nvSpPr>
        <p:spPr>
          <a:xfrm>
            <a:off x="7014790" y="580653"/>
            <a:ext cx="7800" cy="3982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7" name="Google Shape;387;p34"/>
          <p:cNvSpPr/>
          <p:nvPr/>
        </p:nvSpPr>
        <p:spPr>
          <a:xfrm>
            <a:off x="7828955" y="580653"/>
            <a:ext cx="7800" cy="39822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8" name="Google Shape;388;p34"/>
          <p:cNvSpPr/>
          <p:nvPr/>
        </p:nvSpPr>
        <p:spPr>
          <a:xfrm>
            <a:off x="501179" y="585415"/>
            <a:ext cx="8142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89" name="Google Shape;389;p34"/>
          <p:cNvSpPr/>
          <p:nvPr/>
        </p:nvSpPr>
        <p:spPr>
          <a:xfrm>
            <a:off x="625153" y="664592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1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4"/>
          <p:cNvSpPr/>
          <p:nvPr/>
        </p:nvSpPr>
        <p:spPr>
          <a:xfrm>
            <a:off x="1315343" y="585415"/>
            <a:ext cx="1369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91" name="Google Shape;391;p34"/>
          <p:cNvSpPr/>
          <p:nvPr/>
        </p:nvSpPr>
        <p:spPr>
          <a:xfrm>
            <a:off x="1441698" y="664592"/>
            <a:ext cx="157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1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프로젝트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4"/>
          <p:cNvSpPr/>
          <p:nvPr/>
        </p:nvSpPr>
        <p:spPr>
          <a:xfrm>
            <a:off x="2684859" y="585415"/>
            <a:ext cx="35157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93" name="Google Shape;393;p34"/>
          <p:cNvSpPr/>
          <p:nvPr/>
        </p:nvSpPr>
        <p:spPr>
          <a:xfrm>
            <a:off x="2811214" y="664592"/>
            <a:ext cx="3720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1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한 줄 설명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6200626" y="585415"/>
            <a:ext cx="8142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95" name="Google Shape;395;p34"/>
          <p:cNvSpPr/>
          <p:nvPr/>
        </p:nvSpPr>
        <p:spPr>
          <a:xfrm>
            <a:off x="6326981" y="664592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1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난이도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7014790" y="585415"/>
            <a:ext cx="8142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97" name="Google Shape;397;p34"/>
          <p:cNvSpPr/>
          <p:nvPr/>
        </p:nvSpPr>
        <p:spPr>
          <a:xfrm>
            <a:off x="7141146" y="664592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1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바이럴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7828955" y="585415"/>
            <a:ext cx="8142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99" name="Google Shape;399;p34"/>
          <p:cNvSpPr/>
          <p:nvPr/>
        </p:nvSpPr>
        <p:spPr>
          <a:xfrm>
            <a:off x="7955310" y="664592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14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실용성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625153" y="1026170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①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4"/>
          <p:cNvSpPr/>
          <p:nvPr/>
        </p:nvSpPr>
        <p:spPr>
          <a:xfrm>
            <a:off x="1441698" y="1026170"/>
            <a:ext cx="157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감정 방탈출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2811214" y="1026170"/>
            <a:ext cx="3720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감정 입력 → 스토리 분기 → 유형 결과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6326981" y="1026170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7141146" y="1026170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7955310" y="1026170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625153" y="1387748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②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1441698" y="1387748"/>
            <a:ext cx="157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설문 리서치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2811214" y="1387748"/>
            <a:ext cx="3720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설문 만들기 → 응답 → 차트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6326981" y="1387748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7141146" y="1387748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4"/>
          <p:cNvSpPr/>
          <p:nvPr/>
        </p:nvSpPr>
        <p:spPr>
          <a:xfrm>
            <a:off x="7955310" y="1387748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4"/>
          <p:cNvSpPr/>
          <p:nvPr/>
        </p:nvSpPr>
        <p:spPr>
          <a:xfrm>
            <a:off x="625153" y="1749326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③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4"/>
          <p:cNvSpPr/>
          <p:nvPr/>
        </p:nvSpPr>
        <p:spPr>
          <a:xfrm>
            <a:off x="1441698" y="1749326"/>
            <a:ext cx="157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취향 추천 테스트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4"/>
          <p:cNvSpPr/>
          <p:nvPr/>
        </p:nvSpPr>
        <p:spPr>
          <a:xfrm>
            <a:off x="2811214" y="1749326"/>
            <a:ext cx="3720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질문 5개 → 유형 → 추천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4"/>
          <p:cNvSpPr/>
          <p:nvPr/>
        </p:nvSpPr>
        <p:spPr>
          <a:xfrm>
            <a:off x="6326981" y="1749326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4"/>
          <p:cNvSpPr/>
          <p:nvPr/>
        </p:nvSpPr>
        <p:spPr>
          <a:xfrm>
            <a:off x="7141146" y="1749326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4"/>
          <p:cNvSpPr/>
          <p:nvPr/>
        </p:nvSpPr>
        <p:spPr>
          <a:xfrm>
            <a:off x="7955310" y="1749326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4"/>
          <p:cNvSpPr/>
          <p:nvPr/>
        </p:nvSpPr>
        <p:spPr>
          <a:xfrm>
            <a:off x="625153" y="2110904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④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1441698" y="2110904"/>
            <a:ext cx="157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급식 별점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4"/>
          <p:cNvSpPr/>
          <p:nvPr/>
        </p:nvSpPr>
        <p:spPr>
          <a:xfrm>
            <a:off x="2811214" y="2110904"/>
            <a:ext cx="3720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별점 + 리뷰 → 랭킹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6326981" y="2110904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4"/>
          <p:cNvSpPr/>
          <p:nvPr/>
        </p:nvSpPr>
        <p:spPr>
          <a:xfrm>
            <a:off x="7141146" y="2110904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4"/>
          <p:cNvSpPr/>
          <p:nvPr/>
        </p:nvSpPr>
        <p:spPr>
          <a:xfrm>
            <a:off x="7955310" y="2110904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4"/>
          <p:cNvSpPr/>
          <p:nvPr/>
        </p:nvSpPr>
        <p:spPr>
          <a:xfrm>
            <a:off x="625153" y="2472482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⑤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4"/>
          <p:cNvSpPr/>
          <p:nvPr/>
        </p:nvSpPr>
        <p:spPr>
          <a:xfrm>
            <a:off x="1441698" y="2472482"/>
            <a:ext cx="157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공부 타이머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4"/>
          <p:cNvSpPr/>
          <p:nvPr/>
        </p:nvSpPr>
        <p:spPr>
          <a:xfrm>
            <a:off x="2811214" y="2472482"/>
            <a:ext cx="3720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뽀모도로 → 주간 차트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4"/>
          <p:cNvSpPr/>
          <p:nvPr/>
        </p:nvSpPr>
        <p:spPr>
          <a:xfrm>
            <a:off x="6326981" y="2472482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4"/>
          <p:cNvSpPr/>
          <p:nvPr/>
        </p:nvSpPr>
        <p:spPr>
          <a:xfrm>
            <a:off x="7141146" y="2472482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7955310" y="2472482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625153" y="2834060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⑥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1441698" y="2834060"/>
            <a:ext cx="157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과목 튜터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4"/>
          <p:cNvSpPr/>
          <p:nvPr/>
        </p:nvSpPr>
        <p:spPr>
          <a:xfrm>
            <a:off x="2811214" y="2834060"/>
            <a:ext cx="3720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질문 → AI 단계별 풀이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6326981" y="2834060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4"/>
          <p:cNvSpPr/>
          <p:nvPr/>
        </p:nvSpPr>
        <p:spPr>
          <a:xfrm>
            <a:off x="7141146" y="2834060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4"/>
          <p:cNvSpPr/>
          <p:nvPr/>
        </p:nvSpPr>
        <p:spPr>
          <a:xfrm>
            <a:off x="7955310" y="2834060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4"/>
          <p:cNvSpPr/>
          <p:nvPr/>
        </p:nvSpPr>
        <p:spPr>
          <a:xfrm>
            <a:off x="625153" y="3195637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⑦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4"/>
          <p:cNvSpPr/>
          <p:nvPr/>
        </p:nvSpPr>
        <p:spPr>
          <a:xfrm>
            <a:off x="1441698" y="3195637"/>
            <a:ext cx="157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플레이리스트 추천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4"/>
          <p:cNvSpPr/>
          <p:nvPr/>
        </p:nvSpPr>
        <p:spPr>
          <a:xfrm>
            <a:off x="2811214" y="3195637"/>
            <a:ext cx="3720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무드 → 노래 5곡 추천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6326981" y="3195637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★☆☆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7141146" y="3195637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7955310" y="3195637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625153" y="3557215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⑧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1441698" y="3557215"/>
            <a:ext cx="157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용돈 가계부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2811214" y="3557215"/>
            <a:ext cx="3720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지출 기록 → 카테고리 차트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6326981" y="3557215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7141146" y="3557215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★☆☆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4"/>
          <p:cNvSpPr/>
          <p:nvPr/>
        </p:nvSpPr>
        <p:spPr>
          <a:xfrm>
            <a:off x="7955310" y="3557215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4"/>
          <p:cNvSpPr/>
          <p:nvPr/>
        </p:nvSpPr>
        <p:spPr>
          <a:xfrm>
            <a:off x="625153" y="3918793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⑨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1441698" y="3918793"/>
            <a:ext cx="157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시간표 알리미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2811214" y="3918793"/>
            <a:ext cx="3720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내일 시간표 + 준비물 체크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6326981" y="3918793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★☆☆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4"/>
          <p:cNvSpPr/>
          <p:nvPr/>
        </p:nvSpPr>
        <p:spPr>
          <a:xfrm>
            <a:off x="7141146" y="3918793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4"/>
          <p:cNvSpPr/>
          <p:nvPr/>
        </p:nvSpPr>
        <p:spPr>
          <a:xfrm>
            <a:off x="7955310" y="3918793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4"/>
          <p:cNvSpPr/>
          <p:nvPr/>
        </p:nvSpPr>
        <p:spPr>
          <a:xfrm>
            <a:off x="625153" y="4280371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⑩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4"/>
          <p:cNvSpPr/>
          <p:nvPr/>
        </p:nvSpPr>
        <p:spPr>
          <a:xfrm>
            <a:off x="1441698" y="4280371"/>
            <a:ext cx="1574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환경 대시보드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4"/>
          <p:cNvSpPr/>
          <p:nvPr/>
        </p:nvSpPr>
        <p:spPr>
          <a:xfrm>
            <a:off x="2811214" y="4280371"/>
            <a:ext cx="3720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10년 기후 데이터 시각화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4"/>
          <p:cNvSpPr/>
          <p:nvPr/>
        </p:nvSpPr>
        <p:spPr>
          <a:xfrm>
            <a:off x="6326981" y="4280371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4"/>
          <p:cNvSpPr/>
          <p:nvPr/>
        </p:nvSpPr>
        <p:spPr>
          <a:xfrm>
            <a:off x="7141146" y="4280371"/>
            <a:ext cx="1018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★☆☆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4"/>
          <p:cNvSpPr/>
          <p:nvPr/>
        </p:nvSpPr>
        <p:spPr>
          <a:xfrm>
            <a:off x="7955310" y="4280371"/>
            <a:ext cx="1020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★★★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5" name="Google Shape;46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9" y="0"/>
            <a:ext cx="342891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5"/>
          <p:cNvSpPr/>
          <p:nvPr/>
        </p:nvSpPr>
        <p:spPr>
          <a:xfrm>
            <a:off x="496119" y="686916"/>
            <a:ext cx="47229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지금부터 팀 토론 시작!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5"/>
          <p:cNvSpPr/>
          <p:nvPr/>
        </p:nvSpPr>
        <p:spPr>
          <a:xfrm>
            <a:off x="496119" y="1260500"/>
            <a:ext cx="5179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10가지 아이디어를 봤으니, 이제 </a:t>
            </a:r>
            <a:r>
              <a:rPr b="1" i="0" lang="ko" sz="100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팀이 직접 골라야 할 시간</a:t>
            </a: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5"/>
          <p:cNvSpPr/>
          <p:nvPr/>
        </p:nvSpPr>
        <p:spPr>
          <a:xfrm>
            <a:off x="496119" y="1598489"/>
            <a:ext cx="279000" cy="2790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5"/>
          <p:cNvSpPr/>
          <p:nvPr/>
        </p:nvSpPr>
        <p:spPr>
          <a:xfrm>
            <a:off x="542628" y="1621743"/>
            <a:ext cx="186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5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5"/>
          <p:cNvSpPr/>
          <p:nvPr/>
        </p:nvSpPr>
        <p:spPr>
          <a:xfrm>
            <a:off x="899146" y="1641128"/>
            <a:ext cx="4319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아이디어 고르기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5"/>
          <p:cNvSpPr/>
          <p:nvPr/>
        </p:nvSpPr>
        <p:spPr>
          <a:xfrm>
            <a:off x="899146" y="1909391"/>
            <a:ext cx="4319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10개 중 하나, 또는 합치거나 새로 만들어도 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5"/>
          <p:cNvSpPr/>
          <p:nvPr/>
        </p:nvSpPr>
        <p:spPr>
          <a:xfrm>
            <a:off x="496119" y="2355875"/>
            <a:ext cx="279000" cy="2790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5"/>
          <p:cNvSpPr/>
          <p:nvPr/>
        </p:nvSpPr>
        <p:spPr>
          <a:xfrm>
            <a:off x="542628" y="2379129"/>
            <a:ext cx="186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5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5"/>
          <p:cNvSpPr/>
          <p:nvPr/>
        </p:nvSpPr>
        <p:spPr>
          <a:xfrm>
            <a:off x="899146" y="2398514"/>
            <a:ext cx="4319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이유 정하기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5"/>
          <p:cNvSpPr/>
          <p:nvPr/>
        </p:nvSpPr>
        <p:spPr>
          <a:xfrm>
            <a:off x="899146" y="2666777"/>
            <a:ext cx="4319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"우리 팀이 왜 이걸 만드는가" — 한 줄로 정리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5"/>
          <p:cNvSpPr/>
          <p:nvPr/>
        </p:nvSpPr>
        <p:spPr>
          <a:xfrm>
            <a:off x="496119" y="3113261"/>
            <a:ext cx="279000" cy="2790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5"/>
          <p:cNvSpPr/>
          <p:nvPr/>
        </p:nvSpPr>
        <p:spPr>
          <a:xfrm>
            <a:off x="542628" y="3136516"/>
            <a:ext cx="186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500"/>
              <a:buFont typeface="Roboto Slab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5"/>
          <p:cNvSpPr/>
          <p:nvPr/>
        </p:nvSpPr>
        <p:spPr>
          <a:xfrm>
            <a:off x="899146" y="3155900"/>
            <a:ext cx="43197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산출물 작성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5"/>
          <p:cNvSpPr/>
          <p:nvPr/>
        </p:nvSpPr>
        <p:spPr>
          <a:xfrm>
            <a:off x="899146" y="3424163"/>
            <a:ext cx="43197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줄 기획서 + 역할 분담표 + 화면 흐름도 제출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5"/>
          <p:cNvSpPr/>
          <p:nvPr/>
        </p:nvSpPr>
        <p:spPr>
          <a:xfrm>
            <a:off x="496119" y="3762152"/>
            <a:ext cx="4722900" cy="694500"/>
          </a:xfrm>
          <a:prstGeom prst="roundRect">
            <a:avLst>
              <a:gd fmla="val 2679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1" name="Google Shape;48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3" y="394193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5"/>
          <p:cNvSpPr/>
          <p:nvPr/>
        </p:nvSpPr>
        <p:spPr>
          <a:xfrm>
            <a:off x="899072" y="3917082"/>
            <a:ext cx="41958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Roboto"/>
              <a:buNone/>
            </a:pPr>
            <a:r>
              <a:rPr b="0" i="0" lang="ko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선생님이 정해주는 게 아니다. </a:t>
            </a:r>
            <a:r>
              <a:rPr b="1" i="0" lang="ko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팀원이 직접 토론해서 고른다.</a:t>
            </a:r>
            <a:r>
              <a:rPr b="0" i="0" lang="ko" sz="10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이것이 이 수업의 핵심이다.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8" name="Google Shape;48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1" cy="5144616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6"/>
          <p:cNvSpPr/>
          <p:nvPr/>
        </p:nvSpPr>
        <p:spPr>
          <a:xfrm>
            <a:off x="3925119" y="341114"/>
            <a:ext cx="4722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850"/>
              <a:buFont typeface="Roboto Slab"/>
              <a:buNone/>
            </a:pPr>
            <a:r>
              <a:rPr b="0" i="0" lang="ko" sz="18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"우리 팀은 어떤 걸 고를까?" 선택 가이드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0" name="Google Shape;49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816099"/>
            <a:ext cx="4722761" cy="909563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6"/>
          <p:cNvSpPr/>
          <p:nvPr/>
        </p:nvSpPr>
        <p:spPr>
          <a:xfrm>
            <a:off x="4116660" y="950491"/>
            <a:ext cx="43968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" sz="16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🌱</a:t>
            </a:r>
            <a:r>
              <a:rPr b="0" i="0" lang="ko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처음 만들어보는 팀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6"/>
          <p:cNvSpPr/>
          <p:nvPr/>
        </p:nvSpPr>
        <p:spPr>
          <a:xfrm>
            <a:off x="4116660" y="1212800"/>
            <a:ext cx="43968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추천: </a:t>
            </a:r>
            <a:r>
              <a:rPr b="1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⑦ 플레이리스트 → ⑨ 시간표 → ③ 취향 테스트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화면이 단순하고, 로직이 직관적이며, 데이터 구조가 간단하다.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3" name="Google Shape;49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842046"/>
            <a:ext cx="4722761" cy="909563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6"/>
          <p:cNvSpPr/>
          <p:nvPr/>
        </p:nvSpPr>
        <p:spPr>
          <a:xfrm>
            <a:off x="4116660" y="1976438"/>
            <a:ext cx="43968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" sz="16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🔥</a:t>
            </a:r>
            <a:r>
              <a:rPr b="0" i="0" lang="ko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재미있는 거 하고 싶어!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6"/>
          <p:cNvSpPr/>
          <p:nvPr/>
        </p:nvSpPr>
        <p:spPr>
          <a:xfrm>
            <a:off x="4116660" y="2238747"/>
            <a:ext cx="43968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추천: </a:t>
            </a:r>
            <a:r>
              <a:rPr b="1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① 방탈출 → ③ 취향 테스트 → ④ 급식 별점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결과를 캡처해서 공유하고 싶어지는 구조.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6" name="Google Shape;49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867992"/>
            <a:ext cx="4722761" cy="909563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6"/>
          <p:cNvSpPr/>
          <p:nvPr/>
        </p:nvSpPr>
        <p:spPr>
          <a:xfrm>
            <a:off x="4116660" y="3002384"/>
            <a:ext cx="43968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" sz="16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🛠</a:t>
            </a:r>
            <a:r>
              <a:rPr b="0" i="0" lang="ko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진짜 쓸모 있는 걸 만들고 싶어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6"/>
          <p:cNvSpPr/>
          <p:nvPr/>
        </p:nvSpPr>
        <p:spPr>
          <a:xfrm>
            <a:off x="4116660" y="3264694"/>
            <a:ext cx="43968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추천: </a:t>
            </a:r>
            <a:r>
              <a:rPr b="1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⑤ 공부 타이머 → ⑧ 용돈 가계부 → ⑨ 시간표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매일 실제로 쓸 수 있는 도구.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9" name="Google Shape;49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3893939"/>
            <a:ext cx="4722761" cy="909563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6"/>
          <p:cNvSpPr/>
          <p:nvPr/>
        </p:nvSpPr>
        <p:spPr>
          <a:xfrm>
            <a:off x="4116660" y="4028331"/>
            <a:ext cx="4396800" cy="1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" sz="16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🚀</a:t>
            </a:r>
            <a:r>
              <a:rPr b="0" i="0" lang="ko" sz="16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좀 도전적인 거!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6"/>
          <p:cNvSpPr/>
          <p:nvPr/>
        </p:nvSpPr>
        <p:spPr>
          <a:xfrm>
            <a:off x="4116660" y="4290640"/>
            <a:ext cx="43968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추천: </a:t>
            </a:r>
            <a:r>
              <a:rPr b="1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⑥ AI 튜터 → ② 설문 리서치 → ⑩ 환경 대시보드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API 연결, 데이터 분석 등 추가 기술 경험 가능.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7"/>
          <p:cNvSpPr/>
          <p:nvPr/>
        </p:nvSpPr>
        <p:spPr>
          <a:xfrm>
            <a:off x="496119" y="376312"/>
            <a:ext cx="81519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50"/>
              <a:buFont typeface="Roboto Slab"/>
              <a:buNone/>
            </a:pPr>
            <a:r>
              <a:rPr b="0" i="0" lang="ko" sz="2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10개에 없는 아이디어를 만들고 싶다면?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7"/>
          <p:cNvSpPr/>
          <p:nvPr/>
        </p:nvSpPr>
        <p:spPr>
          <a:xfrm>
            <a:off x="496119" y="984572"/>
            <a:ext cx="86091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" sz="1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Two-Word Test</a:t>
            </a:r>
            <a:r>
              <a:rPr b="0" i="0" lang="ko" sz="1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를 써봐.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9" name="Google Shape;50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304702"/>
            <a:ext cx="2717229" cy="4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37"/>
          <p:cNvSpPr/>
          <p:nvPr/>
        </p:nvSpPr>
        <p:spPr>
          <a:xfrm>
            <a:off x="616223" y="1901726"/>
            <a:ext cx="24771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" sz="17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1단계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7"/>
          <p:cNvSpPr/>
          <p:nvPr/>
        </p:nvSpPr>
        <p:spPr>
          <a:xfrm>
            <a:off x="616223" y="2159273"/>
            <a:ext cx="24771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"내가 좋아하는 것" 한 단어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예: </a:t>
            </a:r>
            <a:r>
              <a:rPr b="1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축구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2" name="Google Shape;5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3348" y="1304702"/>
            <a:ext cx="2717229" cy="4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7"/>
          <p:cNvSpPr/>
          <p:nvPr/>
        </p:nvSpPr>
        <p:spPr>
          <a:xfrm>
            <a:off x="3333452" y="1901726"/>
            <a:ext cx="24771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" sz="17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2단계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7"/>
          <p:cNvSpPr/>
          <p:nvPr/>
        </p:nvSpPr>
        <p:spPr>
          <a:xfrm>
            <a:off x="3333452" y="2159273"/>
            <a:ext cx="24771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"해결하고 싶은 문제" 한 단어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예: </a:t>
            </a:r>
            <a:r>
              <a:rPr b="1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전술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5" name="Google Shape;51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0578" y="1304702"/>
            <a:ext cx="2717229" cy="48064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7"/>
          <p:cNvSpPr/>
          <p:nvPr/>
        </p:nvSpPr>
        <p:spPr>
          <a:xfrm>
            <a:off x="6050682" y="1901726"/>
            <a:ext cx="24771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" sz="17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결합!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7"/>
          <p:cNvSpPr/>
          <p:nvPr/>
        </p:nvSpPr>
        <p:spPr>
          <a:xfrm>
            <a:off x="6050682" y="2159273"/>
            <a:ext cx="24771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두 단어를 합치면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"축구 전술"</a:t>
            </a: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프로젝트 아이디어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7"/>
          <p:cNvSpPr/>
          <p:nvPr/>
        </p:nvSpPr>
        <p:spPr>
          <a:xfrm>
            <a:off x="496119" y="2788741"/>
            <a:ext cx="8151900" cy="1377300"/>
          </a:xfrm>
          <a:prstGeom prst="roundRect">
            <a:avLst>
              <a:gd fmla="val 1309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19" name="Google Shape;519;p37"/>
          <p:cNvSpPr/>
          <p:nvPr/>
        </p:nvSpPr>
        <p:spPr>
          <a:xfrm>
            <a:off x="496119" y="3134246"/>
            <a:ext cx="81519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20" name="Google Shape;520;p37"/>
          <p:cNvSpPr/>
          <p:nvPr/>
        </p:nvSpPr>
        <p:spPr>
          <a:xfrm>
            <a:off x="496119" y="3477369"/>
            <a:ext cx="81519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21" name="Google Shape;521;p37"/>
          <p:cNvSpPr/>
          <p:nvPr/>
        </p:nvSpPr>
        <p:spPr>
          <a:xfrm>
            <a:off x="496119" y="3820492"/>
            <a:ext cx="8151900" cy="75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22" name="Google Shape;522;p37"/>
          <p:cNvSpPr/>
          <p:nvPr/>
        </p:nvSpPr>
        <p:spPr>
          <a:xfrm>
            <a:off x="501774" y="2793504"/>
            <a:ext cx="2713500" cy="34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23" name="Google Shape;523;p37"/>
          <p:cNvSpPr/>
          <p:nvPr/>
        </p:nvSpPr>
        <p:spPr>
          <a:xfrm>
            <a:off x="621878" y="2868067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Roboto"/>
              <a:buNone/>
            </a:pPr>
            <a:r>
              <a:rPr b="1" i="0" lang="ko" sz="15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좋아하는 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7"/>
          <p:cNvSpPr/>
          <p:nvPr/>
        </p:nvSpPr>
        <p:spPr>
          <a:xfrm>
            <a:off x="3215283" y="2793504"/>
            <a:ext cx="2713500" cy="34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25" name="Google Shape;525;p37"/>
          <p:cNvSpPr/>
          <p:nvPr/>
        </p:nvSpPr>
        <p:spPr>
          <a:xfrm>
            <a:off x="3335387" y="2868067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Roboto"/>
              <a:buNone/>
            </a:pPr>
            <a:r>
              <a:rPr b="1" i="0" lang="ko" sz="15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문제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7"/>
          <p:cNvSpPr/>
          <p:nvPr/>
        </p:nvSpPr>
        <p:spPr>
          <a:xfrm>
            <a:off x="5928792" y="2793504"/>
            <a:ext cx="2713500" cy="340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527" name="Google Shape;527;p37"/>
          <p:cNvSpPr/>
          <p:nvPr/>
        </p:nvSpPr>
        <p:spPr>
          <a:xfrm>
            <a:off x="6048896" y="2868067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00"/>
              <a:buFont typeface="Roboto"/>
              <a:buNone/>
            </a:pPr>
            <a:r>
              <a:rPr b="1" i="0" lang="ko" sz="1500" u="none" cap="none" strike="noStrike">
                <a:solidFill>
                  <a:srgbClr val="272525"/>
                </a:solidFill>
                <a:latin typeface="Roboto"/>
                <a:ea typeface="Roboto"/>
                <a:cs typeface="Roboto"/>
                <a:sym typeface="Roboto"/>
              </a:rPr>
              <a:t>프로젝트 아이디어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7"/>
          <p:cNvSpPr/>
          <p:nvPr/>
        </p:nvSpPr>
        <p:spPr>
          <a:xfrm>
            <a:off x="621878" y="3211190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7"/>
          <p:cNvSpPr/>
          <p:nvPr/>
        </p:nvSpPr>
        <p:spPr>
          <a:xfrm>
            <a:off x="3335387" y="3211190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캐릭터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7"/>
          <p:cNvSpPr/>
          <p:nvPr/>
        </p:nvSpPr>
        <p:spPr>
          <a:xfrm>
            <a:off x="6048896" y="3211190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캐릭터 디자인 생성기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7"/>
          <p:cNvSpPr/>
          <p:nvPr/>
        </p:nvSpPr>
        <p:spPr>
          <a:xfrm>
            <a:off x="621878" y="3554313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요리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7"/>
          <p:cNvSpPr/>
          <p:nvPr/>
        </p:nvSpPr>
        <p:spPr>
          <a:xfrm>
            <a:off x="3335387" y="3554313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레시피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7"/>
          <p:cNvSpPr/>
          <p:nvPr/>
        </p:nvSpPr>
        <p:spPr>
          <a:xfrm>
            <a:off x="6048896" y="3554313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냉장고 재료 기반 추천 앱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7"/>
          <p:cNvSpPr/>
          <p:nvPr/>
        </p:nvSpPr>
        <p:spPr>
          <a:xfrm>
            <a:off x="621878" y="3897437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게임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7"/>
          <p:cNvSpPr/>
          <p:nvPr/>
        </p:nvSpPr>
        <p:spPr>
          <a:xfrm>
            <a:off x="3335387" y="3897437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밸런스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7"/>
          <p:cNvSpPr/>
          <p:nvPr/>
        </p:nvSpPr>
        <p:spPr>
          <a:xfrm>
            <a:off x="6048896" y="3897437"/>
            <a:ext cx="293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게임 캐릭터 능력치 계산기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7"/>
          <p:cNvSpPr/>
          <p:nvPr/>
        </p:nvSpPr>
        <p:spPr>
          <a:xfrm>
            <a:off x="496119" y="4296891"/>
            <a:ext cx="8151900" cy="470400"/>
          </a:xfrm>
          <a:prstGeom prst="roundRect">
            <a:avLst>
              <a:gd fmla="val 383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8" name="Google Shape;53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223" y="4465662"/>
            <a:ext cx="150168" cy="120104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7"/>
          <p:cNvSpPr/>
          <p:nvPr/>
        </p:nvSpPr>
        <p:spPr>
          <a:xfrm>
            <a:off x="886495" y="4443264"/>
            <a:ext cx="80985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1" i="0" lang="ko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규칙:</a:t>
            </a:r>
            <a:r>
              <a:rPr b="1" i="0" lang="ko" sz="16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Python + Streamlit</a:t>
            </a:r>
            <a:r>
              <a:rPr b="0" i="0" lang="ko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으로 만들 수 있어야 한다. 잘 모르겠으면 AI한테 물어봐: "이 아이디어를 Streamlit으로 만들 수 있어?"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5" name="Google Shape;54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8"/>
          <p:cNvSpPr/>
          <p:nvPr/>
        </p:nvSpPr>
        <p:spPr>
          <a:xfrm>
            <a:off x="3925119" y="1967433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8"/>
          <p:cNvSpPr/>
          <p:nvPr/>
        </p:nvSpPr>
        <p:spPr>
          <a:xfrm>
            <a:off x="3999533" y="2004640"/>
            <a:ext cx="772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8"/>
          <p:cNvSpPr/>
          <p:nvPr/>
        </p:nvSpPr>
        <p:spPr>
          <a:xfrm>
            <a:off x="3925119" y="2205558"/>
            <a:ext cx="4722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팀 토론 — 프로젝트를 정하자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8"/>
          <p:cNvSpPr/>
          <p:nvPr/>
        </p:nvSpPr>
        <p:spPr>
          <a:xfrm>
            <a:off x="3925119" y="2779142"/>
            <a:ext cx="4722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지금부터 팀이 함께 프로젝트를 선택합니다. 토론을 통해 모두가 납득할 수 있는 하나의 아이디어를 결정합니다.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/>
          <p:nvPr/>
        </p:nvSpPr>
        <p:spPr>
          <a:xfrm>
            <a:off x="496119" y="381000"/>
            <a:ext cx="81519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팀 구성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9"/>
          <p:cNvSpPr/>
          <p:nvPr/>
        </p:nvSpPr>
        <p:spPr>
          <a:xfrm>
            <a:off x="496119" y="942752"/>
            <a:ext cx="8151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00"/>
              <a:buFont typeface="Roboto Slab"/>
              <a:buNone/>
            </a:pPr>
            <a:r>
              <a:rPr b="0" i="0" lang="ko" sz="3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5명 = 1팀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9"/>
          <p:cNvSpPr/>
          <p:nvPr/>
        </p:nvSpPr>
        <p:spPr>
          <a:xfrm>
            <a:off x="496119" y="1649537"/>
            <a:ext cx="2637000" cy="1187100"/>
          </a:xfrm>
          <a:prstGeom prst="roundRect">
            <a:avLst>
              <a:gd fmla="val 154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9"/>
          <p:cNvSpPr/>
          <p:nvPr/>
        </p:nvSpPr>
        <p:spPr>
          <a:xfrm>
            <a:off x="618158" y="1771576"/>
            <a:ext cx="366300" cy="3663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9" name="Google Shape;55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840" y="1872258"/>
            <a:ext cx="164827" cy="164827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39"/>
          <p:cNvSpPr/>
          <p:nvPr/>
        </p:nvSpPr>
        <p:spPr>
          <a:xfrm>
            <a:off x="618158" y="2258020"/>
            <a:ext cx="2393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PM (진행)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9"/>
          <p:cNvSpPr/>
          <p:nvPr/>
        </p:nvSpPr>
        <p:spPr>
          <a:xfrm>
            <a:off x="618158" y="2520851"/>
            <a:ext cx="2393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토론 진행, 시간 관리, 의견 조율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9"/>
          <p:cNvSpPr/>
          <p:nvPr/>
        </p:nvSpPr>
        <p:spPr>
          <a:xfrm>
            <a:off x="3253383" y="1649537"/>
            <a:ext cx="2637300" cy="1187100"/>
          </a:xfrm>
          <a:prstGeom prst="roundRect">
            <a:avLst>
              <a:gd fmla="val 154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9"/>
          <p:cNvSpPr/>
          <p:nvPr/>
        </p:nvSpPr>
        <p:spPr>
          <a:xfrm>
            <a:off x="3375422" y="1771576"/>
            <a:ext cx="366300" cy="3663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4" name="Google Shape;56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6104" y="1872258"/>
            <a:ext cx="164827" cy="164827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9"/>
          <p:cNvSpPr/>
          <p:nvPr/>
        </p:nvSpPr>
        <p:spPr>
          <a:xfrm>
            <a:off x="3375422" y="2258020"/>
            <a:ext cx="2393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기획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9"/>
          <p:cNvSpPr/>
          <p:nvPr/>
        </p:nvSpPr>
        <p:spPr>
          <a:xfrm>
            <a:off x="3375422" y="2520851"/>
            <a:ext cx="2393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아이디어 구체화, 한 줄 기획서 작성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9"/>
          <p:cNvSpPr/>
          <p:nvPr/>
        </p:nvSpPr>
        <p:spPr>
          <a:xfrm>
            <a:off x="6010721" y="1649537"/>
            <a:ext cx="2637300" cy="1187100"/>
          </a:xfrm>
          <a:prstGeom prst="roundRect">
            <a:avLst>
              <a:gd fmla="val 154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9"/>
          <p:cNvSpPr/>
          <p:nvPr/>
        </p:nvSpPr>
        <p:spPr>
          <a:xfrm>
            <a:off x="6132761" y="1771576"/>
            <a:ext cx="366300" cy="3663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9" name="Google Shape;569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3443" y="1872258"/>
            <a:ext cx="164827" cy="164827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9"/>
          <p:cNvSpPr/>
          <p:nvPr/>
        </p:nvSpPr>
        <p:spPr>
          <a:xfrm>
            <a:off x="6132761" y="2258020"/>
            <a:ext cx="2393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담당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9"/>
          <p:cNvSpPr/>
          <p:nvPr/>
        </p:nvSpPr>
        <p:spPr>
          <a:xfrm>
            <a:off x="6132761" y="2520851"/>
            <a:ext cx="2393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구성 스케치, UI 아이디어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9"/>
          <p:cNvSpPr/>
          <p:nvPr/>
        </p:nvSpPr>
        <p:spPr>
          <a:xfrm>
            <a:off x="496119" y="2956917"/>
            <a:ext cx="4015800" cy="1187100"/>
          </a:xfrm>
          <a:prstGeom prst="roundRect">
            <a:avLst>
              <a:gd fmla="val 154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9"/>
          <p:cNvSpPr/>
          <p:nvPr/>
        </p:nvSpPr>
        <p:spPr>
          <a:xfrm>
            <a:off x="618158" y="3078956"/>
            <a:ext cx="366300" cy="3663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4" name="Google Shape;574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840" y="3179638"/>
            <a:ext cx="164827" cy="164827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39"/>
          <p:cNvSpPr/>
          <p:nvPr/>
        </p:nvSpPr>
        <p:spPr>
          <a:xfrm>
            <a:off x="618158" y="3565401"/>
            <a:ext cx="37716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데이터 담당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9"/>
          <p:cNvSpPr/>
          <p:nvPr/>
        </p:nvSpPr>
        <p:spPr>
          <a:xfrm>
            <a:off x="618158" y="3828231"/>
            <a:ext cx="3771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어떤 데이터를 저장하고 보여줄지 정리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9"/>
          <p:cNvSpPr/>
          <p:nvPr/>
        </p:nvSpPr>
        <p:spPr>
          <a:xfrm>
            <a:off x="4632052" y="2956917"/>
            <a:ext cx="4015800" cy="1187100"/>
          </a:xfrm>
          <a:prstGeom prst="roundRect">
            <a:avLst>
              <a:gd fmla="val 154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39"/>
          <p:cNvSpPr/>
          <p:nvPr/>
        </p:nvSpPr>
        <p:spPr>
          <a:xfrm>
            <a:off x="4754091" y="3078956"/>
            <a:ext cx="366300" cy="366300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9" name="Google Shape;579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4773" y="3179638"/>
            <a:ext cx="164827" cy="164827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39"/>
          <p:cNvSpPr/>
          <p:nvPr/>
        </p:nvSpPr>
        <p:spPr>
          <a:xfrm>
            <a:off x="4754091" y="3565401"/>
            <a:ext cx="37719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발표 담당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9"/>
          <p:cNvSpPr/>
          <p:nvPr/>
        </p:nvSpPr>
        <p:spPr>
          <a:xfrm>
            <a:off x="4754091" y="3828231"/>
            <a:ext cx="3771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 수업 산출물 기록, 최종 발표 준비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9"/>
          <p:cNvSpPr/>
          <p:nvPr/>
        </p:nvSpPr>
        <p:spPr>
          <a:xfrm>
            <a:off x="496119" y="4279329"/>
            <a:ext cx="8151900" cy="483300"/>
          </a:xfrm>
          <a:prstGeom prst="roundRect">
            <a:avLst>
              <a:gd fmla="val 3791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3" name="Google Shape;583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8158" y="4453682"/>
            <a:ext cx="152623" cy="12203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39"/>
          <p:cNvSpPr/>
          <p:nvPr/>
        </p:nvSpPr>
        <p:spPr>
          <a:xfrm>
            <a:off x="892820" y="4430018"/>
            <a:ext cx="8090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역할은 </a:t>
            </a:r>
            <a:r>
              <a:rPr b="1" i="0" lang="ko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책임 영역</a:t>
            </a:r>
            <a:r>
              <a:rPr b="0" i="0" lang="ko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이지, 코딩 면제가 아님. </a:t>
            </a:r>
            <a:r>
              <a:rPr b="1" i="0" lang="ko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바이브 코딩은 전원이 직접 한다.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0" name="Google Shape;59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0"/>
          <p:cNvSpPr/>
          <p:nvPr/>
        </p:nvSpPr>
        <p:spPr>
          <a:xfrm>
            <a:off x="3925119" y="1967433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0"/>
          <p:cNvSpPr/>
          <p:nvPr/>
        </p:nvSpPr>
        <p:spPr>
          <a:xfrm>
            <a:off x="3999533" y="2004640"/>
            <a:ext cx="772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0"/>
          <p:cNvSpPr/>
          <p:nvPr/>
        </p:nvSpPr>
        <p:spPr>
          <a:xfrm>
            <a:off x="3925119" y="2205558"/>
            <a:ext cx="4722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한 줄 기획서 &amp; 역할 분담 작성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0"/>
          <p:cNvSpPr/>
          <p:nvPr/>
        </p:nvSpPr>
        <p:spPr>
          <a:xfrm>
            <a:off x="3925119" y="2779142"/>
            <a:ext cx="4722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프로젝트를 정했다면, 이제 팀의 방향을 하나의 문장으로 정리합니다. 한 줄 기획서는 프로젝트 전체의 나침반이 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1"/>
          <p:cNvSpPr/>
          <p:nvPr/>
        </p:nvSpPr>
        <p:spPr>
          <a:xfrm>
            <a:off x="496119" y="968499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한 줄 기획서 양식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1" name="Google Shape;60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604070"/>
            <a:ext cx="4013896" cy="74324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1"/>
          <p:cNvSpPr/>
          <p:nvPr/>
        </p:nvSpPr>
        <p:spPr>
          <a:xfrm>
            <a:off x="691530" y="1742331"/>
            <a:ext cx="3680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팀명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1"/>
          <p:cNvSpPr/>
          <p:nvPr/>
        </p:nvSpPr>
        <p:spPr>
          <a:xfrm>
            <a:off x="691530" y="2010594"/>
            <a:ext cx="368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4" name="Google Shape;60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987" y="1604070"/>
            <a:ext cx="4013896" cy="743248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1"/>
          <p:cNvSpPr/>
          <p:nvPr/>
        </p:nvSpPr>
        <p:spPr>
          <a:xfrm>
            <a:off x="4829398" y="1742331"/>
            <a:ext cx="36801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선택한 프로젝트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1"/>
          <p:cNvSpPr/>
          <p:nvPr/>
        </p:nvSpPr>
        <p:spPr>
          <a:xfrm>
            <a:off x="4829398" y="2010594"/>
            <a:ext cx="368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___번 (또는 자유 아이디어)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1"/>
          <p:cNvSpPr/>
          <p:nvPr/>
        </p:nvSpPr>
        <p:spPr>
          <a:xfrm>
            <a:off x="496119" y="2486844"/>
            <a:ext cx="2634600" cy="714600"/>
          </a:xfrm>
          <a:prstGeom prst="roundRect">
            <a:avLst>
              <a:gd fmla="val 26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1"/>
          <p:cNvSpPr/>
          <p:nvPr/>
        </p:nvSpPr>
        <p:spPr>
          <a:xfrm>
            <a:off x="620092" y="2610817"/>
            <a:ext cx="2386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누가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1"/>
          <p:cNvSpPr/>
          <p:nvPr/>
        </p:nvSpPr>
        <p:spPr>
          <a:xfrm>
            <a:off x="620092" y="2879080"/>
            <a:ext cx="238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______________________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1"/>
          <p:cNvSpPr/>
          <p:nvPr/>
        </p:nvSpPr>
        <p:spPr>
          <a:xfrm>
            <a:off x="3254648" y="2486844"/>
            <a:ext cx="2634600" cy="714600"/>
          </a:xfrm>
          <a:prstGeom prst="roundRect">
            <a:avLst>
              <a:gd fmla="val 26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1"/>
          <p:cNvSpPr/>
          <p:nvPr/>
        </p:nvSpPr>
        <p:spPr>
          <a:xfrm>
            <a:off x="3378622" y="2610817"/>
            <a:ext cx="2386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무엇을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1"/>
          <p:cNvSpPr/>
          <p:nvPr/>
        </p:nvSpPr>
        <p:spPr>
          <a:xfrm>
            <a:off x="3378622" y="2879080"/>
            <a:ext cx="2386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______________________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1"/>
          <p:cNvSpPr/>
          <p:nvPr/>
        </p:nvSpPr>
        <p:spPr>
          <a:xfrm>
            <a:off x="6013252" y="2486844"/>
            <a:ext cx="2634600" cy="714600"/>
          </a:xfrm>
          <a:prstGeom prst="roundRect">
            <a:avLst>
              <a:gd fmla="val 260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1"/>
          <p:cNvSpPr/>
          <p:nvPr/>
        </p:nvSpPr>
        <p:spPr>
          <a:xfrm>
            <a:off x="6137225" y="2610817"/>
            <a:ext cx="2386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왜 쓰는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1"/>
          <p:cNvSpPr/>
          <p:nvPr/>
        </p:nvSpPr>
        <p:spPr>
          <a:xfrm>
            <a:off x="6137225" y="2879080"/>
            <a:ext cx="238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______________________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1"/>
          <p:cNvSpPr/>
          <p:nvPr/>
        </p:nvSpPr>
        <p:spPr>
          <a:xfrm>
            <a:off x="267519" y="3341043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앱을 만든다.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1"/>
          <p:cNvSpPr/>
          <p:nvPr/>
        </p:nvSpPr>
        <p:spPr>
          <a:xfrm>
            <a:off x="496119" y="3679031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8" name="Google Shape;61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385881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1"/>
          <p:cNvSpPr/>
          <p:nvPr/>
        </p:nvSpPr>
        <p:spPr>
          <a:xfrm>
            <a:off x="899071" y="3833961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"누가"가 가장 중요하다.</a:t>
            </a:r>
            <a:r>
              <a:rPr b="0" i="0" lang="ko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"누가 쓸지" 못 정하면 → 만들다가 방향을 잃는다.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2"/>
          <p:cNvSpPr/>
          <p:nvPr/>
        </p:nvSpPr>
        <p:spPr>
          <a:xfrm>
            <a:off x="496119" y="652983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한 줄 기획서 예시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42"/>
          <p:cNvSpPr/>
          <p:nvPr/>
        </p:nvSpPr>
        <p:spPr>
          <a:xfrm>
            <a:off x="496119" y="1288554"/>
            <a:ext cx="8151900" cy="3201900"/>
          </a:xfrm>
          <a:prstGeom prst="roundRect">
            <a:avLst>
              <a:gd fmla="val 581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2"/>
          <p:cNvSpPr/>
          <p:nvPr/>
        </p:nvSpPr>
        <p:spPr>
          <a:xfrm>
            <a:off x="496119" y="1652513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2"/>
          <p:cNvSpPr/>
          <p:nvPr/>
        </p:nvSpPr>
        <p:spPr>
          <a:xfrm>
            <a:off x="496119" y="2212553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2"/>
          <p:cNvSpPr/>
          <p:nvPr/>
        </p:nvSpPr>
        <p:spPr>
          <a:xfrm>
            <a:off x="496119" y="2971056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2"/>
          <p:cNvSpPr/>
          <p:nvPr/>
        </p:nvSpPr>
        <p:spPr>
          <a:xfrm>
            <a:off x="496119" y="372955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2"/>
          <p:cNvSpPr/>
          <p:nvPr/>
        </p:nvSpPr>
        <p:spPr>
          <a:xfrm>
            <a:off x="3215283" y="1288554"/>
            <a:ext cx="7800" cy="32019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2"/>
          <p:cNvSpPr/>
          <p:nvPr/>
        </p:nvSpPr>
        <p:spPr>
          <a:xfrm>
            <a:off x="5928792" y="1288554"/>
            <a:ext cx="7800" cy="32019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2"/>
          <p:cNvSpPr/>
          <p:nvPr/>
        </p:nvSpPr>
        <p:spPr>
          <a:xfrm>
            <a:off x="501774" y="1293316"/>
            <a:ext cx="2713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2"/>
          <p:cNvSpPr/>
          <p:nvPr/>
        </p:nvSpPr>
        <p:spPr>
          <a:xfrm>
            <a:off x="625748" y="1372493"/>
            <a:ext cx="2920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2"/>
          <p:cNvSpPr/>
          <p:nvPr/>
        </p:nvSpPr>
        <p:spPr>
          <a:xfrm>
            <a:off x="3215283" y="1293316"/>
            <a:ext cx="2713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2"/>
          <p:cNvSpPr/>
          <p:nvPr/>
        </p:nvSpPr>
        <p:spPr>
          <a:xfrm>
            <a:off x="3341638" y="1372493"/>
            <a:ext cx="2918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프로젝트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2"/>
          <p:cNvSpPr/>
          <p:nvPr/>
        </p:nvSpPr>
        <p:spPr>
          <a:xfrm>
            <a:off x="5928792" y="1293316"/>
            <a:ext cx="2713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2"/>
          <p:cNvSpPr/>
          <p:nvPr/>
        </p:nvSpPr>
        <p:spPr>
          <a:xfrm>
            <a:off x="6055147" y="1372493"/>
            <a:ext cx="2920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한 줄 기획서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2"/>
          <p:cNvSpPr/>
          <p:nvPr/>
        </p:nvSpPr>
        <p:spPr>
          <a:xfrm>
            <a:off x="625748" y="1734071"/>
            <a:ext cx="2920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2"/>
          <p:cNvSpPr/>
          <p:nvPr/>
        </p:nvSpPr>
        <p:spPr>
          <a:xfrm>
            <a:off x="3341638" y="1734071"/>
            <a:ext cx="2918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④ 급식 별점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2"/>
          <p:cNvSpPr/>
          <p:nvPr/>
        </p:nvSpPr>
        <p:spPr>
          <a:xfrm>
            <a:off x="6055147" y="1734071"/>
            <a:ext cx="2463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 반 친구들이</a:t>
            </a: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매일 급식에 별점을 매기고 / </a:t>
            </a: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어떤 급식이 인기 있는지 알기 위한</a:t>
            </a: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앱을 만든다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2"/>
          <p:cNvSpPr/>
          <p:nvPr/>
        </p:nvSpPr>
        <p:spPr>
          <a:xfrm>
            <a:off x="625748" y="2294111"/>
            <a:ext cx="2920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42"/>
          <p:cNvSpPr/>
          <p:nvPr/>
        </p:nvSpPr>
        <p:spPr>
          <a:xfrm>
            <a:off x="3341638" y="2294111"/>
            <a:ext cx="2918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③ 취향 테스트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2"/>
          <p:cNvSpPr/>
          <p:nvPr/>
        </p:nvSpPr>
        <p:spPr>
          <a:xfrm>
            <a:off x="6055147" y="2294111"/>
            <a:ext cx="24633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K-pop 좋아하는 친구들이</a:t>
            </a: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5개 질문에 답하면 / </a:t>
            </a: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딱 맞는 아이돌을 추천받을 수 있는</a:t>
            </a: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테스트를 만든다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2"/>
          <p:cNvSpPr/>
          <p:nvPr/>
        </p:nvSpPr>
        <p:spPr>
          <a:xfrm>
            <a:off x="625748" y="3052614"/>
            <a:ext cx="2920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2"/>
          <p:cNvSpPr/>
          <p:nvPr/>
        </p:nvSpPr>
        <p:spPr>
          <a:xfrm>
            <a:off x="3341638" y="3052614"/>
            <a:ext cx="2918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① 방탈출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2"/>
          <p:cNvSpPr/>
          <p:nvPr/>
        </p:nvSpPr>
        <p:spPr>
          <a:xfrm>
            <a:off x="6055147" y="3052614"/>
            <a:ext cx="24633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쉬는 시간에 심심한 친구들이</a:t>
            </a: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3분 만에 즐기고 / </a:t>
            </a: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자기 유형을 알 수 있는</a:t>
            </a: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감정 방탈출 게임을 만든다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2"/>
          <p:cNvSpPr/>
          <p:nvPr/>
        </p:nvSpPr>
        <p:spPr>
          <a:xfrm>
            <a:off x="625748" y="3811116"/>
            <a:ext cx="2920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2"/>
          <p:cNvSpPr/>
          <p:nvPr/>
        </p:nvSpPr>
        <p:spPr>
          <a:xfrm>
            <a:off x="3341638" y="3811116"/>
            <a:ext cx="2918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2"/>
          <p:cNvSpPr/>
          <p:nvPr/>
        </p:nvSpPr>
        <p:spPr>
          <a:xfrm>
            <a:off x="6055147" y="3811116"/>
            <a:ext cx="24633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 반 친구들이</a:t>
            </a: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매일 감정을 기록하고 / </a:t>
            </a: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달간 내 감정 패턴을 볼 수 있는</a:t>
            </a: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감정 일기 앱을 만든다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3"/>
          <p:cNvSpPr/>
          <p:nvPr/>
        </p:nvSpPr>
        <p:spPr>
          <a:xfrm>
            <a:off x="496119" y="711398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역할 분담표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3"/>
          <p:cNvSpPr/>
          <p:nvPr/>
        </p:nvSpPr>
        <p:spPr>
          <a:xfrm>
            <a:off x="496119" y="1346969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팀명</a:t>
            </a: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_________________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8" name="Google Shape;65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68495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3"/>
          <p:cNvSpPr/>
          <p:nvPr/>
        </p:nvSpPr>
        <p:spPr>
          <a:xfrm>
            <a:off x="496119" y="2150046"/>
            <a:ext cx="2613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PM (진행)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3"/>
          <p:cNvSpPr/>
          <p:nvPr/>
        </p:nvSpPr>
        <p:spPr>
          <a:xfrm>
            <a:off x="496119" y="2418308"/>
            <a:ext cx="2613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1" name="Google Shape;66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991" y="168495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3"/>
          <p:cNvSpPr/>
          <p:nvPr/>
        </p:nvSpPr>
        <p:spPr>
          <a:xfrm>
            <a:off x="3264991" y="2150046"/>
            <a:ext cx="2613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기획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3"/>
          <p:cNvSpPr/>
          <p:nvPr/>
        </p:nvSpPr>
        <p:spPr>
          <a:xfrm>
            <a:off x="3264991" y="2418308"/>
            <a:ext cx="2613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4" name="Google Shape;66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3939" y="168495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3"/>
          <p:cNvSpPr/>
          <p:nvPr/>
        </p:nvSpPr>
        <p:spPr>
          <a:xfrm>
            <a:off x="6033939" y="2150046"/>
            <a:ext cx="2613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담당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3"/>
          <p:cNvSpPr/>
          <p:nvPr/>
        </p:nvSpPr>
        <p:spPr>
          <a:xfrm>
            <a:off x="6033939" y="2418308"/>
            <a:ext cx="2613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7" name="Google Shape;667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864793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43"/>
          <p:cNvSpPr/>
          <p:nvPr/>
        </p:nvSpPr>
        <p:spPr>
          <a:xfrm>
            <a:off x="496119" y="3329880"/>
            <a:ext cx="2613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데이터 담당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3"/>
          <p:cNvSpPr/>
          <p:nvPr/>
        </p:nvSpPr>
        <p:spPr>
          <a:xfrm>
            <a:off x="496119" y="3598143"/>
            <a:ext cx="2613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0" name="Google Shape;670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64991" y="2864793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3"/>
          <p:cNvSpPr/>
          <p:nvPr/>
        </p:nvSpPr>
        <p:spPr>
          <a:xfrm>
            <a:off x="3264991" y="3329880"/>
            <a:ext cx="2613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발표 담당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3"/>
          <p:cNvSpPr/>
          <p:nvPr/>
        </p:nvSpPr>
        <p:spPr>
          <a:xfrm>
            <a:off x="3264991" y="3598143"/>
            <a:ext cx="2613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3"/>
          <p:cNvSpPr/>
          <p:nvPr/>
        </p:nvSpPr>
        <p:spPr>
          <a:xfrm>
            <a:off x="496119" y="3936132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4" name="Google Shape;674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0092" y="411591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43"/>
          <p:cNvSpPr/>
          <p:nvPr/>
        </p:nvSpPr>
        <p:spPr>
          <a:xfrm>
            <a:off x="899071" y="4091062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바이브 코딩은 전원이 한다.</a:t>
            </a:r>
            <a:r>
              <a:rPr b="0" i="0" lang="ko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역할은 "책임 영역"이지 "이것만 한다"가 아님.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4"/>
          <p:cNvSpPr/>
          <p:nvPr/>
        </p:nvSpPr>
        <p:spPr>
          <a:xfrm>
            <a:off x="496119" y="1166813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역할별 2~4일차 일정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4"/>
          <p:cNvSpPr/>
          <p:nvPr/>
        </p:nvSpPr>
        <p:spPr>
          <a:xfrm>
            <a:off x="496119" y="1802383"/>
            <a:ext cx="8151900" cy="2174100"/>
          </a:xfrm>
          <a:prstGeom prst="roundRect">
            <a:avLst>
              <a:gd fmla="val 856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4"/>
          <p:cNvSpPr/>
          <p:nvPr/>
        </p:nvSpPr>
        <p:spPr>
          <a:xfrm>
            <a:off x="496119" y="216634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44"/>
          <p:cNvSpPr/>
          <p:nvPr/>
        </p:nvSpPr>
        <p:spPr>
          <a:xfrm>
            <a:off x="496119" y="2527920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44"/>
          <p:cNvSpPr/>
          <p:nvPr/>
        </p:nvSpPr>
        <p:spPr>
          <a:xfrm>
            <a:off x="496119" y="288949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44"/>
          <p:cNvSpPr/>
          <p:nvPr/>
        </p:nvSpPr>
        <p:spPr>
          <a:xfrm>
            <a:off x="496119" y="3251076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44"/>
          <p:cNvSpPr/>
          <p:nvPr/>
        </p:nvSpPr>
        <p:spPr>
          <a:xfrm>
            <a:off x="496119" y="3612654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4"/>
          <p:cNvSpPr/>
          <p:nvPr/>
        </p:nvSpPr>
        <p:spPr>
          <a:xfrm>
            <a:off x="2536552" y="1802383"/>
            <a:ext cx="7800" cy="21741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4"/>
          <p:cNvSpPr/>
          <p:nvPr/>
        </p:nvSpPr>
        <p:spPr>
          <a:xfrm>
            <a:off x="4572074" y="1802383"/>
            <a:ext cx="7800" cy="21741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4"/>
          <p:cNvSpPr/>
          <p:nvPr/>
        </p:nvSpPr>
        <p:spPr>
          <a:xfrm>
            <a:off x="6607597" y="1802383"/>
            <a:ext cx="7800" cy="21741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4"/>
          <p:cNvSpPr/>
          <p:nvPr/>
        </p:nvSpPr>
        <p:spPr>
          <a:xfrm>
            <a:off x="501030" y="1807146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44"/>
          <p:cNvSpPr/>
          <p:nvPr/>
        </p:nvSpPr>
        <p:spPr>
          <a:xfrm>
            <a:off x="625004" y="1886322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역할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4"/>
          <p:cNvSpPr/>
          <p:nvPr/>
        </p:nvSpPr>
        <p:spPr>
          <a:xfrm>
            <a:off x="2536552" y="1807146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44"/>
          <p:cNvSpPr/>
          <p:nvPr/>
        </p:nvSpPr>
        <p:spPr>
          <a:xfrm>
            <a:off x="2662907" y="1886322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2일차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4"/>
          <p:cNvSpPr/>
          <p:nvPr/>
        </p:nvSpPr>
        <p:spPr>
          <a:xfrm>
            <a:off x="4572074" y="1807146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44"/>
          <p:cNvSpPr/>
          <p:nvPr/>
        </p:nvSpPr>
        <p:spPr>
          <a:xfrm>
            <a:off x="4698429" y="1886322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3일차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4"/>
          <p:cNvSpPr/>
          <p:nvPr/>
        </p:nvSpPr>
        <p:spPr>
          <a:xfrm>
            <a:off x="6607597" y="1807146"/>
            <a:ext cx="20355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44"/>
          <p:cNvSpPr/>
          <p:nvPr/>
        </p:nvSpPr>
        <p:spPr>
          <a:xfrm>
            <a:off x="6733952" y="1886322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4일차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4"/>
          <p:cNvSpPr/>
          <p:nvPr/>
        </p:nvSpPr>
        <p:spPr>
          <a:xfrm>
            <a:off x="625004" y="2247900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4"/>
          <p:cNvSpPr/>
          <p:nvPr/>
        </p:nvSpPr>
        <p:spPr>
          <a:xfrm>
            <a:off x="2662907" y="2247900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 진행 관리, 시간 체크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4"/>
          <p:cNvSpPr/>
          <p:nvPr/>
        </p:nvSpPr>
        <p:spPr>
          <a:xfrm>
            <a:off x="4698429" y="2247900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통합 테스트 진행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4"/>
          <p:cNvSpPr/>
          <p:nvPr/>
        </p:nvSpPr>
        <p:spPr>
          <a:xfrm>
            <a:off x="6733952" y="2247900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발표 리허설 진행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4"/>
          <p:cNvSpPr/>
          <p:nvPr/>
        </p:nvSpPr>
        <p:spPr>
          <a:xfrm>
            <a:off x="625004" y="2609478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4"/>
          <p:cNvSpPr/>
          <p:nvPr/>
        </p:nvSpPr>
        <p:spPr>
          <a:xfrm>
            <a:off x="2662907" y="2609478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흐름도 작성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4"/>
          <p:cNvSpPr/>
          <p:nvPr/>
        </p:nvSpPr>
        <p:spPr>
          <a:xfrm>
            <a:off x="4698429" y="2609478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콘텐츠(텍스트/문항) 입력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4"/>
          <p:cNvSpPr/>
          <p:nvPr/>
        </p:nvSpPr>
        <p:spPr>
          <a:xfrm>
            <a:off x="6733952" y="2609478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시연 시나리오 준비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4"/>
          <p:cNvSpPr/>
          <p:nvPr/>
        </p:nvSpPr>
        <p:spPr>
          <a:xfrm>
            <a:off x="625004" y="2971056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44"/>
          <p:cNvSpPr/>
          <p:nvPr/>
        </p:nvSpPr>
        <p:spPr>
          <a:xfrm>
            <a:off x="2662907" y="2971056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첫 화면 바이브 코딩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44"/>
          <p:cNvSpPr/>
          <p:nvPr/>
        </p:nvSpPr>
        <p:spPr>
          <a:xfrm>
            <a:off x="4698429" y="2971056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UI 다듬기 (색, 이모지, 배치)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44"/>
          <p:cNvSpPr/>
          <p:nvPr/>
        </p:nvSpPr>
        <p:spPr>
          <a:xfrm>
            <a:off x="6733952" y="2971056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최종 화면 점검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4"/>
          <p:cNvSpPr/>
          <p:nvPr/>
        </p:nvSpPr>
        <p:spPr>
          <a:xfrm>
            <a:off x="625004" y="3332634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4"/>
          <p:cNvSpPr/>
          <p:nvPr/>
        </p:nvSpPr>
        <p:spPr>
          <a:xfrm>
            <a:off x="2662907" y="3332634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JSON/데이터 구조 설계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4"/>
          <p:cNvSpPr/>
          <p:nvPr/>
        </p:nvSpPr>
        <p:spPr>
          <a:xfrm>
            <a:off x="4698429" y="3332634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저장/불러오기 로직 확인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4"/>
          <p:cNvSpPr/>
          <p:nvPr/>
        </p:nvSpPr>
        <p:spPr>
          <a:xfrm>
            <a:off x="6733952" y="3332634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데모 데이터 준비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4"/>
          <p:cNvSpPr/>
          <p:nvPr/>
        </p:nvSpPr>
        <p:spPr>
          <a:xfrm>
            <a:off x="625004" y="3694212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발표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4"/>
          <p:cNvSpPr/>
          <p:nvPr/>
        </p:nvSpPr>
        <p:spPr>
          <a:xfrm>
            <a:off x="2662907" y="3694212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 단계 기록 (사진/메모)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4"/>
          <p:cNvSpPr/>
          <p:nvPr/>
        </p:nvSpPr>
        <p:spPr>
          <a:xfrm>
            <a:off x="4698429" y="3694212"/>
            <a:ext cx="2240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발표 자료 정리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4"/>
          <p:cNvSpPr/>
          <p:nvPr/>
        </p:nvSpPr>
        <p:spPr>
          <a:xfrm>
            <a:off x="6733952" y="3694212"/>
            <a:ext cx="2242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3분 발표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5"/>
          <p:cNvSpPr/>
          <p:nvPr/>
        </p:nvSpPr>
        <p:spPr>
          <a:xfrm>
            <a:off x="496119" y="1312664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화면 흐름도 스케치 — 종이에 그리기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5"/>
          <p:cNvSpPr/>
          <p:nvPr/>
        </p:nvSpPr>
        <p:spPr>
          <a:xfrm>
            <a:off x="496119" y="1948235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프로젝트를 정했으면, </a:t>
            </a: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종이에 화면 흐름을 그린다.</a:t>
            </a: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코드를 짜기 전에 "어떤 화면이 어떤 순서로 나오는지"를 먼저 정해야 한다.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5"/>
          <p:cNvSpPr/>
          <p:nvPr/>
        </p:nvSpPr>
        <p:spPr>
          <a:xfrm>
            <a:off x="496119" y="2286223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5"/>
          <p:cNvSpPr/>
          <p:nvPr/>
        </p:nvSpPr>
        <p:spPr>
          <a:xfrm>
            <a:off x="496119" y="2482676"/>
            <a:ext cx="26346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45"/>
          <p:cNvSpPr/>
          <p:nvPr/>
        </p:nvSpPr>
        <p:spPr>
          <a:xfrm>
            <a:off x="496119" y="2573238"/>
            <a:ext cx="2634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A4 종이를 가로로 놓는다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5"/>
          <p:cNvSpPr/>
          <p:nvPr/>
        </p:nvSpPr>
        <p:spPr>
          <a:xfrm>
            <a:off x="3254648" y="2286223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5"/>
          <p:cNvSpPr/>
          <p:nvPr/>
        </p:nvSpPr>
        <p:spPr>
          <a:xfrm>
            <a:off x="3254648" y="2482676"/>
            <a:ext cx="26346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5"/>
          <p:cNvSpPr/>
          <p:nvPr/>
        </p:nvSpPr>
        <p:spPr>
          <a:xfrm>
            <a:off x="3254648" y="2573238"/>
            <a:ext cx="2634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네모칸을 그린다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5"/>
          <p:cNvSpPr/>
          <p:nvPr/>
        </p:nvSpPr>
        <p:spPr>
          <a:xfrm>
            <a:off x="3254648" y="2841501"/>
            <a:ext cx="263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네모칸 1개 = 화면 1개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5"/>
          <p:cNvSpPr/>
          <p:nvPr/>
        </p:nvSpPr>
        <p:spPr>
          <a:xfrm>
            <a:off x="6013252" y="2286223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5"/>
          <p:cNvSpPr/>
          <p:nvPr/>
        </p:nvSpPr>
        <p:spPr>
          <a:xfrm>
            <a:off x="6013252" y="2495029"/>
            <a:ext cx="26346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45"/>
          <p:cNvSpPr/>
          <p:nvPr/>
        </p:nvSpPr>
        <p:spPr>
          <a:xfrm>
            <a:off x="6013252" y="2573238"/>
            <a:ext cx="2634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안에 "뭐가 보이는지" 간단히 적는다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5"/>
          <p:cNvSpPr/>
          <p:nvPr/>
        </p:nvSpPr>
        <p:spPr>
          <a:xfrm>
            <a:off x="496119" y="3256955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5"/>
          <p:cNvSpPr/>
          <p:nvPr/>
        </p:nvSpPr>
        <p:spPr>
          <a:xfrm>
            <a:off x="496119" y="3440981"/>
            <a:ext cx="40137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5"/>
          <p:cNvSpPr/>
          <p:nvPr/>
        </p:nvSpPr>
        <p:spPr>
          <a:xfrm>
            <a:off x="496119" y="3543970"/>
            <a:ext cx="4013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화면과 화면 사이에 화살표를 그린다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5"/>
          <p:cNvSpPr/>
          <p:nvPr/>
        </p:nvSpPr>
        <p:spPr>
          <a:xfrm>
            <a:off x="4633913" y="3256955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5"/>
          <p:cNvSpPr/>
          <p:nvPr/>
        </p:nvSpPr>
        <p:spPr>
          <a:xfrm>
            <a:off x="4633913" y="3440981"/>
            <a:ext cx="4014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45"/>
          <p:cNvSpPr/>
          <p:nvPr/>
        </p:nvSpPr>
        <p:spPr>
          <a:xfrm>
            <a:off x="4633913" y="3543970"/>
            <a:ext cx="4014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화살표 위에 "어떤 행동을 하면 넘어가는지" 적는다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6"/>
          <p:cNvSpPr/>
          <p:nvPr/>
        </p:nvSpPr>
        <p:spPr>
          <a:xfrm>
            <a:off x="496119" y="1216075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화면 흐름도 예시 — 급식 별점 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6"/>
          <p:cNvSpPr/>
          <p:nvPr/>
        </p:nvSpPr>
        <p:spPr>
          <a:xfrm>
            <a:off x="496119" y="1851645"/>
            <a:ext cx="8151900" cy="1440300"/>
          </a:xfrm>
          <a:prstGeom prst="roundRect">
            <a:avLst>
              <a:gd fmla="val 129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46"/>
          <p:cNvSpPr/>
          <p:nvPr/>
        </p:nvSpPr>
        <p:spPr>
          <a:xfrm>
            <a:off x="496119" y="1851645"/>
            <a:ext cx="2717100" cy="14403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46"/>
          <p:cNvSpPr/>
          <p:nvPr/>
        </p:nvSpPr>
        <p:spPr>
          <a:xfrm>
            <a:off x="620092" y="1975619"/>
            <a:ext cx="2469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1 — 별점 입력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6"/>
          <p:cNvSpPr/>
          <p:nvPr/>
        </p:nvSpPr>
        <p:spPr>
          <a:xfrm>
            <a:off x="620092" y="2243882"/>
            <a:ext cx="24693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급식 메뉴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별점 슬라이더 (1~5)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한줄평 입력칸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제출 버튼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6"/>
          <p:cNvSpPr/>
          <p:nvPr/>
        </p:nvSpPr>
        <p:spPr>
          <a:xfrm>
            <a:off x="3213348" y="1851645"/>
            <a:ext cx="2717100" cy="14403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46"/>
          <p:cNvSpPr/>
          <p:nvPr/>
        </p:nvSpPr>
        <p:spPr>
          <a:xfrm>
            <a:off x="3213348" y="1851645"/>
            <a:ext cx="14400" cy="1440300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46"/>
          <p:cNvSpPr/>
          <p:nvPr/>
        </p:nvSpPr>
        <p:spPr>
          <a:xfrm>
            <a:off x="3337322" y="1975619"/>
            <a:ext cx="2469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→ 버튼 클릭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6"/>
          <p:cNvSpPr/>
          <p:nvPr/>
        </p:nvSpPr>
        <p:spPr>
          <a:xfrm>
            <a:off x="3337322" y="2243882"/>
            <a:ext cx="2469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전환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6"/>
          <p:cNvSpPr/>
          <p:nvPr/>
        </p:nvSpPr>
        <p:spPr>
          <a:xfrm>
            <a:off x="5930578" y="1851645"/>
            <a:ext cx="2717100" cy="14403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46"/>
          <p:cNvSpPr/>
          <p:nvPr/>
        </p:nvSpPr>
        <p:spPr>
          <a:xfrm>
            <a:off x="5930578" y="1851645"/>
            <a:ext cx="14400" cy="1440300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6"/>
          <p:cNvSpPr/>
          <p:nvPr/>
        </p:nvSpPr>
        <p:spPr>
          <a:xfrm>
            <a:off x="6054551" y="1975619"/>
            <a:ext cx="2469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 2 — 대시보드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6"/>
          <p:cNvSpPr/>
          <p:nvPr/>
        </p:nvSpPr>
        <p:spPr>
          <a:xfrm>
            <a:off x="6054551" y="2243882"/>
            <a:ext cx="24693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이달 TOP 5 차트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WORST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요일별 추이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6"/>
          <p:cNvSpPr/>
          <p:nvPr/>
        </p:nvSpPr>
        <p:spPr>
          <a:xfrm>
            <a:off x="496119" y="3431381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1" name="Google Shape;76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61116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46"/>
          <p:cNvSpPr/>
          <p:nvPr/>
        </p:nvSpPr>
        <p:spPr>
          <a:xfrm>
            <a:off x="899071" y="3586311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종이 스케치가 있으면 → AI한테 "이거 만들어줘"라고 정확하게 말할 수 있다.</a:t>
            </a:r>
            <a:r>
              <a:rPr b="0" i="0" lang="ko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스케치 없이 "앱 만들어줘"라고 하면 → AI도 뭘 만들지 모른다.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7"/>
          <p:cNvSpPr/>
          <p:nvPr/>
        </p:nvSpPr>
        <p:spPr>
          <a:xfrm>
            <a:off x="496119" y="998265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화면 흐름도 예시 — 방탈출 게임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7"/>
          <p:cNvSpPr/>
          <p:nvPr/>
        </p:nvSpPr>
        <p:spPr>
          <a:xfrm>
            <a:off x="496119" y="1819870"/>
            <a:ext cx="40140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47"/>
          <p:cNvSpPr/>
          <p:nvPr/>
        </p:nvSpPr>
        <p:spPr>
          <a:xfrm>
            <a:off x="620092" y="2067818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인트로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7"/>
          <p:cNvSpPr/>
          <p:nvPr/>
        </p:nvSpPr>
        <p:spPr>
          <a:xfrm>
            <a:off x="620092" y="2336081"/>
            <a:ext cx="3765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감정 입력 → 감정에 따라 분기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7"/>
          <p:cNvSpPr/>
          <p:nvPr/>
        </p:nvSpPr>
        <p:spPr>
          <a:xfrm>
            <a:off x="4633987" y="1633835"/>
            <a:ext cx="40140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7"/>
          <p:cNvSpPr/>
          <p:nvPr/>
        </p:nvSpPr>
        <p:spPr>
          <a:xfrm>
            <a:off x="4757961" y="1881783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1번째 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7"/>
          <p:cNvSpPr/>
          <p:nvPr/>
        </p:nvSpPr>
        <p:spPr>
          <a:xfrm>
            <a:off x="4757961" y="2150046"/>
            <a:ext cx="3765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스토리 + 선택지 2개 → 선택지 A or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7"/>
          <p:cNvSpPr/>
          <p:nvPr/>
        </p:nvSpPr>
        <p:spPr>
          <a:xfrm>
            <a:off x="496119" y="2968526"/>
            <a:ext cx="40140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7"/>
          <p:cNvSpPr/>
          <p:nvPr/>
        </p:nvSpPr>
        <p:spPr>
          <a:xfrm>
            <a:off x="620092" y="3216473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2번째 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7"/>
          <p:cNvSpPr/>
          <p:nvPr/>
        </p:nvSpPr>
        <p:spPr>
          <a:xfrm>
            <a:off x="620092" y="3484736"/>
            <a:ext cx="3765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스토리 + 선택지 2개 → 마지막 선택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7"/>
          <p:cNvSpPr/>
          <p:nvPr/>
        </p:nvSpPr>
        <p:spPr>
          <a:xfrm>
            <a:off x="4633987" y="2782491"/>
            <a:ext cx="4014000" cy="123900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47"/>
          <p:cNvSpPr/>
          <p:nvPr/>
        </p:nvSpPr>
        <p:spPr>
          <a:xfrm>
            <a:off x="4757961" y="3030438"/>
            <a:ext cx="3765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엔딩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7"/>
          <p:cNvSpPr/>
          <p:nvPr/>
        </p:nvSpPr>
        <p:spPr>
          <a:xfrm>
            <a:off x="4757961" y="3298701"/>
            <a:ext cx="3765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유형 결과 + 공유 버튼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7"/>
          <p:cNvSpPr/>
          <p:nvPr/>
        </p:nvSpPr>
        <p:spPr>
          <a:xfrm>
            <a:off x="496119" y="3946699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종이에 네모칸 4개와 화살표만 그리면 끝!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87" name="Google Shape;78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48"/>
          <p:cNvSpPr/>
          <p:nvPr/>
        </p:nvSpPr>
        <p:spPr>
          <a:xfrm>
            <a:off x="496119" y="1967433"/>
            <a:ext cx="4644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48"/>
          <p:cNvSpPr/>
          <p:nvPr/>
        </p:nvSpPr>
        <p:spPr>
          <a:xfrm>
            <a:off x="570533" y="2004640"/>
            <a:ext cx="772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PART 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8"/>
          <p:cNvSpPr/>
          <p:nvPr/>
        </p:nvSpPr>
        <p:spPr>
          <a:xfrm>
            <a:off x="496119" y="2205558"/>
            <a:ext cx="4722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2교시 마무리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8"/>
          <p:cNvSpPr/>
          <p:nvPr/>
        </p:nvSpPr>
        <p:spPr>
          <a:xfrm>
            <a:off x="496119" y="2779142"/>
            <a:ext cx="4722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수업에서 팀이 함께 프로젝트를 선택하고, 한 줄 기획서를 작성하고, 화면 흐름도를 그렸습니다. 다음 시간부터 진짜 만들기 시작합니다.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9"/>
          <p:cNvSpPr/>
          <p:nvPr/>
        </p:nvSpPr>
        <p:spPr>
          <a:xfrm>
            <a:off x="496119" y="1013594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오늘 확인 사항 체크리스트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9"/>
          <p:cNvSpPr/>
          <p:nvPr/>
        </p:nvSpPr>
        <p:spPr>
          <a:xfrm>
            <a:off x="496119" y="1711151"/>
            <a:ext cx="392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0" i="0" lang="ko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오늘 완료한 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49"/>
          <p:cNvSpPr/>
          <p:nvPr/>
        </p:nvSpPr>
        <p:spPr>
          <a:xfrm>
            <a:off x="496119" y="2033736"/>
            <a:ext cx="4381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​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바이브 코딩 데모를 봤다 ("말만 했는데 앱이 나오네")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9"/>
          <p:cNvSpPr/>
          <p:nvPr/>
        </p:nvSpPr>
        <p:spPr>
          <a:xfrm>
            <a:off x="496119" y="2070869"/>
            <a:ext cx="123900" cy="123900"/>
          </a:xfrm>
          <a:prstGeom prst="roundRect">
            <a:avLst>
              <a:gd fmla="val 15009" name="adj"/>
            </a:avLst>
          </a:prstGeom>
          <a:solidFill>
            <a:srgbClr val="3257B8"/>
          </a:solidFill>
          <a:ln cap="flat" cmpd="sng" w="1427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1" name="Google Shape;80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98" y="2101825"/>
            <a:ext cx="74414" cy="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49"/>
          <p:cNvSpPr/>
          <p:nvPr/>
        </p:nvSpPr>
        <p:spPr>
          <a:xfrm>
            <a:off x="496119" y="2275582"/>
            <a:ext cx="4381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​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10가지 아이디어를 살펴봤다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49"/>
          <p:cNvSpPr/>
          <p:nvPr/>
        </p:nvSpPr>
        <p:spPr>
          <a:xfrm>
            <a:off x="496119" y="2312715"/>
            <a:ext cx="123900" cy="123900"/>
          </a:xfrm>
          <a:prstGeom prst="roundRect">
            <a:avLst>
              <a:gd fmla="val 15009" name="adj"/>
            </a:avLst>
          </a:prstGeom>
          <a:solidFill>
            <a:srgbClr val="3257B8"/>
          </a:solidFill>
          <a:ln cap="flat" cmpd="sng" w="1427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4" name="Google Shape;80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98" y="2343671"/>
            <a:ext cx="74414" cy="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49"/>
          <p:cNvSpPr/>
          <p:nvPr/>
        </p:nvSpPr>
        <p:spPr>
          <a:xfrm>
            <a:off x="496119" y="2517428"/>
            <a:ext cx="4381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​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팀이 프로젝트를 하나 골랐다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49"/>
          <p:cNvSpPr/>
          <p:nvPr/>
        </p:nvSpPr>
        <p:spPr>
          <a:xfrm>
            <a:off x="496119" y="2554560"/>
            <a:ext cx="123900" cy="123900"/>
          </a:xfrm>
          <a:prstGeom prst="roundRect">
            <a:avLst>
              <a:gd fmla="val 15009" name="adj"/>
            </a:avLst>
          </a:prstGeom>
          <a:solidFill>
            <a:srgbClr val="3257B8"/>
          </a:solidFill>
          <a:ln cap="flat" cmpd="sng" w="1427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7" name="Google Shape;80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98" y="2585517"/>
            <a:ext cx="74414" cy="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49"/>
          <p:cNvSpPr/>
          <p:nvPr/>
        </p:nvSpPr>
        <p:spPr>
          <a:xfrm>
            <a:off x="496119" y="2759273"/>
            <a:ext cx="4381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​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줄 기획서를 작성했다 (누가 / 무엇을 / 왜)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9"/>
          <p:cNvSpPr/>
          <p:nvPr/>
        </p:nvSpPr>
        <p:spPr>
          <a:xfrm>
            <a:off x="496119" y="2796406"/>
            <a:ext cx="123900" cy="123900"/>
          </a:xfrm>
          <a:prstGeom prst="roundRect">
            <a:avLst>
              <a:gd fmla="val 15009" name="adj"/>
            </a:avLst>
          </a:prstGeom>
          <a:solidFill>
            <a:srgbClr val="3257B8"/>
          </a:solidFill>
          <a:ln cap="flat" cmpd="sng" w="1427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0" name="Google Shape;81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98" y="2827362"/>
            <a:ext cx="74414" cy="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49"/>
          <p:cNvSpPr/>
          <p:nvPr/>
        </p:nvSpPr>
        <p:spPr>
          <a:xfrm>
            <a:off x="496119" y="3001119"/>
            <a:ext cx="4381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​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역할을 정했다 (PM / 기획 / 화면 / 데이터 / 발표)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9"/>
          <p:cNvSpPr/>
          <p:nvPr/>
        </p:nvSpPr>
        <p:spPr>
          <a:xfrm>
            <a:off x="496119" y="3038252"/>
            <a:ext cx="123900" cy="123900"/>
          </a:xfrm>
          <a:prstGeom prst="roundRect">
            <a:avLst>
              <a:gd fmla="val 15009" name="adj"/>
            </a:avLst>
          </a:prstGeom>
          <a:solidFill>
            <a:srgbClr val="3257B8"/>
          </a:solidFill>
          <a:ln cap="flat" cmpd="sng" w="1427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3" name="Google Shape;81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98" y="3069208"/>
            <a:ext cx="74414" cy="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49"/>
          <p:cNvSpPr/>
          <p:nvPr/>
        </p:nvSpPr>
        <p:spPr>
          <a:xfrm>
            <a:off x="496119" y="3242965"/>
            <a:ext cx="4381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​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흐름도를 종이에 그렸다 (스케치)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9"/>
          <p:cNvSpPr/>
          <p:nvPr/>
        </p:nvSpPr>
        <p:spPr>
          <a:xfrm>
            <a:off x="496119" y="3280097"/>
            <a:ext cx="123900" cy="123900"/>
          </a:xfrm>
          <a:prstGeom prst="roundRect">
            <a:avLst>
              <a:gd fmla="val 15009" name="adj"/>
            </a:avLst>
          </a:prstGeom>
          <a:solidFill>
            <a:srgbClr val="3257B8"/>
          </a:solidFill>
          <a:ln cap="flat" cmpd="sng" w="1427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6" name="Google Shape;81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898" y="3311054"/>
            <a:ext cx="74414" cy="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49"/>
          <p:cNvSpPr/>
          <p:nvPr/>
        </p:nvSpPr>
        <p:spPr>
          <a:xfrm>
            <a:off x="4728046" y="1711151"/>
            <a:ext cx="392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📅</a:t>
            </a:r>
            <a:r>
              <a:rPr b="0" i="0" lang="ko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다음 시간 (2일차)에 할 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9"/>
          <p:cNvSpPr/>
          <p:nvPr/>
        </p:nvSpPr>
        <p:spPr>
          <a:xfrm>
            <a:off x="4728046" y="2033736"/>
            <a:ext cx="3924600" cy="9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alibri"/>
              <a:buAutoNum type="arabicPeriod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흐름도를 바탕으로 → </a:t>
            </a: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첫 번째 화면을 바이브 코딩으로 만든다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alibri"/>
              <a:buAutoNum type="arabicPeriod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AI에게 "이거 만들어줘"라고 말한다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alibri"/>
              <a:buAutoNum type="arabicPeriod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결과를 보고 "이거 바꿔줘"라고 다시 말한다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alibri"/>
              <a:buAutoNum type="arabicPeriod"/>
            </a:pPr>
            <a:r>
              <a:rPr b="1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 기능 하나가 작동하는 걸 확인한다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9"/>
          <p:cNvSpPr/>
          <p:nvPr/>
        </p:nvSpPr>
        <p:spPr>
          <a:xfrm>
            <a:off x="4728046" y="3081710"/>
            <a:ext cx="3924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🎒</a:t>
            </a:r>
            <a:r>
              <a:rPr b="0" i="0" lang="ko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준비물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9"/>
          <p:cNvSpPr/>
          <p:nvPr/>
        </p:nvSpPr>
        <p:spPr>
          <a:xfrm>
            <a:off x="4728046" y="3404295"/>
            <a:ext cx="39246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노트북 (또는 학교 컴퓨터)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작성한 한 줄 기획서 + 화면 흐름도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304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Char char="•"/>
            </a:pPr>
            <a:r>
              <a:rPr b="0" i="0" lang="ko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도구 접속 (Claude / ChatGPT)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0"/>
          <p:cNvSpPr/>
          <p:nvPr/>
        </p:nvSpPr>
        <p:spPr>
          <a:xfrm>
            <a:off x="496119" y="347290"/>
            <a:ext cx="81519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00"/>
              <a:buFont typeface="Roboto Slab"/>
              <a:buNone/>
            </a:pPr>
            <a:r>
              <a:rPr b="0" i="0" lang="ko" sz="2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2교시 핵심 요약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50"/>
          <p:cNvSpPr/>
          <p:nvPr/>
        </p:nvSpPr>
        <p:spPr>
          <a:xfrm>
            <a:off x="496119" y="942082"/>
            <a:ext cx="266100" cy="2661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50"/>
          <p:cNvSpPr/>
          <p:nvPr/>
        </p:nvSpPr>
        <p:spPr>
          <a:xfrm>
            <a:off x="540432" y="964220"/>
            <a:ext cx="177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50"/>
          <p:cNvSpPr/>
          <p:nvPr/>
        </p:nvSpPr>
        <p:spPr>
          <a:xfrm>
            <a:off x="874737" y="982712"/>
            <a:ext cx="77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" sz="1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코딩 몰라도 된다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0"/>
          <p:cNvSpPr/>
          <p:nvPr/>
        </p:nvSpPr>
        <p:spPr>
          <a:xfrm>
            <a:off x="874737" y="1234976"/>
            <a:ext cx="77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AI한테 한국어로 말하면 된다 (바이브 코딩)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496119" y="1644997"/>
            <a:ext cx="266100" cy="2661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50"/>
          <p:cNvSpPr/>
          <p:nvPr/>
        </p:nvSpPr>
        <p:spPr>
          <a:xfrm>
            <a:off x="540432" y="1667135"/>
            <a:ext cx="177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50"/>
          <p:cNvSpPr/>
          <p:nvPr/>
        </p:nvSpPr>
        <p:spPr>
          <a:xfrm>
            <a:off x="874737" y="1685627"/>
            <a:ext cx="77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" sz="1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중요한 건 "뭘 만들지" 정하는 것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50"/>
          <p:cNvSpPr/>
          <p:nvPr/>
        </p:nvSpPr>
        <p:spPr>
          <a:xfrm>
            <a:off x="874737" y="1937891"/>
            <a:ext cx="77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코드는 AI가 짠다. </a:t>
            </a:r>
            <a:r>
              <a:rPr b="1" i="0" lang="ko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기획은 사람이 한다.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50"/>
          <p:cNvSpPr/>
          <p:nvPr/>
        </p:nvSpPr>
        <p:spPr>
          <a:xfrm>
            <a:off x="496119" y="2347912"/>
            <a:ext cx="266100" cy="2661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50"/>
          <p:cNvSpPr/>
          <p:nvPr/>
        </p:nvSpPr>
        <p:spPr>
          <a:xfrm>
            <a:off x="540432" y="2370051"/>
            <a:ext cx="177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0"/>
          <p:cNvSpPr/>
          <p:nvPr/>
        </p:nvSpPr>
        <p:spPr>
          <a:xfrm>
            <a:off x="874737" y="2388543"/>
            <a:ext cx="77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" sz="1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한 줄 기획서가 프로젝트의 방향타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50"/>
          <p:cNvSpPr/>
          <p:nvPr/>
        </p:nvSpPr>
        <p:spPr>
          <a:xfrm>
            <a:off x="874737" y="2640806"/>
            <a:ext cx="77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[누가] [무엇을] [왜]</a:t>
            </a:r>
            <a:r>
              <a:rPr b="0" i="0" lang="ko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이 세 가지가 명확하면 길을 잃지 않는다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50"/>
          <p:cNvSpPr/>
          <p:nvPr/>
        </p:nvSpPr>
        <p:spPr>
          <a:xfrm>
            <a:off x="496119" y="3050828"/>
            <a:ext cx="266100" cy="2661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50"/>
          <p:cNvSpPr/>
          <p:nvPr/>
        </p:nvSpPr>
        <p:spPr>
          <a:xfrm>
            <a:off x="540432" y="3072966"/>
            <a:ext cx="177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0"/>
          <p:cNvSpPr/>
          <p:nvPr/>
        </p:nvSpPr>
        <p:spPr>
          <a:xfrm>
            <a:off x="874737" y="3091458"/>
            <a:ext cx="77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" sz="1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종이 스케치가 있어야 AI한테 정확히 요청할 수 있다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50"/>
          <p:cNvSpPr/>
          <p:nvPr/>
        </p:nvSpPr>
        <p:spPr>
          <a:xfrm>
            <a:off x="874737" y="3343721"/>
            <a:ext cx="77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머릿속으로만 생각하면 AI도 뭘 만들지 모른다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0"/>
          <p:cNvSpPr/>
          <p:nvPr/>
        </p:nvSpPr>
        <p:spPr>
          <a:xfrm>
            <a:off x="496119" y="3753743"/>
            <a:ext cx="266100" cy="266100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0"/>
          <p:cNvSpPr/>
          <p:nvPr/>
        </p:nvSpPr>
        <p:spPr>
          <a:xfrm>
            <a:off x="540432" y="3775881"/>
            <a:ext cx="177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ko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50"/>
          <p:cNvSpPr/>
          <p:nvPr/>
        </p:nvSpPr>
        <p:spPr>
          <a:xfrm>
            <a:off x="874737" y="3794373"/>
            <a:ext cx="77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" sz="15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다음 시간부터 진짜 만든다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50"/>
          <p:cNvSpPr/>
          <p:nvPr/>
        </p:nvSpPr>
        <p:spPr>
          <a:xfrm>
            <a:off x="874737" y="4046637"/>
            <a:ext cx="777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정한 프로젝트를, </a:t>
            </a:r>
            <a:r>
              <a:rPr b="1" i="0" lang="ko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바이브 코딩으로, </a:t>
            </a:r>
            <a:r>
              <a:rPr b="1" lang="ko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6시간</a:t>
            </a:r>
            <a:r>
              <a:rPr b="1" i="0" lang="ko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수업 안에 완성한다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50"/>
          <p:cNvSpPr/>
          <p:nvPr/>
        </p:nvSpPr>
        <p:spPr>
          <a:xfrm>
            <a:off x="496119" y="4358060"/>
            <a:ext cx="14400" cy="438300"/>
          </a:xfrm>
          <a:prstGeom prst="roundRect">
            <a:avLst>
              <a:gd fmla="val 5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50"/>
          <p:cNvSpPr/>
          <p:nvPr/>
        </p:nvSpPr>
        <p:spPr>
          <a:xfrm>
            <a:off x="673447" y="4484787"/>
            <a:ext cx="843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"코딩을 몰라도 된다. 대신 '뭘 만들지' 정확히 정하는 것이 진짜 실력이다."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1"/>
          <p:cNvSpPr txBox="1"/>
          <p:nvPr/>
        </p:nvSpPr>
        <p:spPr>
          <a:xfrm>
            <a:off x="1686975" y="1622275"/>
            <a:ext cx="6660900" cy="11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5500">
                <a:solidFill>
                  <a:schemeClr val="dk2"/>
                </a:solidFill>
              </a:rPr>
              <a:t>감사합니다. </a:t>
            </a:r>
            <a:endParaRPr b="1" sz="5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