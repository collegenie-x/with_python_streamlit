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5143500" cx="9144000"/>
  <p:notesSz cx="5143500" cy="9144000"/>
  <p:embeddedFontLst>
    <p:embeddedFont>
      <p:font typeface="Roboto Slab"/>
      <p:regular r:id="rId39"/>
      <p:bold r:id="rId40"/>
    </p:embeddedFont>
    <p:embeddedFont>
      <p:font typeface="Roboto Slab Light"/>
      <p:regular r:id="rId41"/>
      <p:bold r:id="rId42"/>
    </p:embeddedFont>
    <p:embeddedFont>
      <p:font typeface="Robo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lab-bold.fntdata"/><Relationship Id="rId20" Type="http://schemas.openxmlformats.org/officeDocument/2006/relationships/slide" Target="slides/slide16.xml"/><Relationship Id="rId42" Type="http://schemas.openxmlformats.org/officeDocument/2006/relationships/font" Target="fonts/RobotoSlabLight-bold.fntdata"/><Relationship Id="rId41" Type="http://schemas.openxmlformats.org/officeDocument/2006/relationships/font" Target="fonts/RobotoSlabLight-regular.fntdata"/><Relationship Id="rId22" Type="http://schemas.openxmlformats.org/officeDocument/2006/relationships/slide" Target="slides/slide18.xml"/><Relationship Id="rId44" Type="http://schemas.openxmlformats.org/officeDocument/2006/relationships/font" Target="fonts/Roboto-bold.fntdata"/><Relationship Id="rId21" Type="http://schemas.openxmlformats.org/officeDocument/2006/relationships/slide" Target="slides/slide17.xml"/><Relationship Id="rId43" Type="http://schemas.openxmlformats.org/officeDocument/2006/relationships/font" Target="fonts/Roboto-regular.fntdata"/><Relationship Id="rId24" Type="http://schemas.openxmlformats.org/officeDocument/2006/relationships/slide" Target="slides/slide20.xml"/><Relationship Id="rId46" Type="http://schemas.openxmlformats.org/officeDocument/2006/relationships/font" Target="fonts/Roboto-boldItalic.fntdata"/><Relationship Id="rId23" Type="http://schemas.openxmlformats.org/officeDocument/2006/relationships/slide" Target="slides/slide19.xml"/><Relationship Id="rId45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RobotoSlab-regular.fnt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5" name="Google Shape;7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6" name="Google Shape;84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" name="Google Shape;94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1" name="Google Shape;97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3" name="Google Shape;100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3" name="Google Shape;102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4" name="Google Shape;106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9" name="Google Shape;110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1" name="Google Shape;113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4" name="Google Shape;116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0" name="Google Shape;120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Relationship Id="rId4" Type="http://schemas.openxmlformats.org/officeDocument/2006/relationships/image" Target="../media/image16.png"/><Relationship Id="rId5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jpg"/><Relationship Id="rId4" Type="http://schemas.openxmlformats.org/officeDocument/2006/relationships/image" Target="../media/image26.png"/><Relationship Id="rId5" Type="http://schemas.openxmlformats.org/officeDocument/2006/relationships/image" Target="../media/image33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Relationship Id="rId6" Type="http://schemas.openxmlformats.org/officeDocument/2006/relationships/image" Target="../media/image34.png"/><Relationship Id="rId7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Relationship Id="rId4" Type="http://schemas.openxmlformats.org/officeDocument/2006/relationships/image" Target="../media/image35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496119" y="857027"/>
            <a:ext cx="4722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AI 공부 매니저</a:t>
            </a:r>
            <a:endParaRPr b="1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496119" y="1294135"/>
            <a:ext cx="4722763" cy="31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50"/>
              <a:buFont typeface="Roboto Slab"/>
              <a:buNone/>
            </a:pPr>
            <a:r>
              <a:rPr b="1" i="0" lang="ko-KR" sz="19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나의 시간은 어디로 갔을까?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96119" y="1790254"/>
            <a:ext cx="4722763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컴퓨터 웹캠이 나를 지켜보면서,</a:t>
            </a: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진짜 공부한 시간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 </a:t>
            </a:r>
            <a:r>
              <a:rPr b="1" i="0" lang="ko-KR" sz="15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딴짓한 시간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을 자동으로 분류해주는 AI 학습 관리 시스템입니다. Python Flask + MediaPipe + YOLO Tiny 기술로 구현하며, 별도의 DB 없이 JSON / CSV 파일로 간단하게 데이터를 저장합니다.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96119" y="2525167"/>
            <a:ext cx="2299395" cy="917897"/>
          </a:xfrm>
          <a:prstGeom prst="roundRect">
            <a:avLst>
              <a:gd fmla="val 202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620092" y="2649141"/>
            <a:ext cx="205144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📖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순공 시간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20092" y="2922166"/>
            <a:ext cx="205144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진짜 집중해서 공부한 시간만 정확히 측정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919487" y="2525167"/>
            <a:ext cx="2299395" cy="917897"/>
          </a:xfrm>
          <a:prstGeom prst="roundRect">
            <a:avLst>
              <a:gd fmla="val 202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3043461" y="2649141"/>
            <a:ext cx="205144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📱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딴짓 시간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043461" y="2922166"/>
            <a:ext cx="205144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핸드폰, 멍때림, 졸음 등 5종 세분화 기록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96119" y="3567038"/>
            <a:ext cx="4722763" cy="719435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20092" y="3691012"/>
            <a:ext cx="447481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📊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자동 통계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20092" y="3964037"/>
            <a:ext cx="447481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1일 / 1주일 / 1달 단위 리포트 + AI 코멘트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496119" y="860896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우리가 겪는 문제</a:t>
            </a:r>
            <a:endParaRPr b="1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96119" y="1496467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중학생이라면 누구나 공감하는 상황 —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i="0" lang="ko-KR" sz="15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분명 3시간 앉아있었는데, 뭘 했는지 모르겠다."</a:t>
            </a:r>
            <a:r>
              <a:rPr b="0" i="0" lang="ko-KR" sz="15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내가 생각하는 나와 실제 나는 다릅니다.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96119" y="1834455"/>
            <a:ext cx="8151763" cy="1812652"/>
          </a:xfrm>
          <a:prstGeom prst="roundRect">
            <a:avLst>
              <a:gd fmla="val 1027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0" name="Google Shape;40;p5"/>
          <p:cNvSpPr/>
          <p:nvPr/>
        </p:nvSpPr>
        <p:spPr>
          <a:xfrm>
            <a:off x="496119" y="2198415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1" name="Google Shape;41;p5"/>
          <p:cNvSpPr/>
          <p:nvPr/>
        </p:nvSpPr>
        <p:spPr>
          <a:xfrm>
            <a:off x="496119" y="2559993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2" name="Google Shape;42;p5"/>
          <p:cNvSpPr/>
          <p:nvPr/>
        </p:nvSpPr>
        <p:spPr>
          <a:xfrm>
            <a:off x="496119" y="2921571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3" name="Google Shape;43;p5"/>
          <p:cNvSpPr/>
          <p:nvPr/>
        </p:nvSpPr>
        <p:spPr>
          <a:xfrm>
            <a:off x="496119" y="3283148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4" name="Google Shape;44;p5"/>
          <p:cNvSpPr/>
          <p:nvPr/>
        </p:nvSpPr>
        <p:spPr>
          <a:xfrm>
            <a:off x="624855" y="1918395"/>
            <a:ext cx="42803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내가 생각하는 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695974" y="1918395"/>
            <a:ext cx="42803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실제 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24855" y="2279972"/>
            <a:ext cx="42803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"3시간 공부했다"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695974" y="2279972"/>
            <a:ext cx="42803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실제 집중은 1시간 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24855" y="2641550"/>
            <a:ext cx="42803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"핸드폰 잠깐 봤다"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695974" y="2641550"/>
            <a:ext cx="42803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합치면 40분 넘게 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24855" y="3003128"/>
            <a:ext cx="42803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"쉬는 시간은 10분이었다"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695974" y="3003128"/>
            <a:ext cx="42803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사실 30분 쉬었다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24855" y="3364706"/>
            <a:ext cx="42803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"수학 많이 했다"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695974" y="3364706"/>
            <a:ext cx="42803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영어는 20분도 안 했다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96119" y="3786634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3966418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899071" y="3941564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문제의 핵심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시간을 어디에 쓰는지 </a:t>
            </a:r>
            <a:r>
              <a:rPr b="1" i="0" lang="ko-KR" sz="18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정확히 모른다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시간을 어디에 쓰는지 알아야, 더 잘 쓸 수 있습니다!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496119" y="1088082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7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솔루션 — AI 공부 매니저</a:t>
            </a:r>
            <a:endParaRPr b="1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96119" y="1723653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컴퓨터 앞에 앉으면, 웹캠이 자동으로 나의 행동을 분류합니다. </a:t>
            </a:r>
            <a:b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모든 시간을 </a:t>
            </a:r>
            <a:r>
              <a:rPr b="1" i="0" lang="ko-KR" sz="11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순공 시간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딴짓 시간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2가지로 나누고, 딴짓도 종류별로 정확히 기록합니다.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06822" y="2352564"/>
            <a:ext cx="4103100" cy="1655700"/>
          </a:xfrm>
          <a:prstGeom prst="roundRect">
            <a:avLst>
              <a:gd fmla="val 1124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530796" y="2476537"/>
            <a:ext cx="3855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📖</a:t>
            </a:r>
            <a:r>
              <a:rPr b="0" i="0" lang="ko-KR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순공 시간 </a:t>
            </a: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🟢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30796" y="2799122"/>
            <a:ext cx="38553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교재 집중, 필기 중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화면 집중 학습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정면 응시 + 눈 초점 안정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728046" y="2476537"/>
            <a:ext cx="3924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📱</a:t>
            </a: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딴짓 시간 </a:t>
            </a: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🔴</a:t>
            </a: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(5종 세분화)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728046" y="2799122"/>
            <a:ext cx="39246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📱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핸드폰 사용 — YOLO가 객체 감지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😴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졸음/눈 감김 — EAR 비율 측정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😶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멍때림/고개 돌림 — 방향 이탈 감지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🚶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자리 비움 — 얼굴 미검출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❓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기타 비집중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96119" y="4147877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핵심은 순공 시간뿐 아니라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i="0" lang="ko-KR" sz="16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딴짓에 얼마나 썼는지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도 종류별로 알려준다는 점입니다!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496119" y="816769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페르소나 1 — 중학생 김서준 (14세, 중2)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496119" y="1514326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📋</a:t>
            </a:r>
            <a:r>
              <a:rPr b="1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기본 정보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496119" y="1852464"/>
            <a:ext cx="3924598" cy="1436787"/>
          </a:xfrm>
          <a:prstGeom prst="roundRect">
            <a:avLst>
              <a:gd fmla="val 1295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8" name="Google Shape;78;p7"/>
          <p:cNvSpPr/>
          <p:nvPr/>
        </p:nvSpPr>
        <p:spPr>
          <a:xfrm>
            <a:off x="500881" y="1857226"/>
            <a:ext cx="3915073" cy="356815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9" name="Google Shape;79;p7"/>
          <p:cNvSpPr/>
          <p:nvPr/>
        </p:nvSpPr>
        <p:spPr>
          <a:xfrm>
            <a:off x="624855" y="1936403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2584772" y="1936403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중학교 2학년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500881" y="2214042"/>
            <a:ext cx="3915073" cy="356815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2" name="Google Shape;82;p7"/>
          <p:cNvSpPr/>
          <p:nvPr/>
        </p:nvSpPr>
        <p:spPr>
          <a:xfrm>
            <a:off x="624855" y="2293218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2584772" y="2293218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국어, 수학, 영어, 과학, 사회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500881" y="2570857"/>
            <a:ext cx="3915073" cy="356815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5" name="Google Shape;85;p7"/>
          <p:cNvSpPr/>
          <p:nvPr/>
        </p:nvSpPr>
        <p:spPr>
          <a:xfrm>
            <a:off x="624855" y="2650034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학습 환경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2584772" y="2650034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방 책상, 엄마 노트북 웹캠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00881" y="2927672"/>
            <a:ext cx="3915073" cy="356815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8" name="Google Shape;88;p7"/>
          <p:cNvSpPr/>
          <p:nvPr/>
        </p:nvSpPr>
        <p:spPr>
          <a:xfrm>
            <a:off x="624855" y="3006849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일일 목표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2584772" y="3006849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순공 3시간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4728046" y="1514326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😅</a:t>
            </a:r>
            <a:r>
              <a:rPr b="1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서준이의 하루 실상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728046" y="1836911"/>
            <a:ext cx="3924598" cy="9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학교 끝나고 4시에 집에 옴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"공부한다"고 방에 들어감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5시간 후 나와서 "다 했어" 라고 말함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실제로는 유튜브 1시간, 핸드폰 40분, 간식 20분...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728046" y="2884884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🤔</a:t>
            </a:r>
            <a:r>
              <a:rPr b="1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서준이의 고민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728046" y="3207469"/>
            <a:ext cx="3924598" cy="44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"공부 좀 했는데 성적이 왜 안 오르지?"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50"/>
              <a:buFont typeface="Roboto"/>
              <a:buChar char="•"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"핸드폰을 그렇게 많이 본 것 같진 않은데..."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96119" y="3830687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010471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/>
          <p:nvPr/>
        </p:nvSpPr>
        <p:spPr>
          <a:xfrm>
            <a:off x="821644" y="4006742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니즈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내가 진짜 공부한 시간이 얼마인지, 딴짓은 뭘 했는지 </a:t>
            </a: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증거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로 보고 싶다.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/>
          <p:nvPr/>
        </p:nvSpPr>
        <p:spPr>
          <a:xfrm>
            <a:off x="496119" y="816769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페르소나 2 — 중학생 이하은 (14세, 중2)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496119" y="1514326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📋</a:t>
            </a:r>
            <a:r>
              <a:rPr b="1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기본 정보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496119" y="1852464"/>
            <a:ext cx="3924598" cy="1635249"/>
          </a:xfrm>
          <a:prstGeom prst="roundRect">
            <a:avLst>
              <a:gd fmla="val 1138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5" name="Google Shape;105;p8"/>
          <p:cNvSpPr/>
          <p:nvPr/>
        </p:nvSpPr>
        <p:spPr>
          <a:xfrm>
            <a:off x="500881" y="1857226"/>
            <a:ext cx="3915073" cy="356815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6" name="Google Shape;106;p8"/>
          <p:cNvSpPr/>
          <p:nvPr/>
        </p:nvSpPr>
        <p:spPr>
          <a:xfrm>
            <a:off x="624855" y="1936403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2584772" y="1936403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중학교 2학년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00881" y="2214042"/>
            <a:ext cx="3915073" cy="555278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9" name="Google Shape;109;p8"/>
          <p:cNvSpPr/>
          <p:nvPr/>
        </p:nvSpPr>
        <p:spPr>
          <a:xfrm>
            <a:off x="624855" y="2293218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2584772" y="2293218"/>
            <a:ext cx="170720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국어, 수학, 영어, 과학, </a:t>
            </a:r>
            <a:b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사회 + 피아노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500881" y="2769319"/>
            <a:ext cx="3915073" cy="356815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2" name="Google Shape;112;p8"/>
          <p:cNvSpPr/>
          <p:nvPr/>
        </p:nvSpPr>
        <p:spPr>
          <a:xfrm>
            <a:off x="624855" y="2848496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학습 환경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2584772" y="2848496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거실 책상, 데스크탑 웹캠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500881" y="3126135"/>
            <a:ext cx="3915073" cy="356815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15" name="Google Shape;115;p8"/>
          <p:cNvSpPr/>
          <p:nvPr/>
        </p:nvSpPr>
        <p:spPr>
          <a:xfrm>
            <a:off x="624855" y="3205311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일일 목표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2584772" y="3205311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순공 2시간 30분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728046" y="1514326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😅</a:t>
            </a:r>
            <a:r>
              <a:rPr b="1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하은이의 하루 실상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4728046" y="1836911"/>
            <a:ext cx="3924598" cy="9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학원 끝나고 7시에 집에 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저녁 먹고 8시부터 공부 시작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10시까지 2시간인데, 중간에 카톡이 계속 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카톡 답장하다 보면 30분이 금방 지남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4728046" y="2884884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🤔</a:t>
            </a:r>
            <a:r>
              <a:rPr b="1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하은이의 고민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728046" y="3207469"/>
            <a:ext cx="3924598" cy="440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"수학은 3시간 했는데 영어 단어는 10분도 안 했다"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"엄마가 공부 안 한다고 하는데, 나는 했거든!"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96119" y="3830687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010471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8"/>
          <p:cNvSpPr/>
          <p:nvPr/>
        </p:nvSpPr>
        <p:spPr>
          <a:xfrm>
            <a:off x="899071" y="3985617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니즈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엄마한테 </a:t>
            </a:r>
            <a:r>
              <a:rPr b="1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진짜 공부했다</a:t>
            </a:r>
            <a:r>
              <a:rPr b="1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는 증거를 보여주고 싶다. 과목별 균형도 잡고 싶다.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9"/>
          <p:cNvSpPr/>
          <p:nvPr/>
        </p:nvSpPr>
        <p:spPr>
          <a:xfrm>
            <a:off x="496119" y="962546"/>
            <a:ext cx="4722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페르소나 3 — 학부모 김영미 (42세)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96119" y="1660103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😟</a:t>
            </a: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영미씨의 고민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496119" y="1982688"/>
            <a:ext cx="2210098" cy="1079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"방에서 공부한다고 하는데, 성적이 안 올라"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"잔소리하면 싸우게 되고, 안 하면 불안하고"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"학원을 더 보내야 하나?"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3013550" y="1660100"/>
            <a:ext cx="2433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AI 공부 매니저가 제공하는 것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3013551" y="1982700"/>
            <a:ext cx="25362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아이의 공부 시간을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객관적 데이터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로 확인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일간/주간 리포트를 부모와 공유 가능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"이번 주 순공 15시간, 전주 대비 +2시간" 같은 팩트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57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Char char="•"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잔소리 대신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데이터로 대화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가능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496044" y="3694372"/>
            <a:ext cx="4722900" cy="694500"/>
          </a:xfrm>
          <a:prstGeom prst="roundRect">
            <a:avLst>
              <a:gd fmla="val 2679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17" y="3874156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9"/>
          <p:cNvSpPr/>
          <p:nvPr/>
        </p:nvSpPr>
        <p:spPr>
          <a:xfrm>
            <a:off x="898996" y="3849302"/>
            <a:ext cx="4195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"오늘 수학 1시간 했네, 영어도 조금 하자" </a:t>
            </a:r>
            <a:b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— 감정이 아닌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데이터 기반 소통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으로 부모-자녀 관계가 개선됩니다.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/>
          <p:nvPr/>
        </p:nvSpPr>
        <p:spPr>
          <a:xfrm>
            <a:off x="496119" y="543148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벤치마킹 — 기존 앱들의 한계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496119" y="1178719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현재 중학생들이 쓸 수 있는 앱들에는 공통적인 치명적 한계가 있습니다.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496119" y="1516707"/>
            <a:ext cx="8151763" cy="1812652"/>
          </a:xfrm>
          <a:prstGeom prst="roundRect">
            <a:avLst>
              <a:gd fmla="val 1027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6" name="Google Shape;146;p10"/>
          <p:cNvSpPr/>
          <p:nvPr/>
        </p:nvSpPr>
        <p:spPr>
          <a:xfrm>
            <a:off x="496119" y="1880667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7" name="Google Shape;147;p10"/>
          <p:cNvSpPr/>
          <p:nvPr/>
        </p:nvSpPr>
        <p:spPr>
          <a:xfrm>
            <a:off x="496119" y="2242245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8" name="Google Shape;148;p10"/>
          <p:cNvSpPr/>
          <p:nvPr/>
        </p:nvSpPr>
        <p:spPr>
          <a:xfrm>
            <a:off x="496119" y="2603822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9" name="Google Shape;149;p10"/>
          <p:cNvSpPr/>
          <p:nvPr/>
        </p:nvSpPr>
        <p:spPr>
          <a:xfrm>
            <a:off x="496119" y="2965400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0" name="Google Shape;150;p10"/>
          <p:cNvSpPr/>
          <p:nvPr/>
        </p:nvSpPr>
        <p:spPr>
          <a:xfrm>
            <a:off x="3215283" y="1516707"/>
            <a:ext cx="7753" cy="1812652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1" name="Google Shape;151;p10"/>
          <p:cNvSpPr/>
          <p:nvPr/>
        </p:nvSpPr>
        <p:spPr>
          <a:xfrm>
            <a:off x="5928792" y="1516707"/>
            <a:ext cx="7753" cy="1812652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2" name="Google Shape;152;p10"/>
          <p:cNvSpPr/>
          <p:nvPr/>
        </p:nvSpPr>
        <p:spPr>
          <a:xfrm>
            <a:off x="501774" y="1521470"/>
            <a:ext cx="2713509" cy="359197"/>
          </a:xfrm>
          <a:custGeom>
            <a:rect b="b" l="l" r="r" t="t"/>
            <a:pathLst>
              <a:path extrusionOk="0" h="359197" w="2713509">
                <a:moveTo>
                  <a:pt x="15506" y="0"/>
                </a:moveTo>
                <a:lnTo>
                  <a:pt x="2713509" y="0"/>
                </a:lnTo>
                <a:lnTo>
                  <a:pt x="2713509" y="359197"/>
                </a:lnTo>
                <a:lnTo>
                  <a:pt x="0" y="359197"/>
                </a:lnTo>
                <a:lnTo>
                  <a:pt x="0" y="15506"/>
                </a:lnTo>
                <a:cubicBezTo>
                  <a:pt x="0" y="6942"/>
                  <a:pt x="6942" y="0"/>
                  <a:pt x="15506" y="0"/>
                </a:cubicBezTo>
                <a:close/>
              </a:path>
            </a:pathLst>
          </a:cu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3" name="Google Shape;153;p10"/>
          <p:cNvSpPr/>
          <p:nvPr/>
        </p:nvSpPr>
        <p:spPr>
          <a:xfrm>
            <a:off x="625748" y="1600646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3215283" y="1521470"/>
            <a:ext cx="2713509" cy="359197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5" name="Google Shape;155;p10"/>
          <p:cNvSpPr/>
          <p:nvPr/>
        </p:nvSpPr>
        <p:spPr>
          <a:xfrm>
            <a:off x="3341638" y="1600646"/>
            <a:ext cx="29179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장점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5928792" y="1521470"/>
            <a:ext cx="2713509" cy="359197"/>
          </a:xfrm>
          <a:custGeom>
            <a:rect b="b" l="l" r="r" t="t"/>
            <a:pathLst>
              <a:path extrusionOk="0" h="359197" w="2713509">
                <a:moveTo>
                  <a:pt x="0" y="0"/>
                </a:moveTo>
                <a:lnTo>
                  <a:pt x="2698003" y="0"/>
                </a:lnTo>
                <a:cubicBezTo>
                  <a:pt x="2702115" y="0"/>
                  <a:pt x="2706059" y="1634"/>
                  <a:pt x="2708967" y="4542"/>
                </a:cubicBezTo>
                <a:cubicBezTo>
                  <a:pt x="2711875" y="7450"/>
                  <a:pt x="2713509" y="11394"/>
                  <a:pt x="2713509" y="15506"/>
                </a:cubicBezTo>
                <a:lnTo>
                  <a:pt x="2713509" y="359197"/>
                </a:lnTo>
                <a:lnTo>
                  <a:pt x="0" y="359197"/>
                </a:lnTo>
                <a:lnTo>
                  <a:pt x="0" y="0"/>
                </a:lnTo>
                <a:close/>
              </a:path>
            </a:pathLst>
          </a:cu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7" name="Google Shape;157;p10"/>
          <p:cNvSpPr/>
          <p:nvPr/>
        </p:nvSpPr>
        <p:spPr>
          <a:xfrm>
            <a:off x="6055147" y="1600646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한계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625748" y="1962224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열품타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3341638" y="1962224"/>
            <a:ext cx="29179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타이머, 랭킹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6055147" y="1962224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수동 버튼식 — 딴짓해도 시간이 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625748" y="2323802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Forest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3341638" y="2323802"/>
            <a:ext cx="29179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나무 키우기 재미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6055147" y="2323802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PC 안 됨, 과목별 관리 없음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625748" y="2685380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스터디윗미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3341638" y="2685380"/>
            <a:ext cx="29179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유튜브 같이 공부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6055147" y="2685380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실제 집중 확인 불가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625748" y="3046958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뽀모도로 타이머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3341638" y="3046958"/>
            <a:ext cx="29179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25분 집중 + 5분 휴식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6055147" y="3046958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25분 중 딴짓해도 모름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496119" y="3468886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3648670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0"/>
          <p:cNvSpPr/>
          <p:nvPr/>
        </p:nvSpPr>
        <p:spPr>
          <a:xfrm>
            <a:off x="899071" y="3623816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공통 문제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"시작 버튼 누르고 핸드폰 보면, </a:t>
            </a:r>
            <a:r>
              <a:rPr b="0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앱은 공부 중이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라고 기록함"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96119" y="4104382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92" y="4284166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/>
          <p:nvPr/>
        </p:nvSpPr>
        <p:spPr>
          <a:xfrm>
            <a:off x="899071" y="4259312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우리 서비스의 차이</a:t>
            </a:r>
            <a:r>
              <a:rPr b="0" i="0" lang="ko-KR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"웹캠이 지켜보고 있어서, </a:t>
            </a:r>
            <a:r>
              <a:rPr b="1" i="0" lang="ko-KR" sz="13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핸드폰 보면 자동으로 딴짓 시간</a:t>
            </a:r>
            <a:r>
              <a:rPr b="0" i="0" lang="ko-KR" sz="13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에 기록됨"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496119" y="609005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핵심 기능 요약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496119" y="1244575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5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공부 매니저의 </a:t>
            </a:r>
            <a:r>
              <a:rPr b="1" i="0" lang="ko-KR" sz="15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4가지 핵심 기능</a:t>
            </a:r>
            <a:r>
              <a:rPr b="0" i="0" lang="ko-KR" sz="15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유기적으로 작동하여 진짜 공부 시간을 측정합니다.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496119" y="1582564"/>
            <a:ext cx="4013895" cy="1413942"/>
          </a:xfrm>
          <a:prstGeom prst="roundRect">
            <a:avLst>
              <a:gd fmla="val 131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620092" y="1706538"/>
            <a:ext cx="372070" cy="37207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2" y="1808783"/>
            <a:ext cx="167432" cy="16743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1"/>
          <p:cNvSpPr/>
          <p:nvPr/>
        </p:nvSpPr>
        <p:spPr>
          <a:xfrm>
            <a:off x="620092" y="2139780"/>
            <a:ext cx="3765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자동 행동 분류 </a:t>
            </a: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🤖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620092" y="2475607"/>
            <a:ext cx="376594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웹캠이 집중/딴짓을 자동 판별. 순공 시간 vs 딴짓 시간을 실시간 분류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4633987" y="1582564"/>
            <a:ext cx="4013895" cy="1413942"/>
          </a:xfrm>
          <a:prstGeom prst="roundRect">
            <a:avLst>
              <a:gd fmla="val 131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4757961" y="1706538"/>
            <a:ext cx="372070" cy="37207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" name="Google Shape;19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0280" y="1808783"/>
            <a:ext cx="167432" cy="167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1"/>
          <p:cNvSpPr/>
          <p:nvPr/>
        </p:nvSpPr>
        <p:spPr>
          <a:xfrm>
            <a:off x="4757961" y="2139780"/>
            <a:ext cx="3765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딴짓 세분화 </a:t>
            </a: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📱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4757961" y="2475607"/>
            <a:ext cx="376594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핸드폰 몇 분, 졸음 몇 분, 멍때림 몇 분 각각 기록. "시간이 어디로 갔는지" 파악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96119" y="3120479"/>
            <a:ext cx="4013895" cy="1413942"/>
          </a:xfrm>
          <a:prstGeom prst="roundRect">
            <a:avLst>
              <a:gd fmla="val 131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620092" y="3244453"/>
            <a:ext cx="372070" cy="37207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412" y="3346698"/>
            <a:ext cx="167432" cy="167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1"/>
          <p:cNvSpPr/>
          <p:nvPr/>
        </p:nvSpPr>
        <p:spPr>
          <a:xfrm>
            <a:off x="620092" y="3677695"/>
            <a:ext cx="3765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실시간 알림 </a:t>
            </a: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⚡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620092" y="4013522"/>
            <a:ext cx="376594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고개 오래 돌리면 "집중해 주세요!", 50분 집중하면 "잘하고 있어요! 쉬는 시간!"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4633987" y="3120479"/>
            <a:ext cx="4013895" cy="1413942"/>
          </a:xfrm>
          <a:prstGeom prst="roundRect">
            <a:avLst>
              <a:gd fmla="val 131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4757961" y="3244453"/>
            <a:ext cx="372070" cy="37207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60280" y="3346698"/>
            <a:ext cx="167432" cy="16743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1"/>
          <p:cNvSpPr/>
          <p:nvPr/>
        </p:nvSpPr>
        <p:spPr>
          <a:xfrm>
            <a:off x="4757961" y="3677695"/>
            <a:ext cx="3765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통계 + 코멘트 </a:t>
            </a: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📊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4757961" y="4013522"/>
            <a:ext cx="376594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1일 / 1주일 / 1달 통계 자동 생성 및 "이번 주 수학 시간이 부족해요" 같은 AI 코멘트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/>
          <p:nvPr/>
        </p:nvSpPr>
        <p:spPr>
          <a:xfrm>
            <a:off x="496119" y="500041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시간 분류 체계 — 2가지 시간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496119" y="1187946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모든 시간을 </a:t>
            </a:r>
            <a:r>
              <a:rPr b="1" i="0" lang="ko-KR" sz="16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순공 시간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 </a:t>
            </a:r>
            <a:r>
              <a:rPr b="1" i="0" lang="ko-KR" sz="15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딴짓 시간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2가지로 나누고, 딴짓은 5종으로 세분화합니다.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406822" y="1525935"/>
            <a:ext cx="4103191" cy="1655787"/>
          </a:xfrm>
          <a:prstGeom prst="roundRect">
            <a:avLst>
              <a:gd fmla="val 1124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530796" y="1649909"/>
            <a:ext cx="38552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🟢</a:t>
            </a:r>
            <a:r>
              <a:rPr b="0" i="0" lang="ko-KR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순공 시간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530796" y="1972494"/>
            <a:ext cx="3855244" cy="68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교재/노트 집중 — 고개 아래 방향 + 안정적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화면 집중 학습 — 정면 응시 + 눈 초점 안정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필기 중 — 고개 아래 + 미세한 움직임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4728046" y="1649909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🔴</a:t>
            </a:r>
            <a:r>
              <a:rPr b="1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딴짓 시간 (5종 세분화)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4728046" y="1972494"/>
            <a:ext cx="3924598" cy="1165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📱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핸드폰 — YOLO 핸드폰 감지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😴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졸음 — 눈 감김 1.5초 이상 (EAR)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😶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멍때림 — 고개 방향 30°+ 이탈 2초+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🚶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자리 비움 — 얼굴 미검출 1초+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"/>
              <a:buChar char="•"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❓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기타 비집중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496119" y="3367757"/>
            <a:ext cx="815176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일일 시간 사용 예시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496119" y="3809628"/>
            <a:ext cx="1130573" cy="155004"/>
          </a:xfrm>
          <a:prstGeom prst="roundRect">
            <a:avLst>
              <a:gd fmla="val 1200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496119" y="3809628"/>
            <a:ext cx="700906" cy="155004"/>
          </a:xfrm>
          <a:prstGeom prst="roundRect">
            <a:avLst>
              <a:gd fmla="val 12004" name="adj"/>
            </a:avLst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1719709" y="3809554"/>
            <a:ext cx="282699" cy="15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62%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496119" y="4119637"/>
            <a:ext cx="1506289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🟢</a:t>
            </a: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순공 시간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496119" y="4392662"/>
            <a:ext cx="150628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1시간 52분 집중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2157413" y="3809628"/>
            <a:ext cx="1152376" cy="155004"/>
          </a:xfrm>
          <a:prstGeom prst="roundRect">
            <a:avLst>
              <a:gd fmla="val 1200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2157413" y="3809628"/>
            <a:ext cx="184324" cy="155004"/>
          </a:xfrm>
          <a:prstGeom prst="roundRect">
            <a:avLst>
              <a:gd fmla="val 12004" name="adj"/>
            </a:avLst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3402806" y="3809554"/>
            <a:ext cx="260970" cy="15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16%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2157413" y="4119637"/>
            <a:ext cx="150636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📱</a:t>
            </a: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핸드폰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2157413" y="4392662"/>
            <a:ext cx="150636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28분 사용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3818781" y="3809628"/>
            <a:ext cx="1217191" cy="155004"/>
          </a:xfrm>
          <a:prstGeom prst="roundRect">
            <a:avLst>
              <a:gd fmla="val 1200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3818781" y="3809628"/>
            <a:ext cx="97334" cy="155004"/>
          </a:xfrm>
          <a:prstGeom prst="roundRect">
            <a:avLst>
              <a:gd fmla="val 19117" name="adj"/>
            </a:avLst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5128989" y="3809554"/>
            <a:ext cx="196155" cy="15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8%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3818781" y="4119637"/>
            <a:ext cx="150636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😶</a:t>
            </a: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멍때림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3818781" y="4392662"/>
            <a:ext cx="150636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15분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5480149" y="3809628"/>
            <a:ext cx="1217414" cy="155004"/>
          </a:xfrm>
          <a:prstGeom prst="roundRect">
            <a:avLst>
              <a:gd fmla="val 1200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5480149" y="3809628"/>
            <a:ext cx="85204" cy="155004"/>
          </a:xfrm>
          <a:prstGeom prst="roundRect">
            <a:avLst>
              <a:gd fmla="val 21838" name="adj"/>
            </a:avLst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6790581" y="3809554"/>
            <a:ext cx="195932" cy="15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7%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5480149" y="4119637"/>
            <a:ext cx="150636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🚶</a:t>
            </a: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자리 비움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5480149" y="4392662"/>
            <a:ext cx="150636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12분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7141518" y="3809628"/>
            <a:ext cx="1217340" cy="155004"/>
          </a:xfrm>
          <a:prstGeom prst="roundRect">
            <a:avLst>
              <a:gd fmla="val 1200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7141518" y="3809628"/>
            <a:ext cx="85204" cy="155004"/>
          </a:xfrm>
          <a:prstGeom prst="roundRect">
            <a:avLst>
              <a:gd fmla="val 21838" name="adj"/>
            </a:avLst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8451875" y="3809554"/>
            <a:ext cx="195932" cy="15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7%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7141518" y="4119637"/>
            <a:ext cx="1506289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😴</a:t>
            </a: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졸음+기타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7141518" y="4392662"/>
            <a:ext cx="150628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13분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/>
          <p:nvPr/>
        </p:nvSpPr>
        <p:spPr>
          <a:xfrm>
            <a:off x="496119" y="730895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실시간 알림 — 체크 &amp; 응원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496119" y="1366465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공부하는 동안 웹캠이 상황을 체크하고, 맞춤 메시지를 자동으로 보여줍니다.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496119" y="1828428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⚠️</a:t>
            </a:r>
            <a:r>
              <a:rPr b="1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경고 알림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166565"/>
            <a:ext cx="1900312" cy="991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3"/>
          <p:cNvSpPr/>
          <p:nvPr/>
        </p:nvSpPr>
        <p:spPr>
          <a:xfrm>
            <a:off x="691530" y="2304827"/>
            <a:ext cx="156663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고개 10초+ 돌림</a:t>
            </a:r>
            <a:endParaRPr b="1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691530" y="2622649"/>
            <a:ext cx="1566639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"집중해 주세요! 다시 교재를 봐볼까요?"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0404" y="2166565"/>
            <a:ext cx="1900312" cy="991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3"/>
          <p:cNvSpPr/>
          <p:nvPr/>
        </p:nvSpPr>
        <p:spPr>
          <a:xfrm>
            <a:off x="2715816" y="2304827"/>
            <a:ext cx="156663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핸드폰 3분 경과</a:t>
            </a:r>
            <a:endParaRPr b="1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2715816" y="2622649"/>
            <a:ext cx="1566639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"핸드폰 3분째예요. 내려놓을까요?"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281809"/>
            <a:ext cx="1900312" cy="991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3"/>
          <p:cNvSpPr/>
          <p:nvPr/>
        </p:nvSpPr>
        <p:spPr>
          <a:xfrm>
            <a:off x="691530" y="3420070"/>
            <a:ext cx="156663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핸드폰 5분 경과</a:t>
            </a:r>
            <a:endParaRPr b="1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691530" y="3737893"/>
            <a:ext cx="1566639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"핸드폰 5분! 지금 내려놓으면 아직 늦지 않았어요!"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8" name="Google Shape;2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0404" y="3281809"/>
            <a:ext cx="1900312" cy="991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3"/>
          <p:cNvSpPr/>
          <p:nvPr/>
        </p:nvSpPr>
        <p:spPr>
          <a:xfrm>
            <a:off x="2715816" y="3420070"/>
            <a:ext cx="156663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졸음 감지</a:t>
            </a:r>
            <a:endParaRPr b="1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2715816" y="3737893"/>
            <a:ext cx="1566639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"졸리면 5분만 스트레칭 하고 와요!" +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4728046" y="1828428"/>
            <a:ext cx="39245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🎉</a:t>
            </a:r>
            <a:r>
              <a:rPr b="1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응원 알림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4728046" y="2319114"/>
            <a:ext cx="188475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25분 연속 집중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4728046" y="2636937"/>
            <a:ext cx="1884759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"25분 집중 완료! 대단해요! 5분 쉬어도 돼요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😊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4713759" y="2166565"/>
            <a:ext cx="1913334" cy="28575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6767810" y="2319114"/>
            <a:ext cx="1884834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50분 연속 집중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6767810" y="2636937"/>
            <a:ext cx="1884834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"50분이나 집중했어요!! 10분 푹 쉬고 오세요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🏆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6753523" y="2166565"/>
            <a:ext cx="1913409" cy="28575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4728046" y="3434432"/>
            <a:ext cx="1884759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오늘 목표 달성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4728046" y="3752255"/>
            <a:ext cx="1884759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"오늘 목표 완료!! 정말 잘했어요!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🎊🎊🎊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4713759" y="3281883"/>
            <a:ext cx="1913334" cy="28575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6767810" y="3434432"/>
            <a:ext cx="1884834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3일 연속 사용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6767810" y="3752255"/>
            <a:ext cx="1884834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"3일 연속 공부! 꾸준함이 실력이에요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💪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6753523" y="3281883"/>
            <a:ext cx="1913409" cy="28575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유저 시나리오 1 — 첫 사용: 과목 설정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496119" y="596950"/>
            <a:ext cx="8608963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서준이가 처음 AI 공부 매니저를 사용하는 과정입니다.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설치 없이 브라우저만으로 바로 시작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할 수 있습니다.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713" y="1051545"/>
            <a:ext cx="8151748" cy="177657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4"/>
          <p:cNvSpPr/>
          <p:nvPr/>
        </p:nvSpPr>
        <p:spPr>
          <a:xfrm>
            <a:off x="2882388" y="2086038"/>
            <a:ext cx="12321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1" i="0" lang="ko-KR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과목 등록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2882388" y="2369383"/>
            <a:ext cx="12321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공부할 과목과 목표 설정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6796270" y="2086038"/>
            <a:ext cx="12321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1" i="0" lang="ko-KR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공부 시작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6796270" y="2369383"/>
            <a:ext cx="12321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 선택 후 학습 시작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1052339" y="1372925"/>
            <a:ext cx="12321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1" i="0" lang="ko-KR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브라우저 접속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1052339" y="1656269"/>
            <a:ext cx="12321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설치 없이 바로 시작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4950532" y="1372925"/>
            <a:ext cx="12321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1" i="0" lang="ko-KR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웹캠 연결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4950532" y="1656269"/>
            <a:ext cx="12321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카메라 권한을 허용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433325" y="3594525"/>
            <a:ext cx="8151900" cy="1329300"/>
          </a:xfrm>
          <a:prstGeom prst="roundRect">
            <a:avLst>
              <a:gd fmla="val 1264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91" name="Google Shape;291;p14"/>
          <p:cNvSpPr/>
          <p:nvPr/>
        </p:nvSpPr>
        <p:spPr>
          <a:xfrm>
            <a:off x="438087" y="3603128"/>
            <a:ext cx="8141400" cy="218700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92" name="Google Shape;292;p14"/>
          <p:cNvSpPr/>
          <p:nvPr/>
        </p:nvSpPr>
        <p:spPr>
          <a:xfrm>
            <a:off x="500967" y="3645341"/>
            <a:ext cx="3044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3216849" y="3645341"/>
            <a:ext cx="3042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일일 목표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5930351" y="3645341"/>
            <a:ext cx="3044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주간 목표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438087" y="3821855"/>
            <a:ext cx="8141400" cy="218700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96" name="Google Shape;296;p14"/>
          <p:cNvSpPr/>
          <p:nvPr/>
        </p:nvSpPr>
        <p:spPr>
          <a:xfrm>
            <a:off x="500967" y="3864067"/>
            <a:ext cx="3044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3216849" y="3864067"/>
            <a:ext cx="3042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1시간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5930351" y="3864067"/>
            <a:ext cx="3044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5시간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438087" y="4040582"/>
            <a:ext cx="8141400" cy="218700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00" name="Google Shape;300;p14"/>
          <p:cNvSpPr/>
          <p:nvPr/>
        </p:nvSpPr>
        <p:spPr>
          <a:xfrm>
            <a:off x="500967" y="4082794"/>
            <a:ext cx="3044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3216849" y="4082794"/>
            <a:ext cx="3042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40분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5930351" y="4082794"/>
            <a:ext cx="3044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3시간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438087" y="4259307"/>
            <a:ext cx="8141400" cy="218700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04" name="Google Shape;304;p14"/>
          <p:cNvSpPr/>
          <p:nvPr/>
        </p:nvSpPr>
        <p:spPr>
          <a:xfrm>
            <a:off x="500967" y="4301519"/>
            <a:ext cx="3044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국어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3216849" y="4301519"/>
            <a:ext cx="3042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5930351" y="4301519"/>
            <a:ext cx="3044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2시간 30분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438087" y="4478033"/>
            <a:ext cx="8141400" cy="218700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08" name="Google Shape;308;p14"/>
          <p:cNvSpPr/>
          <p:nvPr/>
        </p:nvSpPr>
        <p:spPr>
          <a:xfrm>
            <a:off x="500967" y="4520246"/>
            <a:ext cx="3044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3216849" y="4520246"/>
            <a:ext cx="3042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5930351" y="4520246"/>
            <a:ext cx="3044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2시간 30분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438087" y="4696760"/>
            <a:ext cx="8141400" cy="218700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12" name="Google Shape;312;p14"/>
          <p:cNvSpPr/>
          <p:nvPr/>
        </p:nvSpPr>
        <p:spPr>
          <a:xfrm>
            <a:off x="500967" y="4738973"/>
            <a:ext cx="3044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3216849" y="4738973"/>
            <a:ext cx="3042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20분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5930351" y="4738973"/>
            <a:ext cx="30444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1시간 30분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0" name="Google Shape;3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5"/>
          <p:cNvSpPr/>
          <p:nvPr/>
        </p:nvSpPr>
        <p:spPr>
          <a:xfrm>
            <a:off x="496119" y="363587"/>
            <a:ext cx="4722763" cy="363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1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유저 시나리오 2 — 공부 시작</a:t>
            </a:r>
            <a:endParaRPr b="1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496119" y="890439"/>
            <a:ext cx="4722763" cy="36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서준이가 수학 공부를 시작합니다. 화면에는 </a:t>
            </a:r>
            <a:r>
              <a:rPr b="1" i="0" lang="ko-KR" sz="1600" u="none" cap="none" strike="noStrike">
                <a:solidFill>
                  <a:srgbClr val="476FD6"/>
                </a:solidFill>
                <a:latin typeface="Roboto"/>
                <a:ea typeface="Roboto"/>
                <a:cs typeface="Roboto"/>
                <a:sym typeface="Roboto"/>
              </a:rPr>
              <a:t>순공 타이머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와 딴짓 타이머가 나란히 보여서, 내 시간이 어디로 가는지 </a:t>
            </a: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실시간으로 체감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할 수 있습니다.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496119" y="1373535"/>
            <a:ext cx="4722763" cy="2658070"/>
          </a:xfrm>
          <a:prstGeom prst="roundRect">
            <a:avLst>
              <a:gd fmla="val 65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496119" y="1373535"/>
            <a:ext cx="4722763" cy="659755"/>
          </a:xfrm>
          <a:custGeom>
            <a:rect b="b" l="l" r="r" t="t"/>
            <a:pathLst>
              <a:path extrusionOk="0" h="659755" w="4722763">
                <a:moveTo>
                  <a:pt x="14537" y="0"/>
                </a:moveTo>
                <a:lnTo>
                  <a:pt x="4708226" y="0"/>
                </a:lnTo>
                <a:cubicBezTo>
                  <a:pt x="4712081" y="0"/>
                  <a:pt x="4715779" y="1532"/>
                  <a:pt x="4718505" y="4258"/>
                </a:cubicBezTo>
                <a:cubicBezTo>
                  <a:pt x="4721231" y="6984"/>
                  <a:pt x="4722763" y="10682"/>
                  <a:pt x="4722763" y="14537"/>
                </a:cubicBezTo>
                <a:lnTo>
                  <a:pt x="4722763" y="659755"/>
                </a:lnTo>
                <a:lnTo>
                  <a:pt x="0" y="659755"/>
                </a:lnTo>
                <a:lnTo>
                  <a:pt x="0" y="14537"/>
                </a:lnTo>
                <a:cubicBezTo>
                  <a:pt x="0" y="6508"/>
                  <a:pt x="6508" y="0"/>
                  <a:pt x="14537" y="0"/>
                </a:cubicBezTo>
                <a:close/>
              </a:path>
            </a:pathLst>
          </a:cu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612353" y="1489770"/>
            <a:ext cx="4490293" cy="18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상단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612353" y="1736824"/>
            <a:ext cx="4490293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현재 과목: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수학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/ 오늘 목표: 1시간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496119" y="2033290"/>
            <a:ext cx="4722763" cy="669280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"/>
          <p:cNvSpPr/>
          <p:nvPr/>
        </p:nvSpPr>
        <p:spPr>
          <a:xfrm>
            <a:off x="496119" y="2033290"/>
            <a:ext cx="4722763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612353" y="2149525"/>
            <a:ext cx="4490293" cy="19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1" i="0" lang="ko-KR" sz="11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🟢</a:t>
            </a:r>
            <a:r>
              <a:rPr b="1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순공 시간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612353" y="2406104"/>
            <a:ext cx="4490293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00:23:15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집중 중이면 실시간 증가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496119" y="2702570"/>
            <a:ext cx="4722763" cy="669280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496119" y="2702570"/>
            <a:ext cx="4722763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612353" y="2818805"/>
            <a:ext cx="4490293" cy="19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1" i="0" lang="ko-KR" sz="11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🔴</a:t>
            </a:r>
            <a:r>
              <a:rPr b="1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딴짓 시간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612353" y="3075384"/>
            <a:ext cx="4490293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00:04:30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딴짓하면 자동으로 증가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496119" y="3371850"/>
            <a:ext cx="4722763" cy="659755"/>
          </a:xfrm>
          <a:custGeom>
            <a:rect b="b" l="l" r="r" t="t"/>
            <a:pathLst>
              <a:path extrusionOk="0" h="659755" w="4722763">
                <a:moveTo>
                  <a:pt x="0" y="0"/>
                </a:moveTo>
                <a:lnTo>
                  <a:pt x="4722763" y="0"/>
                </a:lnTo>
                <a:lnTo>
                  <a:pt x="4722763" y="645218"/>
                </a:lnTo>
                <a:cubicBezTo>
                  <a:pt x="4722763" y="653247"/>
                  <a:pt x="4716255" y="659755"/>
                  <a:pt x="4708226" y="659755"/>
                </a:cubicBezTo>
                <a:lnTo>
                  <a:pt x="14537" y="659755"/>
                </a:lnTo>
                <a:cubicBezTo>
                  <a:pt x="6508" y="659755"/>
                  <a:pt x="0" y="653247"/>
                  <a:pt x="0" y="645218"/>
                </a:cubicBezTo>
                <a:lnTo>
                  <a:pt x="0" y="0"/>
                </a:lnTo>
                <a:close/>
              </a:path>
            </a:pathLst>
          </a:cu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5"/>
          <p:cNvSpPr/>
          <p:nvPr/>
        </p:nvSpPr>
        <p:spPr>
          <a:xfrm>
            <a:off x="496119" y="3371850"/>
            <a:ext cx="4722763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5"/>
          <p:cNvSpPr/>
          <p:nvPr/>
        </p:nvSpPr>
        <p:spPr>
          <a:xfrm>
            <a:off x="612353" y="3488085"/>
            <a:ext cx="4490293" cy="18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현재 상태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612353" y="3735139"/>
            <a:ext cx="4490293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</a:t>
            </a: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🟢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집중 중! 잘하고 있어요"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496119" y="4154239"/>
            <a:ext cx="4722763" cy="625599"/>
          </a:xfrm>
          <a:prstGeom prst="roundRect">
            <a:avLst>
              <a:gd fmla="val 2788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0" name="Google Shape;3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353" y="4316834"/>
            <a:ext cx="145331" cy="11623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5"/>
          <p:cNvSpPr/>
          <p:nvPr/>
        </p:nvSpPr>
        <p:spPr>
          <a:xfrm>
            <a:off x="873919" y="4292278"/>
            <a:ext cx="4228728" cy="360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1" i="0" lang="ko-KR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포인트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순공 타이머와 딴짓 타이머가 </a:t>
            </a:r>
            <a:r>
              <a:rPr b="1" i="0" lang="ko-KR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동시에 보임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0" i="0" lang="ko-KR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→ 내 시간이 어디로 가는지 실시간 체감 가능!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"/>
          <p:cNvSpPr/>
          <p:nvPr/>
        </p:nvSpPr>
        <p:spPr>
          <a:xfrm>
            <a:off x="496119" y="391567"/>
            <a:ext cx="8151763" cy="357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0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유저 시나리오 3 — 세션 종료 리포트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496119" y="959718"/>
            <a:ext cx="8608963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수학 공부를 끝내고 "종료"를 누르면 나오는 리포트입니다. 수학 세션 (16:00~17:15) 결과 예시: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496119" y="1372642"/>
            <a:ext cx="3936429" cy="1257002"/>
          </a:xfrm>
          <a:prstGeom prst="roundRect">
            <a:avLst>
              <a:gd fmla="val 1365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50" name="Google Shape;350;p16"/>
          <p:cNvSpPr/>
          <p:nvPr/>
        </p:nvSpPr>
        <p:spPr>
          <a:xfrm>
            <a:off x="496131" y="1412417"/>
            <a:ext cx="3926400" cy="312000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51" name="Google Shape;351;p16"/>
          <p:cNvSpPr/>
          <p:nvPr/>
        </p:nvSpPr>
        <p:spPr>
          <a:xfrm>
            <a:off x="615702" y="1445419"/>
            <a:ext cx="1534864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항목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1926729" y="1445419"/>
            <a:ext cx="1532483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3235375" y="1445419"/>
            <a:ext cx="1534864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비율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500881" y="1689274"/>
            <a:ext cx="3926458" cy="311869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55" name="Google Shape;355;p16"/>
          <p:cNvSpPr/>
          <p:nvPr/>
        </p:nvSpPr>
        <p:spPr>
          <a:xfrm>
            <a:off x="615702" y="1757288"/>
            <a:ext cx="1534864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⏱️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총 경과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1926729" y="1757288"/>
            <a:ext cx="1532483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1시간 15분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3235375" y="1757288"/>
            <a:ext cx="1534864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500881" y="2001143"/>
            <a:ext cx="3926458" cy="311869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59" name="Google Shape;359;p16"/>
          <p:cNvSpPr/>
          <p:nvPr/>
        </p:nvSpPr>
        <p:spPr>
          <a:xfrm>
            <a:off x="615702" y="2069157"/>
            <a:ext cx="1534864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🟢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순공 시간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1926729" y="2069157"/>
            <a:ext cx="1532483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48분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3235375" y="2069157"/>
            <a:ext cx="1534864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64%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500881" y="2313012"/>
            <a:ext cx="3926458" cy="311869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63" name="Google Shape;363;p16"/>
          <p:cNvSpPr/>
          <p:nvPr/>
        </p:nvSpPr>
        <p:spPr>
          <a:xfrm>
            <a:off x="615702" y="2381027"/>
            <a:ext cx="1534864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🔴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딴짓 합계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1926729" y="2381027"/>
            <a:ext cx="1532483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27분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3235375" y="2381027"/>
            <a:ext cx="1534864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496119" y="2748186"/>
            <a:ext cx="3936429" cy="178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100"/>
              <a:buFont typeface="Roboto Slab"/>
              <a:buNone/>
            </a:pPr>
            <a:r>
              <a:rPr b="1" i="0" lang="ko-KR" sz="1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딴짓 상세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496119" y="3045396"/>
            <a:ext cx="3936429" cy="1587922"/>
          </a:xfrm>
          <a:prstGeom prst="roundRect">
            <a:avLst>
              <a:gd fmla="val 108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68" name="Google Shape;368;p16"/>
          <p:cNvSpPr/>
          <p:nvPr/>
        </p:nvSpPr>
        <p:spPr>
          <a:xfrm>
            <a:off x="496119" y="3364409"/>
            <a:ext cx="3936429" cy="7147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69" name="Google Shape;369;p16"/>
          <p:cNvSpPr/>
          <p:nvPr/>
        </p:nvSpPr>
        <p:spPr>
          <a:xfrm>
            <a:off x="496119" y="3681040"/>
            <a:ext cx="3936429" cy="7147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70" name="Google Shape;370;p16"/>
          <p:cNvSpPr/>
          <p:nvPr/>
        </p:nvSpPr>
        <p:spPr>
          <a:xfrm>
            <a:off x="496119" y="3997672"/>
            <a:ext cx="3936429" cy="7147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71" name="Google Shape;371;p16"/>
          <p:cNvSpPr/>
          <p:nvPr/>
        </p:nvSpPr>
        <p:spPr>
          <a:xfrm>
            <a:off x="496119" y="4314304"/>
            <a:ext cx="3936429" cy="7147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72" name="Google Shape;372;p16"/>
          <p:cNvSpPr/>
          <p:nvPr/>
        </p:nvSpPr>
        <p:spPr>
          <a:xfrm>
            <a:off x="615702" y="3118172"/>
            <a:ext cx="153724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종류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1924348" y="3118172"/>
            <a:ext cx="153724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3232993" y="3118172"/>
            <a:ext cx="153724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횟수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615702" y="3434804"/>
            <a:ext cx="153724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📱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핸드폰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1924348" y="3434804"/>
            <a:ext cx="153724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12분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3232993" y="3434804"/>
            <a:ext cx="153724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615702" y="3751436"/>
            <a:ext cx="153724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😶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멍때림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1924348" y="3751436"/>
            <a:ext cx="153724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8분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3232993" y="3751436"/>
            <a:ext cx="153724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6회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615702" y="4068068"/>
            <a:ext cx="153724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🚶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자리 비움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1924348" y="4068068"/>
            <a:ext cx="153724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3232993" y="4068068"/>
            <a:ext cx="153724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615702" y="4384700"/>
            <a:ext cx="153724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😴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졸음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1924348" y="4384700"/>
            <a:ext cx="153724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3232993" y="4384700"/>
            <a:ext cx="153724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4887739" y="1478012"/>
            <a:ext cx="3764905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💬</a:t>
            </a: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AI 코멘트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4887739" y="1766813"/>
            <a:ext cx="3764905" cy="351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"수학 순공 48분! 목표 1시간까지 12분 남았어요. 핸드폰을 4번 봤는데, 무음 모드로 바꾸면 10분은 더 집중할 수 있어요!"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4716214" y="1372642"/>
            <a:ext cx="14288" cy="840730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"/>
          <p:cNvSpPr/>
          <p:nvPr/>
        </p:nvSpPr>
        <p:spPr>
          <a:xfrm>
            <a:off x="496119" y="391046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유저 시나리오 4 — 서준이의 하루 전체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496119" y="1026616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서준이가 하루 동안 AI 공부 매니저를 사용한 기록입니다. 총 </a:t>
            </a:r>
            <a:r>
              <a:rPr b="1" i="0" lang="ko-KR" sz="15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순공 2시간 8분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을 기록했습니다.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496119" y="1364605"/>
            <a:ext cx="8151763" cy="2150418"/>
          </a:xfrm>
          <a:prstGeom prst="roundRect">
            <a:avLst>
              <a:gd fmla="val 865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98" name="Google Shape;398;p17"/>
          <p:cNvSpPr/>
          <p:nvPr/>
        </p:nvSpPr>
        <p:spPr>
          <a:xfrm>
            <a:off x="500881" y="1369368"/>
            <a:ext cx="8142238" cy="356815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99" name="Google Shape;399;p17"/>
          <p:cNvSpPr/>
          <p:nvPr/>
        </p:nvSpPr>
        <p:spPr>
          <a:xfrm>
            <a:off x="625078" y="1448544"/>
            <a:ext cx="183527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2255862" y="1448544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3884265" y="1448544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순공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5512668" y="1448544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딴짓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7141071" y="1448544"/>
            <a:ext cx="183527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주요 딴짓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500881" y="1726183"/>
            <a:ext cx="8142238" cy="356815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05" name="Google Shape;405;p17"/>
          <p:cNvSpPr/>
          <p:nvPr/>
        </p:nvSpPr>
        <p:spPr>
          <a:xfrm>
            <a:off x="625078" y="1805360"/>
            <a:ext cx="183527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16:00~17:15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2255862" y="1805360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3884265" y="1805360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48분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5512668" y="1805360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27분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7141071" y="1805360"/>
            <a:ext cx="183527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📱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12분, 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😶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8분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500881" y="2082998"/>
            <a:ext cx="8142238" cy="356815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11" name="Google Shape;411;p17"/>
          <p:cNvSpPr/>
          <p:nvPr/>
        </p:nvSpPr>
        <p:spPr>
          <a:xfrm>
            <a:off x="625078" y="2162175"/>
            <a:ext cx="183527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17:30~18:15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2255862" y="2162175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영어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3884265" y="2162175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5512668" y="2162175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15분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7141071" y="2162175"/>
            <a:ext cx="183527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📱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8분, 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😴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5분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500881" y="2439814"/>
            <a:ext cx="8142238" cy="356815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17" name="Google Shape;417;p17"/>
          <p:cNvSpPr/>
          <p:nvPr/>
        </p:nvSpPr>
        <p:spPr>
          <a:xfrm>
            <a:off x="625078" y="2518990"/>
            <a:ext cx="183527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19:00~19:40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2255862" y="2518990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3884265" y="2518990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28분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5512668" y="2518990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12분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7141071" y="2518990"/>
            <a:ext cx="183527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😶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7분, 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🚶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5분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500881" y="2796629"/>
            <a:ext cx="8142238" cy="356815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23" name="Google Shape;423;p17"/>
          <p:cNvSpPr/>
          <p:nvPr/>
        </p:nvSpPr>
        <p:spPr>
          <a:xfrm>
            <a:off x="625078" y="2875806"/>
            <a:ext cx="183527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20:00~20:30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2255862" y="2875806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국어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3884265" y="2875806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22분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5512668" y="2875806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8분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7141071" y="2875806"/>
            <a:ext cx="183527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📱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5분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500881" y="3153445"/>
            <a:ext cx="8142238" cy="356815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29" name="Google Shape;429;p17"/>
          <p:cNvSpPr/>
          <p:nvPr/>
        </p:nvSpPr>
        <p:spPr>
          <a:xfrm>
            <a:off x="625078" y="3232621"/>
            <a:ext cx="183527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합계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2255862" y="3232621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3884265" y="3232621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2h 08m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5512668" y="3232621"/>
            <a:ext cx="18328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1h 02m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7141071" y="3232621"/>
            <a:ext cx="183527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📱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합계 25분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496119" y="3716536"/>
            <a:ext cx="2613868" cy="409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3200"/>
              <a:buFont typeface="Roboto Slab"/>
              <a:buNone/>
            </a:pPr>
            <a:r>
              <a:rPr b="0" i="0" lang="ko-KR" sz="3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2h 8m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496119" y="4280892"/>
            <a:ext cx="261386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6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🟢 순공 시간</a:t>
            </a:r>
            <a:endParaRPr b="1" i="0" sz="1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496119" y="4553917"/>
            <a:ext cx="261386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전체의 67%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3264991" y="3716536"/>
            <a:ext cx="2613943" cy="409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3200"/>
              <a:buFont typeface="Roboto Slab"/>
              <a:buNone/>
            </a:pPr>
            <a:r>
              <a:rPr b="0" i="0" lang="ko-KR" sz="3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25분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3264991" y="4280892"/>
            <a:ext cx="261394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6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📱 핸드폰 총합</a:t>
            </a:r>
            <a:endParaRPr b="1" i="0" sz="1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3264991" y="4553917"/>
            <a:ext cx="261394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4번의 세션 누적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6033939" y="3716536"/>
            <a:ext cx="2613943" cy="409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3200"/>
              <a:buFont typeface="Roboto Slab"/>
              <a:buNone/>
            </a:pPr>
            <a:r>
              <a:rPr b="0" i="0" lang="ko-KR" sz="3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6033939" y="4280892"/>
            <a:ext cx="261394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6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📚 공부한 과목</a:t>
            </a:r>
            <a:endParaRPr b="1" i="0" sz="1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6033939" y="4553917"/>
            <a:ext cx="261394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수학, 영어, 과학, 국어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8"/>
          <p:cNvSpPr/>
          <p:nvPr/>
        </p:nvSpPr>
        <p:spPr>
          <a:xfrm>
            <a:off x="496119" y="352648"/>
            <a:ext cx="8151763" cy="351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00"/>
              <a:buFont typeface="Roboto Slab"/>
              <a:buNone/>
            </a:pPr>
            <a:r>
              <a:rPr b="0" i="0" lang="ko-KR" sz="2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유저 시나리오 5 — 일간 통계 (1일)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496119" y="907703"/>
            <a:ext cx="1540669" cy="170855"/>
          </a:xfrm>
          <a:prstGeom prst="roundRect">
            <a:avLst>
              <a:gd fmla="val 7896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563538" y="941412"/>
            <a:ext cx="1863030" cy="103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📅</a:t>
            </a: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2026년 7월 28일 (월) 일간 리포트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496119" y="1249338"/>
            <a:ext cx="2632323" cy="370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900"/>
              <a:buFont typeface="Roboto Slab"/>
              <a:buNone/>
            </a:pPr>
            <a:r>
              <a:rPr b="0" i="0" lang="ko-KR" sz="2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2h 08m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496119" y="1752823"/>
            <a:ext cx="2632323" cy="175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총 순공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496119" y="1989534"/>
            <a:ext cx="263232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목표 3h 대비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3255764" y="1249338"/>
            <a:ext cx="2632397" cy="370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900"/>
              <a:buFont typeface="Roboto Slab"/>
              <a:buNone/>
            </a:pPr>
            <a:r>
              <a:rPr b="0" i="0" lang="ko-KR" sz="2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71%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3255764" y="1752823"/>
            <a:ext cx="2632397" cy="175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목표 달성률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3255764" y="1989534"/>
            <a:ext cx="263239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🟡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아쉬워요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6015484" y="1249338"/>
            <a:ext cx="2632323" cy="370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900"/>
              <a:buFont typeface="Roboto Slab"/>
              <a:buNone/>
            </a:pPr>
            <a:r>
              <a:rPr b="0" i="0" lang="ko-KR" sz="2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25분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6015484" y="1752823"/>
            <a:ext cx="2632323" cy="175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핸드폰 사용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6015484" y="1989534"/>
            <a:ext cx="263232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총 8회 사용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496119" y="2275582"/>
            <a:ext cx="8151763" cy="1828502"/>
          </a:xfrm>
          <a:prstGeom prst="roundRect">
            <a:avLst>
              <a:gd fmla="val 922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461" name="Google Shape;461;p18"/>
          <p:cNvSpPr/>
          <p:nvPr/>
        </p:nvSpPr>
        <p:spPr>
          <a:xfrm>
            <a:off x="500881" y="2280345"/>
            <a:ext cx="8142238" cy="303163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462" name="Google Shape;462;p18"/>
          <p:cNvSpPr/>
          <p:nvPr/>
        </p:nvSpPr>
        <p:spPr>
          <a:xfrm>
            <a:off x="613470" y="2346201"/>
            <a:ext cx="1858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2244254" y="2346201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순공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3872657" y="2346201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목표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5501060" y="2346201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달성률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7129463" y="2346201"/>
            <a:ext cx="1858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상태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500881" y="2583507"/>
            <a:ext cx="8142238" cy="303163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68" name="Google Shape;468;p18"/>
          <p:cNvSpPr/>
          <p:nvPr/>
        </p:nvSpPr>
        <p:spPr>
          <a:xfrm>
            <a:off x="613470" y="2649364"/>
            <a:ext cx="1858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수학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2244254" y="2649364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48분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3872657" y="2649364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1시간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5501060" y="2649364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80%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7129463" y="2649364"/>
            <a:ext cx="1858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🟡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500881" y="2886670"/>
            <a:ext cx="8142238" cy="303163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74" name="Google Shape;474;p18"/>
          <p:cNvSpPr/>
          <p:nvPr/>
        </p:nvSpPr>
        <p:spPr>
          <a:xfrm>
            <a:off x="613470" y="2952527"/>
            <a:ext cx="1858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2244254" y="2952527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3872657" y="2952527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40분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5501060" y="2952527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75%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7129463" y="2952527"/>
            <a:ext cx="1858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🟡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500881" y="3189833"/>
            <a:ext cx="8142238" cy="303163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80" name="Google Shape;480;p18"/>
          <p:cNvSpPr/>
          <p:nvPr/>
        </p:nvSpPr>
        <p:spPr>
          <a:xfrm>
            <a:off x="613470" y="3255690"/>
            <a:ext cx="1858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과학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2244254" y="3255690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28분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3872657" y="3255690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8"/>
          <p:cNvSpPr/>
          <p:nvPr/>
        </p:nvSpPr>
        <p:spPr>
          <a:xfrm>
            <a:off x="5501060" y="3255690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93%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8"/>
          <p:cNvSpPr/>
          <p:nvPr/>
        </p:nvSpPr>
        <p:spPr>
          <a:xfrm>
            <a:off x="7129463" y="3255690"/>
            <a:ext cx="1858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🟢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8"/>
          <p:cNvSpPr/>
          <p:nvPr/>
        </p:nvSpPr>
        <p:spPr>
          <a:xfrm>
            <a:off x="500881" y="3492996"/>
            <a:ext cx="8142238" cy="303163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86" name="Google Shape;486;p18"/>
          <p:cNvSpPr/>
          <p:nvPr/>
        </p:nvSpPr>
        <p:spPr>
          <a:xfrm>
            <a:off x="613470" y="3558853"/>
            <a:ext cx="1858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국어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8"/>
          <p:cNvSpPr/>
          <p:nvPr/>
        </p:nvSpPr>
        <p:spPr>
          <a:xfrm>
            <a:off x="2244254" y="3558853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22분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8"/>
          <p:cNvSpPr/>
          <p:nvPr/>
        </p:nvSpPr>
        <p:spPr>
          <a:xfrm>
            <a:off x="3872657" y="3558853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8"/>
          <p:cNvSpPr/>
          <p:nvPr/>
        </p:nvSpPr>
        <p:spPr>
          <a:xfrm>
            <a:off x="5501060" y="3558853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73%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7129463" y="3558853"/>
            <a:ext cx="1858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🟡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8"/>
          <p:cNvSpPr/>
          <p:nvPr/>
        </p:nvSpPr>
        <p:spPr>
          <a:xfrm>
            <a:off x="500881" y="3796159"/>
            <a:ext cx="8142238" cy="303163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92" name="Google Shape;492;p18"/>
          <p:cNvSpPr/>
          <p:nvPr/>
        </p:nvSpPr>
        <p:spPr>
          <a:xfrm>
            <a:off x="613470" y="3862015"/>
            <a:ext cx="1858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2244254" y="3862015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8"/>
          <p:cNvSpPr/>
          <p:nvPr/>
        </p:nvSpPr>
        <p:spPr>
          <a:xfrm>
            <a:off x="3872657" y="3862015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20분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8"/>
          <p:cNvSpPr/>
          <p:nvPr/>
        </p:nvSpPr>
        <p:spPr>
          <a:xfrm>
            <a:off x="5501060" y="3862015"/>
            <a:ext cx="18561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8"/>
          <p:cNvSpPr/>
          <p:nvPr/>
        </p:nvSpPr>
        <p:spPr>
          <a:xfrm>
            <a:off x="7129463" y="3862015"/>
            <a:ext cx="185849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664750" y="4333271"/>
            <a:ext cx="79830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코멘트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"오늘 순공 2시간 8분, 목표의 71%를 달성했어요! </a:t>
            </a:r>
            <a:b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                        과학은 거의 완벽! 하지만 사회를 아예 안 했어요. </a:t>
            </a:r>
            <a:b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                         내일은 사회 20분 먼저 시작해 보는 건 어때요? 그리고 핸드폰을 공부 전에 다른 방에 두면 확 줄어들 거예요!"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496119" y="4218682"/>
            <a:ext cx="14288" cy="572095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9"/>
          <p:cNvSpPr/>
          <p:nvPr/>
        </p:nvSpPr>
        <p:spPr>
          <a:xfrm>
            <a:off x="496119" y="386655"/>
            <a:ext cx="8151763" cy="339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100"/>
              <a:buFont typeface="Roboto Slab"/>
              <a:buNone/>
            </a:pPr>
            <a:r>
              <a:rPr b="1" i="0" lang="ko-KR" sz="2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유저 시나리오 6 — 주간 통계 (1주일)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496119" y="915739"/>
            <a:ext cx="1904628" cy="164902"/>
          </a:xfrm>
          <a:prstGeom prst="roundRect">
            <a:avLst>
              <a:gd fmla="val 789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9"/>
          <p:cNvSpPr/>
          <p:nvPr/>
        </p:nvSpPr>
        <p:spPr>
          <a:xfrm>
            <a:off x="561231" y="948258"/>
            <a:ext cx="2231603" cy="99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oboto"/>
              <a:buNone/>
            </a:pPr>
            <a:r>
              <a:rPr b="0" i="0" lang="ko-KR" sz="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📅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2026년 7월 4주차 (7/21 ~ 7/27) 주간 리포트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496119" y="1241673"/>
            <a:ext cx="2638127" cy="358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800"/>
              <a:buFont typeface="Roboto Slab"/>
              <a:buNone/>
            </a:pPr>
            <a:r>
              <a:rPr b="0" i="0" lang="ko-KR" sz="2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12h 30m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496119" y="1725290"/>
            <a:ext cx="2638127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주간 순공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9"/>
          <p:cNvSpPr/>
          <p:nvPr/>
        </p:nvSpPr>
        <p:spPr>
          <a:xfrm>
            <a:off x="496119" y="1951732"/>
            <a:ext cx="2638127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목표 14h 30m 대비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3252936" y="1241673"/>
            <a:ext cx="2638127" cy="358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800"/>
              <a:buFont typeface="Roboto Slab"/>
              <a:buNone/>
            </a:pPr>
            <a:r>
              <a:rPr b="0" i="0" lang="ko-KR" sz="2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86%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9"/>
          <p:cNvSpPr/>
          <p:nvPr/>
        </p:nvSpPr>
        <p:spPr>
          <a:xfrm>
            <a:off x="3252936" y="1725290"/>
            <a:ext cx="2638127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목표 달성률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9"/>
          <p:cNvSpPr/>
          <p:nvPr/>
        </p:nvSpPr>
        <p:spPr>
          <a:xfrm>
            <a:off x="3252936" y="1951732"/>
            <a:ext cx="2638127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🟡</a:t>
            </a: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조금만 더!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9"/>
          <p:cNvSpPr/>
          <p:nvPr/>
        </p:nvSpPr>
        <p:spPr>
          <a:xfrm>
            <a:off x="6009754" y="1241673"/>
            <a:ext cx="2638127" cy="358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2800"/>
              <a:buFont typeface="Roboto Slab"/>
              <a:buNone/>
            </a:pPr>
            <a:r>
              <a:rPr b="0" i="0" lang="ko-KR" sz="2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2h 55m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9"/>
          <p:cNvSpPr/>
          <p:nvPr/>
        </p:nvSpPr>
        <p:spPr>
          <a:xfrm>
            <a:off x="6009754" y="1725290"/>
            <a:ext cx="2638127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주간 핸드폰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6009754" y="1951732"/>
            <a:ext cx="2638127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전주 대비 -20분 </a:t>
            </a:r>
            <a:r>
              <a:rPr b="0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496119" y="2221334"/>
            <a:ext cx="8151763" cy="1726704"/>
          </a:xfrm>
          <a:prstGeom prst="roundRect">
            <a:avLst>
              <a:gd fmla="val 943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7" name="Google Shape;517;p19"/>
          <p:cNvSpPr/>
          <p:nvPr/>
        </p:nvSpPr>
        <p:spPr>
          <a:xfrm>
            <a:off x="500881" y="2226097"/>
            <a:ext cx="8142238" cy="286196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9"/>
          <p:cNvSpPr/>
          <p:nvPr/>
        </p:nvSpPr>
        <p:spPr>
          <a:xfrm>
            <a:off x="609526" y="2287786"/>
            <a:ext cx="2273350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9"/>
          <p:cNvSpPr/>
          <p:nvPr/>
        </p:nvSpPr>
        <p:spPr>
          <a:xfrm>
            <a:off x="2647429" y="2287786"/>
            <a:ext cx="2270968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주간 순공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/>
          <p:nvPr/>
        </p:nvSpPr>
        <p:spPr>
          <a:xfrm>
            <a:off x="4682951" y="2287786"/>
            <a:ext cx="2270968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목표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9"/>
          <p:cNvSpPr/>
          <p:nvPr/>
        </p:nvSpPr>
        <p:spPr>
          <a:xfrm>
            <a:off x="6718474" y="2287786"/>
            <a:ext cx="2273350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달성률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9"/>
          <p:cNvSpPr/>
          <p:nvPr/>
        </p:nvSpPr>
        <p:spPr>
          <a:xfrm>
            <a:off x="500881" y="2512293"/>
            <a:ext cx="8142238" cy="286196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3" name="Google Shape;523;p19"/>
          <p:cNvSpPr/>
          <p:nvPr/>
        </p:nvSpPr>
        <p:spPr>
          <a:xfrm>
            <a:off x="609526" y="2573982"/>
            <a:ext cx="2273350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9"/>
          <p:cNvSpPr/>
          <p:nvPr/>
        </p:nvSpPr>
        <p:spPr>
          <a:xfrm>
            <a:off x="2647429" y="2573982"/>
            <a:ext cx="2270968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5시간 10분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9"/>
          <p:cNvSpPr/>
          <p:nvPr/>
        </p:nvSpPr>
        <p:spPr>
          <a:xfrm>
            <a:off x="4682951" y="2573982"/>
            <a:ext cx="2270968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5시간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9"/>
          <p:cNvSpPr/>
          <p:nvPr/>
        </p:nvSpPr>
        <p:spPr>
          <a:xfrm>
            <a:off x="6718474" y="2573982"/>
            <a:ext cx="2273350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103% </a:t>
            </a: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9"/>
          <p:cNvSpPr/>
          <p:nvPr/>
        </p:nvSpPr>
        <p:spPr>
          <a:xfrm>
            <a:off x="500881" y="2798490"/>
            <a:ext cx="8142238" cy="286196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8" name="Google Shape;528;p19"/>
          <p:cNvSpPr/>
          <p:nvPr/>
        </p:nvSpPr>
        <p:spPr>
          <a:xfrm>
            <a:off x="609526" y="2860179"/>
            <a:ext cx="2273350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2647429" y="2860179"/>
            <a:ext cx="2270968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2시간 30분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9"/>
          <p:cNvSpPr/>
          <p:nvPr/>
        </p:nvSpPr>
        <p:spPr>
          <a:xfrm>
            <a:off x="4682951" y="2860179"/>
            <a:ext cx="2270968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3시간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6718474" y="2860179"/>
            <a:ext cx="2273350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83%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500881" y="3084686"/>
            <a:ext cx="8142238" cy="286196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33" name="Google Shape;533;p19"/>
          <p:cNvSpPr/>
          <p:nvPr/>
        </p:nvSpPr>
        <p:spPr>
          <a:xfrm>
            <a:off x="609526" y="3146375"/>
            <a:ext cx="2273350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국어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2647429" y="3146375"/>
            <a:ext cx="2270968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1시간 50분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4682951" y="3146375"/>
            <a:ext cx="2270968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2시간 30분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6718474" y="3146375"/>
            <a:ext cx="2273350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73%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500881" y="3370883"/>
            <a:ext cx="8142238" cy="286196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38" name="Google Shape;538;p19"/>
          <p:cNvSpPr/>
          <p:nvPr/>
        </p:nvSpPr>
        <p:spPr>
          <a:xfrm>
            <a:off x="609526" y="3432572"/>
            <a:ext cx="2273350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2647429" y="3432572"/>
            <a:ext cx="2270968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1시간 40분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4682951" y="3432572"/>
            <a:ext cx="2270968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2시간 30분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6718474" y="3432572"/>
            <a:ext cx="2273350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67%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500881" y="3657079"/>
            <a:ext cx="8142238" cy="286196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43" name="Google Shape;543;p19"/>
          <p:cNvSpPr/>
          <p:nvPr/>
        </p:nvSpPr>
        <p:spPr>
          <a:xfrm>
            <a:off x="609526" y="3718768"/>
            <a:ext cx="2273350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2647429" y="3718768"/>
            <a:ext cx="2270968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1시간 20분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4682951" y="3718768"/>
            <a:ext cx="2270968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1시간 30분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6718474" y="3718768"/>
            <a:ext cx="2273350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89%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658862" y="4161606"/>
            <a:ext cx="7989019" cy="488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👏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잘한 점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"수학 목표 초과 달성! 수요일에 가장 집중을 잘 했어요!"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📌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개선할 점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"금요일에 딴짓이 가장 많았어요. 금요일은 쉬운 과목부터 시작해보세요."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💡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추천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"영어를 하루 10분씩만 더 하면 목표 달성 가능해요!"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496119" y="4054822"/>
            <a:ext cx="14288" cy="702022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0"/>
          <p:cNvSpPr/>
          <p:nvPr/>
        </p:nvSpPr>
        <p:spPr>
          <a:xfrm>
            <a:off x="496119" y="341114"/>
            <a:ext cx="8151763" cy="369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300"/>
              <a:buFont typeface="Roboto Slab"/>
              <a:buNone/>
            </a:pPr>
            <a:r>
              <a:rPr b="1" i="0" lang="ko-KR" sz="2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유저 시나리오 7 — 월간 통계 (1달)</a:t>
            </a:r>
            <a:endParaRPr b="1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0"/>
          <p:cNvSpPr/>
          <p:nvPr/>
        </p:nvSpPr>
        <p:spPr>
          <a:xfrm>
            <a:off x="496119" y="935906"/>
            <a:ext cx="1228353" cy="179561"/>
          </a:xfrm>
          <a:prstGeom prst="roundRect">
            <a:avLst>
              <a:gd fmla="val 7901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0"/>
          <p:cNvSpPr/>
          <p:nvPr/>
        </p:nvSpPr>
        <p:spPr>
          <a:xfrm>
            <a:off x="567035" y="971327"/>
            <a:ext cx="1543720" cy="10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📅</a:t>
            </a: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2026년 7월 월간 리포트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496119" y="1301279"/>
            <a:ext cx="2623393" cy="390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3050"/>
              <a:buFont typeface="Roboto Slab"/>
              <a:buNone/>
            </a:pPr>
            <a:r>
              <a:rPr b="0" i="0" lang="ko-KR" sz="3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52h 30m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496119" y="1834976"/>
            <a:ext cx="262339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월간 순공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496119" y="2087240"/>
            <a:ext cx="262339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목표 62h 30m 대비 84%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3260303" y="1301279"/>
            <a:ext cx="2623393" cy="390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3050"/>
              <a:buFont typeface="Roboto Slab"/>
              <a:buNone/>
            </a:pPr>
            <a:r>
              <a:rPr b="0" i="0" lang="ko-KR" sz="3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1h 53m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3260303" y="1834976"/>
            <a:ext cx="262339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일평균 순공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3260303" y="2087240"/>
            <a:ext cx="262339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월초 대비 +20분 </a:t>
            </a: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6024488" y="1301279"/>
            <a:ext cx="2623393" cy="390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3050"/>
              <a:buFont typeface="Roboto Slab"/>
              <a:buNone/>
            </a:pPr>
            <a:r>
              <a:rPr b="0" i="0" lang="ko-KR" sz="3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11h 40m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6024488" y="1834976"/>
            <a:ext cx="262339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월 핸드폰 총합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6024488" y="2087240"/>
            <a:ext cx="262339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월초 대비 -3시간 </a:t>
            </a: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496119" y="2398663"/>
            <a:ext cx="8151763" cy="1656308"/>
          </a:xfrm>
          <a:prstGeom prst="roundRect">
            <a:avLst>
              <a:gd fmla="val 1071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67" name="Google Shape;567;p20"/>
          <p:cNvSpPr/>
          <p:nvPr/>
        </p:nvSpPr>
        <p:spPr>
          <a:xfrm>
            <a:off x="500881" y="2403425"/>
            <a:ext cx="8142238" cy="329357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0"/>
          <p:cNvSpPr/>
          <p:nvPr/>
        </p:nvSpPr>
        <p:spPr>
          <a:xfrm>
            <a:off x="619274" y="2475756"/>
            <a:ext cx="184688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2250058" y="2475756"/>
            <a:ext cx="1844501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순공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3878461" y="2475756"/>
            <a:ext cx="1844501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딴짓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5506864" y="2475756"/>
            <a:ext cx="1844501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순공률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7135267" y="2475756"/>
            <a:ext cx="184688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추세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500881" y="2732782"/>
            <a:ext cx="8142238" cy="329357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74" name="Google Shape;574;p20"/>
          <p:cNvSpPr/>
          <p:nvPr/>
        </p:nvSpPr>
        <p:spPr>
          <a:xfrm>
            <a:off x="619274" y="2805113"/>
            <a:ext cx="184688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1주 (7/1~7/6)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2250058" y="2805113"/>
            <a:ext cx="1844501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10h 20m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0"/>
          <p:cNvSpPr/>
          <p:nvPr/>
        </p:nvSpPr>
        <p:spPr>
          <a:xfrm>
            <a:off x="3878461" y="2805113"/>
            <a:ext cx="1844501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6h 30m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5506864" y="2805113"/>
            <a:ext cx="1844501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61%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0"/>
          <p:cNvSpPr/>
          <p:nvPr/>
        </p:nvSpPr>
        <p:spPr>
          <a:xfrm>
            <a:off x="7135267" y="2805113"/>
            <a:ext cx="184688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0"/>
          <p:cNvSpPr/>
          <p:nvPr/>
        </p:nvSpPr>
        <p:spPr>
          <a:xfrm>
            <a:off x="500881" y="3062139"/>
            <a:ext cx="8142238" cy="329357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80" name="Google Shape;580;p20"/>
          <p:cNvSpPr/>
          <p:nvPr/>
        </p:nvSpPr>
        <p:spPr>
          <a:xfrm>
            <a:off x="619274" y="3134469"/>
            <a:ext cx="184688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2주 (7/7~7/13)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0"/>
          <p:cNvSpPr/>
          <p:nvPr/>
        </p:nvSpPr>
        <p:spPr>
          <a:xfrm>
            <a:off x="2250058" y="3134469"/>
            <a:ext cx="1844501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11h 50m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0"/>
          <p:cNvSpPr/>
          <p:nvPr/>
        </p:nvSpPr>
        <p:spPr>
          <a:xfrm>
            <a:off x="3878461" y="3134469"/>
            <a:ext cx="1844501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5h 40m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0"/>
          <p:cNvSpPr/>
          <p:nvPr/>
        </p:nvSpPr>
        <p:spPr>
          <a:xfrm>
            <a:off x="5506864" y="3134469"/>
            <a:ext cx="1844501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68%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0"/>
          <p:cNvSpPr/>
          <p:nvPr/>
        </p:nvSpPr>
        <p:spPr>
          <a:xfrm>
            <a:off x="7135267" y="3134469"/>
            <a:ext cx="184688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0"/>
          <p:cNvSpPr/>
          <p:nvPr/>
        </p:nvSpPr>
        <p:spPr>
          <a:xfrm>
            <a:off x="500881" y="3391495"/>
            <a:ext cx="8142238" cy="329357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86" name="Google Shape;586;p20"/>
          <p:cNvSpPr/>
          <p:nvPr/>
        </p:nvSpPr>
        <p:spPr>
          <a:xfrm>
            <a:off x="619274" y="3463826"/>
            <a:ext cx="184688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3주 (7/14~7/20)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0"/>
          <p:cNvSpPr/>
          <p:nvPr/>
        </p:nvSpPr>
        <p:spPr>
          <a:xfrm>
            <a:off x="2250058" y="3463826"/>
            <a:ext cx="1844501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12h 00m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3878461" y="3463826"/>
            <a:ext cx="1844501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5h 10m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0"/>
          <p:cNvSpPr/>
          <p:nvPr/>
        </p:nvSpPr>
        <p:spPr>
          <a:xfrm>
            <a:off x="5506864" y="3463826"/>
            <a:ext cx="1844501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70%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7135267" y="3463826"/>
            <a:ext cx="184688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0"/>
          <p:cNvSpPr/>
          <p:nvPr/>
        </p:nvSpPr>
        <p:spPr>
          <a:xfrm>
            <a:off x="500881" y="3720852"/>
            <a:ext cx="8142238" cy="329357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92" name="Google Shape;592;p20"/>
          <p:cNvSpPr/>
          <p:nvPr/>
        </p:nvSpPr>
        <p:spPr>
          <a:xfrm>
            <a:off x="619274" y="3793182"/>
            <a:ext cx="184688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1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4주 (7/21~7/27)</a:t>
            </a:r>
            <a:endParaRPr b="1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0"/>
          <p:cNvSpPr/>
          <p:nvPr/>
        </p:nvSpPr>
        <p:spPr>
          <a:xfrm>
            <a:off x="2250058" y="3793182"/>
            <a:ext cx="1844501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1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12h 30m</a:t>
            </a:r>
            <a:endParaRPr b="1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0"/>
          <p:cNvSpPr/>
          <p:nvPr/>
        </p:nvSpPr>
        <p:spPr>
          <a:xfrm>
            <a:off x="3878461" y="3793182"/>
            <a:ext cx="1844501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1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4h 50m</a:t>
            </a:r>
            <a:endParaRPr b="1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0"/>
          <p:cNvSpPr/>
          <p:nvPr/>
        </p:nvSpPr>
        <p:spPr>
          <a:xfrm>
            <a:off x="5506864" y="3793182"/>
            <a:ext cx="1844501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1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72%</a:t>
            </a:r>
            <a:endParaRPr b="1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7135267" y="3793182"/>
            <a:ext cx="184688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1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↑ 🚀</a:t>
            </a:r>
            <a:endParaRPr b="1" i="0" sz="11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0"/>
          <p:cNvSpPr/>
          <p:nvPr/>
        </p:nvSpPr>
        <p:spPr>
          <a:xfrm>
            <a:off x="673447" y="4308425"/>
            <a:ext cx="7974434" cy="369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🎯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성장 포인트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br>
              <a:rPr lang="ko-KR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-KR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1주차 순공률 61%에서 4주차 72%로 </a:t>
            </a: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11% 상승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! </a:t>
            </a:r>
            <a:b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딴짓 시간도 매주 줄고 있어요. 대단해요!"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📱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"핸드폰 사용이 월초 3시간 30분에서 4주차 2시간 55분으로 </a:t>
            </a: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35분 감소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!"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496119" y="4181698"/>
            <a:ext cx="14288" cy="622846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1"/>
          <p:cNvSpPr/>
          <p:nvPr/>
        </p:nvSpPr>
        <p:spPr>
          <a:xfrm>
            <a:off x="496119" y="372666"/>
            <a:ext cx="8151763" cy="357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1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통계 코멘트 시스템</a:t>
            </a:r>
            <a:endParaRPr b="1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1"/>
          <p:cNvSpPr/>
          <p:nvPr/>
        </p:nvSpPr>
        <p:spPr>
          <a:xfrm>
            <a:off x="496119" y="940817"/>
            <a:ext cx="8608963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일/주/월 통계마다 표시되는 </a:t>
            </a:r>
            <a:r>
              <a:rPr b="1" i="0" lang="ko-KR" sz="9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고정 형식 5가지 AI 코멘트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규칙 기반으로 자동 생성됩니다.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1"/>
          <p:cNvSpPr/>
          <p:nvPr/>
        </p:nvSpPr>
        <p:spPr>
          <a:xfrm>
            <a:off x="496119" y="1235199"/>
            <a:ext cx="22867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 Light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1"/>
          <p:cNvSpPr/>
          <p:nvPr/>
        </p:nvSpPr>
        <p:spPr>
          <a:xfrm>
            <a:off x="496119" y="1415207"/>
            <a:ext cx="2646983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1"/>
          <p:cNvSpPr/>
          <p:nvPr/>
        </p:nvSpPr>
        <p:spPr>
          <a:xfrm>
            <a:off x="496119" y="1500932"/>
            <a:ext cx="2646983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👏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잘한 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1"/>
          <p:cNvSpPr/>
          <p:nvPr/>
        </p:nvSpPr>
        <p:spPr>
          <a:xfrm>
            <a:off x="496119" y="1747614"/>
            <a:ext cx="2646983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순공, 달성, 성장을 강조. 예: "수학 목표 초과 달성!"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1"/>
          <p:cNvSpPr/>
          <p:nvPr/>
        </p:nvSpPr>
        <p:spPr>
          <a:xfrm>
            <a:off x="3248471" y="1235199"/>
            <a:ext cx="22867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 Light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1"/>
          <p:cNvSpPr/>
          <p:nvPr/>
        </p:nvSpPr>
        <p:spPr>
          <a:xfrm>
            <a:off x="3248471" y="1415207"/>
            <a:ext cx="2646983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1"/>
          <p:cNvSpPr/>
          <p:nvPr/>
        </p:nvSpPr>
        <p:spPr>
          <a:xfrm>
            <a:off x="3248471" y="1500932"/>
            <a:ext cx="2646983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📌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개선할 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1"/>
          <p:cNvSpPr/>
          <p:nvPr/>
        </p:nvSpPr>
        <p:spPr>
          <a:xfrm>
            <a:off x="3248471" y="1747614"/>
            <a:ext cx="2646983" cy="351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부족한 과목, 딴짓 패턴 지적. 예: "사회를 3일째 안 했어요"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1"/>
          <p:cNvSpPr/>
          <p:nvPr/>
        </p:nvSpPr>
        <p:spPr>
          <a:xfrm>
            <a:off x="6000824" y="1235199"/>
            <a:ext cx="22867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 Light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1"/>
          <p:cNvSpPr/>
          <p:nvPr/>
        </p:nvSpPr>
        <p:spPr>
          <a:xfrm>
            <a:off x="6000824" y="1426592"/>
            <a:ext cx="2647057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1"/>
          <p:cNvSpPr/>
          <p:nvPr/>
        </p:nvSpPr>
        <p:spPr>
          <a:xfrm>
            <a:off x="6000824" y="1500932"/>
            <a:ext cx="2647057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📱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딴짓 분석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1"/>
          <p:cNvSpPr/>
          <p:nvPr/>
        </p:nvSpPr>
        <p:spPr>
          <a:xfrm>
            <a:off x="6000824" y="1747614"/>
            <a:ext cx="2647057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핸드폰/졸음/멍때림 통계. 예: "핸드폰 하루 평균 25분"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1"/>
          <p:cNvSpPr/>
          <p:nvPr/>
        </p:nvSpPr>
        <p:spPr>
          <a:xfrm>
            <a:off x="496119" y="2290390"/>
            <a:ext cx="22867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 Light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1"/>
          <p:cNvSpPr/>
          <p:nvPr/>
        </p:nvSpPr>
        <p:spPr>
          <a:xfrm>
            <a:off x="496119" y="2458938"/>
            <a:ext cx="4023196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1"/>
          <p:cNvSpPr/>
          <p:nvPr/>
        </p:nvSpPr>
        <p:spPr>
          <a:xfrm>
            <a:off x="496119" y="2556123"/>
            <a:ext cx="4023196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💡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추천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1"/>
          <p:cNvSpPr/>
          <p:nvPr/>
        </p:nvSpPr>
        <p:spPr>
          <a:xfrm>
            <a:off x="496119" y="2802806"/>
            <a:ext cx="402319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구체적 행동 제안. 예: "영어를 하루 10분만 더 해보세요"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1"/>
          <p:cNvSpPr/>
          <p:nvPr/>
        </p:nvSpPr>
        <p:spPr>
          <a:xfrm>
            <a:off x="4624685" y="2290390"/>
            <a:ext cx="228674" cy="142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 Light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1"/>
          <p:cNvSpPr/>
          <p:nvPr/>
        </p:nvSpPr>
        <p:spPr>
          <a:xfrm>
            <a:off x="4624685" y="2458938"/>
            <a:ext cx="4023196" cy="14288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1"/>
          <p:cNvSpPr/>
          <p:nvPr/>
        </p:nvSpPr>
        <p:spPr>
          <a:xfrm>
            <a:off x="4624685" y="2556123"/>
            <a:ext cx="4023196" cy="18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🎯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다음 목표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1"/>
          <p:cNvSpPr/>
          <p:nvPr/>
        </p:nvSpPr>
        <p:spPr>
          <a:xfrm>
            <a:off x="4624685" y="2802806"/>
            <a:ext cx="4023196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달성 가능한 다음 목표 제시. 예: "내일은 순공 2시간 30분 도전!"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1"/>
          <p:cNvSpPr/>
          <p:nvPr/>
        </p:nvSpPr>
        <p:spPr>
          <a:xfrm>
            <a:off x="496119" y="3160068"/>
            <a:ext cx="8151763" cy="1587922"/>
          </a:xfrm>
          <a:prstGeom prst="roundRect">
            <a:avLst>
              <a:gd fmla="val 108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1"/>
          <p:cNvSpPr/>
          <p:nvPr/>
        </p:nvSpPr>
        <p:spPr>
          <a:xfrm>
            <a:off x="496119" y="3501926"/>
            <a:ext cx="8151763" cy="7147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1"/>
          <p:cNvSpPr/>
          <p:nvPr/>
        </p:nvSpPr>
        <p:spPr>
          <a:xfrm>
            <a:off x="496119" y="3818558"/>
            <a:ext cx="8151763" cy="7147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1"/>
          <p:cNvSpPr/>
          <p:nvPr/>
        </p:nvSpPr>
        <p:spPr>
          <a:xfrm>
            <a:off x="496119" y="4135189"/>
            <a:ext cx="8151763" cy="7147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1"/>
          <p:cNvSpPr/>
          <p:nvPr/>
        </p:nvSpPr>
        <p:spPr>
          <a:xfrm>
            <a:off x="496119" y="4451821"/>
            <a:ext cx="8151763" cy="7147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1"/>
          <p:cNvSpPr/>
          <p:nvPr/>
        </p:nvSpPr>
        <p:spPr>
          <a:xfrm>
            <a:off x="615181" y="3255690"/>
            <a:ext cx="4299719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순공률 조건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1"/>
          <p:cNvSpPr/>
          <p:nvPr/>
        </p:nvSpPr>
        <p:spPr>
          <a:xfrm>
            <a:off x="4686300" y="3255690"/>
            <a:ext cx="4299719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자동 코멘트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1"/>
          <p:cNvSpPr/>
          <p:nvPr/>
        </p:nvSpPr>
        <p:spPr>
          <a:xfrm>
            <a:off x="615181" y="3572321"/>
            <a:ext cx="4299719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90%+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1"/>
          <p:cNvSpPr/>
          <p:nvPr/>
        </p:nvSpPr>
        <p:spPr>
          <a:xfrm>
            <a:off x="4686300" y="3572321"/>
            <a:ext cx="4299719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🏆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"오늘 집중력 최고였어요!"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1"/>
          <p:cNvSpPr/>
          <p:nvPr/>
        </p:nvSpPr>
        <p:spPr>
          <a:xfrm>
            <a:off x="615181" y="3888953"/>
            <a:ext cx="4299719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70~89%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1"/>
          <p:cNvSpPr/>
          <p:nvPr/>
        </p:nvSpPr>
        <p:spPr>
          <a:xfrm>
            <a:off x="4686300" y="3888953"/>
            <a:ext cx="4299719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😊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"잘하고 있어요! 조금만 더!"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1"/>
          <p:cNvSpPr/>
          <p:nvPr/>
        </p:nvSpPr>
        <p:spPr>
          <a:xfrm>
            <a:off x="615181" y="4205585"/>
            <a:ext cx="4299719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50~69%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1"/>
          <p:cNvSpPr/>
          <p:nvPr/>
        </p:nvSpPr>
        <p:spPr>
          <a:xfrm>
            <a:off x="4686300" y="4205585"/>
            <a:ext cx="4299719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🙂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"괜찮아요, 내일은 더 잘할 수 있어요"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1"/>
          <p:cNvSpPr/>
          <p:nvPr/>
        </p:nvSpPr>
        <p:spPr>
          <a:xfrm>
            <a:off x="615181" y="4522217"/>
            <a:ext cx="4299719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50% 미만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1"/>
          <p:cNvSpPr/>
          <p:nvPr/>
        </p:nvSpPr>
        <p:spPr>
          <a:xfrm>
            <a:off x="4686300" y="4522217"/>
            <a:ext cx="4299719" cy="1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💪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"오늘은 힘들었나 봐요. 내일 다시 도전!"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2"/>
          <p:cNvSpPr/>
          <p:nvPr/>
        </p:nvSpPr>
        <p:spPr>
          <a:xfrm>
            <a:off x="496119" y="366415"/>
            <a:ext cx="8151763" cy="34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150"/>
              <a:buFont typeface="Roboto Slab"/>
              <a:buNone/>
            </a:pPr>
            <a:r>
              <a:rPr b="1" i="0" lang="ko-KR" sz="21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데이터 저장 — JSON / CSV</a:t>
            </a:r>
            <a:endParaRPr b="1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2"/>
          <p:cNvSpPr/>
          <p:nvPr/>
        </p:nvSpPr>
        <p:spPr>
          <a:xfrm>
            <a:off x="496119" y="908447"/>
            <a:ext cx="8608963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DB 없이 JSON과 CSV 파일로 간단하게 데이터를 관리합니다. </a:t>
            </a: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엑셀로 열어볼 수 있고, 백업이 쉬우며, 프로그래밍 초보도 이해 가능!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2"/>
          <p:cNvSpPr/>
          <p:nvPr/>
        </p:nvSpPr>
        <p:spPr>
          <a:xfrm>
            <a:off x="416570" y="1186235"/>
            <a:ext cx="4100215" cy="3590776"/>
          </a:xfrm>
          <a:prstGeom prst="roundRect">
            <a:avLst>
              <a:gd fmla="val 462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2"/>
          <p:cNvSpPr/>
          <p:nvPr/>
        </p:nvSpPr>
        <p:spPr>
          <a:xfrm>
            <a:off x="527000" y="1284610"/>
            <a:ext cx="3879354" cy="177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📁</a:t>
            </a:r>
            <a:r>
              <a:rPr b="0" i="0" lang="ko-KR" sz="10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파일 구조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2"/>
          <p:cNvSpPr/>
          <p:nvPr/>
        </p:nvSpPr>
        <p:spPr>
          <a:xfrm>
            <a:off x="527000" y="1572667"/>
            <a:ext cx="3879354" cy="1557933"/>
          </a:xfrm>
          <a:prstGeom prst="roundRect">
            <a:avLst>
              <a:gd fmla="val 1064" name="adj"/>
            </a:avLst>
          </a:prstGeom>
          <a:solidFill>
            <a:srgbClr val="3F64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2"/>
          <p:cNvSpPr/>
          <p:nvPr/>
        </p:nvSpPr>
        <p:spPr>
          <a:xfrm>
            <a:off x="521494" y="1572667"/>
            <a:ext cx="3890367" cy="1557933"/>
          </a:xfrm>
          <a:prstGeom prst="roundRect">
            <a:avLst>
              <a:gd fmla="val 1064" name="adj"/>
            </a:avLst>
          </a:prstGeom>
          <a:solidFill>
            <a:srgbClr val="3F64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2"/>
          <p:cNvSpPr/>
          <p:nvPr/>
        </p:nvSpPr>
        <p:spPr>
          <a:xfrm>
            <a:off x="659532" y="1683097"/>
            <a:ext cx="3614291" cy="1337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ko-KR" sz="1550" u="none" cap="none" strike="noStrike">
                <a:solidFill>
                  <a:schemeClr val="lt1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data/</a:t>
            </a:r>
            <a:endParaRPr b="0" i="0" sz="15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ko-KR" sz="1550" u="none" cap="none" strike="noStrike">
                <a:solidFill>
                  <a:schemeClr val="lt1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├── subjects.json</a:t>
            </a:r>
            <a:endParaRPr b="0" i="0" sz="15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ko-KR" sz="1550" u="none" cap="none" strike="noStrike">
                <a:solidFill>
                  <a:schemeClr val="lt1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├── sessions/</a:t>
            </a:r>
            <a:endParaRPr b="0" i="0" sz="15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ko-KR" sz="1550" u="none" cap="none" strike="noStrike">
                <a:solidFill>
                  <a:schemeClr val="lt1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│   ├── 2026-07-28.json</a:t>
            </a:r>
            <a:endParaRPr b="0" i="0" sz="15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ko-KR" sz="1550" u="none" cap="none" strike="noStrike">
                <a:solidFill>
                  <a:schemeClr val="lt1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│   └── ...</a:t>
            </a:r>
            <a:endParaRPr b="0" i="0" sz="15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ko-KR" sz="1550" u="none" cap="none" strike="noStrike">
                <a:solidFill>
                  <a:schemeClr val="lt1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├── daily_stats.csv</a:t>
            </a:r>
            <a:endParaRPr b="0" i="0" sz="15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ko-KR" sz="1550" u="none" cap="none" strike="noStrike">
                <a:solidFill>
                  <a:schemeClr val="lt1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├── weekly_stats.csv</a:t>
            </a:r>
            <a:endParaRPr b="0" i="0" sz="15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850"/>
              <a:buFont typeface="Consolas"/>
              <a:buNone/>
            </a:pPr>
            <a:r>
              <a:rPr b="0" i="0" lang="ko-KR" sz="1550" u="none" cap="none" strike="noStrike">
                <a:solidFill>
                  <a:schemeClr val="lt1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└── monthly_stats.csv</a:t>
            </a:r>
            <a:endParaRPr b="0" i="0" sz="15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2"/>
          <p:cNvSpPr/>
          <p:nvPr/>
        </p:nvSpPr>
        <p:spPr>
          <a:xfrm>
            <a:off x="4711526" y="1284610"/>
            <a:ext cx="3941118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subjects.json 과목 목록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2"/>
          <p:cNvSpPr/>
          <p:nvPr/>
        </p:nvSpPr>
        <p:spPr>
          <a:xfrm>
            <a:off x="4711526" y="1567904"/>
            <a:ext cx="3941118" cy="1801416"/>
          </a:xfrm>
          <a:prstGeom prst="roundRect">
            <a:avLst>
              <a:gd fmla="val 92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655" name="Google Shape;655;p22"/>
          <p:cNvSpPr/>
          <p:nvPr/>
        </p:nvSpPr>
        <p:spPr>
          <a:xfrm>
            <a:off x="4711526" y="1869728"/>
            <a:ext cx="3941118" cy="690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2"/>
          <p:cNvSpPr/>
          <p:nvPr/>
        </p:nvSpPr>
        <p:spPr>
          <a:xfrm>
            <a:off x="4711526" y="2169170"/>
            <a:ext cx="3941118" cy="690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657" name="Google Shape;657;p22"/>
          <p:cNvSpPr/>
          <p:nvPr/>
        </p:nvSpPr>
        <p:spPr>
          <a:xfrm>
            <a:off x="4711526" y="2468612"/>
            <a:ext cx="3941118" cy="690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658" name="Google Shape;658;p22"/>
          <p:cNvSpPr/>
          <p:nvPr/>
        </p:nvSpPr>
        <p:spPr>
          <a:xfrm>
            <a:off x="4711526" y="2768054"/>
            <a:ext cx="3941118" cy="690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659" name="Google Shape;659;p22"/>
          <p:cNvSpPr/>
          <p:nvPr/>
        </p:nvSpPr>
        <p:spPr>
          <a:xfrm>
            <a:off x="4711526" y="3067496"/>
            <a:ext cx="3941118" cy="690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660" name="Google Shape;660;p22"/>
          <p:cNvSpPr/>
          <p:nvPr/>
        </p:nvSpPr>
        <p:spPr>
          <a:xfrm>
            <a:off x="4827240" y="1636440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2"/>
          <p:cNvSpPr/>
          <p:nvPr/>
        </p:nvSpPr>
        <p:spPr>
          <a:xfrm>
            <a:off x="6137449" y="1636440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일 목표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2"/>
          <p:cNvSpPr/>
          <p:nvPr/>
        </p:nvSpPr>
        <p:spPr>
          <a:xfrm>
            <a:off x="7447657" y="1636440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 목표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2"/>
          <p:cNvSpPr/>
          <p:nvPr/>
        </p:nvSpPr>
        <p:spPr>
          <a:xfrm>
            <a:off x="4827240" y="1935882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수학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2"/>
          <p:cNvSpPr/>
          <p:nvPr/>
        </p:nvSpPr>
        <p:spPr>
          <a:xfrm>
            <a:off x="6137449" y="1935882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60분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2"/>
          <p:cNvSpPr/>
          <p:nvPr/>
        </p:nvSpPr>
        <p:spPr>
          <a:xfrm>
            <a:off x="7447657" y="1935882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300분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2"/>
          <p:cNvSpPr/>
          <p:nvPr/>
        </p:nvSpPr>
        <p:spPr>
          <a:xfrm>
            <a:off x="4827240" y="2235324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영어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2"/>
          <p:cNvSpPr/>
          <p:nvPr/>
        </p:nvSpPr>
        <p:spPr>
          <a:xfrm>
            <a:off x="6137449" y="2235324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40분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2"/>
          <p:cNvSpPr/>
          <p:nvPr/>
        </p:nvSpPr>
        <p:spPr>
          <a:xfrm>
            <a:off x="7447657" y="2235324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180분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2"/>
          <p:cNvSpPr/>
          <p:nvPr/>
        </p:nvSpPr>
        <p:spPr>
          <a:xfrm>
            <a:off x="4827240" y="2534766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국어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2"/>
          <p:cNvSpPr/>
          <p:nvPr/>
        </p:nvSpPr>
        <p:spPr>
          <a:xfrm>
            <a:off x="6137449" y="2534766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30분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2"/>
          <p:cNvSpPr/>
          <p:nvPr/>
        </p:nvSpPr>
        <p:spPr>
          <a:xfrm>
            <a:off x="7447657" y="2534766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150분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2"/>
          <p:cNvSpPr/>
          <p:nvPr/>
        </p:nvSpPr>
        <p:spPr>
          <a:xfrm>
            <a:off x="4827240" y="2834208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과학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2"/>
          <p:cNvSpPr/>
          <p:nvPr/>
        </p:nvSpPr>
        <p:spPr>
          <a:xfrm>
            <a:off x="6137449" y="2834208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30분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2"/>
          <p:cNvSpPr/>
          <p:nvPr/>
        </p:nvSpPr>
        <p:spPr>
          <a:xfrm>
            <a:off x="7447657" y="2834208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150분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2"/>
          <p:cNvSpPr/>
          <p:nvPr/>
        </p:nvSpPr>
        <p:spPr>
          <a:xfrm>
            <a:off x="4827240" y="3133651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사회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2"/>
          <p:cNvSpPr/>
          <p:nvPr/>
        </p:nvSpPr>
        <p:spPr>
          <a:xfrm>
            <a:off x="6137449" y="3133651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20분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2"/>
          <p:cNvSpPr/>
          <p:nvPr/>
        </p:nvSpPr>
        <p:spPr>
          <a:xfrm>
            <a:off x="7447657" y="3133651"/>
            <a:ext cx="1546547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90분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2"/>
          <p:cNvSpPr/>
          <p:nvPr/>
        </p:nvSpPr>
        <p:spPr>
          <a:xfrm>
            <a:off x="4711526" y="3479974"/>
            <a:ext cx="3941118" cy="17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050"/>
              <a:buFont typeface="Roboto Slab"/>
              <a:buNone/>
            </a:pPr>
            <a:r>
              <a:rPr b="0" i="0" lang="ko-KR" sz="1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daily_stats.csv 예시 (단위: 분)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2"/>
          <p:cNvSpPr/>
          <p:nvPr/>
        </p:nvSpPr>
        <p:spPr>
          <a:xfrm>
            <a:off x="4711526" y="3763268"/>
            <a:ext cx="3941118" cy="903089"/>
          </a:xfrm>
          <a:prstGeom prst="roundRect">
            <a:avLst>
              <a:gd fmla="val 1835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680" name="Google Shape;680;p22"/>
          <p:cNvSpPr/>
          <p:nvPr/>
        </p:nvSpPr>
        <p:spPr>
          <a:xfrm>
            <a:off x="4711526" y="4065091"/>
            <a:ext cx="3941118" cy="690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2"/>
          <p:cNvSpPr/>
          <p:nvPr/>
        </p:nvSpPr>
        <p:spPr>
          <a:xfrm>
            <a:off x="4711526" y="4364534"/>
            <a:ext cx="3941118" cy="690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682" name="Google Shape;682;p22"/>
          <p:cNvSpPr/>
          <p:nvPr/>
        </p:nvSpPr>
        <p:spPr>
          <a:xfrm>
            <a:off x="4827017" y="3831803"/>
            <a:ext cx="102259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날짜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2"/>
          <p:cNvSpPr/>
          <p:nvPr/>
        </p:nvSpPr>
        <p:spPr>
          <a:xfrm>
            <a:off x="5613276" y="3831803"/>
            <a:ext cx="102259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순공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2"/>
          <p:cNvSpPr/>
          <p:nvPr/>
        </p:nvSpPr>
        <p:spPr>
          <a:xfrm>
            <a:off x="6399535" y="3831803"/>
            <a:ext cx="102259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딴짓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2"/>
          <p:cNvSpPr/>
          <p:nvPr/>
        </p:nvSpPr>
        <p:spPr>
          <a:xfrm>
            <a:off x="7185794" y="3831803"/>
            <a:ext cx="102259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📱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2"/>
          <p:cNvSpPr/>
          <p:nvPr/>
        </p:nvSpPr>
        <p:spPr>
          <a:xfrm>
            <a:off x="7972053" y="3831803"/>
            <a:ext cx="102259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수학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2"/>
          <p:cNvSpPr/>
          <p:nvPr/>
        </p:nvSpPr>
        <p:spPr>
          <a:xfrm>
            <a:off x="4827017" y="4131246"/>
            <a:ext cx="102259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7/28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2"/>
          <p:cNvSpPr/>
          <p:nvPr/>
        </p:nvSpPr>
        <p:spPr>
          <a:xfrm>
            <a:off x="5613276" y="4131246"/>
            <a:ext cx="102259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128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2"/>
          <p:cNvSpPr/>
          <p:nvPr/>
        </p:nvSpPr>
        <p:spPr>
          <a:xfrm>
            <a:off x="6399535" y="4131246"/>
            <a:ext cx="102259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62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2"/>
          <p:cNvSpPr/>
          <p:nvPr/>
        </p:nvSpPr>
        <p:spPr>
          <a:xfrm>
            <a:off x="7185794" y="4131246"/>
            <a:ext cx="102259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25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2"/>
          <p:cNvSpPr/>
          <p:nvPr/>
        </p:nvSpPr>
        <p:spPr>
          <a:xfrm>
            <a:off x="7972053" y="4131246"/>
            <a:ext cx="102259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48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2"/>
          <p:cNvSpPr/>
          <p:nvPr/>
        </p:nvSpPr>
        <p:spPr>
          <a:xfrm>
            <a:off x="4827017" y="4430688"/>
            <a:ext cx="102259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7/27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2"/>
          <p:cNvSpPr/>
          <p:nvPr/>
        </p:nvSpPr>
        <p:spPr>
          <a:xfrm>
            <a:off x="5613276" y="4430688"/>
            <a:ext cx="102259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115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2"/>
          <p:cNvSpPr/>
          <p:nvPr/>
        </p:nvSpPr>
        <p:spPr>
          <a:xfrm>
            <a:off x="6399535" y="4430688"/>
            <a:ext cx="102259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70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2"/>
          <p:cNvSpPr/>
          <p:nvPr/>
        </p:nvSpPr>
        <p:spPr>
          <a:xfrm>
            <a:off x="7185794" y="4430688"/>
            <a:ext cx="102259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2"/>
          <p:cNvSpPr/>
          <p:nvPr/>
        </p:nvSpPr>
        <p:spPr>
          <a:xfrm>
            <a:off x="7972053" y="4430688"/>
            <a:ext cx="1022598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40</a:t>
            </a:r>
            <a:endParaRPr b="1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3"/>
          <p:cNvSpPr/>
          <p:nvPr/>
        </p:nvSpPr>
        <p:spPr>
          <a:xfrm>
            <a:off x="496119" y="532879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데이터 저장 — 세션 JSON 상세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3"/>
          <p:cNvSpPr/>
          <p:nvPr/>
        </p:nvSpPr>
        <p:spPr>
          <a:xfrm>
            <a:off x="496119" y="1168450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하루 세션 기록 파일 (2026-07-28.json)의 구조입니다. 행동 로그가 초 단위로 저장됩니다.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3"/>
          <p:cNvSpPr/>
          <p:nvPr/>
        </p:nvSpPr>
        <p:spPr>
          <a:xfrm>
            <a:off x="496119" y="1630412"/>
            <a:ext cx="392459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세션 기본 정보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3"/>
          <p:cNvSpPr/>
          <p:nvPr/>
        </p:nvSpPr>
        <p:spPr>
          <a:xfrm>
            <a:off x="496119" y="1963787"/>
            <a:ext cx="3924598" cy="2507233"/>
          </a:xfrm>
          <a:prstGeom prst="roundRect">
            <a:avLst>
              <a:gd fmla="val 742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706" name="Google Shape;706;p23"/>
          <p:cNvSpPr/>
          <p:nvPr/>
        </p:nvSpPr>
        <p:spPr>
          <a:xfrm>
            <a:off x="500881" y="1968550"/>
            <a:ext cx="3915073" cy="356815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707" name="Google Shape;707;p23"/>
          <p:cNvSpPr/>
          <p:nvPr/>
        </p:nvSpPr>
        <p:spPr>
          <a:xfrm>
            <a:off x="624855" y="2047726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session_id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3"/>
          <p:cNvSpPr/>
          <p:nvPr/>
        </p:nvSpPr>
        <p:spPr>
          <a:xfrm>
            <a:off x="2584772" y="2047726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"s_20260728_001"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3"/>
          <p:cNvSpPr/>
          <p:nvPr/>
        </p:nvSpPr>
        <p:spPr>
          <a:xfrm>
            <a:off x="500881" y="2325365"/>
            <a:ext cx="3915073" cy="356815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710" name="Google Shape;710;p23"/>
          <p:cNvSpPr/>
          <p:nvPr/>
        </p:nvSpPr>
        <p:spPr>
          <a:xfrm>
            <a:off x="624855" y="2404542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subject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3"/>
          <p:cNvSpPr/>
          <p:nvPr/>
        </p:nvSpPr>
        <p:spPr>
          <a:xfrm>
            <a:off x="2584772" y="2404542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"수학"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3"/>
          <p:cNvSpPr/>
          <p:nvPr/>
        </p:nvSpPr>
        <p:spPr>
          <a:xfrm>
            <a:off x="500881" y="2682180"/>
            <a:ext cx="3915073" cy="356815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713" name="Google Shape;713;p23"/>
          <p:cNvSpPr/>
          <p:nvPr/>
        </p:nvSpPr>
        <p:spPr>
          <a:xfrm>
            <a:off x="624855" y="2761357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start_time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3"/>
          <p:cNvSpPr/>
          <p:nvPr/>
        </p:nvSpPr>
        <p:spPr>
          <a:xfrm>
            <a:off x="2584772" y="2761357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"16:00:00"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3"/>
          <p:cNvSpPr/>
          <p:nvPr/>
        </p:nvSpPr>
        <p:spPr>
          <a:xfrm>
            <a:off x="500881" y="3038996"/>
            <a:ext cx="3915073" cy="356815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716" name="Google Shape;716;p23"/>
          <p:cNvSpPr/>
          <p:nvPr/>
        </p:nvSpPr>
        <p:spPr>
          <a:xfrm>
            <a:off x="624855" y="3118172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end_time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3"/>
          <p:cNvSpPr/>
          <p:nvPr/>
        </p:nvSpPr>
        <p:spPr>
          <a:xfrm>
            <a:off x="2584772" y="3118172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"17:15:00"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3"/>
          <p:cNvSpPr/>
          <p:nvPr/>
        </p:nvSpPr>
        <p:spPr>
          <a:xfrm>
            <a:off x="500881" y="3395811"/>
            <a:ext cx="3915073" cy="356815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719" name="Google Shape;719;p23"/>
          <p:cNvSpPr/>
          <p:nvPr/>
        </p:nvSpPr>
        <p:spPr>
          <a:xfrm>
            <a:off x="624855" y="3474988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focus_minutes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3"/>
          <p:cNvSpPr/>
          <p:nvPr/>
        </p:nvSpPr>
        <p:spPr>
          <a:xfrm>
            <a:off x="2584772" y="3474988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48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3"/>
          <p:cNvSpPr/>
          <p:nvPr/>
        </p:nvSpPr>
        <p:spPr>
          <a:xfrm>
            <a:off x="500881" y="3752627"/>
            <a:ext cx="3915073" cy="356815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722" name="Google Shape;722;p23"/>
          <p:cNvSpPr/>
          <p:nvPr/>
        </p:nvSpPr>
        <p:spPr>
          <a:xfrm>
            <a:off x="624855" y="3831803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distraction_minutes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3"/>
          <p:cNvSpPr/>
          <p:nvPr/>
        </p:nvSpPr>
        <p:spPr>
          <a:xfrm>
            <a:off x="2584772" y="3831803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27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3"/>
          <p:cNvSpPr/>
          <p:nvPr/>
        </p:nvSpPr>
        <p:spPr>
          <a:xfrm>
            <a:off x="500881" y="4109442"/>
            <a:ext cx="3915073" cy="356815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725" name="Google Shape;725;p23"/>
          <p:cNvSpPr/>
          <p:nvPr/>
        </p:nvSpPr>
        <p:spPr>
          <a:xfrm>
            <a:off x="624855" y="4188619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focus_rate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3"/>
          <p:cNvSpPr/>
          <p:nvPr/>
        </p:nvSpPr>
        <p:spPr>
          <a:xfrm>
            <a:off x="2584772" y="4188619"/>
            <a:ext cx="21644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64.0%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3"/>
          <p:cNvSpPr/>
          <p:nvPr/>
        </p:nvSpPr>
        <p:spPr>
          <a:xfrm>
            <a:off x="4728046" y="1630412"/>
            <a:ext cx="392459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행동 로그 (초 단위)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3"/>
          <p:cNvSpPr/>
          <p:nvPr/>
        </p:nvSpPr>
        <p:spPr>
          <a:xfrm>
            <a:off x="4728046" y="1963787"/>
            <a:ext cx="3924598" cy="2150418"/>
          </a:xfrm>
          <a:prstGeom prst="roundRect">
            <a:avLst>
              <a:gd fmla="val 865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29" name="Google Shape;729;p23"/>
          <p:cNvSpPr/>
          <p:nvPr/>
        </p:nvSpPr>
        <p:spPr>
          <a:xfrm>
            <a:off x="4732809" y="1968550"/>
            <a:ext cx="3914626" cy="356815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3"/>
          <p:cNvSpPr/>
          <p:nvPr/>
        </p:nvSpPr>
        <p:spPr>
          <a:xfrm>
            <a:off x="4857304" y="2047726"/>
            <a:ext cx="151157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3"/>
          <p:cNvSpPr/>
          <p:nvPr/>
        </p:nvSpPr>
        <p:spPr>
          <a:xfrm>
            <a:off x="6164387" y="2047726"/>
            <a:ext cx="150919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종료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3"/>
          <p:cNvSpPr/>
          <p:nvPr/>
        </p:nvSpPr>
        <p:spPr>
          <a:xfrm>
            <a:off x="7469088" y="2047726"/>
            <a:ext cx="151157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행동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3"/>
          <p:cNvSpPr/>
          <p:nvPr/>
        </p:nvSpPr>
        <p:spPr>
          <a:xfrm>
            <a:off x="4732809" y="2325365"/>
            <a:ext cx="3914626" cy="356815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34" name="Google Shape;734;p23"/>
          <p:cNvSpPr/>
          <p:nvPr/>
        </p:nvSpPr>
        <p:spPr>
          <a:xfrm>
            <a:off x="4857304" y="2404542"/>
            <a:ext cx="151157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16:00:00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3"/>
          <p:cNvSpPr/>
          <p:nvPr/>
        </p:nvSpPr>
        <p:spPr>
          <a:xfrm>
            <a:off x="6164387" y="2404542"/>
            <a:ext cx="150919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16:23:15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3"/>
          <p:cNvSpPr/>
          <p:nvPr/>
        </p:nvSpPr>
        <p:spPr>
          <a:xfrm>
            <a:off x="7469088" y="2404542"/>
            <a:ext cx="151157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🟢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집중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3"/>
          <p:cNvSpPr/>
          <p:nvPr/>
        </p:nvSpPr>
        <p:spPr>
          <a:xfrm>
            <a:off x="4732809" y="2682180"/>
            <a:ext cx="3914626" cy="356815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38" name="Google Shape;738;p23"/>
          <p:cNvSpPr/>
          <p:nvPr/>
        </p:nvSpPr>
        <p:spPr>
          <a:xfrm>
            <a:off x="4857304" y="2761357"/>
            <a:ext cx="151157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16:23:15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3"/>
          <p:cNvSpPr/>
          <p:nvPr/>
        </p:nvSpPr>
        <p:spPr>
          <a:xfrm>
            <a:off x="6164387" y="2761357"/>
            <a:ext cx="150919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16:26:10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3"/>
          <p:cNvSpPr/>
          <p:nvPr/>
        </p:nvSpPr>
        <p:spPr>
          <a:xfrm>
            <a:off x="7469088" y="2761357"/>
            <a:ext cx="151157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📱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핸드폰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3"/>
          <p:cNvSpPr/>
          <p:nvPr/>
        </p:nvSpPr>
        <p:spPr>
          <a:xfrm>
            <a:off x="4732809" y="3038996"/>
            <a:ext cx="3914626" cy="356815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2" name="Google Shape;742;p23"/>
          <p:cNvSpPr/>
          <p:nvPr/>
        </p:nvSpPr>
        <p:spPr>
          <a:xfrm>
            <a:off x="4857304" y="3118172"/>
            <a:ext cx="151157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16:26:10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3"/>
          <p:cNvSpPr/>
          <p:nvPr/>
        </p:nvSpPr>
        <p:spPr>
          <a:xfrm>
            <a:off x="6164387" y="3118172"/>
            <a:ext cx="150919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16:45:40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3"/>
          <p:cNvSpPr/>
          <p:nvPr/>
        </p:nvSpPr>
        <p:spPr>
          <a:xfrm>
            <a:off x="7469088" y="3118172"/>
            <a:ext cx="151157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🟢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집중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3"/>
          <p:cNvSpPr/>
          <p:nvPr/>
        </p:nvSpPr>
        <p:spPr>
          <a:xfrm>
            <a:off x="4732809" y="3395811"/>
            <a:ext cx="3914626" cy="356815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23"/>
          <p:cNvSpPr/>
          <p:nvPr/>
        </p:nvSpPr>
        <p:spPr>
          <a:xfrm>
            <a:off x="4857304" y="3474988"/>
            <a:ext cx="151157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16:45:40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3"/>
          <p:cNvSpPr/>
          <p:nvPr/>
        </p:nvSpPr>
        <p:spPr>
          <a:xfrm>
            <a:off x="6164387" y="3474988"/>
            <a:ext cx="150919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16:47:00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3"/>
          <p:cNvSpPr/>
          <p:nvPr/>
        </p:nvSpPr>
        <p:spPr>
          <a:xfrm>
            <a:off x="7469088" y="3474988"/>
            <a:ext cx="151157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😶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멍때림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3"/>
          <p:cNvSpPr/>
          <p:nvPr/>
        </p:nvSpPr>
        <p:spPr>
          <a:xfrm>
            <a:off x="4732809" y="3752627"/>
            <a:ext cx="3914626" cy="356815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50" name="Google Shape;750;p23"/>
          <p:cNvSpPr/>
          <p:nvPr/>
        </p:nvSpPr>
        <p:spPr>
          <a:xfrm>
            <a:off x="4857304" y="3831803"/>
            <a:ext cx="151157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16:47:00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3"/>
          <p:cNvSpPr/>
          <p:nvPr/>
        </p:nvSpPr>
        <p:spPr>
          <a:xfrm>
            <a:off x="6164387" y="3831803"/>
            <a:ext cx="150919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17:15:00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3"/>
          <p:cNvSpPr/>
          <p:nvPr/>
        </p:nvSpPr>
        <p:spPr>
          <a:xfrm>
            <a:off x="7469088" y="3831803"/>
            <a:ext cx="151157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🟢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집중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58" name="Google Shape;7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24"/>
          <p:cNvSpPr/>
          <p:nvPr/>
        </p:nvSpPr>
        <p:spPr>
          <a:xfrm>
            <a:off x="3925119" y="347960"/>
            <a:ext cx="4722763" cy="302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00"/>
              <a:buFont typeface="Roboto Slab"/>
              <a:buNone/>
            </a:pPr>
            <a:r>
              <a:rPr b="1" i="0" lang="ko-KR" sz="2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컴퓨터 비전 — 전체 처리 과정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4"/>
          <p:cNvSpPr/>
          <p:nvPr/>
        </p:nvSpPr>
        <p:spPr>
          <a:xfrm>
            <a:off x="3925119" y="764381"/>
            <a:ext cx="4722763" cy="276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웹캠 영상이 행동 분류까지 처리되는 파이프라인입니다. </a:t>
            </a:r>
            <a:b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1초에 10번 체크 (10fps)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로 부드럽게 작동하면서 컴퓨터 부하를 최소화합니다.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1" name="Google Shape;7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1125587"/>
            <a:ext cx="4722763" cy="3254573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24"/>
          <p:cNvSpPr/>
          <p:nvPr/>
        </p:nvSpPr>
        <p:spPr>
          <a:xfrm>
            <a:off x="4043448" y="3150699"/>
            <a:ext cx="1290578" cy="171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캡처 640×480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4"/>
          <p:cNvSpPr/>
          <p:nvPr/>
        </p:nvSpPr>
        <p:spPr>
          <a:xfrm>
            <a:off x="5143204" y="1784002"/>
            <a:ext cx="1332505" cy="17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얼굴 감지 468점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4"/>
          <p:cNvSpPr/>
          <p:nvPr/>
        </p:nvSpPr>
        <p:spPr>
          <a:xfrm>
            <a:off x="6037716" y="3550966"/>
            <a:ext cx="1290578" cy="171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눈 감김→졸음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4"/>
          <p:cNvSpPr/>
          <p:nvPr/>
        </p:nvSpPr>
        <p:spPr>
          <a:xfrm>
            <a:off x="7183316" y="2143775"/>
            <a:ext cx="1290578" cy="171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머리·폰 감지→판정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4"/>
          <p:cNvSpPr/>
          <p:nvPr/>
        </p:nvSpPr>
        <p:spPr>
          <a:xfrm>
            <a:off x="3883251" y="4465275"/>
            <a:ext cx="5124900" cy="303000"/>
          </a:xfrm>
          <a:prstGeom prst="roundRect">
            <a:avLst>
              <a:gd fmla="val 4403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7" name="Google Shape;76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22006" y="4592017"/>
            <a:ext cx="121072" cy="96887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24"/>
          <p:cNvSpPr/>
          <p:nvPr/>
        </p:nvSpPr>
        <p:spPr>
          <a:xfrm>
            <a:off x="4239964" y="4565154"/>
            <a:ext cx="4768230" cy="138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Roboto"/>
              <a:buNone/>
            </a:pPr>
            <a:r>
              <a:rPr b="1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판정 우선순위</a:t>
            </a: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🚶 자리 비움 → 😴 졸음 → 📱 핸드폰 → 😶 멍때림 → 🟢 집중(나머지)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5"/>
          <p:cNvSpPr/>
          <p:nvPr/>
        </p:nvSpPr>
        <p:spPr>
          <a:xfrm>
            <a:off x="496119" y="241162"/>
            <a:ext cx="81519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500"/>
              <a:buFont typeface="Roboto Slab"/>
              <a:buNone/>
            </a:pPr>
            <a:r>
              <a:rPr b="1" i="0" lang="ko-KR" sz="2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알고리즘 1 — 졸음 감지 (EAR)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5"/>
          <p:cNvSpPr/>
          <p:nvPr/>
        </p:nvSpPr>
        <p:spPr>
          <a:xfrm>
            <a:off x="496119" y="705966"/>
            <a:ext cx="8608963" cy="100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눈이 감겨있는 비율 </a:t>
            </a:r>
            <a:r>
              <a:rPr b="1" i="0" lang="ko-KR" sz="11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EAR (Eye Aspect Ratio) = 눈의 세로 ÷ 가로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로 졸음을 자동 판별합니다. </a:t>
            </a:r>
            <a:b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정상적인 눈 깜빡임(0.1~0.4초)과 졸음(1.5초 이상)을 구분하는 것이 핵심입니다.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5"/>
          <p:cNvSpPr/>
          <p:nvPr/>
        </p:nvSpPr>
        <p:spPr>
          <a:xfrm>
            <a:off x="537600" y="1166025"/>
            <a:ext cx="8151600" cy="1519200"/>
          </a:xfrm>
          <a:prstGeom prst="roundRect">
            <a:avLst>
              <a:gd fmla="val 1141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77" name="Google Shape;777;p25"/>
          <p:cNvSpPr/>
          <p:nvPr/>
        </p:nvSpPr>
        <p:spPr>
          <a:xfrm>
            <a:off x="542362" y="1173122"/>
            <a:ext cx="8141400" cy="250800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78" name="Google Shape;778;p25"/>
          <p:cNvSpPr/>
          <p:nvPr/>
        </p:nvSpPr>
        <p:spPr>
          <a:xfrm>
            <a:off x="620720" y="1223470"/>
            <a:ext cx="30135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상태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5"/>
          <p:cNvSpPr/>
          <p:nvPr/>
        </p:nvSpPr>
        <p:spPr>
          <a:xfrm>
            <a:off x="3336600" y="1223470"/>
            <a:ext cx="30111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EAR 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5"/>
          <p:cNvSpPr/>
          <p:nvPr/>
        </p:nvSpPr>
        <p:spPr>
          <a:xfrm>
            <a:off x="6050100" y="1223470"/>
            <a:ext cx="30135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의미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5"/>
          <p:cNvSpPr/>
          <p:nvPr/>
        </p:nvSpPr>
        <p:spPr>
          <a:xfrm>
            <a:off x="542362" y="1423977"/>
            <a:ext cx="8141400" cy="250800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82" name="Google Shape;782;p25"/>
          <p:cNvSpPr/>
          <p:nvPr/>
        </p:nvSpPr>
        <p:spPr>
          <a:xfrm>
            <a:off x="620720" y="1474325"/>
            <a:ext cx="30135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눈 크게 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5"/>
          <p:cNvSpPr/>
          <p:nvPr/>
        </p:nvSpPr>
        <p:spPr>
          <a:xfrm>
            <a:off x="3336600" y="1474325"/>
            <a:ext cx="30111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0.30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5"/>
          <p:cNvSpPr/>
          <p:nvPr/>
        </p:nvSpPr>
        <p:spPr>
          <a:xfrm>
            <a:off x="6050100" y="1474325"/>
            <a:ext cx="30135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초롱초롱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5"/>
          <p:cNvSpPr/>
          <p:nvPr/>
        </p:nvSpPr>
        <p:spPr>
          <a:xfrm>
            <a:off x="542362" y="1674832"/>
            <a:ext cx="8141400" cy="250800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86" name="Google Shape;786;p25"/>
          <p:cNvSpPr/>
          <p:nvPr/>
        </p:nvSpPr>
        <p:spPr>
          <a:xfrm>
            <a:off x="620720" y="1725181"/>
            <a:ext cx="30135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눈 보통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5"/>
          <p:cNvSpPr/>
          <p:nvPr/>
        </p:nvSpPr>
        <p:spPr>
          <a:xfrm>
            <a:off x="3336600" y="1725181"/>
            <a:ext cx="30111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0.25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5"/>
          <p:cNvSpPr/>
          <p:nvPr/>
        </p:nvSpPr>
        <p:spPr>
          <a:xfrm>
            <a:off x="6050100" y="1725181"/>
            <a:ext cx="30135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정상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5"/>
          <p:cNvSpPr/>
          <p:nvPr/>
        </p:nvSpPr>
        <p:spPr>
          <a:xfrm>
            <a:off x="542362" y="1925686"/>
            <a:ext cx="8141400" cy="250800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90" name="Google Shape;790;p25"/>
          <p:cNvSpPr/>
          <p:nvPr/>
        </p:nvSpPr>
        <p:spPr>
          <a:xfrm>
            <a:off x="620720" y="1976034"/>
            <a:ext cx="30135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눈 가늘어짐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5"/>
          <p:cNvSpPr/>
          <p:nvPr/>
        </p:nvSpPr>
        <p:spPr>
          <a:xfrm>
            <a:off x="3336600" y="1976034"/>
            <a:ext cx="30111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0.20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5"/>
          <p:cNvSpPr/>
          <p:nvPr/>
        </p:nvSpPr>
        <p:spPr>
          <a:xfrm>
            <a:off x="6050100" y="1976034"/>
            <a:ext cx="30135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피곤?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5"/>
          <p:cNvSpPr/>
          <p:nvPr/>
        </p:nvSpPr>
        <p:spPr>
          <a:xfrm>
            <a:off x="542362" y="2176541"/>
            <a:ext cx="8141400" cy="250800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94" name="Google Shape;794;p25"/>
          <p:cNvSpPr/>
          <p:nvPr/>
        </p:nvSpPr>
        <p:spPr>
          <a:xfrm>
            <a:off x="620720" y="2226890"/>
            <a:ext cx="30135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눈 감김 (1.5초+)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5"/>
          <p:cNvSpPr/>
          <p:nvPr/>
        </p:nvSpPr>
        <p:spPr>
          <a:xfrm>
            <a:off x="3336600" y="2226890"/>
            <a:ext cx="30111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&lt; 0.20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5"/>
          <p:cNvSpPr/>
          <p:nvPr/>
        </p:nvSpPr>
        <p:spPr>
          <a:xfrm>
            <a:off x="6050100" y="2226890"/>
            <a:ext cx="30135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Roboto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😴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졸음!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5"/>
          <p:cNvSpPr/>
          <p:nvPr/>
        </p:nvSpPr>
        <p:spPr>
          <a:xfrm>
            <a:off x="542362" y="2427395"/>
            <a:ext cx="8141400" cy="250800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98" name="Google Shape;798;p25"/>
          <p:cNvSpPr/>
          <p:nvPr/>
        </p:nvSpPr>
        <p:spPr>
          <a:xfrm>
            <a:off x="620720" y="2477743"/>
            <a:ext cx="30135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눈 깜빡임 (0.3초 미만)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5"/>
          <p:cNvSpPr/>
          <p:nvPr/>
        </p:nvSpPr>
        <p:spPr>
          <a:xfrm>
            <a:off x="3336600" y="2477743"/>
            <a:ext cx="30111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&lt; 0.20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5"/>
          <p:cNvSpPr/>
          <p:nvPr/>
        </p:nvSpPr>
        <p:spPr>
          <a:xfrm>
            <a:off x="6050100" y="2477743"/>
            <a:ext cx="30135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정상 깜빡임 (무시)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1" name="Google Shape;8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6225" y="2870048"/>
            <a:ext cx="3830551" cy="227344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25"/>
          <p:cNvSpPr/>
          <p:nvPr/>
        </p:nvSpPr>
        <p:spPr>
          <a:xfrm>
            <a:off x="5343006" y="4295468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알림 후 리셋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5"/>
          <p:cNvSpPr/>
          <p:nvPr/>
        </p:nvSpPr>
        <p:spPr>
          <a:xfrm>
            <a:off x="3864031" y="4295493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15프레임 확인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5"/>
          <p:cNvSpPr/>
          <p:nvPr/>
        </p:nvSpPr>
        <p:spPr>
          <a:xfrm>
            <a:off x="2569976" y="4295518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EAR 계산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6"/>
          <p:cNvSpPr/>
          <p:nvPr/>
        </p:nvSpPr>
        <p:spPr>
          <a:xfrm>
            <a:off x="500019" y="594239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알고리즘 2 — 고개 방향 (집중도)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6"/>
          <p:cNvSpPr/>
          <p:nvPr/>
        </p:nvSpPr>
        <p:spPr>
          <a:xfrm>
            <a:off x="496119" y="1592610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고개가 어디를 향하는지로 집중 여부를 판별합니다. 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2초 미만의 잠깐 돌아보기는 허용</a:t>
            </a: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하고, </a:t>
            </a:r>
            <a:b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2초 이상 지속할 때만 비집중으로 판정합니다.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6"/>
          <p:cNvSpPr/>
          <p:nvPr/>
        </p:nvSpPr>
        <p:spPr>
          <a:xfrm>
            <a:off x="496119" y="2317873"/>
            <a:ext cx="8151900" cy="1451100"/>
          </a:xfrm>
          <a:prstGeom prst="roundRect">
            <a:avLst>
              <a:gd fmla="val 1282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13" name="Google Shape;813;p26"/>
          <p:cNvSpPr/>
          <p:nvPr/>
        </p:nvSpPr>
        <p:spPr>
          <a:xfrm>
            <a:off x="496119" y="2681833"/>
            <a:ext cx="8151900" cy="78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6"/>
          <p:cNvSpPr/>
          <p:nvPr/>
        </p:nvSpPr>
        <p:spPr>
          <a:xfrm>
            <a:off x="496119" y="3043411"/>
            <a:ext cx="8151900" cy="78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15" name="Google Shape;815;p26"/>
          <p:cNvSpPr/>
          <p:nvPr/>
        </p:nvSpPr>
        <p:spPr>
          <a:xfrm>
            <a:off x="496119" y="3404988"/>
            <a:ext cx="8151900" cy="78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16" name="Google Shape;816;p26"/>
          <p:cNvSpPr/>
          <p:nvPr/>
        </p:nvSpPr>
        <p:spPr>
          <a:xfrm>
            <a:off x="2536552" y="2317873"/>
            <a:ext cx="7800" cy="14511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17" name="Google Shape;817;p26"/>
          <p:cNvSpPr/>
          <p:nvPr/>
        </p:nvSpPr>
        <p:spPr>
          <a:xfrm>
            <a:off x="4572074" y="2317873"/>
            <a:ext cx="7800" cy="14511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18" name="Google Shape;818;p26"/>
          <p:cNvSpPr/>
          <p:nvPr/>
        </p:nvSpPr>
        <p:spPr>
          <a:xfrm>
            <a:off x="6607597" y="2317873"/>
            <a:ext cx="7800" cy="14511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19" name="Google Shape;819;p26"/>
          <p:cNvSpPr/>
          <p:nvPr/>
        </p:nvSpPr>
        <p:spPr>
          <a:xfrm>
            <a:off x="625004" y="2401813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각도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6"/>
          <p:cNvSpPr/>
          <p:nvPr/>
        </p:nvSpPr>
        <p:spPr>
          <a:xfrm>
            <a:off x="2662907" y="2401813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동작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6"/>
          <p:cNvSpPr/>
          <p:nvPr/>
        </p:nvSpPr>
        <p:spPr>
          <a:xfrm>
            <a:off x="4698429" y="2401813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집중 범위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6"/>
          <p:cNvSpPr/>
          <p:nvPr/>
        </p:nvSpPr>
        <p:spPr>
          <a:xfrm>
            <a:off x="6733952" y="2401813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비집중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6"/>
          <p:cNvSpPr/>
          <p:nvPr/>
        </p:nvSpPr>
        <p:spPr>
          <a:xfrm>
            <a:off x="625004" y="2763390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Yaw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6"/>
          <p:cNvSpPr/>
          <p:nvPr/>
        </p:nvSpPr>
        <p:spPr>
          <a:xfrm>
            <a:off x="2662907" y="2763390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좌우 고개 돌림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6"/>
          <p:cNvSpPr/>
          <p:nvPr/>
        </p:nvSpPr>
        <p:spPr>
          <a:xfrm>
            <a:off x="4698429" y="2763390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-30° ~ +30°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6"/>
          <p:cNvSpPr/>
          <p:nvPr/>
        </p:nvSpPr>
        <p:spPr>
          <a:xfrm>
            <a:off x="6733952" y="2763390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옆을 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6"/>
          <p:cNvSpPr/>
          <p:nvPr/>
        </p:nvSpPr>
        <p:spPr>
          <a:xfrm>
            <a:off x="625004" y="3124968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Pitch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6"/>
          <p:cNvSpPr/>
          <p:nvPr/>
        </p:nvSpPr>
        <p:spPr>
          <a:xfrm>
            <a:off x="2662907" y="3124968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위아래 고개 숙임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6"/>
          <p:cNvSpPr/>
          <p:nvPr/>
        </p:nvSpPr>
        <p:spPr>
          <a:xfrm>
            <a:off x="4698429" y="3124968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-35° ~ +25°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6"/>
          <p:cNvSpPr/>
          <p:nvPr/>
        </p:nvSpPr>
        <p:spPr>
          <a:xfrm>
            <a:off x="6733952" y="3124968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너무 숙이거나 젖힘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6"/>
          <p:cNvSpPr/>
          <p:nvPr/>
        </p:nvSpPr>
        <p:spPr>
          <a:xfrm>
            <a:off x="625004" y="3486546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Roll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6"/>
          <p:cNvSpPr/>
          <p:nvPr/>
        </p:nvSpPr>
        <p:spPr>
          <a:xfrm>
            <a:off x="2662907" y="3486546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고개 기울임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6"/>
          <p:cNvSpPr/>
          <p:nvPr/>
        </p:nvSpPr>
        <p:spPr>
          <a:xfrm>
            <a:off x="4698429" y="3486546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-20° ~ +20°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6"/>
          <p:cNvSpPr/>
          <p:nvPr/>
        </p:nvSpPr>
        <p:spPr>
          <a:xfrm>
            <a:off x="6733952" y="3486546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참고만 함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5" name="Google Shape;8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627" y="3912269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26"/>
          <p:cNvSpPr/>
          <p:nvPr/>
        </p:nvSpPr>
        <p:spPr>
          <a:xfrm>
            <a:off x="899145" y="3908474"/>
            <a:ext cx="2210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고개 돌림 2초 미만</a:t>
            </a:r>
            <a:endParaRPr b="1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6"/>
          <p:cNvSpPr/>
          <p:nvPr/>
        </p:nvSpPr>
        <p:spPr>
          <a:xfrm>
            <a:off x="899145" y="4176737"/>
            <a:ext cx="2210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무시 — 잠깐 보는 건 OK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8" name="Google Shape;8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1500" y="3912269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26"/>
          <p:cNvSpPr/>
          <p:nvPr/>
        </p:nvSpPr>
        <p:spPr>
          <a:xfrm>
            <a:off x="3668018" y="3908474"/>
            <a:ext cx="221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고개 돌림 10초 이상</a:t>
            </a:r>
            <a:endParaRPr b="1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6"/>
          <p:cNvSpPr/>
          <p:nvPr/>
        </p:nvSpPr>
        <p:spPr>
          <a:xfrm>
            <a:off x="3668018" y="4176737"/>
            <a:ext cx="2211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"집중해 주세요! 다시 교재를 봐볼까요?"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1" name="Google Shape;8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447" y="3912269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26"/>
          <p:cNvSpPr/>
          <p:nvPr/>
        </p:nvSpPr>
        <p:spPr>
          <a:xfrm>
            <a:off x="6436965" y="3908474"/>
            <a:ext cx="2211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고개 돌림 1분 이상</a:t>
            </a:r>
            <a:endParaRPr b="1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6"/>
          <p:cNvSpPr/>
          <p:nvPr/>
        </p:nvSpPr>
        <p:spPr>
          <a:xfrm>
            <a:off x="6436965" y="4176737"/>
            <a:ext cx="221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"혹시 쉬는 시간인가요? 일시정지를 눌러주세요"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27"/>
          <p:cNvSpPr/>
          <p:nvPr/>
        </p:nvSpPr>
        <p:spPr>
          <a:xfrm>
            <a:off x="496119" y="366713"/>
            <a:ext cx="8151763" cy="381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알고리즘 3 — 핸드폰 감지 (YOLO)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7"/>
          <p:cNvSpPr/>
          <p:nvPr/>
        </p:nvSpPr>
        <p:spPr>
          <a:xfrm>
            <a:off x="496119" y="988591"/>
            <a:ext cx="860896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YOLO Tiny가 웹캠 영상에서 핸드폰을 실시간으로 찾아냅니다. </a:t>
            </a:r>
            <a:b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2초 미만의 잠깐 시계 확인 등은 무시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하고, 2초 이상 지속될 때만 딴짓으로 기록합니다.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7"/>
          <p:cNvSpPr/>
          <p:nvPr/>
        </p:nvSpPr>
        <p:spPr>
          <a:xfrm>
            <a:off x="496119" y="1615769"/>
            <a:ext cx="39270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감지 과정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7"/>
          <p:cNvSpPr/>
          <p:nvPr/>
        </p:nvSpPr>
        <p:spPr>
          <a:xfrm>
            <a:off x="496119" y="1878899"/>
            <a:ext cx="2442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7"/>
          <p:cNvSpPr/>
          <p:nvPr/>
        </p:nvSpPr>
        <p:spPr>
          <a:xfrm>
            <a:off x="496119" y="2072152"/>
            <a:ext cx="39270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27"/>
          <p:cNvSpPr/>
          <p:nvPr/>
        </p:nvSpPr>
        <p:spPr>
          <a:xfrm>
            <a:off x="496119" y="2161747"/>
            <a:ext cx="39270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웹캠 프레임 캡처</a:t>
            </a:r>
            <a:endParaRPr b="1" i="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7"/>
          <p:cNvSpPr/>
          <p:nvPr/>
        </p:nvSpPr>
        <p:spPr>
          <a:xfrm>
            <a:off x="496119" y="2472649"/>
            <a:ext cx="3927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2초에 1번 YOLO 실행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7"/>
          <p:cNvSpPr/>
          <p:nvPr/>
        </p:nvSpPr>
        <p:spPr>
          <a:xfrm>
            <a:off x="496119" y="2878206"/>
            <a:ext cx="2442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7"/>
          <p:cNvSpPr/>
          <p:nvPr/>
        </p:nvSpPr>
        <p:spPr>
          <a:xfrm>
            <a:off x="496119" y="3059255"/>
            <a:ext cx="39270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7"/>
          <p:cNvSpPr/>
          <p:nvPr/>
        </p:nvSpPr>
        <p:spPr>
          <a:xfrm>
            <a:off x="496119" y="3161053"/>
            <a:ext cx="39270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객체 탐색</a:t>
            </a:r>
            <a:endParaRPr b="1" i="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7"/>
          <p:cNvSpPr/>
          <p:nvPr/>
        </p:nvSpPr>
        <p:spPr>
          <a:xfrm>
            <a:off x="496119" y="3471955"/>
            <a:ext cx="3927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"cell phone" 클래스 검색, 신뢰도 50%+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7"/>
          <p:cNvSpPr/>
          <p:nvPr/>
        </p:nvSpPr>
        <p:spPr>
          <a:xfrm>
            <a:off x="496119" y="3877512"/>
            <a:ext cx="2442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7"/>
          <p:cNvSpPr/>
          <p:nvPr/>
        </p:nvSpPr>
        <p:spPr>
          <a:xfrm>
            <a:off x="496119" y="4046358"/>
            <a:ext cx="39270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27"/>
          <p:cNvSpPr/>
          <p:nvPr/>
        </p:nvSpPr>
        <p:spPr>
          <a:xfrm>
            <a:off x="496119" y="4160360"/>
            <a:ext cx="39270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지속 시간 확인</a:t>
            </a:r>
            <a:endParaRPr b="1" i="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7"/>
          <p:cNvSpPr/>
          <p:nvPr/>
        </p:nvSpPr>
        <p:spPr>
          <a:xfrm>
            <a:off x="496119" y="4471262"/>
            <a:ext cx="3927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2초 이상 → 핸드폰 사용으로 기록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7"/>
          <p:cNvSpPr/>
          <p:nvPr/>
        </p:nvSpPr>
        <p:spPr>
          <a:xfrm>
            <a:off x="4725665" y="1615769"/>
            <a:ext cx="39270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알림 단계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7"/>
          <p:cNvSpPr/>
          <p:nvPr/>
        </p:nvSpPr>
        <p:spPr>
          <a:xfrm>
            <a:off x="4725665" y="1915511"/>
            <a:ext cx="3927000" cy="2289000"/>
          </a:xfrm>
          <a:prstGeom prst="roundRect">
            <a:avLst>
              <a:gd fmla="val 80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27"/>
          <p:cNvSpPr/>
          <p:nvPr/>
        </p:nvSpPr>
        <p:spPr>
          <a:xfrm>
            <a:off x="4730428" y="1920273"/>
            <a:ext cx="3917400" cy="347700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27"/>
          <p:cNvSpPr/>
          <p:nvPr/>
        </p:nvSpPr>
        <p:spPr>
          <a:xfrm>
            <a:off x="4852467" y="1960531"/>
            <a:ext cx="2169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 시간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7"/>
          <p:cNvSpPr/>
          <p:nvPr/>
        </p:nvSpPr>
        <p:spPr>
          <a:xfrm>
            <a:off x="6813575" y="1960531"/>
            <a:ext cx="2169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알림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7"/>
          <p:cNvSpPr/>
          <p:nvPr/>
        </p:nvSpPr>
        <p:spPr>
          <a:xfrm>
            <a:off x="4730428" y="2267861"/>
            <a:ext cx="3917400" cy="347700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7"/>
          <p:cNvSpPr/>
          <p:nvPr/>
        </p:nvSpPr>
        <p:spPr>
          <a:xfrm>
            <a:off x="4852467" y="2308119"/>
            <a:ext cx="2169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0~2초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7"/>
          <p:cNvSpPr/>
          <p:nvPr/>
        </p:nvSpPr>
        <p:spPr>
          <a:xfrm>
            <a:off x="6813575" y="2308119"/>
            <a:ext cx="2169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무시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7"/>
          <p:cNvSpPr/>
          <p:nvPr/>
        </p:nvSpPr>
        <p:spPr>
          <a:xfrm>
            <a:off x="4730428" y="2615450"/>
            <a:ext cx="3917400" cy="347700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7"/>
          <p:cNvSpPr/>
          <p:nvPr/>
        </p:nvSpPr>
        <p:spPr>
          <a:xfrm>
            <a:off x="4852467" y="2655708"/>
            <a:ext cx="2169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2초~3분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7"/>
          <p:cNvSpPr/>
          <p:nvPr/>
        </p:nvSpPr>
        <p:spPr>
          <a:xfrm>
            <a:off x="6813575" y="2655708"/>
            <a:ext cx="2169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📱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조용히 기록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7"/>
          <p:cNvSpPr/>
          <p:nvPr/>
        </p:nvSpPr>
        <p:spPr>
          <a:xfrm>
            <a:off x="4730428" y="2963038"/>
            <a:ext cx="3917400" cy="347700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7"/>
          <p:cNvSpPr/>
          <p:nvPr/>
        </p:nvSpPr>
        <p:spPr>
          <a:xfrm>
            <a:off x="4852467" y="3003296"/>
            <a:ext cx="2169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7"/>
          <p:cNvSpPr/>
          <p:nvPr/>
        </p:nvSpPr>
        <p:spPr>
          <a:xfrm>
            <a:off x="6813575" y="3003296"/>
            <a:ext cx="2169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"핸드폰 3분째예요!"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7"/>
          <p:cNvSpPr/>
          <p:nvPr/>
        </p:nvSpPr>
        <p:spPr>
          <a:xfrm>
            <a:off x="4730428" y="3310626"/>
            <a:ext cx="3917400" cy="541500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7"/>
          <p:cNvSpPr/>
          <p:nvPr/>
        </p:nvSpPr>
        <p:spPr>
          <a:xfrm>
            <a:off x="4852467" y="3350884"/>
            <a:ext cx="2169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7"/>
          <p:cNvSpPr/>
          <p:nvPr/>
        </p:nvSpPr>
        <p:spPr>
          <a:xfrm>
            <a:off x="6813575" y="3350884"/>
            <a:ext cx="17124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"지금 내려놓으면 아직 늦지 않아요!"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7"/>
          <p:cNvSpPr/>
          <p:nvPr/>
        </p:nvSpPr>
        <p:spPr>
          <a:xfrm>
            <a:off x="4730428" y="3852062"/>
            <a:ext cx="3917400" cy="347700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27"/>
          <p:cNvSpPr/>
          <p:nvPr/>
        </p:nvSpPr>
        <p:spPr>
          <a:xfrm>
            <a:off x="4852467" y="3892320"/>
            <a:ext cx="2169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7"/>
          <p:cNvSpPr/>
          <p:nvPr/>
        </p:nvSpPr>
        <p:spPr>
          <a:xfrm>
            <a:off x="6813575" y="3892320"/>
            <a:ext cx="2169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"공부로 돌아올까요?" +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28"/>
          <p:cNvSpPr/>
          <p:nvPr/>
        </p:nvSpPr>
        <p:spPr>
          <a:xfrm>
            <a:off x="496119" y="387548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PC 전면 웹캠으로 감지할 수 있는 것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8"/>
          <p:cNvSpPr/>
          <p:nvPr/>
        </p:nvSpPr>
        <p:spPr>
          <a:xfrm>
            <a:off x="496119" y="1023119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노트북/데스크탑에 있는 웹캠만으로 충분합니다.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추가 장비 구입 없이 브라우저만 있으면 바로 시작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할 수 있어요!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8"/>
          <p:cNvSpPr/>
          <p:nvPr/>
        </p:nvSpPr>
        <p:spPr>
          <a:xfrm>
            <a:off x="496119" y="1361108"/>
            <a:ext cx="8151763" cy="2535808"/>
          </a:xfrm>
          <a:prstGeom prst="roundRect">
            <a:avLst>
              <a:gd fmla="val 734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92" name="Google Shape;892;p28"/>
          <p:cNvSpPr/>
          <p:nvPr/>
        </p:nvSpPr>
        <p:spPr>
          <a:xfrm>
            <a:off x="496119" y="1725067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8"/>
          <p:cNvSpPr/>
          <p:nvPr/>
        </p:nvSpPr>
        <p:spPr>
          <a:xfrm>
            <a:off x="496119" y="2086645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94" name="Google Shape;894;p28"/>
          <p:cNvSpPr/>
          <p:nvPr/>
        </p:nvSpPr>
        <p:spPr>
          <a:xfrm>
            <a:off x="496119" y="2448223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95" name="Google Shape;895;p28"/>
          <p:cNvSpPr/>
          <p:nvPr/>
        </p:nvSpPr>
        <p:spPr>
          <a:xfrm>
            <a:off x="496119" y="2809801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96" name="Google Shape;896;p28"/>
          <p:cNvSpPr/>
          <p:nvPr/>
        </p:nvSpPr>
        <p:spPr>
          <a:xfrm>
            <a:off x="496119" y="3171379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97" name="Google Shape;897;p28"/>
          <p:cNvSpPr/>
          <p:nvPr/>
        </p:nvSpPr>
        <p:spPr>
          <a:xfrm>
            <a:off x="496119" y="3532956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98" name="Google Shape;898;p28"/>
          <p:cNvSpPr/>
          <p:nvPr/>
        </p:nvSpPr>
        <p:spPr>
          <a:xfrm>
            <a:off x="2536552" y="1361108"/>
            <a:ext cx="7753" cy="2535808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899" name="Google Shape;899;p28"/>
          <p:cNvSpPr/>
          <p:nvPr/>
        </p:nvSpPr>
        <p:spPr>
          <a:xfrm>
            <a:off x="4572074" y="1361108"/>
            <a:ext cx="7753" cy="2535808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00" name="Google Shape;900;p28"/>
          <p:cNvSpPr/>
          <p:nvPr/>
        </p:nvSpPr>
        <p:spPr>
          <a:xfrm>
            <a:off x="6607597" y="1361108"/>
            <a:ext cx="7753" cy="2535808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01" name="Google Shape;901;p28"/>
          <p:cNvSpPr/>
          <p:nvPr/>
        </p:nvSpPr>
        <p:spPr>
          <a:xfrm>
            <a:off x="625004" y="1445047"/>
            <a:ext cx="22423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감지 항목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8"/>
          <p:cNvSpPr/>
          <p:nvPr/>
        </p:nvSpPr>
        <p:spPr>
          <a:xfrm>
            <a:off x="2662907" y="1445047"/>
            <a:ext cx="224001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가능?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8"/>
          <p:cNvSpPr/>
          <p:nvPr/>
        </p:nvSpPr>
        <p:spPr>
          <a:xfrm>
            <a:off x="4698429" y="1445047"/>
            <a:ext cx="224001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정확도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8"/>
          <p:cNvSpPr/>
          <p:nvPr/>
        </p:nvSpPr>
        <p:spPr>
          <a:xfrm>
            <a:off x="6733952" y="1445047"/>
            <a:ext cx="22423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방법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8"/>
          <p:cNvSpPr/>
          <p:nvPr/>
        </p:nvSpPr>
        <p:spPr>
          <a:xfrm>
            <a:off x="625004" y="1806625"/>
            <a:ext cx="22423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자리 비움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8"/>
          <p:cNvSpPr/>
          <p:nvPr/>
        </p:nvSpPr>
        <p:spPr>
          <a:xfrm>
            <a:off x="2662907" y="1806625"/>
            <a:ext cx="224001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8"/>
          <p:cNvSpPr/>
          <p:nvPr/>
        </p:nvSpPr>
        <p:spPr>
          <a:xfrm>
            <a:off x="4698429" y="1806625"/>
            <a:ext cx="224001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높음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8"/>
          <p:cNvSpPr/>
          <p:nvPr/>
        </p:nvSpPr>
        <p:spPr>
          <a:xfrm>
            <a:off x="6733952" y="1806625"/>
            <a:ext cx="22423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얼굴 안 보이면 비움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8"/>
          <p:cNvSpPr/>
          <p:nvPr/>
        </p:nvSpPr>
        <p:spPr>
          <a:xfrm>
            <a:off x="625004" y="2168203"/>
            <a:ext cx="22423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졸음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8"/>
          <p:cNvSpPr/>
          <p:nvPr/>
        </p:nvSpPr>
        <p:spPr>
          <a:xfrm>
            <a:off x="2662907" y="2168203"/>
            <a:ext cx="224001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8"/>
          <p:cNvSpPr/>
          <p:nvPr/>
        </p:nvSpPr>
        <p:spPr>
          <a:xfrm>
            <a:off x="4698429" y="2168203"/>
            <a:ext cx="224001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높음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8"/>
          <p:cNvSpPr/>
          <p:nvPr/>
        </p:nvSpPr>
        <p:spPr>
          <a:xfrm>
            <a:off x="6733952" y="2168203"/>
            <a:ext cx="22423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눈 감김 비율(EAR) 측정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8"/>
          <p:cNvSpPr/>
          <p:nvPr/>
        </p:nvSpPr>
        <p:spPr>
          <a:xfrm>
            <a:off x="625004" y="2529780"/>
            <a:ext cx="22423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고개 돌림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8"/>
          <p:cNvSpPr/>
          <p:nvPr/>
        </p:nvSpPr>
        <p:spPr>
          <a:xfrm>
            <a:off x="2662907" y="2529780"/>
            <a:ext cx="224001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8"/>
          <p:cNvSpPr/>
          <p:nvPr/>
        </p:nvSpPr>
        <p:spPr>
          <a:xfrm>
            <a:off x="4698429" y="2529780"/>
            <a:ext cx="224001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높음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8"/>
          <p:cNvSpPr/>
          <p:nvPr/>
        </p:nvSpPr>
        <p:spPr>
          <a:xfrm>
            <a:off x="6733952" y="2529780"/>
            <a:ext cx="22423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얼굴 회전 각도 계산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8"/>
          <p:cNvSpPr/>
          <p:nvPr/>
        </p:nvSpPr>
        <p:spPr>
          <a:xfrm>
            <a:off x="625004" y="2891358"/>
            <a:ext cx="22423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핸드폰 사용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8"/>
          <p:cNvSpPr/>
          <p:nvPr/>
        </p:nvSpPr>
        <p:spPr>
          <a:xfrm>
            <a:off x="2662907" y="2891358"/>
            <a:ext cx="224001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8"/>
          <p:cNvSpPr/>
          <p:nvPr/>
        </p:nvSpPr>
        <p:spPr>
          <a:xfrm>
            <a:off x="4698429" y="2891358"/>
            <a:ext cx="224001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중간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8"/>
          <p:cNvSpPr/>
          <p:nvPr/>
        </p:nvSpPr>
        <p:spPr>
          <a:xfrm>
            <a:off x="6733952" y="2891358"/>
            <a:ext cx="22423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YOLO 객체 감지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8"/>
          <p:cNvSpPr/>
          <p:nvPr/>
        </p:nvSpPr>
        <p:spPr>
          <a:xfrm>
            <a:off x="625004" y="3252936"/>
            <a:ext cx="22423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하품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8"/>
          <p:cNvSpPr/>
          <p:nvPr/>
        </p:nvSpPr>
        <p:spPr>
          <a:xfrm>
            <a:off x="2662907" y="3252936"/>
            <a:ext cx="224001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8"/>
          <p:cNvSpPr/>
          <p:nvPr/>
        </p:nvSpPr>
        <p:spPr>
          <a:xfrm>
            <a:off x="4698429" y="3252936"/>
            <a:ext cx="224001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중간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8"/>
          <p:cNvSpPr/>
          <p:nvPr/>
        </p:nvSpPr>
        <p:spPr>
          <a:xfrm>
            <a:off x="6733952" y="3252936"/>
            <a:ext cx="22423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입 벌림 비율 측정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8"/>
          <p:cNvSpPr/>
          <p:nvPr/>
        </p:nvSpPr>
        <p:spPr>
          <a:xfrm>
            <a:off x="625004" y="3614514"/>
            <a:ext cx="22423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멍때림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8"/>
          <p:cNvSpPr/>
          <p:nvPr/>
        </p:nvSpPr>
        <p:spPr>
          <a:xfrm>
            <a:off x="2662907" y="3614514"/>
            <a:ext cx="224001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🟡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8"/>
          <p:cNvSpPr/>
          <p:nvPr/>
        </p:nvSpPr>
        <p:spPr>
          <a:xfrm>
            <a:off x="4698429" y="3614514"/>
            <a:ext cx="224001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보통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8"/>
          <p:cNvSpPr/>
          <p:nvPr/>
        </p:nvSpPr>
        <p:spPr>
          <a:xfrm>
            <a:off x="6733952" y="3614514"/>
            <a:ext cx="22423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시선 고정 + 움직임 없음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8"/>
          <p:cNvSpPr/>
          <p:nvPr/>
        </p:nvSpPr>
        <p:spPr>
          <a:xfrm>
            <a:off x="496125" y="4036453"/>
            <a:ext cx="2634600" cy="960600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8"/>
          <p:cNvSpPr/>
          <p:nvPr/>
        </p:nvSpPr>
        <p:spPr>
          <a:xfrm>
            <a:off x="681265" y="4160416"/>
            <a:ext cx="238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💻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노트북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8"/>
          <p:cNvSpPr/>
          <p:nvPr/>
        </p:nvSpPr>
        <p:spPr>
          <a:xfrm>
            <a:off x="620092" y="4433441"/>
            <a:ext cx="238660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내장 웹캠 바로 사용 — 준비 끝!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8"/>
          <p:cNvSpPr/>
          <p:nvPr/>
        </p:nvSpPr>
        <p:spPr>
          <a:xfrm>
            <a:off x="3254650" y="4036453"/>
            <a:ext cx="2634600" cy="960600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8"/>
          <p:cNvSpPr/>
          <p:nvPr/>
        </p:nvSpPr>
        <p:spPr>
          <a:xfrm>
            <a:off x="3439795" y="4160416"/>
            <a:ext cx="2386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🖥️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데스크탑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8"/>
          <p:cNvSpPr/>
          <p:nvPr/>
        </p:nvSpPr>
        <p:spPr>
          <a:xfrm>
            <a:off x="3378622" y="4433441"/>
            <a:ext cx="238668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USB 웹캠 하나만 연결하면 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8"/>
          <p:cNvSpPr/>
          <p:nvPr/>
        </p:nvSpPr>
        <p:spPr>
          <a:xfrm>
            <a:off x="6013249" y="4036453"/>
            <a:ext cx="2634600" cy="960600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8"/>
          <p:cNvSpPr/>
          <p:nvPr/>
        </p:nvSpPr>
        <p:spPr>
          <a:xfrm>
            <a:off x="6074423" y="4160416"/>
            <a:ext cx="238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🌐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브라우저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8"/>
          <p:cNvSpPr/>
          <p:nvPr/>
        </p:nvSpPr>
        <p:spPr>
          <a:xfrm>
            <a:off x="6137225" y="4433441"/>
            <a:ext cx="238660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Chrome, Edge, Firefox </a:t>
            </a:r>
            <a:b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최신 버전이면 충분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29"/>
          <p:cNvSpPr/>
          <p:nvPr/>
        </p:nvSpPr>
        <p:spPr>
          <a:xfrm>
            <a:off x="496119" y="378172"/>
            <a:ext cx="8151763" cy="369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300"/>
              <a:buFont typeface="Roboto Slab"/>
              <a:buNone/>
            </a:pPr>
            <a:r>
              <a:rPr b="1" i="0" lang="ko-KR" sz="2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개발 로드맵 — 4단계</a:t>
            </a:r>
            <a:endParaRPr b="1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9"/>
          <p:cNvSpPr/>
          <p:nvPr/>
        </p:nvSpPr>
        <p:spPr>
          <a:xfrm>
            <a:off x="496119" y="972964"/>
            <a:ext cx="8608963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단계별로 기능을 추가하며, </a:t>
            </a:r>
            <a:r>
              <a:rPr b="1" i="0" lang="ko-KR" sz="9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Phase 1부터 즉시 사용 가능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합니다. AI 없이도 수동 타이머만으로도 가치 있는 데이터를 얻을 수 있습니다.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9"/>
          <p:cNvSpPr/>
          <p:nvPr/>
        </p:nvSpPr>
        <p:spPr>
          <a:xfrm>
            <a:off x="4564856" y="1284387"/>
            <a:ext cx="14288" cy="2896419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9"/>
          <p:cNvSpPr/>
          <p:nvPr/>
        </p:nvSpPr>
        <p:spPr>
          <a:xfrm>
            <a:off x="4098652" y="1410221"/>
            <a:ext cx="354657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29"/>
          <p:cNvSpPr/>
          <p:nvPr/>
        </p:nvSpPr>
        <p:spPr>
          <a:xfrm>
            <a:off x="4439022" y="1284387"/>
            <a:ext cx="265956" cy="265956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29"/>
          <p:cNvSpPr/>
          <p:nvPr/>
        </p:nvSpPr>
        <p:spPr>
          <a:xfrm>
            <a:off x="4483336" y="1306525"/>
            <a:ext cx="177329" cy="221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9"/>
          <p:cNvSpPr/>
          <p:nvPr/>
        </p:nvSpPr>
        <p:spPr>
          <a:xfrm>
            <a:off x="496119" y="1325017"/>
            <a:ext cx="3484736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Phase 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29"/>
          <p:cNvSpPr/>
          <p:nvPr/>
        </p:nvSpPr>
        <p:spPr>
          <a:xfrm>
            <a:off x="496119" y="1577280"/>
            <a:ext cx="3484736" cy="5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기본 타이머</a:t>
            </a:r>
            <a:endParaRPr b="0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과목별 수동 타이머, JSON 저장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9"/>
          <p:cNvSpPr/>
          <p:nvPr/>
        </p:nvSpPr>
        <p:spPr>
          <a:xfrm>
            <a:off x="4690690" y="2108448"/>
            <a:ext cx="354657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9"/>
          <p:cNvSpPr/>
          <p:nvPr/>
        </p:nvSpPr>
        <p:spPr>
          <a:xfrm>
            <a:off x="4439022" y="1982614"/>
            <a:ext cx="265956" cy="265956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29"/>
          <p:cNvSpPr/>
          <p:nvPr/>
        </p:nvSpPr>
        <p:spPr>
          <a:xfrm>
            <a:off x="4483336" y="2004752"/>
            <a:ext cx="177329" cy="221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9"/>
          <p:cNvSpPr/>
          <p:nvPr/>
        </p:nvSpPr>
        <p:spPr>
          <a:xfrm>
            <a:off x="5163145" y="2023244"/>
            <a:ext cx="3484736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Phase 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9"/>
          <p:cNvSpPr/>
          <p:nvPr/>
        </p:nvSpPr>
        <p:spPr>
          <a:xfrm>
            <a:off x="5163145" y="2275508"/>
            <a:ext cx="3484736" cy="5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대시보드</a:t>
            </a:r>
            <a:endParaRPr b="0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일/주/월 통계, AI 코멘트, CSV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29"/>
          <p:cNvSpPr/>
          <p:nvPr/>
        </p:nvSpPr>
        <p:spPr>
          <a:xfrm>
            <a:off x="4098652" y="2714327"/>
            <a:ext cx="354657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29"/>
          <p:cNvSpPr/>
          <p:nvPr/>
        </p:nvSpPr>
        <p:spPr>
          <a:xfrm>
            <a:off x="4439022" y="2588493"/>
            <a:ext cx="265956" cy="265956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9"/>
          <p:cNvSpPr/>
          <p:nvPr/>
        </p:nvSpPr>
        <p:spPr>
          <a:xfrm>
            <a:off x="4483336" y="2610631"/>
            <a:ext cx="177329" cy="221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9"/>
          <p:cNvSpPr/>
          <p:nvPr/>
        </p:nvSpPr>
        <p:spPr>
          <a:xfrm>
            <a:off x="496119" y="2629123"/>
            <a:ext cx="3484736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Phase 3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9"/>
          <p:cNvSpPr/>
          <p:nvPr/>
        </p:nvSpPr>
        <p:spPr>
          <a:xfrm>
            <a:off x="496119" y="2881387"/>
            <a:ext cx="3484736" cy="5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MediaPipe</a:t>
            </a:r>
            <a:endParaRPr b="0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자동 순공/딴짓 분류, 실시간 알림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9"/>
          <p:cNvSpPr/>
          <p:nvPr/>
        </p:nvSpPr>
        <p:spPr>
          <a:xfrm>
            <a:off x="4690690" y="3320207"/>
            <a:ext cx="354657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9"/>
          <p:cNvSpPr/>
          <p:nvPr/>
        </p:nvSpPr>
        <p:spPr>
          <a:xfrm>
            <a:off x="4439022" y="3194372"/>
            <a:ext cx="265956" cy="265956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29"/>
          <p:cNvSpPr/>
          <p:nvPr/>
        </p:nvSpPr>
        <p:spPr>
          <a:xfrm>
            <a:off x="4483336" y="3216511"/>
            <a:ext cx="177329" cy="221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9"/>
          <p:cNvSpPr/>
          <p:nvPr/>
        </p:nvSpPr>
        <p:spPr>
          <a:xfrm>
            <a:off x="5163145" y="3235003"/>
            <a:ext cx="3484736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Phase 4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9"/>
          <p:cNvSpPr/>
          <p:nvPr/>
        </p:nvSpPr>
        <p:spPr>
          <a:xfrm>
            <a:off x="5163145" y="3487266"/>
            <a:ext cx="3484736" cy="5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YOLO</a:t>
            </a:r>
            <a:endParaRPr b="0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핸드폰 감지, 딴짓 5종 세분화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9"/>
          <p:cNvSpPr/>
          <p:nvPr/>
        </p:nvSpPr>
        <p:spPr>
          <a:xfrm>
            <a:off x="496119" y="4307532"/>
            <a:ext cx="8151763" cy="457795"/>
          </a:xfrm>
          <a:prstGeom prst="roundRect">
            <a:avLst>
              <a:gd fmla="val 387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7" name="Google Shape;96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288" y="4475634"/>
            <a:ext cx="147786" cy="11817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29"/>
          <p:cNvSpPr/>
          <p:nvPr/>
        </p:nvSpPr>
        <p:spPr>
          <a:xfrm>
            <a:off x="880244" y="4449738"/>
            <a:ext cx="8106668" cy="184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총 개발 기간 약 14주. 각 Phase가 완료될 때마다 즉시 사용 가능한 완성된 제품이 나옵니다.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0"/>
          <p:cNvSpPr/>
          <p:nvPr/>
        </p:nvSpPr>
        <p:spPr>
          <a:xfrm>
            <a:off x="496119" y="381670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Phase 1 — 기본 타이머 MVP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0"/>
          <p:cNvSpPr/>
          <p:nvPr/>
        </p:nvSpPr>
        <p:spPr>
          <a:xfrm>
            <a:off x="496119" y="1017240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추가 장비 없이 바로 시작할 수 있는 최소 기능 버전입니다.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단계에서는 </a:t>
            </a:r>
            <a:r>
              <a:rPr b="1" i="0" lang="ko-KR" sz="1250" u="none" cap="none" strike="noStrike">
                <a:solidFill>
                  <a:srgbClr val="D73A49"/>
                </a:solidFill>
                <a:latin typeface="Roboto"/>
                <a:ea typeface="Roboto"/>
                <a:cs typeface="Roboto"/>
                <a:sym typeface="Roboto"/>
              </a:rPr>
              <a:t>AI 없이 수동 시작/정지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로 시간을 기록합니다.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0"/>
          <p:cNvSpPr/>
          <p:nvPr/>
        </p:nvSpPr>
        <p:spPr>
          <a:xfrm>
            <a:off x="406822" y="1355229"/>
            <a:ext cx="4103191" cy="2771105"/>
          </a:xfrm>
          <a:prstGeom prst="roundRect">
            <a:avLst>
              <a:gd fmla="val 671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7" name="Google Shape;977;p30"/>
          <p:cNvSpPr/>
          <p:nvPr/>
        </p:nvSpPr>
        <p:spPr>
          <a:xfrm>
            <a:off x="530796" y="1479203"/>
            <a:ext cx="3855244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화면 구성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0"/>
          <p:cNvSpPr/>
          <p:nvPr/>
        </p:nvSpPr>
        <p:spPr>
          <a:xfrm>
            <a:off x="530796" y="1797025"/>
            <a:ext cx="3855244" cy="923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84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"/>
              <a:buChar char="•"/>
            </a:pPr>
            <a:r>
              <a:rPr b="0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과목 선택 드롭다운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84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"/>
              <a:buChar char="•"/>
            </a:pPr>
            <a:r>
              <a:rPr b="0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큰 숫자 경과 시간 타이머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84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"/>
              <a:buChar char="•"/>
            </a:pPr>
            <a:r>
              <a:rPr b="0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시작/정지 토글 버튼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84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"/>
              <a:buChar char="•"/>
            </a:pPr>
            <a:r>
              <a:rPr b="0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하단에 과목별 누적 시간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0"/>
          <p:cNvSpPr/>
          <p:nvPr/>
        </p:nvSpPr>
        <p:spPr>
          <a:xfrm>
            <a:off x="4728046" y="1479203"/>
            <a:ext cx="392459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subjects.json 데이터 구조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0"/>
          <p:cNvSpPr/>
          <p:nvPr/>
        </p:nvSpPr>
        <p:spPr>
          <a:xfrm>
            <a:off x="4728046" y="1812578"/>
            <a:ext cx="3924598" cy="2174230"/>
          </a:xfrm>
          <a:prstGeom prst="roundRect">
            <a:avLst>
              <a:gd fmla="val 856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81" name="Google Shape;981;p30"/>
          <p:cNvSpPr/>
          <p:nvPr/>
        </p:nvSpPr>
        <p:spPr>
          <a:xfrm>
            <a:off x="4728046" y="2176537"/>
            <a:ext cx="3924598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0"/>
          <p:cNvSpPr/>
          <p:nvPr/>
        </p:nvSpPr>
        <p:spPr>
          <a:xfrm>
            <a:off x="4728046" y="2538115"/>
            <a:ext cx="3924598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83" name="Google Shape;983;p30"/>
          <p:cNvSpPr/>
          <p:nvPr/>
        </p:nvSpPr>
        <p:spPr>
          <a:xfrm>
            <a:off x="4728046" y="2899693"/>
            <a:ext cx="3924598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84" name="Google Shape;984;p30"/>
          <p:cNvSpPr/>
          <p:nvPr/>
        </p:nvSpPr>
        <p:spPr>
          <a:xfrm>
            <a:off x="4728046" y="3261271"/>
            <a:ext cx="3924598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85" name="Google Shape;985;p30"/>
          <p:cNvSpPr/>
          <p:nvPr/>
        </p:nvSpPr>
        <p:spPr>
          <a:xfrm>
            <a:off x="4728046" y="3622849"/>
            <a:ext cx="3924598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86" name="Google Shape;986;p30"/>
          <p:cNvSpPr/>
          <p:nvPr/>
        </p:nvSpPr>
        <p:spPr>
          <a:xfrm>
            <a:off x="4856783" y="1896517"/>
            <a:ext cx="216678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필드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0"/>
          <p:cNvSpPr/>
          <p:nvPr/>
        </p:nvSpPr>
        <p:spPr>
          <a:xfrm>
            <a:off x="6814319" y="1896517"/>
            <a:ext cx="216678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예시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0"/>
          <p:cNvSpPr/>
          <p:nvPr/>
        </p:nvSpPr>
        <p:spPr>
          <a:xfrm>
            <a:off x="4856783" y="2258095"/>
            <a:ext cx="216678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0"/>
          <p:cNvSpPr/>
          <p:nvPr/>
        </p:nvSpPr>
        <p:spPr>
          <a:xfrm>
            <a:off x="6814319" y="2258095"/>
            <a:ext cx="216678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"수학"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0"/>
          <p:cNvSpPr/>
          <p:nvPr/>
        </p:nvSpPr>
        <p:spPr>
          <a:xfrm>
            <a:off x="4856783" y="2619673"/>
            <a:ext cx="216678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일일목표(분)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0"/>
          <p:cNvSpPr/>
          <p:nvPr/>
        </p:nvSpPr>
        <p:spPr>
          <a:xfrm>
            <a:off x="6814319" y="2619673"/>
            <a:ext cx="216678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60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30"/>
          <p:cNvSpPr/>
          <p:nvPr/>
        </p:nvSpPr>
        <p:spPr>
          <a:xfrm>
            <a:off x="4856783" y="2981251"/>
            <a:ext cx="216678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주간목표(분)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0"/>
          <p:cNvSpPr/>
          <p:nvPr/>
        </p:nvSpPr>
        <p:spPr>
          <a:xfrm>
            <a:off x="6814319" y="2981251"/>
            <a:ext cx="216678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0"/>
          <p:cNvSpPr/>
          <p:nvPr/>
        </p:nvSpPr>
        <p:spPr>
          <a:xfrm>
            <a:off x="4856783" y="3342829"/>
            <a:ext cx="216678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월간목표(분)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0"/>
          <p:cNvSpPr/>
          <p:nvPr/>
        </p:nvSpPr>
        <p:spPr>
          <a:xfrm>
            <a:off x="6814319" y="3342829"/>
            <a:ext cx="216678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1200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0"/>
          <p:cNvSpPr/>
          <p:nvPr/>
        </p:nvSpPr>
        <p:spPr>
          <a:xfrm>
            <a:off x="4856783" y="3704406"/>
            <a:ext cx="216678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색상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0"/>
          <p:cNvSpPr/>
          <p:nvPr/>
        </p:nvSpPr>
        <p:spPr>
          <a:xfrm>
            <a:off x="6814319" y="3704406"/>
            <a:ext cx="216678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"#4CAF50"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0"/>
          <p:cNvSpPr/>
          <p:nvPr/>
        </p:nvSpPr>
        <p:spPr>
          <a:xfrm>
            <a:off x="496119" y="4265861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9" name="Google Shape;99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445645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30"/>
          <p:cNvSpPr/>
          <p:nvPr/>
        </p:nvSpPr>
        <p:spPr>
          <a:xfrm>
            <a:off x="899071" y="4420791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Phase 1의 핵심 가치: </a:t>
            </a:r>
            <a:r>
              <a:rPr b="1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수동이어도 기록이 쌓인다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데이터가 축적되면 Phase 2 대시보드에서 바로 분석 가능!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06" name="Google Shape;100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31"/>
          <p:cNvSpPr/>
          <p:nvPr/>
        </p:nvSpPr>
        <p:spPr>
          <a:xfrm>
            <a:off x="496119" y="352723"/>
            <a:ext cx="4722763" cy="339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100"/>
              <a:buFont typeface="Roboto Slab"/>
              <a:buNone/>
            </a:pPr>
            <a:r>
              <a:rPr b="0" i="0" lang="ko-KR" sz="2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Phase 2 — 대시보드 &amp; 통계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31"/>
          <p:cNvSpPr/>
          <p:nvPr/>
        </p:nvSpPr>
        <p:spPr>
          <a:xfrm>
            <a:off x="496119" y="834330"/>
            <a:ext cx="5179963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기록된 데이터를 보기 쉽게 시각화하고, 자동으로 AI 코멘트를 생성합니다.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9" name="Google Shape;100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103933"/>
            <a:ext cx="271314" cy="271314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31"/>
          <p:cNvSpPr/>
          <p:nvPr/>
        </p:nvSpPr>
        <p:spPr>
          <a:xfrm>
            <a:off x="496119" y="1493937"/>
            <a:ext cx="4722763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1" i="0" lang="ko-KR" sz="145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일간 대시보드</a:t>
            </a:r>
            <a:endParaRPr b="1" i="0" sz="14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31"/>
          <p:cNvSpPr/>
          <p:nvPr/>
        </p:nvSpPr>
        <p:spPr>
          <a:xfrm>
            <a:off x="496119" y="1751780"/>
            <a:ext cx="47229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KPI 카드(순공 시간, 달성률), 과목별 막대 그래프, 시간대별 히트맵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2" name="Google Shape;101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2073101"/>
            <a:ext cx="271314" cy="271314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31"/>
          <p:cNvSpPr/>
          <p:nvPr/>
        </p:nvSpPr>
        <p:spPr>
          <a:xfrm>
            <a:off x="496119" y="2463105"/>
            <a:ext cx="4722763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1" i="0" lang="ko-KR" sz="145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주간 대시보드</a:t>
            </a:r>
            <a:endParaRPr b="1" i="0" sz="14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1"/>
          <p:cNvSpPr/>
          <p:nvPr/>
        </p:nvSpPr>
        <p:spPr>
          <a:xfrm>
            <a:off x="496119" y="2720948"/>
            <a:ext cx="47229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요일별 순공 시간 막대 그래프, 과목별 도넛 차트, 전주 대비 변화량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5" name="Google Shape;1015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3042270"/>
            <a:ext cx="271314" cy="271314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31"/>
          <p:cNvSpPr/>
          <p:nvPr/>
        </p:nvSpPr>
        <p:spPr>
          <a:xfrm>
            <a:off x="496119" y="3432274"/>
            <a:ext cx="4722763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1" i="0" lang="ko-KR" sz="145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월간 대시보드</a:t>
            </a:r>
            <a:endParaRPr b="1" i="0" sz="14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1"/>
          <p:cNvSpPr/>
          <p:nvPr/>
        </p:nvSpPr>
        <p:spPr>
          <a:xfrm>
            <a:off x="496119" y="3690117"/>
            <a:ext cx="47229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주차별 순공 추이 선 그래프, 월 목표 달성률 게이지, 과목별 월간 효율 분석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8" name="Google Shape;1018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119" y="4011439"/>
            <a:ext cx="271314" cy="271314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31"/>
          <p:cNvSpPr/>
          <p:nvPr/>
        </p:nvSpPr>
        <p:spPr>
          <a:xfrm>
            <a:off x="496119" y="4401443"/>
            <a:ext cx="4722763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50"/>
              <a:buFont typeface="Roboto Slab"/>
              <a:buNone/>
            </a:pPr>
            <a:r>
              <a:rPr b="1" i="0" lang="ko-KR" sz="145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고정 코멘트 (5가지)</a:t>
            </a:r>
            <a:endParaRPr b="1" i="0" sz="14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1"/>
          <p:cNvSpPr/>
          <p:nvPr/>
        </p:nvSpPr>
        <p:spPr>
          <a:xfrm>
            <a:off x="496119" y="4659286"/>
            <a:ext cx="47229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👏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잘한 점 / </a:t>
            </a: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📌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개선할 점 / </a:t>
            </a: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📱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딴짓 분석 / </a:t>
            </a: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💡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추천 / </a:t>
            </a: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🎯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다음 목표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32"/>
          <p:cNvSpPr/>
          <p:nvPr/>
        </p:nvSpPr>
        <p:spPr>
          <a:xfrm>
            <a:off x="496119" y="749126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Phase 3 — MediaPipe 자동 감지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2"/>
          <p:cNvSpPr/>
          <p:nvPr/>
        </p:nvSpPr>
        <p:spPr>
          <a:xfrm>
            <a:off x="496119" y="1384697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웹캠을 켜면 AI가 자동으로 집중/딴짓을 분류합니다. </a:t>
            </a:r>
            <a:r>
              <a:rPr b="1" i="0" lang="ko-KR" sz="13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이 단계부터 진짜 AI 공부 매니저!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32"/>
          <p:cNvSpPr/>
          <p:nvPr/>
        </p:nvSpPr>
        <p:spPr>
          <a:xfrm>
            <a:off x="496119" y="1722686"/>
            <a:ext cx="8151763" cy="1812652"/>
          </a:xfrm>
          <a:prstGeom prst="roundRect">
            <a:avLst>
              <a:gd fmla="val 1027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29" name="Google Shape;1029;p32"/>
          <p:cNvSpPr/>
          <p:nvPr/>
        </p:nvSpPr>
        <p:spPr>
          <a:xfrm>
            <a:off x="496119" y="2086645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2"/>
          <p:cNvSpPr/>
          <p:nvPr/>
        </p:nvSpPr>
        <p:spPr>
          <a:xfrm>
            <a:off x="496119" y="2448223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31" name="Google Shape;1031;p32"/>
          <p:cNvSpPr/>
          <p:nvPr/>
        </p:nvSpPr>
        <p:spPr>
          <a:xfrm>
            <a:off x="496119" y="2809801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32" name="Google Shape;1032;p32"/>
          <p:cNvSpPr/>
          <p:nvPr/>
        </p:nvSpPr>
        <p:spPr>
          <a:xfrm>
            <a:off x="496119" y="3171379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33" name="Google Shape;1033;p32"/>
          <p:cNvSpPr/>
          <p:nvPr/>
        </p:nvSpPr>
        <p:spPr>
          <a:xfrm>
            <a:off x="3215283" y="1722686"/>
            <a:ext cx="7753" cy="1812652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34" name="Google Shape;1034;p32"/>
          <p:cNvSpPr/>
          <p:nvPr/>
        </p:nvSpPr>
        <p:spPr>
          <a:xfrm>
            <a:off x="5928792" y="1722686"/>
            <a:ext cx="7753" cy="1812652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35" name="Google Shape;1035;p32"/>
          <p:cNvSpPr/>
          <p:nvPr/>
        </p:nvSpPr>
        <p:spPr>
          <a:xfrm>
            <a:off x="625748" y="1806625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항목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32"/>
          <p:cNvSpPr/>
          <p:nvPr/>
        </p:nvSpPr>
        <p:spPr>
          <a:xfrm>
            <a:off x="3341638" y="1806625"/>
            <a:ext cx="29179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Phase 2 (수동)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2"/>
          <p:cNvSpPr/>
          <p:nvPr/>
        </p:nvSpPr>
        <p:spPr>
          <a:xfrm>
            <a:off x="6055147" y="1806625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Phase 3 (자동)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2"/>
          <p:cNvSpPr/>
          <p:nvPr/>
        </p:nvSpPr>
        <p:spPr>
          <a:xfrm>
            <a:off x="625748" y="2168203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타이머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32"/>
          <p:cNvSpPr/>
          <p:nvPr/>
        </p:nvSpPr>
        <p:spPr>
          <a:xfrm>
            <a:off x="3341638" y="2168203"/>
            <a:ext cx="29179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내가 직접 시작/정지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2"/>
          <p:cNvSpPr/>
          <p:nvPr/>
        </p:nvSpPr>
        <p:spPr>
          <a:xfrm>
            <a:off x="6055147" y="2168203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집중하면 자동 시작, 딴짓하면 자동 정지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2"/>
          <p:cNvSpPr/>
          <p:nvPr/>
        </p:nvSpPr>
        <p:spPr>
          <a:xfrm>
            <a:off x="625748" y="2529780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딴짓 기록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2"/>
          <p:cNvSpPr/>
          <p:nvPr/>
        </p:nvSpPr>
        <p:spPr>
          <a:xfrm>
            <a:off x="3341638" y="2529780"/>
            <a:ext cx="29179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없음 (수동이니까)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2"/>
          <p:cNvSpPr/>
          <p:nvPr/>
        </p:nvSpPr>
        <p:spPr>
          <a:xfrm>
            <a:off x="6055147" y="2529780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자동으로 딴짓 시간 기록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32"/>
          <p:cNvSpPr/>
          <p:nvPr/>
        </p:nvSpPr>
        <p:spPr>
          <a:xfrm>
            <a:off x="625748" y="2891358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졸음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2"/>
          <p:cNvSpPr/>
          <p:nvPr/>
        </p:nvSpPr>
        <p:spPr>
          <a:xfrm>
            <a:off x="3341638" y="2891358"/>
            <a:ext cx="29179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모름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2"/>
          <p:cNvSpPr/>
          <p:nvPr/>
        </p:nvSpPr>
        <p:spPr>
          <a:xfrm>
            <a:off x="6055147" y="2891358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자동 감지 + 알림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2"/>
          <p:cNvSpPr/>
          <p:nvPr/>
        </p:nvSpPr>
        <p:spPr>
          <a:xfrm>
            <a:off x="625748" y="3252936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순공 의미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2"/>
          <p:cNvSpPr/>
          <p:nvPr/>
        </p:nvSpPr>
        <p:spPr>
          <a:xfrm>
            <a:off x="3341638" y="3252936"/>
            <a:ext cx="29179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시작~정지 = 순공 (부정확)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32"/>
          <p:cNvSpPr/>
          <p:nvPr/>
        </p:nvSpPr>
        <p:spPr>
          <a:xfrm>
            <a:off x="6055147" y="3252936"/>
            <a:ext cx="29203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진짜 집중한 시간만 = 순공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32"/>
          <p:cNvSpPr/>
          <p:nvPr/>
        </p:nvSpPr>
        <p:spPr>
          <a:xfrm>
            <a:off x="496119" y="3674864"/>
            <a:ext cx="1944960" cy="719435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32"/>
          <p:cNvSpPr/>
          <p:nvPr/>
        </p:nvSpPr>
        <p:spPr>
          <a:xfrm>
            <a:off x="620092" y="3798838"/>
            <a:ext cx="169701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💬 고개 10초+</a:t>
            </a:r>
            <a:endParaRPr b="1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2"/>
          <p:cNvSpPr/>
          <p:nvPr/>
        </p:nvSpPr>
        <p:spPr>
          <a:xfrm>
            <a:off x="620092" y="4071863"/>
            <a:ext cx="169701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"집중해 주세요!"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32"/>
          <p:cNvSpPr/>
          <p:nvPr/>
        </p:nvSpPr>
        <p:spPr>
          <a:xfrm>
            <a:off x="2565053" y="3674864"/>
            <a:ext cx="1944960" cy="719435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32"/>
          <p:cNvSpPr/>
          <p:nvPr/>
        </p:nvSpPr>
        <p:spPr>
          <a:xfrm>
            <a:off x="2689027" y="3798838"/>
            <a:ext cx="169701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💬 핸드폰 3분</a:t>
            </a:r>
            <a:endParaRPr b="1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32"/>
          <p:cNvSpPr/>
          <p:nvPr/>
        </p:nvSpPr>
        <p:spPr>
          <a:xfrm>
            <a:off x="2689027" y="4071863"/>
            <a:ext cx="169701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"내려놓을까요?"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32"/>
          <p:cNvSpPr/>
          <p:nvPr/>
        </p:nvSpPr>
        <p:spPr>
          <a:xfrm>
            <a:off x="4633987" y="3674864"/>
            <a:ext cx="1944960" cy="719435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32"/>
          <p:cNvSpPr/>
          <p:nvPr/>
        </p:nvSpPr>
        <p:spPr>
          <a:xfrm>
            <a:off x="4757961" y="3798838"/>
            <a:ext cx="169701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💬 졸음 감지</a:t>
            </a:r>
            <a:endParaRPr b="1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2"/>
          <p:cNvSpPr/>
          <p:nvPr/>
        </p:nvSpPr>
        <p:spPr>
          <a:xfrm>
            <a:off x="4757961" y="4071863"/>
            <a:ext cx="169701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"스트레칭!" +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32"/>
          <p:cNvSpPr/>
          <p:nvPr/>
        </p:nvSpPr>
        <p:spPr>
          <a:xfrm>
            <a:off x="6702921" y="3674864"/>
            <a:ext cx="1944960" cy="719435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32"/>
          <p:cNvSpPr/>
          <p:nvPr/>
        </p:nvSpPr>
        <p:spPr>
          <a:xfrm>
            <a:off x="6826895" y="3798838"/>
            <a:ext cx="169701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🎉 25분 집중</a:t>
            </a:r>
            <a:endParaRPr b="1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32"/>
          <p:cNvSpPr/>
          <p:nvPr/>
        </p:nvSpPr>
        <p:spPr>
          <a:xfrm>
            <a:off x="6826895" y="4071863"/>
            <a:ext cx="169701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"대단해요!"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33"/>
          <p:cNvSpPr/>
          <p:nvPr/>
        </p:nvSpPr>
        <p:spPr>
          <a:xfrm>
            <a:off x="496119" y="388516"/>
            <a:ext cx="8151763" cy="381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Phase 4 — YOLO 핸드폰 감지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33"/>
          <p:cNvSpPr/>
          <p:nvPr/>
        </p:nvSpPr>
        <p:spPr>
          <a:xfrm>
            <a:off x="496119" y="1010394"/>
            <a:ext cx="860896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YOLO Tiny로 핸드폰을 잡아냅니다. </a:t>
            </a:r>
            <a:b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Phase 3에 핸드폰 감지와 딴짓 5종 세분화가 추가되어 </a:t>
            </a:r>
            <a:r>
              <a:rPr b="1" i="0" lang="ko-KR" sz="13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최종 완성된 AI 공부 매니저</a:t>
            </a: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 됩니다.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33"/>
          <p:cNvSpPr/>
          <p:nvPr/>
        </p:nvSpPr>
        <p:spPr>
          <a:xfrm>
            <a:off x="496119" y="1637572"/>
            <a:ext cx="39270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Phase 3에서 추가되는 것</a:t>
            </a:r>
            <a:endParaRPr b="1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0" name="Google Shape;107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883" y="1967226"/>
            <a:ext cx="183133" cy="183133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33"/>
          <p:cNvSpPr/>
          <p:nvPr/>
        </p:nvSpPr>
        <p:spPr>
          <a:xfrm>
            <a:off x="892894" y="1963505"/>
            <a:ext cx="35301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📱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핸드폰 감지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33"/>
          <p:cNvSpPr/>
          <p:nvPr/>
        </p:nvSpPr>
        <p:spPr>
          <a:xfrm>
            <a:off x="892894" y="2279170"/>
            <a:ext cx="35301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YOLO가 핸드폰 객체를 실시간 탐지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3" name="Google Shape;107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883" y="2717097"/>
            <a:ext cx="183133" cy="183133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33"/>
          <p:cNvSpPr/>
          <p:nvPr/>
        </p:nvSpPr>
        <p:spPr>
          <a:xfrm>
            <a:off x="892894" y="2713376"/>
            <a:ext cx="35301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딴짓 5종 분류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33"/>
          <p:cNvSpPr/>
          <p:nvPr/>
        </p:nvSpPr>
        <p:spPr>
          <a:xfrm>
            <a:off x="892894" y="3024278"/>
            <a:ext cx="35301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핸드폰/졸음/멍때림/자리비움/기타 각각 기록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6" name="Google Shape;107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883" y="3462205"/>
            <a:ext cx="183133" cy="183133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33"/>
          <p:cNvSpPr/>
          <p:nvPr/>
        </p:nvSpPr>
        <p:spPr>
          <a:xfrm>
            <a:off x="892894" y="3458484"/>
            <a:ext cx="35301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시간 파이 차트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33"/>
          <p:cNvSpPr/>
          <p:nvPr/>
        </p:nvSpPr>
        <p:spPr>
          <a:xfrm>
            <a:off x="892894" y="3769386"/>
            <a:ext cx="35301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순공 vs 딴짓 5종의 비율 시각화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33"/>
          <p:cNvSpPr/>
          <p:nvPr/>
        </p:nvSpPr>
        <p:spPr>
          <a:xfrm>
            <a:off x="4725665" y="1637572"/>
            <a:ext cx="39270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12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최종 세션 리포트 예시</a:t>
            </a:r>
            <a:endParaRPr b="1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33"/>
          <p:cNvSpPr/>
          <p:nvPr/>
        </p:nvSpPr>
        <p:spPr>
          <a:xfrm>
            <a:off x="4725665" y="1963505"/>
            <a:ext cx="3927000" cy="2095200"/>
          </a:xfrm>
          <a:prstGeom prst="roundRect">
            <a:avLst>
              <a:gd fmla="val 874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33"/>
          <p:cNvSpPr/>
          <p:nvPr/>
        </p:nvSpPr>
        <p:spPr>
          <a:xfrm>
            <a:off x="4730428" y="1968268"/>
            <a:ext cx="3917100" cy="347700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33"/>
          <p:cNvSpPr/>
          <p:nvPr/>
        </p:nvSpPr>
        <p:spPr>
          <a:xfrm>
            <a:off x="4852913" y="2045138"/>
            <a:ext cx="1516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구분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33"/>
          <p:cNvSpPr/>
          <p:nvPr/>
        </p:nvSpPr>
        <p:spPr>
          <a:xfrm>
            <a:off x="6160815" y="2045138"/>
            <a:ext cx="15138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33"/>
          <p:cNvSpPr/>
          <p:nvPr/>
        </p:nvSpPr>
        <p:spPr>
          <a:xfrm>
            <a:off x="7466335" y="2045138"/>
            <a:ext cx="1516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비율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33"/>
          <p:cNvSpPr/>
          <p:nvPr/>
        </p:nvSpPr>
        <p:spPr>
          <a:xfrm>
            <a:off x="4730428" y="2315856"/>
            <a:ext cx="3917100" cy="347700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33"/>
          <p:cNvSpPr/>
          <p:nvPr/>
        </p:nvSpPr>
        <p:spPr>
          <a:xfrm>
            <a:off x="4852913" y="2392726"/>
            <a:ext cx="1516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🟢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순공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33"/>
          <p:cNvSpPr/>
          <p:nvPr/>
        </p:nvSpPr>
        <p:spPr>
          <a:xfrm>
            <a:off x="6160815" y="2392726"/>
            <a:ext cx="15138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48분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33"/>
          <p:cNvSpPr/>
          <p:nvPr/>
        </p:nvSpPr>
        <p:spPr>
          <a:xfrm>
            <a:off x="7466335" y="2392726"/>
            <a:ext cx="1516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64%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33"/>
          <p:cNvSpPr/>
          <p:nvPr/>
        </p:nvSpPr>
        <p:spPr>
          <a:xfrm>
            <a:off x="4730428" y="2663444"/>
            <a:ext cx="3917100" cy="347700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33"/>
          <p:cNvSpPr/>
          <p:nvPr/>
        </p:nvSpPr>
        <p:spPr>
          <a:xfrm>
            <a:off x="4852913" y="2740314"/>
            <a:ext cx="1516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📱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핸드폰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3"/>
          <p:cNvSpPr/>
          <p:nvPr/>
        </p:nvSpPr>
        <p:spPr>
          <a:xfrm>
            <a:off x="6160815" y="2740314"/>
            <a:ext cx="15138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12분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3"/>
          <p:cNvSpPr/>
          <p:nvPr/>
        </p:nvSpPr>
        <p:spPr>
          <a:xfrm>
            <a:off x="7466335" y="2740314"/>
            <a:ext cx="1516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16%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33"/>
          <p:cNvSpPr/>
          <p:nvPr/>
        </p:nvSpPr>
        <p:spPr>
          <a:xfrm>
            <a:off x="4730428" y="3011032"/>
            <a:ext cx="3917100" cy="347700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33"/>
          <p:cNvSpPr/>
          <p:nvPr/>
        </p:nvSpPr>
        <p:spPr>
          <a:xfrm>
            <a:off x="4852913" y="3087902"/>
            <a:ext cx="1516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😶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멍때림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33"/>
          <p:cNvSpPr/>
          <p:nvPr/>
        </p:nvSpPr>
        <p:spPr>
          <a:xfrm>
            <a:off x="6160815" y="3087902"/>
            <a:ext cx="15138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8분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3"/>
          <p:cNvSpPr/>
          <p:nvPr/>
        </p:nvSpPr>
        <p:spPr>
          <a:xfrm>
            <a:off x="7466335" y="3087902"/>
            <a:ext cx="1516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11%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33"/>
          <p:cNvSpPr/>
          <p:nvPr/>
        </p:nvSpPr>
        <p:spPr>
          <a:xfrm>
            <a:off x="4730428" y="3358620"/>
            <a:ext cx="3917100" cy="347700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33"/>
          <p:cNvSpPr/>
          <p:nvPr/>
        </p:nvSpPr>
        <p:spPr>
          <a:xfrm>
            <a:off x="4852913" y="3435490"/>
            <a:ext cx="1516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🚶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자리비움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33"/>
          <p:cNvSpPr/>
          <p:nvPr/>
        </p:nvSpPr>
        <p:spPr>
          <a:xfrm>
            <a:off x="6160815" y="3435490"/>
            <a:ext cx="15138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33"/>
          <p:cNvSpPr/>
          <p:nvPr/>
        </p:nvSpPr>
        <p:spPr>
          <a:xfrm>
            <a:off x="7466335" y="3435490"/>
            <a:ext cx="1516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7%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33"/>
          <p:cNvSpPr/>
          <p:nvPr/>
        </p:nvSpPr>
        <p:spPr>
          <a:xfrm>
            <a:off x="4730428" y="3706208"/>
            <a:ext cx="3917100" cy="347700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33"/>
          <p:cNvSpPr/>
          <p:nvPr/>
        </p:nvSpPr>
        <p:spPr>
          <a:xfrm>
            <a:off x="4852913" y="3783078"/>
            <a:ext cx="1516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😴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졸음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3"/>
          <p:cNvSpPr/>
          <p:nvPr/>
        </p:nvSpPr>
        <p:spPr>
          <a:xfrm>
            <a:off x="6160815" y="3783078"/>
            <a:ext cx="15138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33"/>
          <p:cNvSpPr/>
          <p:nvPr/>
        </p:nvSpPr>
        <p:spPr>
          <a:xfrm>
            <a:off x="7466335" y="3783078"/>
            <a:ext cx="15162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3"/>
          <p:cNvSpPr/>
          <p:nvPr/>
        </p:nvSpPr>
        <p:spPr>
          <a:xfrm>
            <a:off x="4908798" y="4301893"/>
            <a:ext cx="3743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"핸드폰을 4번 봤어요. 무음 모드로 바꾸면 10분은 더 집중할 수 있어요!"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33"/>
          <p:cNvSpPr/>
          <p:nvPr/>
        </p:nvSpPr>
        <p:spPr>
          <a:xfrm>
            <a:off x="4725665" y="4193769"/>
            <a:ext cx="14400" cy="603900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4"/>
          <p:cNvSpPr/>
          <p:nvPr/>
        </p:nvSpPr>
        <p:spPr>
          <a:xfrm>
            <a:off x="496119" y="893260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7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화면 흐름도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34"/>
          <p:cNvSpPr/>
          <p:nvPr/>
        </p:nvSpPr>
        <p:spPr>
          <a:xfrm>
            <a:off x="500019" y="1458205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전체 앱의 화면 구조는 </a:t>
            </a:r>
            <a:r>
              <a:rPr b="1" i="0" lang="ko-KR" sz="13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5개 메뉴</a:t>
            </a: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로 구성됩니다. </a:t>
            </a:r>
            <a:b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매일의 루틴: 공부 시작 → 세션 리포트 → 통계 확인 → AI 코멘트로 다음 계획 수립.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4" name="Google Shape;111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264569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34"/>
          <p:cNvSpPr/>
          <p:nvPr/>
        </p:nvSpPr>
        <p:spPr>
          <a:xfrm>
            <a:off x="961206" y="2264569"/>
            <a:ext cx="2148780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🎯 과목 설정</a:t>
            </a:r>
            <a:endParaRPr b="1" i="0" sz="1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34"/>
          <p:cNvSpPr/>
          <p:nvPr/>
        </p:nvSpPr>
        <p:spPr>
          <a:xfrm>
            <a:off x="961206" y="2537594"/>
            <a:ext cx="2148780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 추가/삭제, 일/주/월 목표 시간 설정 (첫 1회 설정 후 언제든 수정 가능)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7" name="Google Shape;111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4991" y="2264569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34"/>
          <p:cNvSpPr/>
          <p:nvPr/>
        </p:nvSpPr>
        <p:spPr>
          <a:xfrm>
            <a:off x="3730079" y="2264569"/>
            <a:ext cx="214885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📖 공부 시작</a:t>
            </a:r>
            <a:endParaRPr b="1" i="0" sz="1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34"/>
          <p:cNvSpPr/>
          <p:nvPr/>
        </p:nvSpPr>
        <p:spPr>
          <a:xfrm>
            <a:off x="3730079" y="2537594"/>
            <a:ext cx="214885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 선택 → 타이머 (순공+딴짓 실시간) → 세션 종료 후 즉시 리포트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0" name="Google Shape;112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939" y="2264569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34"/>
          <p:cNvSpPr/>
          <p:nvPr/>
        </p:nvSpPr>
        <p:spPr>
          <a:xfrm>
            <a:off x="6499027" y="2264569"/>
            <a:ext cx="214885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📊 통계</a:t>
            </a:r>
            <a:endParaRPr b="1" i="0" sz="1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34"/>
          <p:cNvSpPr/>
          <p:nvPr/>
        </p:nvSpPr>
        <p:spPr>
          <a:xfrm>
            <a:off x="6499027" y="2537594"/>
            <a:ext cx="214885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 / 이번 주 / 이번 달 탭 전환 + 5가지 AI 코멘트 자동 표시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3" name="Google Shape;1123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3182541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34"/>
          <p:cNvSpPr/>
          <p:nvPr/>
        </p:nvSpPr>
        <p:spPr>
          <a:xfrm>
            <a:off x="961206" y="3182541"/>
            <a:ext cx="2148780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✅ 체크리스트</a:t>
            </a:r>
            <a:endParaRPr b="1" i="0" sz="1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34"/>
          <p:cNvSpPr/>
          <p:nvPr/>
        </p:nvSpPr>
        <p:spPr>
          <a:xfrm>
            <a:off x="961206" y="3455566"/>
            <a:ext cx="2148780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과목별 할 일 체크 — 오늘 해야 할 문제집, 숙제 등 관리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6" name="Google Shape;1126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64991" y="3182541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34"/>
          <p:cNvSpPr/>
          <p:nvPr/>
        </p:nvSpPr>
        <p:spPr>
          <a:xfrm>
            <a:off x="3730079" y="3182541"/>
            <a:ext cx="2148855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⚙️ 설정</a:t>
            </a:r>
            <a:endParaRPr b="1" i="0" sz="1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34"/>
          <p:cNvSpPr/>
          <p:nvPr/>
        </p:nvSpPr>
        <p:spPr>
          <a:xfrm>
            <a:off x="3730079" y="3455566"/>
            <a:ext cx="214885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웹캠 설정, 알림 on/off, CSV 데이터 내보내기 (부모님과 공유용)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/>
          <p:cNvSpPr/>
          <p:nvPr/>
        </p:nvSpPr>
        <p:spPr>
          <a:xfrm>
            <a:off x="496119" y="382116"/>
            <a:ext cx="8151763" cy="363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1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기대 효과</a:t>
            </a:r>
            <a:endParaRPr b="1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35"/>
          <p:cNvSpPr/>
          <p:nvPr/>
        </p:nvSpPr>
        <p:spPr>
          <a:xfrm>
            <a:off x="496119" y="963513"/>
            <a:ext cx="8608963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공부 매니저를 1개월 사용하면 어떤 변화가 생길까요? 숫자로 보는 예상 변화입니다.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35"/>
          <p:cNvSpPr/>
          <p:nvPr/>
        </p:nvSpPr>
        <p:spPr>
          <a:xfrm>
            <a:off x="496119" y="1324496"/>
            <a:ext cx="4007718" cy="38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3000"/>
              <a:buFont typeface="Roboto Slab"/>
              <a:buNone/>
            </a:pPr>
            <a:r>
              <a:rPr b="0" i="0" lang="ko-KR" sz="3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+33%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35"/>
          <p:cNvSpPr/>
          <p:nvPr/>
        </p:nvSpPr>
        <p:spPr>
          <a:xfrm>
            <a:off x="496119" y="1848073"/>
            <a:ext cx="4007718" cy="18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일일 순공 증가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35"/>
          <p:cNvSpPr/>
          <p:nvPr/>
        </p:nvSpPr>
        <p:spPr>
          <a:xfrm>
            <a:off x="496119" y="2095128"/>
            <a:ext cx="4007718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1.5h → 2h+ (측정으로 동기 상승)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35"/>
          <p:cNvSpPr/>
          <p:nvPr/>
        </p:nvSpPr>
        <p:spPr>
          <a:xfrm>
            <a:off x="4640089" y="1324496"/>
            <a:ext cx="4007793" cy="383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3000"/>
              <a:buFont typeface="Roboto Slab"/>
              <a:buNone/>
            </a:pPr>
            <a:r>
              <a:rPr b="0" i="0" lang="ko-KR" sz="3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-50%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35"/>
          <p:cNvSpPr/>
          <p:nvPr/>
        </p:nvSpPr>
        <p:spPr>
          <a:xfrm>
            <a:off x="4640089" y="1848073"/>
            <a:ext cx="4007793" cy="18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핸드폰 사용 감소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35"/>
          <p:cNvSpPr/>
          <p:nvPr/>
        </p:nvSpPr>
        <p:spPr>
          <a:xfrm>
            <a:off x="4640089" y="2095128"/>
            <a:ext cx="4007793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~40분 → 20분 (숫자를 보면 줄게 됨)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35"/>
          <p:cNvSpPr/>
          <p:nvPr/>
        </p:nvSpPr>
        <p:spPr>
          <a:xfrm>
            <a:off x="496119" y="2397993"/>
            <a:ext cx="4021336" cy="1127150"/>
          </a:xfrm>
          <a:prstGeom prst="roundRect">
            <a:avLst>
              <a:gd fmla="val 154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35"/>
          <p:cNvSpPr/>
          <p:nvPr/>
        </p:nvSpPr>
        <p:spPr>
          <a:xfrm>
            <a:off x="612353" y="2514228"/>
            <a:ext cx="348853" cy="348853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4" name="Google Shape;114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273" y="2610148"/>
            <a:ext cx="156939" cy="156939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35"/>
          <p:cNvSpPr/>
          <p:nvPr/>
        </p:nvSpPr>
        <p:spPr>
          <a:xfrm>
            <a:off x="612353" y="2972098"/>
            <a:ext cx="3788866" cy="19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📊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자기 인식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35"/>
          <p:cNvSpPr/>
          <p:nvPr/>
        </p:nvSpPr>
        <p:spPr>
          <a:xfrm>
            <a:off x="612353" y="3228677"/>
            <a:ext cx="3788866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"나는 생각보다 집중을 못하는구나" → 개선 동기 자연 발생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35"/>
          <p:cNvSpPr/>
          <p:nvPr/>
        </p:nvSpPr>
        <p:spPr>
          <a:xfrm>
            <a:off x="4626471" y="2397993"/>
            <a:ext cx="4021410" cy="1127150"/>
          </a:xfrm>
          <a:prstGeom prst="roundRect">
            <a:avLst>
              <a:gd fmla="val 154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35"/>
          <p:cNvSpPr/>
          <p:nvPr/>
        </p:nvSpPr>
        <p:spPr>
          <a:xfrm>
            <a:off x="4742706" y="2514228"/>
            <a:ext cx="348853" cy="348853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9" name="Google Shape;114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8626" y="2610148"/>
            <a:ext cx="156939" cy="156939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35"/>
          <p:cNvSpPr/>
          <p:nvPr/>
        </p:nvSpPr>
        <p:spPr>
          <a:xfrm>
            <a:off x="4742706" y="2972098"/>
            <a:ext cx="3788941" cy="19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👨‍👩‍👦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부모 소통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35"/>
          <p:cNvSpPr/>
          <p:nvPr/>
        </p:nvSpPr>
        <p:spPr>
          <a:xfrm>
            <a:off x="4742706" y="3228677"/>
            <a:ext cx="3788941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잔소리 대신 데이터로 대화 — "이번 주 순공 15시간이네!"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35"/>
          <p:cNvSpPr/>
          <p:nvPr/>
        </p:nvSpPr>
        <p:spPr>
          <a:xfrm>
            <a:off x="496119" y="3634160"/>
            <a:ext cx="4021336" cy="1127150"/>
          </a:xfrm>
          <a:prstGeom prst="roundRect">
            <a:avLst>
              <a:gd fmla="val 154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35"/>
          <p:cNvSpPr/>
          <p:nvPr/>
        </p:nvSpPr>
        <p:spPr>
          <a:xfrm>
            <a:off x="612353" y="3750394"/>
            <a:ext cx="348853" cy="348853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4" name="Google Shape;115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273" y="3846314"/>
            <a:ext cx="156939" cy="156939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p35"/>
          <p:cNvSpPr/>
          <p:nvPr/>
        </p:nvSpPr>
        <p:spPr>
          <a:xfrm>
            <a:off x="612353" y="4208264"/>
            <a:ext cx="3788866" cy="19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💪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성취감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35"/>
          <p:cNvSpPr/>
          <p:nvPr/>
        </p:nvSpPr>
        <p:spPr>
          <a:xfrm>
            <a:off x="612353" y="4464844"/>
            <a:ext cx="3788866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순공 시간이 늘어나는 그래프 → 꾸준함에 자신감 생김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35"/>
          <p:cNvSpPr/>
          <p:nvPr/>
        </p:nvSpPr>
        <p:spPr>
          <a:xfrm>
            <a:off x="4626471" y="3634160"/>
            <a:ext cx="4021410" cy="1127150"/>
          </a:xfrm>
          <a:prstGeom prst="roundRect">
            <a:avLst>
              <a:gd fmla="val 154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35"/>
          <p:cNvSpPr/>
          <p:nvPr/>
        </p:nvSpPr>
        <p:spPr>
          <a:xfrm>
            <a:off x="4742706" y="3750394"/>
            <a:ext cx="348853" cy="348853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9" name="Google Shape;1159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8626" y="3846314"/>
            <a:ext cx="156939" cy="156939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35"/>
          <p:cNvSpPr/>
          <p:nvPr/>
        </p:nvSpPr>
        <p:spPr>
          <a:xfrm>
            <a:off x="4742706" y="4208264"/>
            <a:ext cx="3788941" cy="19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1" i="0" lang="ko-KR" sz="15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🎯</a:t>
            </a: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과목 균형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35"/>
          <p:cNvSpPr/>
          <p:nvPr/>
        </p:nvSpPr>
        <p:spPr>
          <a:xfrm>
            <a:off x="4742706" y="4464844"/>
            <a:ext cx="3788941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수학 편중 → 5과목 균형 있게 공부. AI 코멘트가 자동 추천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36"/>
          <p:cNvSpPr/>
          <p:nvPr/>
        </p:nvSpPr>
        <p:spPr>
          <a:xfrm>
            <a:off x="496119" y="205912"/>
            <a:ext cx="81519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1" i="0" lang="ko-KR" sz="2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요약</a:t>
            </a:r>
            <a:endParaRPr b="1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36"/>
          <p:cNvSpPr/>
          <p:nvPr/>
        </p:nvSpPr>
        <p:spPr>
          <a:xfrm>
            <a:off x="500900" y="657738"/>
            <a:ext cx="86091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공부 매니저 = "</a:t>
            </a:r>
            <a:r>
              <a:rPr b="1" i="0" lang="ko-KR" sz="11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진짜 공부 시간</a:t>
            </a: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"과 "</a:t>
            </a:r>
            <a:r>
              <a:rPr b="1" i="0" lang="ko-KR" sz="11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딴짓 시간</a:t>
            </a: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"을 자동으로 분류해주는 시스템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36"/>
          <p:cNvSpPr/>
          <p:nvPr/>
        </p:nvSpPr>
        <p:spPr>
          <a:xfrm>
            <a:off x="496126" y="883613"/>
            <a:ext cx="8151900" cy="1783200"/>
          </a:xfrm>
          <a:prstGeom prst="roundRect">
            <a:avLst>
              <a:gd fmla="val 1002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70" name="Google Shape;1170;p36"/>
          <p:cNvSpPr/>
          <p:nvPr/>
        </p:nvSpPr>
        <p:spPr>
          <a:xfrm>
            <a:off x="496126" y="1141265"/>
            <a:ext cx="8151900" cy="78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71" name="Google Shape;1171;p36"/>
          <p:cNvSpPr/>
          <p:nvPr/>
        </p:nvSpPr>
        <p:spPr>
          <a:xfrm>
            <a:off x="496126" y="1394850"/>
            <a:ext cx="8151900" cy="78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72" name="Google Shape;1172;p36"/>
          <p:cNvSpPr/>
          <p:nvPr/>
        </p:nvSpPr>
        <p:spPr>
          <a:xfrm>
            <a:off x="496126" y="1648435"/>
            <a:ext cx="8151900" cy="78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73" name="Google Shape;1173;p36"/>
          <p:cNvSpPr/>
          <p:nvPr/>
        </p:nvSpPr>
        <p:spPr>
          <a:xfrm>
            <a:off x="496126" y="1902022"/>
            <a:ext cx="8151900" cy="78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74" name="Google Shape;1174;p36"/>
          <p:cNvSpPr/>
          <p:nvPr/>
        </p:nvSpPr>
        <p:spPr>
          <a:xfrm>
            <a:off x="496126" y="2155607"/>
            <a:ext cx="8151900" cy="78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75" name="Google Shape;1175;p36"/>
          <p:cNvSpPr/>
          <p:nvPr/>
        </p:nvSpPr>
        <p:spPr>
          <a:xfrm>
            <a:off x="496126" y="2409194"/>
            <a:ext cx="8151900" cy="78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76" name="Google Shape;1176;p36"/>
          <p:cNvSpPr/>
          <p:nvPr/>
        </p:nvSpPr>
        <p:spPr>
          <a:xfrm>
            <a:off x="4572017" y="883613"/>
            <a:ext cx="4800" cy="17832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77" name="Google Shape;1177;p36"/>
          <p:cNvSpPr/>
          <p:nvPr/>
        </p:nvSpPr>
        <p:spPr>
          <a:xfrm>
            <a:off x="500888" y="891743"/>
            <a:ext cx="4071119" cy="249549"/>
          </a:xfrm>
          <a:custGeom>
            <a:rect b="b" l="l" r="r" t="t"/>
            <a:pathLst>
              <a:path extrusionOk="0" h="146149" w="4071119">
                <a:moveTo>
                  <a:pt x="8722" y="0"/>
                </a:moveTo>
                <a:lnTo>
                  <a:pt x="4071119" y="0"/>
                </a:lnTo>
                <a:lnTo>
                  <a:pt x="4071119" y="146149"/>
                </a:lnTo>
                <a:lnTo>
                  <a:pt x="0" y="146149"/>
                </a:lnTo>
                <a:lnTo>
                  <a:pt x="0" y="8722"/>
                </a:lnTo>
                <a:cubicBezTo>
                  <a:pt x="0" y="3905"/>
                  <a:pt x="3905" y="0"/>
                  <a:pt x="8722" y="0"/>
                </a:cubicBezTo>
                <a:close/>
              </a:path>
            </a:pathLst>
          </a:cu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78" name="Google Shape;1178;p36"/>
          <p:cNvSpPr/>
          <p:nvPr/>
        </p:nvSpPr>
        <p:spPr>
          <a:xfrm>
            <a:off x="570614" y="940022"/>
            <a:ext cx="43866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ko-K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핵심 가치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36"/>
          <p:cNvSpPr/>
          <p:nvPr/>
        </p:nvSpPr>
        <p:spPr>
          <a:xfrm>
            <a:off x="4572017" y="891743"/>
            <a:ext cx="4071119" cy="249549"/>
          </a:xfrm>
          <a:custGeom>
            <a:rect b="b" l="l" r="r" t="t"/>
            <a:pathLst>
              <a:path extrusionOk="0" h="146149" w="4071119">
                <a:moveTo>
                  <a:pt x="0" y="0"/>
                </a:moveTo>
                <a:lnTo>
                  <a:pt x="4062397" y="0"/>
                </a:lnTo>
                <a:cubicBezTo>
                  <a:pt x="4064710" y="0"/>
                  <a:pt x="4066929" y="919"/>
                  <a:pt x="4068564" y="2555"/>
                </a:cubicBezTo>
                <a:cubicBezTo>
                  <a:pt x="4070200" y="4190"/>
                  <a:pt x="4071119" y="6409"/>
                  <a:pt x="4071119" y="8722"/>
                </a:cubicBezTo>
                <a:lnTo>
                  <a:pt x="4071119" y="146149"/>
                </a:lnTo>
                <a:lnTo>
                  <a:pt x="0" y="146149"/>
                </a:lnTo>
                <a:lnTo>
                  <a:pt x="0" y="0"/>
                </a:lnTo>
                <a:close/>
              </a:path>
            </a:pathLst>
          </a:cu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80" name="Google Shape;1180;p36"/>
          <p:cNvSpPr/>
          <p:nvPr/>
        </p:nvSpPr>
        <p:spPr>
          <a:xfrm>
            <a:off x="4644124" y="940022"/>
            <a:ext cx="43866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1" i="0" lang="ko-K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설명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36"/>
          <p:cNvSpPr/>
          <p:nvPr/>
        </p:nvSpPr>
        <p:spPr>
          <a:xfrm>
            <a:off x="570614" y="1193607"/>
            <a:ext cx="43866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2가지 시간 분류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36"/>
          <p:cNvSpPr/>
          <p:nvPr/>
        </p:nvSpPr>
        <p:spPr>
          <a:xfrm>
            <a:off x="4644124" y="1193607"/>
            <a:ext cx="43866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Roboto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🟢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순공 시간 + </a:t>
            </a:r>
            <a:r>
              <a:rPr b="0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🔴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딴짓 시간 (5종 세분화)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36"/>
          <p:cNvSpPr/>
          <p:nvPr/>
        </p:nvSpPr>
        <p:spPr>
          <a:xfrm>
            <a:off x="570614" y="1447194"/>
            <a:ext cx="43866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자동 감지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36"/>
          <p:cNvSpPr/>
          <p:nvPr/>
        </p:nvSpPr>
        <p:spPr>
          <a:xfrm>
            <a:off x="4644124" y="1447194"/>
            <a:ext cx="43866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웹캠 + AI가 집중/딴짓을 자동 판별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36"/>
          <p:cNvSpPr/>
          <p:nvPr/>
        </p:nvSpPr>
        <p:spPr>
          <a:xfrm>
            <a:off x="570614" y="1700779"/>
            <a:ext cx="43866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실시간 알림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36"/>
          <p:cNvSpPr/>
          <p:nvPr/>
        </p:nvSpPr>
        <p:spPr>
          <a:xfrm>
            <a:off x="4644124" y="1700779"/>
            <a:ext cx="43866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"집중해 주세요!", "잘하고 있어요!" 상황별 메시지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36"/>
          <p:cNvSpPr/>
          <p:nvPr/>
        </p:nvSpPr>
        <p:spPr>
          <a:xfrm>
            <a:off x="570614" y="1954366"/>
            <a:ext cx="43866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통계 + 코멘트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36"/>
          <p:cNvSpPr/>
          <p:nvPr/>
        </p:nvSpPr>
        <p:spPr>
          <a:xfrm>
            <a:off x="4644124" y="1954366"/>
            <a:ext cx="43866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일/주/월 통계 + 5가지 고정 AI 코멘트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36"/>
          <p:cNvSpPr/>
          <p:nvPr/>
        </p:nvSpPr>
        <p:spPr>
          <a:xfrm>
            <a:off x="570614" y="2207951"/>
            <a:ext cx="43866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간단한 데이터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36"/>
          <p:cNvSpPr/>
          <p:nvPr/>
        </p:nvSpPr>
        <p:spPr>
          <a:xfrm>
            <a:off x="4644124" y="2207951"/>
            <a:ext cx="43866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JSON/CSV 파일 (DB 없이!)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36"/>
          <p:cNvSpPr/>
          <p:nvPr/>
        </p:nvSpPr>
        <p:spPr>
          <a:xfrm>
            <a:off x="570614" y="2461536"/>
            <a:ext cx="43866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추가 비용 0원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36"/>
          <p:cNvSpPr/>
          <p:nvPr/>
        </p:nvSpPr>
        <p:spPr>
          <a:xfrm>
            <a:off x="4644124" y="2461536"/>
            <a:ext cx="43866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PC 웹캠 + 브라우저만 있으면 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3" name="Google Shape;119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602" y="2936151"/>
            <a:ext cx="4386501" cy="2007562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36"/>
          <p:cNvSpPr/>
          <p:nvPr/>
        </p:nvSpPr>
        <p:spPr>
          <a:xfrm>
            <a:off x="4140911" y="4197293"/>
            <a:ext cx="1190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Phase 4 YOLO 핸드폰 감지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36"/>
          <p:cNvSpPr/>
          <p:nvPr/>
        </p:nvSpPr>
        <p:spPr>
          <a:xfrm>
            <a:off x="2950806" y="4197310"/>
            <a:ext cx="11901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Phase 3 MediaPipe </a:t>
            </a:r>
            <a:b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자동 감지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36"/>
          <p:cNvSpPr/>
          <p:nvPr/>
        </p:nvSpPr>
        <p:spPr>
          <a:xfrm>
            <a:off x="1760702" y="4270006"/>
            <a:ext cx="1190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Phase 2 통계 대시보드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36"/>
          <p:cNvSpPr/>
          <p:nvPr/>
        </p:nvSpPr>
        <p:spPr>
          <a:xfrm>
            <a:off x="570591" y="4270068"/>
            <a:ext cx="11901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Phase 1 기본 타이머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03" name="Google Shape;120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37"/>
          <p:cNvSpPr/>
          <p:nvPr/>
        </p:nvSpPr>
        <p:spPr>
          <a:xfrm>
            <a:off x="3925119" y="386879"/>
            <a:ext cx="4722763" cy="333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050"/>
              <a:buFont typeface="Roboto Slab"/>
              <a:buNone/>
            </a:pPr>
            <a:r>
              <a:rPr b="0" i="0" lang="ko-KR" sz="2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Q&amp;A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37"/>
          <p:cNvSpPr/>
          <p:nvPr/>
        </p:nvSpPr>
        <p:spPr>
          <a:xfrm>
            <a:off x="3925119" y="756568"/>
            <a:ext cx="4722763" cy="276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650"/>
              <a:buFont typeface="Roboto Slab"/>
              <a:buNone/>
            </a:pPr>
            <a:r>
              <a:rPr b="0" i="0" lang="ko-KR" sz="16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질문과 피드백을 환영합니다! </a:t>
            </a:r>
            <a:r>
              <a:rPr b="0" i="0" lang="ko-KR" sz="16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🙌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37"/>
          <p:cNvSpPr/>
          <p:nvPr/>
        </p:nvSpPr>
        <p:spPr>
          <a:xfrm>
            <a:off x="3925119" y="1169938"/>
            <a:ext cx="4722763" cy="626492"/>
          </a:xfrm>
          <a:prstGeom prst="roundRect">
            <a:avLst>
              <a:gd fmla="val 2552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37"/>
          <p:cNvSpPr/>
          <p:nvPr/>
        </p:nvSpPr>
        <p:spPr>
          <a:xfrm>
            <a:off x="4045967" y="1290786"/>
            <a:ext cx="4481066" cy="17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lab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🎯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대상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37"/>
          <p:cNvSpPr/>
          <p:nvPr/>
        </p:nvSpPr>
        <p:spPr>
          <a:xfrm>
            <a:off x="4045967" y="1517005"/>
            <a:ext cx="4481066" cy="15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중학교 2학년 수업 (학생 + 학부모)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37"/>
          <p:cNvSpPr/>
          <p:nvPr/>
        </p:nvSpPr>
        <p:spPr>
          <a:xfrm>
            <a:off x="3925119" y="1888034"/>
            <a:ext cx="4722763" cy="626492"/>
          </a:xfrm>
          <a:prstGeom prst="roundRect">
            <a:avLst>
              <a:gd fmla="val 2552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37"/>
          <p:cNvSpPr/>
          <p:nvPr/>
        </p:nvSpPr>
        <p:spPr>
          <a:xfrm>
            <a:off x="4045967" y="2008882"/>
            <a:ext cx="4481066" cy="17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lab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🛠️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기술 스택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37"/>
          <p:cNvSpPr/>
          <p:nvPr/>
        </p:nvSpPr>
        <p:spPr>
          <a:xfrm>
            <a:off x="4045967" y="2235101"/>
            <a:ext cx="4481066" cy="15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Python Flask + HTML/JavaScript + MediaPipe + YOLO Tiny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37"/>
          <p:cNvSpPr/>
          <p:nvPr/>
        </p:nvSpPr>
        <p:spPr>
          <a:xfrm>
            <a:off x="3925119" y="2606129"/>
            <a:ext cx="4722763" cy="626492"/>
          </a:xfrm>
          <a:prstGeom prst="roundRect">
            <a:avLst>
              <a:gd fmla="val 2552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37"/>
          <p:cNvSpPr/>
          <p:nvPr/>
        </p:nvSpPr>
        <p:spPr>
          <a:xfrm>
            <a:off x="4045967" y="2726978"/>
            <a:ext cx="4481066" cy="17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lab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💾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데이터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37"/>
          <p:cNvSpPr/>
          <p:nvPr/>
        </p:nvSpPr>
        <p:spPr>
          <a:xfrm>
            <a:off x="4045967" y="2953196"/>
            <a:ext cx="4481066" cy="15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JSON / CSV (DB 없음, 엑셀로 열람 가능)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37"/>
          <p:cNvSpPr/>
          <p:nvPr/>
        </p:nvSpPr>
        <p:spPr>
          <a:xfrm>
            <a:off x="3925119" y="3324225"/>
            <a:ext cx="4722763" cy="626492"/>
          </a:xfrm>
          <a:prstGeom prst="roundRect">
            <a:avLst>
              <a:gd fmla="val 2552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37"/>
          <p:cNvSpPr/>
          <p:nvPr/>
        </p:nvSpPr>
        <p:spPr>
          <a:xfrm>
            <a:off x="4045967" y="3445073"/>
            <a:ext cx="4481066" cy="17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 Slab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💻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최소 요구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37"/>
          <p:cNvSpPr/>
          <p:nvPr/>
        </p:nvSpPr>
        <p:spPr>
          <a:xfrm>
            <a:off x="4045967" y="3671292"/>
            <a:ext cx="4481066" cy="15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웹캠 있는 PC + 최신 브라우저 (설치 불필요!)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37"/>
          <p:cNvSpPr/>
          <p:nvPr/>
        </p:nvSpPr>
        <p:spPr>
          <a:xfrm>
            <a:off x="4084960" y="4191074"/>
            <a:ext cx="4562921" cy="166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000"/>
              <a:buFont typeface="Roboto Slab"/>
              <a:buNone/>
            </a:pPr>
            <a:r>
              <a:rPr b="0" i="0" lang="ko-KR" sz="10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핵심 메시지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37"/>
          <p:cNvSpPr/>
          <p:nvPr/>
        </p:nvSpPr>
        <p:spPr>
          <a:xfrm>
            <a:off x="3856360" y="4494981"/>
            <a:ext cx="5020121" cy="15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"앉아있는 시간이 아니라, </a:t>
            </a:r>
            <a:r>
              <a:rPr b="1" i="0" lang="ko-KR" sz="13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진짜 공부한 시간</a:t>
            </a:r>
            <a:r>
              <a:rPr b="0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을 알면 달라집니다."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37"/>
          <p:cNvSpPr/>
          <p:nvPr/>
        </p:nvSpPr>
        <p:spPr>
          <a:xfrm>
            <a:off x="3925119" y="4053706"/>
            <a:ext cx="14288" cy="702841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