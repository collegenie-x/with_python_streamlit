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Lst>
  <p:sldSz cy="5143500" cx="9144000"/>
  <p:notesSz cx="5143500" cy="9144000"/>
  <p:embeddedFontLst>
    <p:embeddedFont>
      <p:font typeface="Roboto Slab"/>
      <p:regular r:id="rId46"/>
      <p:bold r:id="rId47"/>
    </p:embeddedFont>
    <p:embeddedFont>
      <p:font typeface="Roboto Slab Light"/>
      <p:regular r:id="rId48"/>
      <p:bold r:id="rId49"/>
    </p:embeddedFont>
    <p:embeddedFont>
      <p:font typeface="Robot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font" Target="fonts/RobotoSlab-regular.fntdata"/><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RobotoSlabLight-regular.fntdata"/><Relationship Id="rId47" Type="http://schemas.openxmlformats.org/officeDocument/2006/relationships/font" Target="fonts/RobotoSlab-bold.fntdata"/><Relationship Id="rId49" Type="http://schemas.openxmlformats.org/officeDocument/2006/relationships/font" Target="fonts/RobotoSlabLight-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Roboto-bold.fntdata"/><Relationship Id="rId50" Type="http://schemas.openxmlformats.org/officeDocument/2006/relationships/font" Target="fonts/Roboto-regular.fntdata"/><Relationship Id="rId53" Type="http://schemas.openxmlformats.org/officeDocument/2006/relationships/font" Target="fonts/Roboto-boldItalic.fntdata"/><Relationship Id="rId52" Type="http://schemas.openxmlformats.org/officeDocument/2006/relationships/font" Target="fonts/Roboto-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ko-K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 name="Shape 14"/>
        <p:cNvGrpSpPr/>
        <p:nvPr/>
      </p:nvGrpSpPr>
      <p:grpSpPr>
        <a:xfrm>
          <a:off x="0" y="0"/>
          <a:ext cx="0" cy="0"/>
          <a:chOff x="0" y="0"/>
          <a:chExt cx="0" cy="0"/>
        </a:xfrm>
      </p:grpSpPr>
      <p:sp>
        <p:nvSpPr>
          <p:cNvPr id="15" name="Google Shape;1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 name="Google Shape;1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 name="Google Shape;1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 name="Google Shape;5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 name="Google Shape;53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f5d721b83c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f5d721b83c_0_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9" name="Google Shape;589;g3f5d721b83c_0_7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 name="Google Shape;61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3" name="Google Shape;67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4" name="Google Shape;674;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6" name="Google Shape;70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7" name="Google Shape;70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1" name="Google Shape;721;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5" name="Google Shape;745;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9" name="Google Shape;76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0" name="Google Shape;77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8" name="Google Shape;79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9" name="Google Shape;799;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f5d721b83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3f5d721b83c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2" name="Google Shape;822;g3f5d721b83c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f5d721b83c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3f5d721b83c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0" name="Google Shape;830;g3f5d721b83c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f5d721b83c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36" name="Google Shape;836;g3f5d721b83c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7" name="Google Shape;837;g3f5d721b83c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3f5d721b83c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3f5d721b83c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4" name="Google Shape;844;g3f5d721b83c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f5d721b83c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3f5d721b83c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1" name="Google Shape;851;g3f5d721b83c_0_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3f5d721b83c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3f5d721b83c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8" name="Google Shape;858;g3f5d721b83c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f5d721b83c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3f5d721b83c_0_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7" name="Google Shape;867;g3f5d721b83c_0_6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spTree>
      <p:nvGrpSpPr>
        <p:cNvPr id="10" name="Shape 10"/>
        <p:cNvGrpSpPr/>
        <p:nvPr/>
      </p:nvGrpSpPr>
      <p:grpSpPr>
        <a:xfrm>
          <a:off x="0" y="0"/>
          <a:ext cx="0" cy="0"/>
          <a:chOff x="0" y="0"/>
          <a:chExt cx="0" cy="0"/>
        </a:xfrm>
      </p:grpSpPr>
      <p:sp>
        <p:nvSpPr>
          <p:cNvPr id="11" name="Google Shape;11;p2"/>
          <p:cNvSpPr/>
          <p:nvPr/>
        </p:nvSpPr>
        <p:spPr>
          <a:xfrm>
            <a:off x="0" y="0"/>
            <a:ext cx="9144000" cy="5143500"/>
          </a:xfrm>
          <a:prstGeom prst="rect">
            <a:avLst/>
          </a:prstGeom>
          <a:solidFill>
            <a:srgbClr val="EDF1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9144000" cy="5143500"/>
          </a:xfrm>
          <a:prstGeom prst="rect">
            <a:avLst/>
          </a:prstGeom>
          <a:solidFill>
            <a:srgbClr val="FBFC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3"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jp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6.png"/><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2.png"/><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11.png"/><Relationship Id="rId7" Type="http://schemas.openxmlformats.org/officeDocument/2006/relationships/image" Target="../media/image22.png"/><Relationship Id="rId8"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2.jp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19.png"/><Relationship Id="rId5" Type="http://schemas.openxmlformats.org/officeDocument/2006/relationships/image" Target="../media/image39.png"/><Relationship Id="rId6"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1.png"/><Relationship Id="rId4" Type="http://schemas.openxmlformats.org/officeDocument/2006/relationships/image" Target="../media/image36.png"/><Relationship Id="rId5" Type="http://schemas.openxmlformats.org/officeDocument/2006/relationships/image" Target="../media/image25.png"/><Relationship Id="rId6"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0.jp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1.png"/><Relationship Id="rId4" Type="http://schemas.openxmlformats.org/officeDocument/2006/relationships/image" Target="../media/image40.png"/><Relationship Id="rId5" Type="http://schemas.openxmlformats.org/officeDocument/2006/relationships/image" Target="../media/image49.png"/><Relationship Id="rId6"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7.png"/><Relationship Id="rId4" Type="http://schemas.openxmlformats.org/officeDocument/2006/relationships/image" Target="../media/image45.png"/><Relationship Id="rId5" Type="http://schemas.openxmlformats.org/officeDocument/2006/relationships/image" Target="../media/image55.png"/><Relationship Id="rId6"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6.jp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8.jpg"/><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5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51.jpg"/><Relationship Id="rId4" Type="http://schemas.openxmlformats.org/officeDocument/2006/relationships/image" Target="../media/image52.png"/><Relationship Id="rId5" Type="http://schemas.openxmlformats.org/officeDocument/2006/relationships/image" Target="../media/image5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65.png"/><Relationship Id="rId4" Type="http://schemas.openxmlformats.org/officeDocument/2006/relationships/image" Target="../media/image6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6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6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6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6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 name="Shape 18"/>
        <p:cNvGrpSpPr/>
        <p:nvPr/>
      </p:nvGrpSpPr>
      <p:grpSpPr>
        <a:xfrm>
          <a:off x="0" y="0"/>
          <a:ext cx="0" cy="0"/>
          <a:chOff x="0" y="0"/>
          <a:chExt cx="0" cy="0"/>
        </a:xfrm>
      </p:grpSpPr>
      <p:pic>
        <p:nvPicPr>
          <p:cNvPr descr="preencoded.png" id="19" name="Google Shape;19;p4"/>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20" name="Google Shape;20;p4"/>
          <p:cNvSpPr/>
          <p:nvPr/>
        </p:nvSpPr>
        <p:spPr>
          <a:xfrm>
            <a:off x="496119" y="1364996"/>
            <a:ext cx="4722900" cy="3876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3100" u="none" cap="none" strike="noStrike">
                <a:solidFill>
                  <a:srgbClr val="3257B8"/>
                </a:solidFill>
                <a:latin typeface="Roboto Slab"/>
                <a:ea typeface="Roboto Slab"/>
                <a:cs typeface="Roboto Slab"/>
                <a:sym typeface="Roboto Slab"/>
              </a:rPr>
              <a:t>AI 공부 매니저 개발 시나리오</a:t>
            </a:r>
            <a:endParaRPr b="1" i="0" sz="3100" u="none" cap="none" strike="noStrike">
              <a:solidFill>
                <a:schemeClr val="dk1"/>
              </a:solidFill>
              <a:latin typeface="Calibri"/>
              <a:ea typeface="Calibri"/>
              <a:cs typeface="Calibri"/>
              <a:sym typeface="Calibri"/>
            </a:endParaRPr>
          </a:p>
        </p:txBody>
      </p:sp>
      <p:sp>
        <p:nvSpPr>
          <p:cNvPr id="21" name="Google Shape;21;p4"/>
          <p:cNvSpPr/>
          <p:nvPr/>
        </p:nvSpPr>
        <p:spPr>
          <a:xfrm>
            <a:off x="496194" y="2322604"/>
            <a:ext cx="47229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750" u="none" cap="none" strike="noStrike">
                <a:solidFill>
                  <a:srgbClr val="FF0000"/>
                </a:solidFill>
                <a:latin typeface="Roboto"/>
                <a:ea typeface="Roboto"/>
                <a:cs typeface="Roboto"/>
                <a:sym typeface="Roboto"/>
              </a:rPr>
              <a:t>Flask</a:t>
            </a:r>
            <a:r>
              <a:rPr b="0" i="0" lang="ko-KR" sz="1750" u="none" cap="none" strike="noStrike">
                <a:solidFill>
                  <a:srgbClr val="15213F"/>
                </a:solidFill>
                <a:latin typeface="Roboto"/>
                <a:ea typeface="Roboto"/>
                <a:cs typeface="Roboto"/>
                <a:sym typeface="Roboto"/>
              </a:rPr>
              <a:t> + </a:t>
            </a:r>
            <a:r>
              <a:rPr b="1" i="0" lang="ko-KR" sz="1750" u="none" cap="none" strike="noStrike">
                <a:solidFill>
                  <a:srgbClr val="FF0000"/>
                </a:solidFill>
                <a:latin typeface="Roboto"/>
                <a:ea typeface="Roboto"/>
                <a:cs typeface="Roboto"/>
                <a:sym typeface="Roboto"/>
              </a:rPr>
              <a:t>JavaScript</a:t>
            </a:r>
            <a:r>
              <a:rPr b="0" i="0" lang="ko-KR" sz="1750" u="none" cap="none" strike="noStrike">
                <a:solidFill>
                  <a:srgbClr val="15213F"/>
                </a:solidFill>
                <a:latin typeface="Roboto"/>
                <a:ea typeface="Roboto"/>
                <a:cs typeface="Roboto"/>
                <a:sym typeface="Roboto"/>
              </a:rPr>
              <a:t> + </a:t>
            </a:r>
            <a:r>
              <a:rPr b="1" i="0" lang="ko-KR" sz="1750" u="none" cap="none" strike="noStrike">
                <a:solidFill>
                  <a:srgbClr val="FF0000"/>
                </a:solidFill>
                <a:latin typeface="Roboto"/>
                <a:ea typeface="Roboto"/>
                <a:cs typeface="Roboto"/>
                <a:sym typeface="Roboto"/>
              </a:rPr>
              <a:t>MediaPipe</a:t>
            </a:r>
            <a:r>
              <a:rPr b="0" i="0" lang="ko-KR" sz="1750" u="none" cap="none" strike="noStrike">
                <a:solidFill>
                  <a:srgbClr val="15213F"/>
                </a:solidFill>
                <a:latin typeface="Roboto"/>
                <a:ea typeface="Roboto"/>
                <a:cs typeface="Roboto"/>
                <a:sym typeface="Roboto"/>
              </a:rPr>
              <a:t> + </a:t>
            </a:r>
            <a:r>
              <a:rPr b="1" i="0" lang="ko-KR" sz="1750" u="none" cap="none" strike="noStrike">
                <a:solidFill>
                  <a:srgbClr val="FF0000"/>
                </a:solidFill>
                <a:latin typeface="Roboto"/>
                <a:ea typeface="Roboto"/>
                <a:cs typeface="Roboto"/>
                <a:sym typeface="Roboto"/>
              </a:rPr>
              <a:t>YOLO</a:t>
            </a:r>
            <a:r>
              <a:rPr b="0" i="0" lang="ko-KR" sz="1750" u="none" cap="none" strike="noStrike">
                <a:solidFill>
                  <a:srgbClr val="15213F"/>
                </a:solidFill>
                <a:latin typeface="Roboto"/>
                <a:ea typeface="Roboto"/>
                <a:cs typeface="Roboto"/>
                <a:sym typeface="Roboto"/>
              </a:rPr>
              <a:t>로 만드는 나만의 AI 공부 시간 관리 앱 </a:t>
            </a:r>
            <a:endParaRPr b="0" i="0" sz="17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 중학교 2학년 코딩 수업</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pic>
        <p:nvPicPr>
          <p:cNvPr descr="preencoded.png" id="27" name="Google Shape;27;p5"/>
          <p:cNvPicPr preferRelativeResize="0"/>
          <p:nvPr/>
        </p:nvPicPr>
        <p:blipFill rotWithShape="1">
          <a:blip r:embed="rId3">
            <a:alphaModFix/>
          </a:blip>
          <a:srcRect b="0" l="0" r="0" t="0"/>
          <a:stretch/>
        </p:blipFill>
        <p:spPr>
          <a:xfrm>
            <a:off x="0" y="0"/>
            <a:ext cx="3429000" cy="5143500"/>
          </a:xfrm>
          <a:prstGeom prst="rect">
            <a:avLst/>
          </a:prstGeom>
          <a:noFill/>
          <a:ln>
            <a:noFill/>
          </a:ln>
        </p:spPr>
      </p:pic>
      <p:sp>
        <p:nvSpPr>
          <p:cNvPr id="28" name="Google Shape;28;p5"/>
          <p:cNvSpPr/>
          <p:nvPr/>
        </p:nvSpPr>
        <p:spPr>
          <a:xfrm>
            <a:off x="3925119" y="545529"/>
            <a:ext cx="4722763"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600" u="none" cap="none" strike="noStrike">
                <a:solidFill>
                  <a:srgbClr val="3257B8"/>
                </a:solidFill>
                <a:latin typeface="Roboto Slab"/>
                <a:ea typeface="Roboto Slab"/>
                <a:cs typeface="Roboto Slab"/>
                <a:sym typeface="Roboto Slab"/>
              </a:rPr>
              <a:t>AI 공부 매니저, 이게 뭔가요?</a:t>
            </a:r>
            <a:endParaRPr b="1" i="0" sz="2600" u="none" cap="none" strike="noStrike">
              <a:solidFill>
                <a:schemeClr val="dk1"/>
              </a:solidFill>
              <a:latin typeface="Calibri"/>
              <a:ea typeface="Calibri"/>
              <a:cs typeface="Calibri"/>
              <a:sym typeface="Calibri"/>
            </a:endParaRPr>
          </a:p>
        </p:txBody>
      </p:sp>
      <p:sp>
        <p:nvSpPr>
          <p:cNvPr id="29" name="Google Shape;29;p5"/>
          <p:cNvSpPr/>
          <p:nvPr/>
        </p:nvSpPr>
        <p:spPr>
          <a:xfrm>
            <a:off x="3925119" y="1119113"/>
            <a:ext cx="4722763"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컴퓨터가 내 공부를 감시한다고?!</a:t>
            </a:r>
            <a:r>
              <a:rPr b="0" i="0" lang="ko-KR" sz="1250" u="none" cap="none" strike="noStrike">
                <a:solidFill>
                  <a:srgbClr val="15213F"/>
                </a:solidFill>
                <a:latin typeface="Roboto"/>
                <a:ea typeface="Roboto"/>
                <a:cs typeface="Roboto"/>
                <a:sym typeface="Roboto"/>
              </a:rPr>
              <a:t> </a:t>
            </a:r>
            <a:br>
              <a:rPr b="0" i="0" lang="ko-KR" sz="1250" u="none" cap="none" strike="noStrike">
                <a:solidFill>
                  <a:srgbClr val="15213F"/>
                </a:solidFill>
                <a:latin typeface="Roboto"/>
                <a:ea typeface="Roboto"/>
                <a:cs typeface="Roboto"/>
                <a:sym typeface="Roboto"/>
              </a:rPr>
            </a:br>
            <a:r>
              <a:rPr b="0" i="0" lang="ko-KR" sz="1250" u="none" cap="none" strike="noStrike">
                <a:solidFill>
                  <a:srgbClr val="15213F"/>
                </a:solidFill>
                <a:latin typeface="Roboto"/>
                <a:ea typeface="Roboto"/>
                <a:cs typeface="Roboto"/>
                <a:sym typeface="Roboto"/>
              </a:rPr>
              <a:t>맞아요! AI가 자동으로 나의 </a:t>
            </a:r>
            <a:r>
              <a:rPr b="0" i="0" lang="ko-KR" sz="1250" u="none" cap="none" strike="noStrike">
                <a:solidFill>
                  <a:srgbClr val="3257B8"/>
                </a:solidFill>
                <a:latin typeface="Roboto"/>
                <a:ea typeface="Roboto"/>
                <a:cs typeface="Roboto"/>
                <a:sym typeface="Roboto"/>
              </a:rPr>
              <a:t>순공 시간(진짜 공부한 시간)</a:t>
            </a:r>
            <a:r>
              <a:rPr b="0" i="0" lang="ko-KR" sz="1250" u="none" cap="none" strike="noStrike">
                <a:solidFill>
                  <a:srgbClr val="15213F"/>
                </a:solidFill>
                <a:latin typeface="Roboto"/>
                <a:ea typeface="Roboto"/>
                <a:cs typeface="Roboto"/>
                <a:sym typeface="Roboto"/>
              </a:rPr>
              <a:t>을 체크해주는 웹 앱입니다.</a:t>
            </a:r>
            <a:endParaRPr b="0" i="0" sz="1250" u="none" cap="none" strike="noStrike">
              <a:solidFill>
                <a:schemeClr val="dk1"/>
              </a:solidFill>
              <a:latin typeface="Calibri"/>
              <a:ea typeface="Calibri"/>
              <a:cs typeface="Calibri"/>
              <a:sym typeface="Calibri"/>
            </a:endParaRPr>
          </a:p>
        </p:txBody>
      </p:sp>
      <p:sp>
        <p:nvSpPr>
          <p:cNvPr id="30" name="Google Shape;30;p5"/>
          <p:cNvSpPr/>
          <p:nvPr/>
        </p:nvSpPr>
        <p:spPr>
          <a:xfrm>
            <a:off x="3925119" y="1655564"/>
            <a:ext cx="1491555" cy="1607641"/>
          </a:xfrm>
          <a:prstGeom prst="roundRect">
            <a:avLst>
              <a:gd fmla="val 124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5"/>
          <p:cNvSpPr/>
          <p:nvPr/>
        </p:nvSpPr>
        <p:spPr>
          <a:xfrm>
            <a:off x="4049092" y="1779538"/>
            <a:ext cx="372070" cy="372070"/>
          </a:xfrm>
          <a:prstGeom prst="ellipse">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 name="Google Shape;32;p5"/>
          <p:cNvPicPr preferRelativeResize="0"/>
          <p:nvPr/>
        </p:nvPicPr>
        <p:blipFill rotWithShape="1">
          <a:blip r:embed="rId4">
            <a:alphaModFix/>
          </a:blip>
          <a:srcRect b="0" l="0" r="0" t="0"/>
          <a:stretch/>
        </p:blipFill>
        <p:spPr>
          <a:xfrm>
            <a:off x="4151412" y="1881783"/>
            <a:ext cx="167432" cy="167432"/>
          </a:xfrm>
          <a:prstGeom prst="rect">
            <a:avLst/>
          </a:prstGeom>
          <a:noFill/>
          <a:ln>
            <a:noFill/>
          </a:ln>
        </p:spPr>
      </p:pic>
      <p:sp>
        <p:nvSpPr>
          <p:cNvPr id="33" name="Google Shape;33;p5"/>
          <p:cNvSpPr/>
          <p:nvPr/>
        </p:nvSpPr>
        <p:spPr>
          <a:xfrm>
            <a:off x="4049092" y="2275582"/>
            <a:ext cx="1243608"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u="none" cap="none" strike="noStrike">
                <a:solidFill>
                  <a:srgbClr val="15213F"/>
                </a:solidFill>
                <a:latin typeface="Roboto Slab"/>
                <a:ea typeface="Roboto Slab"/>
                <a:cs typeface="Roboto Slab"/>
                <a:sym typeface="Roboto Slab"/>
              </a:rPr>
              <a:t>과목별 타이머</a:t>
            </a:r>
            <a:endParaRPr b="1" i="0" u="none" cap="none" strike="noStrike">
              <a:solidFill>
                <a:schemeClr val="dk1"/>
              </a:solidFill>
              <a:latin typeface="Calibri"/>
              <a:ea typeface="Calibri"/>
              <a:cs typeface="Calibri"/>
              <a:sym typeface="Calibri"/>
            </a:endParaRPr>
          </a:p>
        </p:txBody>
      </p:sp>
      <p:sp>
        <p:nvSpPr>
          <p:cNvPr id="34" name="Google Shape;34;p5"/>
          <p:cNvSpPr/>
          <p:nvPr/>
        </p:nvSpPr>
        <p:spPr>
          <a:xfrm>
            <a:off x="4049092" y="2543845"/>
            <a:ext cx="1243608" cy="59538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수학, 영어, 국어… 과목마다 시간을 따로 측정해요</a:t>
            </a:r>
            <a:endParaRPr b="0" i="0" sz="1150" u="none" cap="none" strike="noStrike">
              <a:solidFill>
                <a:schemeClr val="dk1"/>
              </a:solidFill>
              <a:latin typeface="Calibri"/>
              <a:ea typeface="Calibri"/>
              <a:cs typeface="Calibri"/>
              <a:sym typeface="Calibri"/>
            </a:endParaRPr>
          </a:p>
        </p:txBody>
      </p:sp>
      <p:sp>
        <p:nvSpPr>
          <p:cNvPr id="35" name="Google Shape;35;p5"/>
          <p:cNvSpPr/>
          <p:nvPr/>
        </p:nvSpPr>
        <p:spPr>
          <a:xfrm>
            <a:off x="5540648" y="1655564"/>
            <a:ext cx="1491630" cy="1607641"/>
          </a:xfrm>
          <a:prstGeom prst="roundRect">
            <a:avLst>
              <a:gd fmla="val 124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p:nvPr/>
        </p:nvSpPr>
        <p:spPr>
          <a:xfrm>
            <a:off x="5664622" y="1779538"/>
            <a:ext cx="372070" cy="372070"/>
          </a:xfrm>
          <a:prstGeom prst="ellipse">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5"/>
          <p:cNvPicPr preferRelativeResize="0"/>
          <p:nvPr/>
        </p:nvPicPr>
        <p:blipFill rotWithShape="1">
          <a:blip r:embed="rId5">
            <a:alphaModFix/>
          </a:blip>
          <a:srcRect b="0" l="0" r="0" t="0"/>
          <a:stretch/>
        </p:blipFill>
        <p:spPr>
          <a:xfrm>
            <a:off x="5766941" y="1881783"/>
            <a:ext cx="167432" cy="167432"/>
          </a:xfrm>
          <a:prstGeom prst="rect">
            <a:avLst/>
          </a:prstGeom>
          <a:noFill/>
          <a:ln>
            <a:noFill/>
          </a:ln>
        </p:spPr>
      </p:pic>
      <p:sp>
        <p:nvSpPr>
          <p:cNvPr id="38" name="Google Shape;38;p5"/>
          <p:cNvSpPr/>
          <p:nvPr/>
        </p:nvSpPr>
        <p:spPr>
          <a:xfrm>
            <a:off x="5664622" y="2275582"/>
            <a:ext cx="1243682"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u="none" cap="none" strike="noStrike">
                <a:solidFill>
                  <a:srgbClr val="15213F"/>
                </a:solidFill>
                <a:latin typeface="Roboto Slab"/>
                <a:ea typeface="Roboto Slab"/>
                <a:cs typeface="Roboto Slab"/>
                <a:sym typeface="Roboto Slab"/>
              </a:rPr>
              <a:t>순공/딴짓 분류</a:t>
            </a:r>
            <a:endParaRPr b="1" i="0" u="none" cap="none" strike="noStrike">
              <a:solidFill>
                <a:schemeClr val="dk1"/>
              </a:solidFill>
              <a:latin typeface="Calibri"/>
              <a:ea typeface="Calibri"/>
              <a:cs typeface="Calibri"/>
              <a:sym typeface="Calibri"/>
            </a:endParaRPr>
          </a:p>
        </p:txBody>
      </p:sp>
      <p:sp>
        <p:nvSpPr>
          <p:cNvPr id="39" name="Google Shape;39;p5"/>
          <p:cNvSpPr/>
          <p:nvPr/>
        </p:nvSpPr>
        <p:spPr>
          <a:xfrm>
            <a:off x="5664622" y="2543845"/>
            <a:ext cx="1243682"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진짜 공부 vs 핸드폰·졸음·멍때림 자동 구분!</a:t>
            </a:r>
            <a:endParaRPr b="0" i="0" sz="1150" u="none" cap="none" strike="noStrike">
              <a:solidFill>
                <a:schemeClr val="dk1"/>
              </a:solidFill>
              <a:latin typeface="Calibri"/>
              <a:ea typeface="Calibri"/>
              <a:cs typeface="Calibri"/>
              <a:sym typeface="Calibri"/>
            </a:endParaRPr>
          </a:p>
        </p:txBody>
      </p:sp>
      <p:sp>
        <p:nvSpPr>
          <p:cNvPr id="40" name="Google Shape;40;p5"/>
          <p:cNvSpPr/>
          <p:nvPr/>
        </p:nvSpPr>
        <p:spPr>
          <a:xfrm>
            <a:off x="7156252" y="1655564"/>
            <a:ext cx="1491630" cy="1607641"/>
          </a:xfrm>
          <a:prstGeom prst="roundRect">
            <a:avLst>
              <a:gd fmla="val 124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a:off x="7280225" y="1779538"/>
            <a:ext cx="372070" cy="372070"/>
          </a:xfrm>
          <a:prstGeom prst="ellipse">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 name="Google Shape;42;p5"/>
          <p:cNvPicPr preferRelativeResize="0"/>
          <p:nvPr/>
        </p:nvPicPr>
        <p:blipFill rotWithShape="1">
          <a:blip r:embed="rId6">
            <a:alphaModFix/>
          </a:blip>
          <a:srcRect b="0" l="0" r="0" t="0"/>
          <a:stretch/>
        </p:blipFill>
        <p:spPr>
          <a:xfrm>
            <a:off x="7382545" y="1881783"/>
            <a:ext cx="167432" cy="167432"/>
          </a:xfrm>
          <a:prstGeom prst="rect">
            <a:avLst/>
          </a:prstGeom>
          <a:noFill/>
          <a:ln>
            <a:noFill/>
          </a:ln>
        </p:spPr>
      </p:pic>
      <p:sp>
        <p:nvSpPr>
          <p:cNvPr id="43" name="Google Shape;43;p5"/>
          <p:cNvSpPr/>
          <p:nvPr/>
        </p:nvSpPr>
        <p:spPr>
          <a:xfrm>
            <a:off x="7280225" y="2275582"/>
            <a:ext cx="1243682"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u="none" cap="none" strike="noStrike">
                <a:solidFill>
                  <a:srgbClr val="15213F"/>
                </a:solidFill>
                <a:latin typeface="Roboto Slab"/>
                <a:ea typeface="Roboto Slab"/>
                <a:cs typeface="Roboto Slab"/>
                <a:sym typeface="Roboto Slab"/>
              </a:rPr>
              <a:t>일/주/월 통계</a:t>
            </a:r>
            <a:endParaRPr b="1" i="0" u="none" cap="none" strike="noStrike">
              <a:solidFill>
                <a:schemeClr val="dk1"/>
              </a:solidFill>
              <a:latin typeface="Calibri"/>
              <a:ea typeface="Calibri"/>
              <a:cs typeface="Calibri"/>
              <a:sym typeface="Calibri"/>
            </a:endParaRPr>
          </a:p>
        </p:txBody>
      </p:sp>
      <p:sp>
        <p:nvSpPr>
          <p:cNvPr id="44" name="Google Shape;44;p5"/>
          <p:cNvSpPr/>
          <p:nvPr/>
        </p:nvSpPr>
        <p:spPr>
          <a:xfrm>
            <a:off x="7280225" y="2543845"/>
            <a:ext cx="1243682"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차트와 그래프로 내 공부 패턴을 한눈에</a:t>
            </a:r>
            <a:endParaRPr b="0" i="0" sz="1150" u="none" cap="none" strike="noStrike">
              <a:solidFill>
                <a:schemeClr val="dk1"/>
              </a:solidFill>
              <a:latin typeface="Calibri"/>
              <a:ea typeface="Calibri"/>
              <a:cs typeface="Calibri"/>
              <a:sym typeface="Calibri"/>
            </a:endParaRPr>
          </a:p>
        </p:txBody>
      </p:sp>
      <p:sp>
        <p:nvSpPr>
          <p:cNvPr id="45" name="Google Shape;45;p5"/>
          <p:cNvSpPr/>
          <p:nvPr/>
        </p:nvSpPr>
        <p:spPr>
          <a:xfrm>
            <a:off x="3925119" y="3387179"/>
            <a:ext cx="4722763" cy="1210717"/>
          </a:xfrm>
          <a:prstGeom prst="roundRect">
            <a:avLst>
              <a:gd fmla="val 153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4049092" y="3511153"/>
            <a:ext cx="372070" cy="372070"/>
          </a:xfrm>
          <a:prstGeom prst="ellipse">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7" name="Google Shape;47;p5"/>
          <p:cNvPicPr preferRelativeResize="0"/>
          <p:nvPr/>
        </p:nvPicPr>
        <p:blipFill rotWithShape="1">
          <a:blip r:embed="rId7">
            <a:alphaModFix/>
          </a:blip>
          <a:srcRect b="0" l="0" r="0" t="0"/>
          <a:stretch/>
        </p:blipFill>
        <p:spPr>
          <a:xfrm>
            <a:off x="4151412" y="3613398"/>
            <a:ext cx="167432" cy="167432"/>
          </a:xfrm>
          <a:prstGeom prst="rect">
            <a:avLst/>
          </a:prstGeom>
          <a:noFill/>
          <a:ln>
            <a:noFill/>
          </a:ln>
        </p:spPr>
      </p:pic>
      <p:sp>
        <p:nvSpPr>
          <p:cNvPr id="48" name="Google Shape;48;p5"/>
          <p:cNvSpPr/>
          <p:nvPr/>
        </p:nvSpPr>
        <p:spPr>
          <a:xfrm>
            <a:off x="4049092" y="4007197"/>
            <a:ext cx="4474815"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u="none" cap="none" strike="noStrike">
                <a:solidFill>
                  <a:srgbClr val="15213F"/>
                </a:solidFill>
                <a:latin typeface="Roboto Slab"/>
                <a:ea typeface="Roboto Slab"/>
                <a:cs typeface="Roboto Slab"/>
                <a:sym typeface="Roboto Slab"/>
              </a:rPr>
              <a:t>AI 코멘트 &amp; 알림</a:t>
            </a:r>
            <a:endParaRPr b="1" i="0" u="none" cap="none" strike="noStrike">
              <a:solidFill>
                <a:schemeClr val="dk1"/>
              </a:solidFill>
              <a:latin typeface="Calibri"/>
              <a:ea typeface="Calibri"/>
              <a:cs typeface="Calibri"/>
              <a:sym typeface="Calibri"/>
            </a:endParaRPr>
          </a:p>
        </p:txBody>
      </p:sp>
      <p:sp>
        <p:nvSpPr>
          <p:cNvPr id="49" name="Google Shape;49;p5"/>
          <p:cNvSpPr/>
          <p:nvPr/>
        </p:nvSpPr>
        <p:spPr>
          <a:xfrm>
            <a:off x="4049092" y="4275460"/>
            <a:ext cx="4474815"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"잘한 점", "개선할 점" 매일 피드백 + 실시간 경고</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6"/>
          <p:cNvSpPr/>
          <p:nvPr/>
        </p:nvSpPr>
        <p:spPr>
          <a:xfrm>
            <a:off x="496119" y="570930"/>
            <a:ext cx="8151900" cy="3876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400" u="none" cap="none" strike="noStrike">
                <a:solidFill>
                  <a:srgbClr val="3257B8"/>
                </a:solidFill>
                <a:latin typeface="Roboto Slab"/>
                <a:ea typeface="Roboto Slab"/>
                <a:cs typeface="Roboto Slab"/>
                <a:sym typeface="Roboto Slab"/>
              </a:rPr>
              <a:t>4단계 개발 로드맵</a:t>
            </a:r>
            <a:endParaRPr b="1" i="0" sz="2400" u="none" cap="none" strike="noStrike">
              <a:solidFill>
                <a:schemeClr val="dk1"/>
              </a:solidFill>
              <a:latin typeface="Calibri"/>
              <a:ea typeface="Calibri"/>
              <a:cs typeface="Calibri"/>
              <a:sym typeface="Calibri"/>
            </a:endParaRPr>
          </a:p>
        </p:txBody>
      </p:sp>
      <p:sp>
        <p:nvSpPr>
          <p:cNvPr id="56" name="Google Shape;56;p6"/>
          <p:cNvSpPr/>
          <p:nvPr/>
        </p:nvSpPr>
        <p:spPr>
          <a:xfrm>
            <a:off x="496119" y="1311250"/>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한 번에 다 만들지 않고, </a:t>
            </a:r>
            <a:r>
              <a:rPr b="1" i="0" lang="ko-KR" sz="950" u="none" cap="none" strike="noStrike">
                <a:solidFill>
                  <a:srgbClr val="15213F"/>
                </a:solidFill>
                <a:latin typeface="Roboto"/>
                <a:ea typeface="Roboto"/>
                <a:cs typeface="Roboto"/>
                <a:sym typeface="Roboto"/>
              </a:rPr>
              <a:t>4층짜리 건물을 한 층씩</a:t>
            </a:r>
            <a:r>
              <a:rPr b="0" i="0" lang="ko-KR" sz="950" u="none" cap="none" strike="noStrike">
                <a:solidFill>
                  <a:srgbClr val="15213F"/>
                </a:solidFill>
                <a:latin typeface="Roboto"/>
                <a:ea typeface="Roboto"/>
                <a:cs typeface="Roboto"/>
                <a:sym typeface="Roboto"/>
              </a:rPr>
              <a:t> 올립니다. 총 14주(약 3.5개월) 계획이에요!</a:t>
            </a:r>
            <a:endParaRPr b="0" i="0" sz="950" u="none" cap="none" strike="noStrike">
              <a:solidFill>
                <a:schemeClr val="dk1"/>
              </a:solidFill>
              <a:latin typeface="Calibri"/>
              <a:ea typeface="Calibri"/>
              <a:cs typeface="Calibri"/>
              <a:sym typeface="Calibri"/>
            </a:endParaRPr>
          </a:p>
        </p:txBody>
      </p:sp>
      <p:pic>
        <p:nvPicPr>
          <p:cNvPr descr="preencoded.png" id="57" name="Google Shape;57;p6"/>
          <p:cNvPicPr preferRelativeResize="0"/>
          <p:nvPr/>
        </p:nvPicPr>
        <p:blipFill rotWithShape="1">
          <a:blip r:embed="rId3">
            <a:alphaModFix/>
          </a:blip>
          <a:srcRect b="0" l="0" r="0" t="0"/>
          <a:stretch/>
        </p:blipFill>
        <p:spPr>
          <a:xfrm>
            <a:off x="496119" y="1649239"/>
            <a:ext cx="4075881" cy="496119"/>
          </a:xfrm>
          <a:prstGeom prst="rect">
            <a:avLst/>
          </a:prstGeom>
          <a:noFill/>
          <a:ln>
            <a:noFill/>
          </a:ln>
        </p:spPr>
      </p:pic>
      <p:sp>
        <p:nvSpPr>
          <p:cNvPr id="58" name="Google Shape;58;p6"/>
          <p:cNvSpPr/>
          <p:nvPr/>
        </p:nvSpPr>
        <p:spPr>
          <a:xfrm>
            <a:off x="620092" y="2269331"/>
            <a:ext cx="3827934"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0" i="0" lang="ko-KR" sz="1200" u="none" cap="none" strike="noStrike">
                <a:solidFill>
                  <a:srgbClr val="15213F"/>
                </a:solidFill>
                <a:latin typeface="Roboto Slab"/>
                <a:ea typeface="Roboto Slab"/>
                <a:cs typeface="Roboto Slab"/>
                <a:sym typeface="Roboto Slab"/>
              </a:rPr>
              <a:t>Phase 1 — 2주</a:t>
            </a:r>
            <a:endParaRPr b="0" i="0" sz="1200" u="none" cap="none" strike="noStrike">
              <a:solidFill>
                <a:schemeClr val="dk1"/>
              </a:solidFill>
              <a:latin typeface="Calibri"/>
              <a:ea typeface="Calibri"/>
              <a:cs typeface="Calibri"/>
              <a:sym typeface="Calibri"/>
            </a:endParaRPr>
          </a:p>
        </p:txBody>
      </p:sp>
      <p:sp>
        <p:nvSpPr>
          <p:cNvPr id="59" name="Google Shape;59;p6"/>
          <p:cNvSpPr/>
          <p:nvPr/>
        </p:nvSpPr>
        <p:spPr>
          <a:xfrm>
            <a:off x="620092" y="2537594"/>
            <a:ext cx="3827934"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수동 타이머</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000000"/>
              </a:buClr>
              <a:buSzPts val="950"/>
              <a:buFont typeface="Roboto"/>
              <a:buNone/>
            </a:pPr>
            <a:r>
              <a:rPr b="0" i="0" lang="ko-KR" sz="950" u="none" cap="none" strike="noStrike">
                <a:solidFill>
                  <a:srgbClr val="000000"/>
                </a:solidFill>
                <a:latin typeface="Roboto"/>
                <a:ea typeface="Roboto"/>
                <a:cs typeface="Roboto"/>
                <a:sym typeface="Roboto"/>
              </a:rPr>
              <a:t>🏠</a:t>
            </a:r>
            <a:r>
              <a:rPr b="0" i="0" lang="ko-KR" sz="950" u="none" cap="none" strike="noStrike">
                <a:solidFill>
                  <a:srgbClr val="15213F"/>
                </a:solidFill>
                <a:latin typeface="Roboto"/>
                <a:ea typeface="Roboto"/>
                <a:cs typeface="Roboto"/>
                <a:sym typeface="Roboto"/>
              </a:rPr>
              <a:t> 1층: 로비 + 공부방</a:t>
            </a:r>
            <a:endParaRPr b="0" i="0" sz="950" u="none" cap="none" strike="noStrike">
              <a:solidFill>
                <a:schemeClr val="dk1"/>
              </a:solidFill>
              <a:latin typeface="Calibri"/>
              <a:ea typeface="Calibri"/>
              <a:cs typeface="Calibri"/>
              <a:sym typeface="Calibri"/>
            </a:endParaRPr>
          </a:p>
        </p:txBody>
      </p:sp>
      <p:pic>
        <p:nvPicPr>
          <p:cNvPr descr="preencoded.png" id="60" name="Google Shape;60;p6"/>
          <p:cNvPicPr preferRelativeResize="0"/>
          <p:nvPr/>
        </p:nvPicPr>
        <p:blipFill rotWithShape="1">
          <a:blip r:embed="rId4">
            <a:alphaModFix/>
          </a:blip>
          <a:srcRect b="0" l="0" r="0" t="0"/>
          <a:stretch/>
        </p:blipFill>
        <p:spPr>
          <a:xfrm>
            <a:off x="4572000" y="1649239"/>
            <a:ext cx="4075881" cy="496119"/>
          </a:xfrm>
          <a:prstGeom prst="rect">
            <a:avLst/>
          </a:prstGeom>
          <a:noFill/>
          <a:ln>
            <a:noFill/>
          </a:ln>
        </p:spPr>
      </p:pic>
      <p:sp>
        <p:nvSpPr>
          <p:cNvPr id="61" name="Google Shape;61;p6"/>
          <p:cNvSpPr/>
          <p:nvPr/>
        </p:nvSpPr>
        <p:spPr>
          <a:xfrm>
            <a:off x="4695974" y="2269331"/>
            <a:ext cx="3827934"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0" i="0" lang="ko-KR" sz="1200" u="none" cap="none" strike="noStrike">
                <a:solidFill>
                  <a:srgbClr val="15213F"/>
                </a:solidFill>
                <a:latin typeface="Roboto Slab"/>
                <a:ea typeface="Roboto Slab"/>
                <a:cs typeface="Roboto Slab"/>
                <a:sym typeface="Roboto Slab"/>
              </a:rPr>
              <a:t>Phase 2 — 4주</a:t>
            </a:r>
            <a:endParaRPr b="0" i="0" sz="1200" u="none" cap="none" strike="noStrike">
              <a:solidFill>
                <a:schemeClr val="dk1"/>
              </a:solidFill>
              <a:latin typeface="Calibri"/>
              <a:ea typeface="Calibri"/>
              <a:cs typeface="Calibri"/>
              <a:sym typeface="Calibri"/>
            </a:endParaRPr>
          </a:p>
        </p:txBody>
      </p:sp>
      <p:sp>
        <p:nvSpPr>
          <p:cNvPr id="62" name="Google Shape;62;p6"/>
          <p:cNvSpPr/>
          <p:nvPr/>
        </p:nvSpPr>
        <p:spPr>
          <a:xfrm>
            <a:off x="4695974" y="2537594"/>
            <a:ext cx="3827934"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대시보드 + 통계</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000000"/>
              </a:buClr>
              <a:buSzPts val="950"/>
              <a:buFont typeface="Roboto"/>
              <a:buNone/>
            </a:pPr>
            <a:r>
              <a:rPr b="0" i="0" lang="ko-KR" sz="950" u="none" cap="none" strike="noStrike">
                <a:solidFill>
                  <a:srgbClr val="000000"/>
                </a:solidFill>
                <a:latin typeface="Roboto"/>
                <a:ea typeface="Roboto"/>
                <a:cs typeface="Roboto"/>
                <a:sym typeface="Roboto"/>
              </a:rPr>
              <a:t>📊</a:t>
            </a:r>
            <a:r>
              <a:rPr b="0" i="0" lang="ko-KR" sz="950" u="none" cap="none" strike="noStrike">
                <a:solidFill>
                  <a:srgbClr val="15213F"/>
                </a:solidFill>
                <a:latin typeface="Roboto"/>
                <a:ea typeface="Roboto"/>
                <a:cs typeface="Roboto"/>
                <a:sym typeface="Roboto"/>
              </a:rPr>
              <a:t> 2층: 성적 게시판</a:t>
            </a:r>
            <a:endParaRPr b="0" i="0" sz="950" u="none" cap="none" strike="noStrike">
              <a:solidFill>
                <a:schemeClr val="dk1"/>
              </a:solidFill>
              <a:latin typeface="Calibri"/>
              <a:ea typeface="Calibri"/>
              <a:cs typeface="Calibri"/>
              <a:sym typeface="Calibri"/>
            </a:endParaRPr>
          </a:p>
        </p:txBody>
      </p:sp>
      <p:pic>
        <p:nvPicPr>
          <p:cNvPr descr="preencoded.png" id="63" name="Google Shape;63;p6"/>
          <p:cNvPicPr preferRelativeResize="0"/>
          <p:nvPr/>
        </p:nvPicPr>
        <p:blipFill rotWithShape="1">
          <a:blip r:embed="rId5">
            <a:alphaModFix/>
          </a:blip>
          <a:srcRect b="0" l="0" r="0" t="0"/>
          <a:stretch/>
        </p:blipFill>
        <p:spPr>
          <a:xfrm>
            <a:off x="496119" y="3058492"/>
            <a:ext cx="4075881" cy="496119"/>
          </a:xfrm>
          <a:prstGeom prst="rect">
            <a:avLst/>
          </a:prstGeom>
          <a:noFill/>
          <a:ln>
            <a:noFill/>
          </a:ln>
        </p:spPr>
      </p:pic>
      <p:sp>
        <p:nvSpPr>
          <p:cNvPr id="64" name="Google Shape;64;p6"/>
          <p:cNvSpPr/>
          <p:nvPr/>
        </p:nvSpPr>
        <p:spPr>
          <a:xfrm>
            <a:off x="620092" y="3678585"/>
            <a:ext cx="3827934"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0" i="0" lang="ko-KR" sz="1200" u="none" cap="none" strike="noStrike">
                <a:solidFill>
                  <a:srgbClr val="15213F"/>
                </a:solidFill>
                <a:latin typeface="Roboto Slab"/>
                <a:ea typeface="Roboto Slab"/>
                <a:cs typeface="Roboto Slab"/>
                <a:sym typeface="Roboto Slab"/>
              </a:rPr>
              <a:t>Phase 3 — 3주</a:t>
            </a:r>
            <a:endParaRPr b="0" i="0" sz="1200" u="none" cap="none" strike="noStrike">
              <a:solidFill>
                <a:schemeClr val="dk1"/>
              </a:solidFill>
              <a:latin typeface="Calibri"/>
              <a:ea typeface="Calibri"/>
              <a:cs typeface="Calibri"/>
              <a:sym typeface="Calibri"/>
            </a:endParaRPr>
          </a:p>
        </p:txBody>
      </p:sp>
      <p:sp>
        <p:nvSpPr>
          <p:cNvPr id="65" name="Google Shape;65;p6"/>
          <p:cNvSpPr/>
          <p:nvPr/>
        </p:nvSpPr>
        <p:spPr>
          <a:xfrm>
            <a:off x="620092" y="3946847"/>
            <a:ext cx="3827934"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AI 자동 감지</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000000"/>
              </a:buClr>
              <a:buSzPts val="950"/>
              <a:buFont typeface="Roboto"/>
              <a:buNone/>
            </a:pPr>
            <a:r>
              <a:rPr b="0" i="0" lang="ko-KR" sz="950" u="none" cap="none" strike="noStrike">
                <a:solidFill>
                  <a:srgbClr val="000000"/>
                </a:solidFill>
                <a:latin typeface="Roboto"/>
                <a:ea typeface="Roboto"/>
                <a:cs typeface="Roboto"/>
                <a:sym typeface="Roboto"/>
              </a:rPr>
              <a:t>🎥</a:t>
            </a:r>
            <a:r>
              <a:rPr b="0" i="0" lang="ko-KR" sz="950" u="none" cap="none" strike="noStrike">
                <a:solidFill>
                  <a:srgbClr val="15213F"/>
                </a:solidFill>
                <a:latin typeface="Roboto"/>
                <a:ea typeface="Roboto"/>
                <a:cs typeface="Roboto"/>
                <a:sym typeface="Roboto"/>
              </a:rPr>
              <a:t> 3층: CCTV + AI 감시실</a:t>
            </a:r>
            <a:endParaRPr b="0" i="0" sz="950" u="none" cap="none" strike="noStrike">
              <a:solidFill>
                <a:schemeClr val="dk1"/>
              </a:solidFill>
              <a:latin typeface="Calibri"/>
              <a:ea typeface="Calibri"/>
              <a:cs typeface="Calibri"/>
              <a:sym typeface="Calibri"/>
            </a:endParaRPr>
          </a:p>
        </p:txBody>
      </p:sp>
      <p:pic>
        <p:nvPicPr>
          <p:cNvPr descr="preencoded.png" id="66" name="Google Shape;66;p6"/>
          <p:cNvPicPr preferRelativeResize="0"/>
          <p:nvPr/>
        </p:nvPicPr>
        <p:blipFill rotWithShape="1">
          <a:blip r:embed="rId6">
            <a:alphaModFix/>
          </a:blip>
          <a:srcRect b="0" l="0" r="0" t="0"/>
          <a:stretch/>
        </p:blipFill>
        <p:spPr>
          <a:xfrm>
            <a:off x="4572000" y="3058492"/>
            <a:ext cx="4075881" cy="496119"/>
          </a:xfrm>
          <a:prstGeom prst="rect">
            <a:avLst/>
          </a:prstGeom>
          <a:noFill/>
          <a:ln>
            <a:noFill/>
          </a:ln>
        </p:spPr>
      </p:pic>
      <p:sp>
        <p:nvSpPr>
          <p:cNvPr id="67" name="Google Shape;67;p6"/>
          <p:cNvSpPr/>
          <p:nvPr/>
        </p:nvSpPr>
        <p:spPr>
          <a:xfrm>
            <a:off x="4695974" y="3678585"/>
            <a:ext cx="3827934"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0" i="0" lang="ko-KR" sz="1200" u="none" cap="none" strike="noStrike">
                <a:solidFill>
                  <a:srgbClr val="15213F"/>
                </a:solidFill>
                <a:latin typeface="Roboto Slab"/>
                <a:ea typeface="Roboto Slab"/>
                <a:cs typeface="Roboto Slab"/>
                <a:sym typeface="Roboto Slab"/>
              </a:rPr>
              <a:t>Phase 4 — 5주</a:t>
            </a:r>
            <a:endParaRPr b="0" i="0" sz="1200" u="none" cap="none" strike="noStrike">
              <a:solidFill>
                <a:schemeClr val="dk1"/>
              </a:solidFill>
              <a:latin typeface="Calibri"/>
              <a:ea typeface="Calibri"/>
              <a:cs typeface="Calibri"/>
              <a:sym typeface="Calibri"/>
            </a:endParaRPr>
          </a:p>
        </p:txBody>
      </p:sp>
      <p:sp>
        <p:nvSpPr>
          <p:cNvPr id="68" name="Google Shape;68;p6"/>
          <p:cNvSpPr/>
          <p:nvPr/>
        </p:nvSpPr>
        <p:spPr>
          <a:xfrm>
            <a:off x="4695974" y="3946847"/>
            <a:ext cx="3827934"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핸드폰 감지</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000000"/>
              </a:buClr>
              <a:buSzPts val="950"/>
              <a:buFont typeface="Roboto"/>
              <a:buNone/>
            </a:pPr>
            <a:r>
              <a:rPr b="0" i="0" lang="ko-KR" sz="950" u="none" cap="none" strike="noStrike">
                <a:solidFill>
                  <a:srgbClr val="000000"/>
                </a:solidFill>
                <a:latin typeface="Roboto"/>
                <a:ea typeface="Roboto"/>
                <a:cs typeface="Roboto"/>
                <a:sym typeface="Roboto"/>
              </a:rPr>
              <a:t>🕵️</a:t>
            </a:r>
            <a:r>
              <a:rPr b="0" i="0" lang="ko-KR" sz="950" u="none" cap="none" strike="noStrike">
                <a:solidFill>
                  <a:srgbClr val="15213F"/>
                </a:solidFill>
                <a:latin typeface="Roboto"/>
                <a:ea typeface="Roboto"/>
                <a:cs typeface="Roboto"/>
                <a:sym typeface="Roboto"/>
              </a:rPr>
              <a:t> 4층: 탐정 사무소</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7"/>
          <p:cNvSpPr/>
          <p:nvPr/>
        </p:nvSpPr>
        <p:spPr>
          <a:xfrm>
            <a:off x="496119" y="981674"/>
            <a:ext cx="8151900" cy="3876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400" u="none" cap="none" strike="noStrike">
                <a:solidFill>
                  <a:srgbClr val="3257B8"/>
                </a:solidFill>
                <a:latin typeface="Roboto Slab"/>
                <a:ea typeface="Roboto Slab"/>
                <a:cs typeface="Roboto Slab"/>
                <a:sym typeface="Roboto Slab"/>
              </a:rPr>
              <a:t>사용하는 기술 5가지</a:t>
            </a:r>
            <a:endParaRPr b="1" i="0" sz="2400" u="none" cap="none" strike="noStrike">
              <a:solidFill>
                <a:schemeClr val="dk1"/>
              </a:solidFill>
              <a:latin typeface="Calibri"/>
              <a:ea typeface="Calibri"/>
              <a:cs typeface="Calibri"/>
              <a:sym typeface="Calibri"/>
            </a:endParaRPr>
          </a:p>
        </p:txBody>
      </p:sp>
      <p:sp>
        <p:nvSpPr>
          <p:cNvPr id="75" name="Google Shape;75;p7"/>
          <p:cNvSpPr/>
          <p:nvPr/>
        </p:nvSpPr>
        <p:spPr>
          <a:xfrm>
            <a:off x="496119" y="1915269"/>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집 짓기에 비유하면 이렇습니다. 각 기술이 어떤 역할을 하는지 알아볼게요!</a:t>
            </a:r>
            <a:endParaRPr b="0" i="0" sz="950" u="none" cap="none" strike="noStrike">
              <a:solidFill>
                <a:schemeClr val="dk1"/>
              </a:solidFill>
              <a:latin typeface="Calibri"/>
              <a:ea typeface="Calibri"/>
              <a:cs typeface="Calibri"/>
              <a:sym typeface="Calibri"/>
            </a:endParaRPr>
          </a:p>
        </p:txBody>
      </p:sp>
      <p:pic>
        <p:nvPicPr>
          <p:cNvPr descr="preencoded.png" id="76" name="Google Shape;76;p7"/>
          <p:cNvPicPr preferRelativeResize="0"/>
          <p:nvPr/>
        </p:nvPicPr>
        <p:blipFill rotWithShape="1">
          <a:blip r:embed="rId3">
            <a:alphaModFix/>
          </a:blip>
          <a:srcRect b="0" l="0" r="0" t="0"/>
          <a:stretch/>
        </p:blipFill>
        <p:spPr>
          <a:xfrm>
            <a:off x="496119" y="2253258"/>
            <a:ext cx="2634555" cy="743248"/>
          </a:xfrm>
          <a:prstGeom prst="rect">
            <a:avLst/>
          </a:prstGeom>
          <a:noFill/>
          <a:ln>
            <a:noFill/>
          </a:ln>
        </p:spPr>
      </p:pic>
      <p:sp>
        <p:nvSpPr>
          <p:cNvPr id="77" name="Google Shape;77;p7"/>
          <p:cNvSpPr/>
          <p:nvPr/>
        </p:nvSpPr>
        <p:spPr>
          <a:xfrm>
            <a:off x="691530" y="2391519"/>
            <a:ext cx="2300883"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0" i="0" lang="ko-KR" sz="1200" u="none" cap="none" strike="noStrike">
                <a:solidFill>
                  <a:srgbClr val="15213F"/>
                </a:solidFill>
                <a:latin typeface="Roboto Slab"/>
                <a:ea typeface="Roboto Slab"/>
                <a:cs typeface="Roboto Slab"/>
                <a:sym typeface="Roboto Slab"/>
              </a:rPr>
              <a:t>HTML — 골조 (뼈대)</a:t>
            </a:r>
            <a:endParaRPr b="0" i="0" sz="1200" u="none" cap="none" strike="noStrike">
              <a:solidFill>
                <a:schemeClr val="dk1"/>
              </a:solidFill>
              <a:latin typeface="Calibri"/>
              <a:ea typeface="Calibri"/>
              <a:cs typeface="Calibri"/>
              <a:sym typeface="Calibri"/>
            </a:endParaRPr>
          </a:p>
        </p:txBody>
      </p:sp>
      <p:sp>
        <p:nvSpPr>
          <p:cNvPr id="78" name="Google Shape;78;p7"/>
          <p:cNvSpPr/>
          <p:nvPr/>
        </p:nvSpPr>
        <p:spPr>
          <a:xfrm>
            <a:off x="691530" y="2659782"/>
            <a:ext cx="230088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버튼, 글자, 입력칸의 위치를 잡아주는 구조물</a:t>
            </a:r>
            <a:endParaRPr b="0" i="0" sz="950" u="none" cap="none" strike="noStrike">
              <a:solidFill>
                <a:schemeClr val="dk1"/>
              </a:solidFill>
              <a:latin typeface="Calibri"/>
              <a:ea typeface="Calibri"/>
              <a:cs typeface="Calibri"/>
              <a:sym typeface="Calibri"/>
            </a:endParaRPr>
          </a:p>
        </p:txBody>
      </p:sp>
      <p:pic>
        <p:nvPicPr>
          <p:cNvPr descr="preencoded.png" id="79" name="Google Shape;79;p7"/>
          <p:cNvPicPr preferRelativeResize="0"/>
          <p:nvPr/>
        </p:nvPicPr>
        <p:blipFill rotWithShape="1">
          <a:blip r:embed="rId3">
            <a:alphaModFix/>
          </a:blip>
          <a:srcRect b="0" l="0" r="0" t="0"/>
          <a:stretch/>
        </p:blipFill>
        <p:spPr>
          <a:xfrm>
            <a:off x="3254648" y="2253258"/>
            <a:ext cx="2634630" cy="743248"/>
          </a:xfrm>
          <a:prstGeom prst="rect">
            <a:avLst/>
          </a:prstGeom>
          <a:noFill/>
          <a:ln>
            <a:noFill/>
          </a:ln>
        </p:spPr>
      </p:pic>
      <p:sp>
        <p:nvSpPr>
          <p:cNvPr id="80" name="Google Shape;80;p7"/>
          <p:cNvSpPr/>
          <p:nvPr/>
        </p:nvSpPr>
        <p:spPr>
          <a:xfrm>
            <a:off x="3450059" y="2391519"/>
            <a:ext cx="2300957"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0" i="0" lang="ko-KR" sz="1200" u="none" cap="none" strike="noStrike">
                <a:solidFill>
                  <a:srgbClr val="15213F"/>
                </a:solidFill>
                <a:latin typeface="Roboto Slab"/>
                <a:ea typeface="Roboto Slab"/>
                <a:cs typeface="Roboto Slab"/>
                <a:sym typeface="Roboto Slab"/>
              </a:rPr>
              <a:t>CSS — 인테리어</a:t>
            </a:r>
            <a:endParaRPr b="0" i="0" sz="1200" u="none" cap="none" strike="noStrike">
              <a:solidFill>
                <a:schemeClr val="dk1"/>
              </a:solidFill>
              <a:latin typeface="Calibri"/>
              <a:ea typeface="Calibri"/>
              <a:cs typeface="Calibri"/>
              <a:sym typeface="Calibri"/>
            </a:endParaRPr>
          </a:p>
        </p:txBody>
      </p:sp>
      <p:sp>
        <p:nvSpPr>
          <p:cNvPr id="81" name="Google Shape;81;p7"/>
          <p:cNvSpPr/>
          <p:nvPr/>
        </p:nvSpPr>
        <p:spPr>
          <a:xfrm>
            <a:off x="3450059" y="2659782"/>
            <a:ext cx="230095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색상, 크기, 둥근 모서리 등 시각적 꾸미기</a:t>
            </a:r>
            <a:endParaRPr b="0" i="0" sz="950" u="none" cap="none" strike="noStrike">
              <a:solidFill>
                <a:schemeClr val="dk1"/>
              </a:solidFill>
              <a:latin typeface="Calibri"/>
              <a:ea typeface="Calibri"/>
              <a:cs typeface="Calibri"/>
              <a:sym typeface="Calibri"/>
            </a:endParaRPr>
          </a:p>
        </p:txBody>
      </p:sp>
      <p:pic>
        <p:nvPicPr>
          <p:cNvPr descr="preencoded.png" id="82" name="Google Shape;82;p7"/>
          <p:cNvPicPr preferRelativeResize="0"/>
          <p:nvPr/>
        </p:nvPicPr>
        <p:blipFill rotWithShape="1">
          <a:blip r:embed="rId3">
            <a:alphaModFix/>
          </a:blip>
          <a:srcRect b="0" l="0" r="0" t="0"/>
          <a:stretch/>
        </p:blipFill>
        <p:spPr>
          <a:xfrm>
            <a:off x="6013252" y="2253258"/>
            <a:ext cx="2634555" cy="743248"/>
          </a:xfrm>
          <a:prstGeom prst="rect">
            <a:avLst/>
          </a:prstGeom>
          <a:noFill/>
          <a:ln>
            <a:noFill/>
          </a:ln>
        </p:spPr>
      </p:pic>
      <p:sp>
        <p:nvSpPr>
          <p:cNvPr id="83" name="Google Shape;83;p7"/>
          <p:cNvSpPr/>
          <p:nvPr/>
        </p:nvSpPr>
        <p:spPr>
          <a:xfrm>
            <a:off x="6208663" y="2391519"/>
            <a:ext cx="2300883"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0" i="0" lang="ko-KR" sz="1200" u="none" cap="none" strike="noStrike">
                <a:solidFill>
                  <a:srgbClr val="15213F"/>
                </a:solidFill>
                <a:latin typeface="Roboto Slab"/>
                <a:ea typeface="Roboto Slab"/>
                <a:cs typeface="Roboto Slab"/>
                <a:sym typeface="Roboto Slab"/>
              </a:rPr>
              <a:t>JavaScript — 전기 배선</a:t>
            </a:r>
            <a:endParaRPr b="0" i="0" sz="1200" u="none" cap="none" strike="noStrike">
              <a:solidFill>
                <a:schemeClr val="dk1"/>
              </a:solidFill>
              <a:latin typeface="Calibri"/>
              <a:ea typeface="Calibri"/>
              <a:cs typeface="Calibri"/>
              <a:sym typeface="Calibri"/>
            </a:endParaRPr>
          </a:p>
        </p:txBody>
      </p:sp>
      <p:sp>
        <p:nvSpPr>
          <p:cNvPr id="84" name="Google Shape;84;p7"/>
          <p:cNvSpPr/>
          <p:nvPr/>
        </p:nvSpPr>
        <p:spPr>
          <a:xfrm>
            <a:off x="6208663" y="2659782"/>
            <a:ext cx="230088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클릭 반응, 타이머 작동, 서버 통신 담당</a:t>
            </a:r>
            <a:endParaRPr b="0" i="0" sz="950" u="none" cap="none" strike="noStrike">
              <a:solidFill>
                <a:schemeClr val="dk1"/>
              </a:solidFill>
              <a:latin typeface="Calibri"/>
              <a:ea typeface="Calibri"/>
              <a:cs typeface="Calibri"/>
              <a:sym typeface="Calibri"/>
            </a:endParaRPr>
          </a:p>
        </p:txBody>
      </p:sp>
      <p:pic>
        <p:nvPicPr>
          <p:cNvPr descr="preencoded.png" id="85" name="Google Shape;85;p7"/>
          <p:cNvPicPr preferRelativeResize="0"/>
          <p:nvPr/>
        </p:nvPicPr>
        <p:blipFill rotWithShape="1">
          <a:blip r:embed="rId3">
            <a:alphaModFix/>
          </a:blip>
          <a:srcRect b="0" l="0" r="0" t="0"/>
          <a:stretch/>
        </p:blipFill>
        <p:spPr>
          <a:xfrm>
            <a:off x="496119" y="3120479"/>
            <a:ext cx="2634555" cy="743248"/>
          </a:xfrm>
          <a:prstGeom prst="rect">
            <a:avLst/>
          </a:prstGeom>
          <a:noFill/>
          <a:ln>
            <a:noFill/>
          </a:ln>
        </p:spPr>
      </p:pic>
      <p:sp>
        <p:nvSpPr>
          <p:cNvPr id="86" name="Google Shape;86;p7"/>
          <p:cNvSpPr/>
          <p:nvPr/>
        </p:nvSpPr>
        <p:spPr>
          <a:xfrm>
            <a:off x="691530" y="3258741"/>
            <a:ext cx="2300883"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0" i="0" lang="ko-KR" sz="1200" u="none" cap="none" strike="noStrike">
                <a:solidFill>
                  <a:srgbClr val="15213F"/>
                </a:solidFill>
                <a:latin typeface="Roboto Slab"/>
                <a:ea typeface="Roboto Slab"/>
                <a:cs typeface="Roboto Slab"/>
                <a:sym typeface="Roboto Slab"/>
              </a:rPr>
              <a:t>Python Flask — 관리실</a:t>
            </a:r>
            <a:endParaRPr b="0" i="0" sz="1200" u="none" cap="none" strike="noStrike">
              <a:solidFill>
                <a:schemeClr val="dk1"/>
              </a:solidFill>
              <a:latin typeface="Calibri"/>
              <a:ea typeface="Calibri"/>
              <a:cs typeface="Calibri"/>
              <a:sym typeface="Calibri"/>
            </a:endParaRPr>
          </a:p>
        </p:txBody>
      </p:sp>
      <p:sp>
        <p:nvSpPr>
          <p:cNvPr id="87" name="Google Shape;87;p7"/>
          <p:cNvSpPr/>
          <p:nvPr/>
        </p:nvSpPr>
        <p:spPr>
          <a:xfrm>
            <a:off x="691530" y="3527003"/>
            <a:ext cx="230088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데이터 저장, 통계 계산 등 뒷단 처리</a:t>
            </a:r>
            <a:endParaRPr b="0" i="0" sz="950" u="none" cap="none" strike="noStrike">
              <a:solidFill>
                <a:schemeClr val="dk1"/>
              </a:solidFill>
              <a:latin typeface="Calibri"/>
              <a:ea typeface="Calibri"/>
              <a:cs typeface="Calibri"/>
              <a:sym typeface="Calibri"/>
            </a:endParaRPr>
          </a:p>
        </p:txBody>
      </p:sp>
      <p:pic>
        <p:nvPicPr>
          <p:cNvPr descr="preencoded.png" id="88" name="Google Shape;88;p7"/>
          <p:cNvPicPr preferRelativeResize="0"/>
          <p:nvPr/>
        </p:nvPicPr>
        <p:blipFill rotWithShape="1">
          <a:blip r:embed="rId3">
            <a:alphaModFix/>
          </a:blip>
          <a:srcRect b="0" l="0" r="0" t="0"/>
          <a:stretch/>
        </p:blipFill>
        <p:spPr>
          <a:xfrm>
            <a:off x="3254648" y="3120479"/>
            <a:ext cx="2634630" cy="743248"/>
          </a:xfrm>
          <a:prstGeom prst="rect">
            <a:avLst/>
          </a:prstGeom>
          <a:noFill/>
          <a:ln>
            <a:noFill/>
          </a:ln>
        </p:spPr>
      </p:pic>
      <p:sp>
        <p:nvSpPr>
          <p:cNvPr id="89" name="Google Shape;89;p7"/>
          <p:cNvSpPr/>
          <p:nvPr/>
        </p:nvSpPr>
        <p:spPr>
          <a:xfrm>
            <a:off x="3450059" y="3258741"/>
            <a:ext cx="2300957"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0" i="0" lang="ko-KR" sz="1200" u="none" cap="none" strike="noStrike">
                <a:solidFill>
                  <a:srgbClr val="15213F"/>
                </a:solidFill>
                <a:latin typeface="Roboto Slab"/>
                <a:ea typeface="Roboto Slab"/>
                <a:cs typeface="Roboto Slab"/>
                <a:sym typeface="Roboto Slab"/>
              </a:rPr>
              <a:t>JSON / CSV — 서류함</a:t>
            </a:r>
            <a:endParaRPr b="0" i="0" sz="1200" u="none" cap="none" strike="noStrike">
              <a:solidFill>
                <a:schemeClr val="dk1"/>
              </a:solidFill>
              <a:latin typeface="Calibri"/>
              <a:ea typeface="Calibri"/>
              <a:cs typeface="Calibri"/>
              <a:sym typeface="Calibri"/>
            </a:endParaRPr>
          </a:p>
        </p:txBody>
      </p:sp>
      <p:sp>
        <p:nvSpPr>
          <p:cNvPr id="90" name="Google Shape;90;p7"/>
          <p:cNvSpPr/>
          <p:nvPr/>
        </p:nvSpPr>
        <p:spPr>
          <a:xfrm>
            <a:off x="3450059" y="3527003"/>
            <a:ext cx="230095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과목 목록, 공부 기록을 파일로 보관</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8"/>
          <p:cNvSpPr/>
          <p:nvPr/>
        </p:nvSpPr>
        <p:spPr>
          <a:xfrm>
            <a:off x="496119" y="354360"/>
            <a:ext cx="8151763" cy="31492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1950"/>
              <a:buFont typeface="Roboto Slab"/>
              <a:buNone/>
            </a:pPr>
            <a:r>
              <a:rPr b="1" i="0" lang="ko-KR" sz="2150" u="none" cap="none" strike="noStrike">
                <a:solidFill>
                  <a:srgbClr val="3257B8"/>
                </a:solidFill>
                <a:latin typeface="Roboto Slab"/>
                <a:ea typeface="Roboto Slab"/>
                <a:cs typeface="Roboto Slab"/>
                <a:sym typeface="Roboto Slab"/>
              </a:rPr>
              <a:t>웹 앱의 구조 — 식당 비유</a:t>
            </a:r>
            <a:endParaRPr b="1" i="0" sz="2150" u="none" cap="none" strike="noStrike">
              <a:solidFill>
                <a:schemeClr val="dk1"/>
              </a:solidFill>
              <a:latin typeface="Calibri"/>
              <a:ea typeface="Calibri"/>
              <a:cs typeface="Calibri"/>
              <a:sym typeface="Calibri"/>
            </a:endParaRPr>
          </a:p>
        </p:txBody>
      </p:sp>
      <p:sp>
        <p:nvSpPr>
          <p:cNvPr id="97" name="Google Shape;97;p8"/>
          <p:cNvSpPr/>
          <p:nvPr/>
        </p:nvSpPr>
        <p:spPr>
          <a:xfrm>
            <a:off x="423575" y="792078"/>
            <a:ext cx="4098000" cy="935700"/>
          </a:xfrm>
          <a:prstGeom prst="roundRect">
            <a:avLst>
              <a:gd fmla="val 1975" name="adj"/>
            </a:avLst>
          </a:prstGeom>
          <a:solidFill>
            <a:srgbClr val="325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524321" y="873919"/>
            <a:ext cx="3896544" cy="16222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950"/>
              <a:buFont typeface="Roboto Slab"/>
              <a:buNone/>
            </a:pPr>
            <a:r>
              <a:rPr b="0" i="0" lang="ko-KR" sz="1750" u="none" cap="none" strike="noStrike">
                <a:solidFill>
                  <a:srgbClr val="000000"/>
                </a:solidFill>
                <a:latin typeface="Roboto Slab"/>
                <a:ea typeface="Roboto Slab"/>
                <a:cs typeface="Roboto Slab"/>
                <a:sym typeface="Roboto Slab"/>
              </a:rPr>
              <a:t>🍽️</a:t>
            </a:r>
            <a:r>
              <a:rPr b="0" i="0" lang="ko-KR" sz="1750" u="none" cap="none" strike="noStrike">
                <a:solidFill>
                  <a:srgbClr val="FFFFFF"/>
                </a:solidFill>
                <a:latin typeface="Roboto Slab"/>
                <a:ea typeface="Roboto Slab"/>
                <a:cs typeface="Roboto Slab"/>
                <a:sym typeface="Roboto Slab"/>
              </a:rPr>
              <a:t> 프론트엔드 = 홀</a:t>
            </a:r>
            <a:endParaRPr b="0" i="0" sz="1750" u="none" cap="none" strike="noStrike">
              <a:solidFill>
                <a:schemeClr val="dk1"/>
              </a:solidFill>
              <a:latin typeface="Calibri"/>
              <a:ea typeface="Calibri"/>
              <a:cs typeface="Calibri"/>
              <a:sym typeface="Calibri"/>
            </a:endParaRPr>
          </a:p>
        </p:txBody>
      </p:sp>
      <p:sp>
        <p:nvSpPr>
          <p:cNvPr id="99" name="Google Shape;99;p8"/>
          <p:cNvSpPr/>
          <p:nvPr/>
        </p:nvSpPr>
        <p:spPr>
          <a:xfrm>
            <a:off x="524321" y="1179920"/>
            <a:ext cx="3896400" cy="365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750"/>
              <a:buFont typeface="Roboto"/>
              <a:buNone/>
            </a:pPr>
            <a:r>
              <a:rPr b="0" i="0" lang="ko-KR" sz="1150" u="none" cap="none" strike="noStrike">
                <a:solidFill>
                  <a:srgbClr val="FFFFFF"/>
                </a:solidFill>
                <a:latin typeface="Roboto"/>
                <a:ea typeface="Roboto"/>
                <a:cs typeface="Roboto"/>
                <a:sym typeface="Roboto"/>
              </a:rPr>
              <a:t>손님이 보는 공간: 메뉴판, 테이블, 인테리어</a:t>
            </a:r>
            <a:endParaRPr b="0" i="0" sz="1150" u="none" cap="none" strike="noStrike">
              <a:solidFill>
                <a:schemeClr val="dk1"/>
              </a:solidFill>
              <a:latin typeface="Calibri"/>
              <a:ea typeface="Calibri"/>
              <a:cs typeface="Calibri"/>
              <a:sym typeface="Calibri"/>
            </a:endParaRPr>
          </a:p>
          <a:p>
            <a:pPr indent="0" lvl="0" marL="0" marR="0" rtl="0" algn="l">
              <a:lnSpc>
                <a:spcPct val="115000"/>
              </a:lnSpc>
              <a:spcBef>
                <a:spcPts val="550"/>
              </a:spcBef>
              <a:spcAft>
                <a:spcPts val="0"/>
              </a:spcAft>
              <a:buClr>
                <a:srgbClr val="FFFFFF"/>
              </a:buClr>
              <a:buSzPts val="750"/>
              <a:buFont typeface="Roboto"/>
              <a:buNone/>
            </a:pPr>
            <a:r>
              <a:rPr b="0" i="0" lang="ko-KR" sz="1150" u="none" cap="none" strike="noStrike">
                <a:solidFill>
                  <a:srgbClr val="FFFFFF"/>
                </a:solidFill>
                <a:latin typeface="Roboto"/>
                <a:ea typeface="Roboto"/>
                <a:cs typeface="Roboto"/>
                <a:sym typeface="Roboto"/>
              </a:rPr>
              <a:t>기술: </a:t>
            </a:r>
            <a:r>
              <a:rPr b="1" i="0" lang="ko-KR" sz="1150" u="none" cap="none" strike="noStrike">
                <a:solidFill>
                  <a:srgbClr val="FFFFFF"/>
                </a:solidFill>
                <a:latin typeface="Roboto"/>
                <a:ea typeface="Roboto"/>
                <a:cs typeface="Roboto"/>
                <a:sym typeface="Roboto"/>
              </a:rPr>
              <a:t>HTML, CSS, JavaScript</a:t>
            </a:r>
            <a:endParaRPr b="0" i="0" sz="1150" u="none" cap="none" strike="noStrike">
              <a:solidFill>
                <a:schemeClr val="dk1"/>
              </a:solidFill>
              <a:latin typeface="Calibri"/>
              <a:ea typeface="Calibri"/>
              <a:cs typeface="Calibri"/>
              <a:sym typeface="Calibri"/>
            </a:endParaRPr>
          </a:p>
        </p:txBody>
      </p:sp>
      <p:sp>
        <p:nvSpPr>
          <p:cNvPr id="100" name="Google Shape;100;p8"/>
          <p:cNvSpPr/>
          <p:nvPr/>
        </p:nvSpPr>
        <p:spPr>
          <a:xfrm>
            <a:off x="4699695" y="873919"/>
            <a:ext cx="3952949" cy="16222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950"/>
              <a:buFont typeface="Roboto Slab"/>
              <a:buNone/>
            </a:pPr>
            <a:r>
              <a:rPr b="0" i="0" lang="ko-KR" sz="1750" u="none" cap="none" strike="noStrike">
                <a:solidFill>
                  <a:srgbClr val="000000"/>
                </a:solidFill>
                <a:latin typeface="Roboto Slab"/>
                <a:ea typeface="Roboto Slab"/>
                <a:cs typeface="Roboto Slab"/>
                <a:sym typeface="Roboto Slab"/>
              </a:rPr>
              <a:t>👨‍🍳</a:t>
            </a:r>
            <a:r>
              <a:rPr b="0" i="0" lang="ko-KR" sz="1750" u="none" cap="none" strike="noStrike">
                <a:solidFill>
                  <a:srgbClr val="3257B8"/>
                </a:solidFill>
                <a:latin typeface="Roboto Slab"/>
                <a:ea typeface="Roboto Slab"/>
                <a:cs typeface="Roboto Slab"/>
                <a:sym typeface="Roboto Slab"/>
              </a:rPr>
              <a:t> 백엔드 = 주방</a:t>
            </a:r>
            <a:endParaRPr b="0" i="0" sz="1750" u="none" cap="none" strike="noStrike">
              <a:solidFill>
                <a:schemeClr val="dk1"/>
              </a:solidFill>
              <a:latin typeface="Calibri"/>
              <a:ea typeface="Calibri"/>
              <a:cs typeface="Calibri"/>
              <a:sym typeface="Calibri"/>
            </a:endParaRPr>
          </a:p>
        </p:txBody>
      </p:sp>
      <p:sp>
        <p:nvSpPr>
          <p:cNvPr id="101" name="Google Shape;101;p8"/>
          <p:cNvSpPr/>
          <p:nvPr/>
        </p:nvSpPr>
        <p:spPr>
          <a:xfrm>
            <a:off x="4699695" y="1179920"/>
            <a:ext cx="3952800" cy="365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5213F"/>
              </a:buClr>
              <a:buSzPts val="750"/>
              <a:buFont typeface="Roboto"/>
              <a:buNone/>
            </a:pPr>
            <a:r>
              <a:rPr b="0" i="0" lang="ko-KR" sz="1150" u="none" cap="none" strike="noStrike">
                <a:solidFill>
                  <a:srgbClr val="15213F"/>
                </a:solidFill>
                <a:latin typeface="Roboto"/>
                <a:ea typeface="Roboto"/>
                <a:cs typeface="Roboto"/>
                <a:sym typeface="Roboto"/>
              </a:rPr>
              <a:t>재료 보관, 요리, 레시피 관리</a:t>
            </a:r>
            <a:endParaRPr b="0" i="0" sz="1150" u="none" cap="none" strike="noStrike">
              <a:solidFill>
                <a:schemeClr val="dk1"/>
              </a:solidFill>
              <a:latin typeface="Calibri"/>
              <a:ea typeface="Calibri"/>
              <a:cs typeface="Calibri"/>
              <a:sym typeface="Calibri"/>
            </a:endParaRPr>
          </a:p>
          <a:p>
            <a:pPr indent="0" lvl="0" marL="0" marR="0" rtl="0" algn="l">
              <a:lnSpc>
                <a:spcPct val="115000"/>
              </a:lnSpc>
              <a:spcBef>
                <a:spcPts val="550"/>
              </a:spcBef>
              <a:spcAft>
                <a:spcPts val="0"/>
              </a:spcAft>
              <a:buClr>
                <a:srgbClr val="15213F"/>
              </a:buClr>
              <a:buSzPts val="750"/>
              <a:buFont typeface="Roboto"/>
              <a:buNone/>
            </a:pPr>
            <a:r>
              <a:rPr b="0" i="0" lang="ko-KR" sz="1150" u="none" cap="none" strike="noStrike">
                <a:solidFill>
                  <a:srgbClr val="15213F"/>
                </a:solidFill>
                <a:latin typeface="Roboto"/>
                <a:ea typeface="Roboto"/>
                <a:cs typeface="Roboto"/>
                <a:sym typeface="Roboto"/>
              </a:rPr>
              <a:t>기술: </a:t>
            </a:r>
            <a:r>
              <a:rPr b="1" i="0" lang="ko-KR" sz="1150" u="none" cap="none" strike="noStrike">
                <a:solidFill>
                  <a:srgbClr val="15213F"/>
                </a:solidFill>
                <a:latin typeface="Roboto"/>
                <a:ea typeface="Roboto"/>
                <a:cs typeface="Roboto"/>
                <a:sym typeface="Roboto"/>
              </a:rPr>
              <a:t>Python Flask</a:t>
            </a:r>
            <a:endParaRPr b="0" i="0" sz="1150" u="none" cap="none" strike="noStrike">
              <a:solidFill>
                <a:schemeClr val="dk1"/>
              </a:solidFill>
              <a:latin typeface="Calibri"/>
              <a:ea typeface="Calibri"/>
              <a:cs typeface="Calibri"/>
              <a:sym typeface="Calibri"/>
            </a:endParaRPr>
          </a:p>
        </p:txBody>
      </p:sp>
      <p:pic>
        <p:nvPicPr>
          <p:cNvPr descr="preencoded.png" id="102" name="Google Shape;102;p8"/>
          <p:cNvPicPr preferRelativeResize="0"/>
          <p:nvPr/>
        </p:nvPicPr>
        <p:blipFill rotWithShape="1">
          <a:blip r:embed="rId3">
            <a:alphaModFix/>
          </a:blip>
          <a:srcRect b="0" l="0" r="0" t="0"/>
          <a:stretch/>
        </p:blipFill>
        <p:spPr>
          <a:xfrm>
            <a:off x="680901" y="2045252"/>
            <a:ext cx="5105977" cy="2336862"/>
          </a:xfrm>
          <a:prstGeom prst="rect">
            <a:avLst/>
          </a:prstGeom>
          <a:noFill/>
          <a:ln>
            <a:noFill/>
          </a:ln>
        </p:spPr>
      </p:pic>
      <p:sp>
        <p:nvSpPr>
          <p:cNvPr id="103" name="Google Shape;103;p8"/>
          <p:cNvSpPr/>
          <p:nvPr/>
        </p:nvSpPr>
        <p:spPr>
          <a:xfrm>
            <a:off x="4539411" y="3623917"/>
            <a:ext cx="1190100" cy="229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0" i="0" lang="ko-KR" sz="1400" u="none" cap="none" strike="noStrike">
                <a:solidFill>
                  <a:srgbClr val="15213F"/>
                </a:solidFill>
                <a:latin typeface="Roboto Slab"/>
                <a:ea typeface="Roboto Slab"/>
                <a:cs typeface="Roboto Slab"/>
                <a:sym typeface="Roboto Slab"/>
              </a:rPr>
              <a:t>냉장고(JSON)</a:t>
            </a:r>
            <a:endParaRPr b="0" i="0" sz="1400" u="none" cap="none" strike="noStrike">
              <a:solidFill>
                <a:schemeClr val="dk1"/>
              </a:solidFill>
              <a:latin typeface="Calibri"/>
              <a:ea typeface="Calibri"/>
              <a:cs typeface="Calibri"/>
              <a:sym typeface="Calibri"/>
            </a:endParaRPr>
          </a:p>
        </p:txBody>
      </p:sp>
      <p:sp>
        <p:nvSpPr>
          <p:cNvPr id="104" name="Google Shape;104;p8"/>
          <p:cNvSpPr/>
          <p:nvPr/>
        </p:nvSpPr>
        <p:spPr>
          <a:xfrm>
            <a:off x="3349306" y="3632598"/>
            <a:ext cx="1190100" cy="229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0" i="0" lang="ko-KR" sz="1400" u="none" cap="none" strike="noStrike">
                <a:solidFill>
                  <a:srgbClr val="15213F"/>
                </a:solidFill>
                <a:latin typeface="Roboto Slab"/>
                <a:ea typeface="Roboto Slab"/>
                <a:cs typeface="Roboto Slab"/>
                <a:sym typeface="Roboto Slab"/>
              </a:rPr>
              <a:t>주방(Flask)</a:t>
            </a:r>
            <a:endParaRPr b="0" i="0" sz="1400" u="none" cap="none" strike="noStrike">
              <a:solidFill>
                <a:schemeClr val="dk1"/>
              </a:solidFill>
              <a:latin typeface="Calibri"/>
              <a:ea typeface="Calibri"/>
              <a:cs typeface="Calibri"/>
              <a:sym typeface="Calibri"/>
            </a:endParaRPr>
          </a:p>
        </p:txBody>
      </p:sp>
      <p:sp>
        <p:nvSpPr>
          <p:cNvPr id="105" name="Google Shape;105;p8"/>
          <p:cNvSpPr/>
          <p:nvPr/>
        </p:nvSpPr>
        <p:spPr>
          <a:xfrm>
            <a:off x="2159202" y="3632627"/>
            <a:ext cx="1190100" cy="4584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0" i="0" lang="ko-KR" sz="1400" u="none" cap="none" strike="noStrike">
                <a:solidFill>
                  <a:srgbClr val="15213F"/>
                </a:solidFill>
                <a:latin typeface="Roboto Slab"/>
                <a:ea typeface="Roboto Slab"/>
                <a:cs typeface="Roboto Slab"/>
                <a:sym typeface="Roboto Slab"/>
              </a:rPr>
              <a:t>홀(JavaScript)</a:t>
            </a:r>
            <a:endParaRPr b="0" i="0" sz="1400" u="none" cap="none" strike="noStrike">
              <a:solidFill>
                <a:schemeClr val="dk1"/>
              </a:solidFill>
              <a:latin typeface="Calibri"/>
              <a:ea typeface="Calibri"/>
              <a:cs typeface="Calibri"/>
              <a:sym typeface="Calibri"/>
            </a:endParaRPr>
          </a:p>
        </p:txBody>
      </p:sp>
      <p:sp>
        <p:nvSpPr>
          <p:cNvPr id="106" name="Google Shape;106;p8"/>
          <p:cNvSpPr/>
          <p:nvPr/>
        </p:nvSpPr>
        <p:spPr>
          <a:xfrm>
            <a:off x="855941" y="3632635"/>
            <a:ext cx="1190100" cy="229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0" i="0" lang="ko-KR" sz="1400" u="none" cap="none" strike="noStrike">
                <a:solidFill>
                  <a:srgbClr val="15213F"/>
                </a:solidFill>
                <a:latin typeface="Roboto Slab"/>
                <a:ea typeface="Roboto Slab"/>
                <a:cs typeface="Roboto Slab"/>
                <a:sym typeface="Roboto Slab"/>
              </a:rPr>
              <a:t>손님 클릭</a:t>
            </a:r>
            <a:endParaRPr b="0" i="0" sz="1400" u="none" cap="none" strike="noStrike">
              <a:solidFill>
                <a:schemeClr val="dk1"/>
              </a:solidFill>
              <a:latin typeface="Calibri"/>
              <a:ea typeface="Calibri"/>
              <a:cs typeface="Calibri"/>
              <a:sym typeface="Calibri"/>
            </a:endParaRPr>
          </a:p>
        </p:txBody>
      </p:sp>
      <p:sp>
        <p:nvSpPr>
          <p:cNvPr id="107" name="Google Shape;107;p8"/>
          <p:cNvSpPr/>
          <p:nvPr/>
        </p:nvSpPr>
        <p:spPr>
          <a:xfrm>
            <a:off x="524319" y="4091016"/>
            <a:ext cx="8609100" cy="146100"/>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Clr>
                <a:srgbClr val="15213F"/>
              </a:buClr>
              <a:buSzPts val="750"/>
              <a:buFont typeface="Roboto"/>
              <a:buNone/>
            </a:pPr>
            <a:r>
              <a:rPr b="0" i="0" lang="ko-KR" sz="1250" u="none" cap="none" strike="noStrike">
                <a:solidFill>
                  <a:srgbClr val="15213F"/>
                </a:solidFill>
                <a:latin typeface="Roboto"/>
                <a:ea typeface="Roboto"/>
                <a:cs typeface="Roboto"/>
                <a:sym typeface="Roboto"/>
              </a:rPr>
              <a:t>손님(사용자)이 버튼을 누르면, JavaScript가 Flask 서버에 요청을 보내고, </a:t>
            </a:r>
            <a:br>
              <a:rPr b="0" i="0" lang="ko-KR" sz="1250" u="none" cap="none" strike="noStrike">
                <a:solidFill>
                  <a:srgbClr val="15213F"/>
                </a:solidFill>
                <a:latin typeface="Roboto"/>
                <a:ea typeface="Roboto"/>
                <a:cs typeface="Roboto"/>
                <a:sym typeface="Roboto"/>
              </a:rPr>
            </a:br>
            <a:r>
              <a:rPr b="0" i="0" lang="ko-KR" sz="1250" u="none" cap="none" strike="noStrike">
                <a:solidFill>
                  <a:srgbClr val="15213F"/>
                </a:solidFill>
                <a:latin typeface="Roboto"/>
                <a:ea typeface="Roboto"/>
                <a:cs typeface="Roboto"/>
                <a:sym typeface="Roboto"/>
              </a:rPr>
              <a:t>Flask는 JSON 파일에서 데이터를 꺼내 처리한 뒤 결과를 돌려줍니다. 식당과 똑같은 구조예요!</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9"/>
          <p:cNvSpPr/>
          <p:nvPr/>
        </p:nvSpPr>
        <p:spPr>
          <a:xfrm>
            <a:off x="496119" y="342677"/>
            <a:ext cx="8151763" cy="37549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350"/>
              <a:buFont typeface="Roboto Slab"/>
              <a:buNone/>
            </a:pPr>
            <a:r>
              <a:rPr b="1" i="0" lang="ko-KR" sz="2350" u="none" cap="none" strike="noStrike">
                <a:solidFill>
                  <a:srgbClr val="3257B8"/>
                </a:solidFill>
                <a:latin typeface="Roboto Slab"/>
                <a:ea typeface="Roboto Slab"/>
                <a:cs typeface="Roboto Slab"/>
                <a:sym typeface="Roboto Slab"/>
              </a:rPr>
              <a:t>프로젝트 폴더 구조</a:t>
            </a:r>
            <a:endParaRPr b="1" i="0" sz="2350" u="none" cap="none" strike="noStrike">
              <a:solidFill>
                <a:schemeClr val="dk1"/>
              </a:solidFill>
              <a:latin typeface="Calibri"/>
              <a:ea typeface="Calibri"/>
              <a:cs typeface="Calibri"/>
              <a:sym typeface="Calibri"/>
            </a:endParaRPr>
          </a:p>
        </p:txBody>
      </p:sp>
      <p:sp>
        <p:nvSpPr>
          <p:cNvPr id="114" name="Google Shape;114;p9"/>
          <p:cNvSpPr/>
          <p:nvPr/>
        </p:nvSpPr>
        <p:spPr>
          <a:xfrm>
            <a:off x="496119" y="950937"/>
            <a:ext cx="8608963" cy="189235"/>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15213F"/>
              </a:buClr>
              <a:buSzPts val="900"/>
              <a:buFont typeface="Roboto"/>
              <a:buNone/>
            </a:pPr>
            <a:r>
              <a:rPr b="0" i="0" lang="ko-KR" u="none" cap="none" strike="noStrike">
                <a:solidFill>
                  <a:srgbClr val="15213F"/>
                </a:solidFill>
                <a:latin typeface="Roboto"/>
                <a:ea typeface="Roboto"/>
                <a:cs typeface="Roboto"/>
                <a:sym typeface="Roboto"/>
              </a:rPr>
              <a:t>서랍장처럼 정리된 폴더 구조입니다. 어떤 파일이 어디 있는지 한눈에 파악할 수 있어야 해요!</a:t>
            </a:r>
            <a:endParaRPr b="0" i="0" u="none" cap="none" strike="noStrike">
              <a:solidFill>
                <a:schemeClr val="dk1"/>
              </a:solidFill>
              <a:latin typeface="Calibri"/>
              <a:ea typeface="Calibri"/>
              <a:cs typeface="Calibri"/>
              <a:sym typeface="Calibri"/>
            </a:endParaRPr>
          </a:p>
        </p:txBody>
      </p:sp>
      <p:sp>
        <p:nvSpPr>
          <p:cNvPr id="115" name="Google Shape;115;p9"/>
          <p:cNvSpPr/>
          <p:nvPr/>
        </p:nvSpPr>
        <p:spPr>
          <a:xfrm>
            <a:off x="496119" y="1401961"/>
            <a:ext cx="4351511" cy="3267968"/>
          </a:xfrm>
          <a:prstGeom prst="roundRect">
            <a:avLst>
              <a:gd fmla="val 552" name="adj"/>
            </a:avLst>
          </a:prstGeom>
          <a:solidFill>
            <a:srgbClr val="EE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9"/>
          <p:cNvSpPr/>
          <p:nvPr/>
        </p:nvSpPr>
        <p:spPr>
          <a:xfrm>
            <a:off x="490165" y="1401961"/>
            <a:ext cx="4363417" cy="3267968"/>
          </a:xfrm>
          <a:prstGeom prst="roundRect">
            <a:avLst>
              <a:gd fmla="val 552" name="adj"/>
            </a:avLst>
          </a:prstGeom>
          <a:solidFill>
            <a:srgbClr val="EE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p:cNvSpPr/>
          <p:nvPr/>
        </p:nvSpPr>
        <p:spPr>
          <a:xfrm>
            <a:off x="640333" y="1522065"/>
            <a:ext cx="4063082" cy="3027759"/>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study-timer/</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app.py          ← 관리실 열쇠 (Flask 메인)</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requirements.txt← 장보기 리스트</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static/         ← 꾸미기 도구 서랍</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css/style.css    ← 인테리어 설계도</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js/timer.js      ← 스톱워치 회로</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js/dashboard.js  ← 전광판 회로</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js/webcam.js     ← CCTV 회로(Phase3)</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templates/      ← 화면 도면 서랍</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index.html       ← 현관 로비</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timer.html       ← 공부방</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dashboard.html   ← 성적 게시판</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data/           ← 기록 보관함</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subjects.json    ← 시간표</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sessions/        ← 일기장 폴더</a:t>
            </a:r>
            <a:endParaRPr b="0" i="0" sz="900" u="none" cap="none" strike="noStrike">
              <a:solidFill>
                <a:schemeClr val="dk1"/>
              </a:solidFill>
              <a:latin typeface="Calibri"/>
              <a:ea typeface="Calibri"/>
              <a:cs typeface="Calibri"/>
              <a:sym typeface="Calibri"/>
            </a:endParaRPr>
          </a:p>
          <a:p>
            <a:pPr indent="0" lvl="0" marL="0" marR="0" rtl="0" algn="l">
              <a:lnSpc>
                <a:spcPct val="131000"/>
              </a:lnSpc>
              <a:spcBef>
                <a:spcPts val="0"/>
              </a:spcBef>
              <a:spcAft>
                <a:spcPts val="0"/>
              </a:spcAft>
              <a:buClr>
                <a:srgbClr val="15213F"/>
              </a:buClr>
              <a:buSzPts val="900"/>
              <a:buFont typeface="Consolas"/>
              <a:buNone/>
            </a:pPr>
            <a:r>
              <a:rPr b="0" i="0" lang="ko-KR" sz="900" u="none" cap="none" strike="noStrike">
                <a:solidFill>
                  <a:srgbClr val="15213F"/>
                </a:solidFill>
                <a:highlight>
                  <a:srgbClr val="EEEFF1"/>
                </a:highlight>
                <a:latin typeface="Consolas"/>
                <a:ea typeface="Consolas"/>
                <a:cs typeface="Consolas"/>
                <a:sym typeface="Consolas"/>
              </a:rPr>
              <a:t>    └── daily_stats.csv  ← 일간 성적표</a:t>
            </a:r>
            <a:endParaRPr b="0" i="0" sz="900" u="none" cap="none" strike="noStrike">
              <a:solidFill>
                <a:schemeClr val="dk1"/>
              </a:solidFill>
              <a:latin typeface="Calibri"/>
              <a:ea typeface="Calibri"/>
              <a:cs typeface="Calibri"/>
              <a:sym typeface="Calibri"/>
            </a:endParaRPr>
          </a:p>
        </p:txBody>
      </p:sp>
      <p:pic>
        <p:nvPicPr>
          <p:cNvPr descr="preencoded.png" id="118" name="Google Shape;118;p9"/>
          <p:cNvPicPr preferRelativeResize="0"/>
          <p:nvPr/>
        </p:nvPicPr>
        <p:blipFill rotWithShape="1">
          <a:blip r:embed="rId3">
            <a:alphaModFix/>
          </a:blip>
          <a:srcRect b="0" l="0" r="0" t="0"/>
          <a:stretch/>
        </p:blipFill>
        <p:spPr>
          <a:xfrm>
            <a:off x="5131296" y="1387673"/>
            <a:ext cx="3521273" cy="521940"/>
          </a:xfrm>
          <a:prstGeom prst="rect">
            <a:avLst/>
          </a:prstGeom>
          <a:noFill/>
          <a:ln>
            <a:noFill/>
          </a:ln>
        </p:spPr>
      </p:pic>
      <p:sp>
        <p:nvSpPr>
          <p:cNvPr id="119" name="Google Shape;119;p9"/>
          <p:cNvSpPr/>
          <p:nvPr/>
        </p:nvSpPr>
        <p:spPr>
          <a:xfrm>
            <a:off x="5294263" y="1401961"/>
            <a:ext cx="3358307" cy="18774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50"/>
              <a:buFont typeface="Roboto Slab"/>
              <a:buNone/>
            </a:pPr>
            <a:r>
              <a:rPr b="1" i="0" lang="ko-KR" sz="1450" u="none" cap="none" strike="noStrike">
                <a:solidFill>
                  <a:srgbClr val="15213F"/>
                </a:solidFill>
                <a:latin typeface="Roboto Slab"/>
                <a:ea typeface="Roboto Slab"/>
                <a:cs typeface="Roboto Slab"/>
                <a:sym typeface="Roboto Slab"/>
              </a:rPr>
              <a:t>app.py</a:t>
            </a:r>
            <a:endParaRPr b="1" i="0" sz="1450" u="none" cap="none" strike="noStrike">
              <a:solidFill>
                <a:schemeClr val="dk1"/>
              </a:solidFill>
              <a:latin typeface="Calibri"/>
              <a:ea typeface="Calibri"/>
              <a:cs typeface="Calibri"/>
              <a:sym typeface="Calibri"/>
            </a:endParaRPr>
          </a:p>
        </p:txBody>
      </p:sp>
      <p:sp>
        <p:nvSpPr>
          <p:cNvPr id="120" name="Google Shape;120;p9"/>
          <p:cNvSpPr/>
          <p:nvPr/>
        </p:nvSpPr>
        <p:spPr>
          <a:xfrm>
            <a:off x="5294263" y="1706091"/>
            <a:ext cx="3358307" cy="189235"/>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15213F"/>
              </a:buClr>
              <a:buSzPts val="900"/>
              <a:buFont typeface="Roboto"/>
              <a:buNone/>
            </a:pPr>
            <a:r>
              <a:rPr b="0" i="0" lang="ko-KR" sz="900" u="none" cap="none" strike="noStrike">
                <a:solidFill>
                  <a:srgbClr val="15213F"/>
                </a:solidFill>
                <a:latin typeface="Roboto"/>
                <a:ea typeface="Roboto"/>
                <a:cs typeface="Roboto"/>
                <a:sym typeface="Roboto"/>
              </a:rPr>
              <a:t>Flask 서버의 심장부. 모든 요청이 여기서 처리됩니다.</a:t>
            </a:r>
            <a:endParaRPr b="0" i="0" sz="900" u="none" cap="none" strike="noStrike">
              <a:solidFill>
                <a:schemeClr val="dk1"/>
              </a:solidFill>
              <a:latin typeface="Calibri"/>
              <a:ea typeface="Calibri"/>
              <a:cs typeface="Calibri"/>
              <a:sym typeface="Calibri"/>
            </a:endParaRPr>
          </a:p>
        </p:txBody>
      </p:sp>
      <p:pic>
        <p:nvPicPr>
          <p:cNvPr descr="preencoded.png" id="121" name="Google Shape;121;p9"/>
          <p:cNvPicPr preferRelativeResize="0"/>
          <p:nvPr/>
        </p:nvPicPr>
        <p:blipFill rotWithShape="1">
          <a:blip r:embed="rId3">
            <a:alphaModFix/>
          </a:blip>
          <a:srcRect b="0" l="0" r="0" t="0"/>
          <a:stretch/>
        </p:blipFill>
        <p:spPr>
          <a:xfrm>
            <a:off x="5131296" y="2113806"/>
            <a:ext cx="3521273" cy="521940"/>
          </a:xfrm>
          <a:prstGeom prst="rect">
            <a:avLst/>
          </a:prstGeom>
          <a:noFill/>
          <a:ln>
            <a:noFill/>
          </a:ln>
        </p:spPr>
      </p:pic>
      <p:sp>
        <p:nvSpPr>
          <p:cNvPr id="122" name="Google Shape;122;p9"/>
          <p:cNvSpPr/>
          <p:nvPr/>
        </p:nvSpPr>
        <p:spPr>
          <a:xfrm>
            <a:off x="5294263" y="2128093"/>
            <a:ext cx="3358307" cy="18774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50"/>
              <a:buFont typeface="Roboto Slab"/>
              <a:buNone/>
            </a:pPr>
            <a:r>
              <a:rPr b="1" i="0" lang="ko-KR" sz="1450" u="none" cap="none" strike="noStrike">
                <a:solidFill>
                  <a:srgbClr val="15213F"/>
                </a:solidFill>
                <a:latin typeface="Roboto Slab"/>
                <a:ea typeface="Roboto Slab"/>
                <a:cs typeface="Roboto Slab"/>
                <a:sym typeface="Roboto Slab"/>
              </a:rPr>
              <a:t>static/</a:t>
            </a:r>
            <a:endParaRPr b="1" i="0" sz="1450" u="none" cap="none" strike="noStrike">
              <a:solidFill>
                <a:schemeClr val="dk1"/>
              </a:solidFill>
              <a:latin typeface="Calibri"/>
              <a:ea typeface="Calibri"/>
              <a:cs typeface="Calibri"/>
              <a:sym typeface="Calibri"/>
            </a:endParaRPr>
          </a:p>
        </p:txBody>
      </p:sp>
      <p:sp>
        <p:nvSpPr>
          <p:cNvPr id="123" name="Google Shape;123;p9"/>
          <p:cNvSpPr/>
          <p:nvPr/>
        </p:nvSpPr>
        <p:spPr>
          <a:xfrm>
            <a:off x="5294263" y="2432224"/>
            <a:ext cx="3358307" cy="189235"/>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15213F"/>
              </a:buClr>
              <a:buSzPts val="900"/>
              <a:buFont typeface="Roboto"/>
              <a:buNone/>
            </a:pPr>
            <a:r>
              <a:rPr b="0" i="0" lang="ko-KR" sz="900" u="none" cap="none" strike="noStrike">
                <a:solidFill>
                  <a:srgbClr val="15213F"/>
                </a:solidFill>
                <a:latin typeface="Roboto"/>
                <a:ea typeface="Roboto"/>
                <a:cs typeface="Roboto"/>
                <a:sym typeface="Roboto"/>
              </a:rPr>
              <a:t>CSS, JS, 이미지 등 꾸미기와 동작 파일들</a:t>
            </a:r>
            <a:endParaRPr b="0" i="0" sz="900" u="none" cap="none" strike="noStrike">
              <a:solidFill>
                <a:schemeClr val="dk1"/>
              </a:solidFill>
              <a:latin typeface="Calibri"/>
              <a:ea typeface="Calibri"/>
              <a:cs typeface="Calibri"/>
              <a:sym typeface="Calibri"/>
            </a:endParaRPr>
          </a:p>
        </p:txBody>
      </p:sp>
      <p:pic>
        <p:nvPicPr>
          <p:cNvPr descr="preencoded.png" id="124" name="Google Shape;124;p9"/>
          <p:cNvPicPr preferRelativeResize="0"/>
          <p:nvPr/>
        </p:nvPicPr>
        <p:blipFill rotWithShape="1">
          <a:blip r:embed="rId3">
            <a:alphaModFix/>
          </a:blip>
          <a:srcRect b="0" l="0" r="0" t="0"/>
          <a:stretch/>
        </p:blipFill>
        <p:spPr>
          <a:xfrm>
            <a:off x="5131296" y="2839938"/>
            <a:ext cx="3521273" cy="521940"/>
          </a:xfrm>
          <a:prstGeom prst="rect">
            <a:avLst/>
          </a:prstGeom>
          <a:noFill/>
          <a:ln>
            <a:noFill/>
          </a:ln>
        </p:spPr>
      </p:pic>
      <p:sp>
        <p:nvSpPr>
          <p:cNvPr id="125" name="Google Shape;125;p9"/>
          <p:cNvSpPr/>
          <p:nvPr/>
        </p:nvSpPr>
        <p:spPr>
          <a:xfrm>
            <a:off x="5294263" y="2854226"/>
            <a:ext cx="3358307" cy="18774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50"/>
              <a:buFont typeface="Roboto Slab"/>
              <a:buNone/>
            </a:pPr>
            <a:r>
              <a:rPr b="1" i="0" lang="ko-KR" sz="1450" u="none" cap="none" strike="noStrike">
                <a:solidFill>
                  <a:srgbClr val="15213F"/>
                </a:solidFill>
                <a:latin typeface="Roboto Slab"/>
                <a:ea typeface="Roboto Slab"/>
                <a:cs typeface="Roboto Slab"/>
                <a:sym typeface="Roboto Slab"/>
              </a:rPr>
              <a:t>templates/</a:t>
            </a:r>
            <a:endParaRPr b="1" i="0" sz="1450" u="none" cap="none" strike="noStrike">
              <a:solidFill>
                <a:schemeClr val="dk1"/>
              </a:solidFill>
              <a:latin typeface="Calibri"/>
              <a:ea typeface="Calibri"/>
              <a:cs typeface="Calibri"/>
              <a:sym typeface="Calibri"/>
            </a:endParaRPr>
          </a:p>
        </p:txBody>
      </p:sp>
      <p:sp>
        <p:nvSpPr>
          <p:cNvPr id="126" name="Google Shape;126;p9"/>
          <p:cNvSpPr/>
          <p:nvPr/>
        </p:nvSpPr>
        <p:spPr>
          <a:xfrm>
            <a:off x="5294263" y="3158356"/>
            <a:ext cx="3358307" cy="189235"/>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15213F"/>
              </a:buClr>
              <a:buSzPts val="900"/>
              <a:buFont typeface="Roboto"/>
              <a:buNone/>
            </a:pPr>
            <a:r>
              <a:rPr b="0" i="0" lang="ko-KR" sz="900" u="none" cap="none" strike="noStrike">
                <a:solidFill>
                  <a:srgbClr val="15213F"/>
                </a:solidFill>
                <a:latin typeface="Roboto"/>
                <a:ea typeface="Roboto"/>
                <a:cs typeface="Roboto"/>
                <a:sym typeface="Roboto"/>
              </a:rPr>
              <a:t>화면을 구성하는 HTML 파일들</a:t>
            </a:r>
            <a:endParaRPr b="0" i="0" sz="900" u="none" cap="none" strike="noStrike">
              <a:solidFill>
                <a:schemeClr val="dk1"/>
              </a:solidFill>
              <a:latin typeface="Calibri"/>
              <a:ea typeface="Calibri"/>
              <a:cs typeface="Calibri"/>
              <a:sym typeface="Calibri"/>
            </a:endParaRPr>
          </a:p>
        </p:txBody>
      </p:sp>
      <p:pic>
        <p:nvPicPr>
          <p:cNvPr descr="preencoded.png" id="127" name="Google Shape;127;p9"/>
          <p:cNvPicPr preferRelativeResize="0"/>
          <p:nvPr/>
        </p:nvPicPr>
        <p:blipFill rotWithShape="1">
          <a:blip r:embed="rId3">
            <a:alphaModFix/>
          </a:blip>
          <a:srcRect b="0" l="0" r="0" t="0"/>
          <a:stretch/>
        </p:blipFill>
        <p:spPr>
          <a:xfrm>
            <a:off x="5131296" y="3566071"/>
            <a:ext cx="3521273" cy="521940"/>
          </a:xfrm>
          <a:prstGeom prst="rect">
            <a:avLst/>
          </a:prstGeom>
          <a:noFill/>
          <a:ln>
            <a:noFill/>
          </a:ln>
        </p:spPr>
      </p:pic>
      <p:sp>
        <p:nvSpPr>
          <p:cNvPr id="128" name="Google Shape;128;p9"/>
          <p:cNvSpPr/>
          <p:nvPr/>
        </p:nvSpPr>
        <p:spPr>
          <a:xfrm>
            <a:off x="5294263" y="3580358"/>
            <a:ext cx="3358307" cy="18774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50"/>
              <a:buFont typeface="Roboto Slab"/>
              <a:buNone/>
            </a:pPr>
            <a:r>
              <a:rPr b="1" i="0" lang="ko-KR" sz="1450" u="none" cap="none" strike="noStrike">
                <a:solidFill>
                  <a:srgbClr val="15213F"/>
                </a:solidFill>
                <a:latin typeface="Roboto Slab"/>
                <a:ea typeface="Roboto Slab"/>
                <a:cs typeface="Roboto Slab"/>
                <a:sym typeface="Roboto Slab"/>
              </a:rPr>
              <a:t>data/</a:t>
            </a:r>
            <a:endParaRPr b="1" i="0" sz="1450" u="none" cap="none" strike="noStrike">
              <a:solidFill>
                <a:schemeClr val="dk1"/>
              </a:solidFill>
              <a:latin typeface="Calibri"/>
              <a:ea typeface="Calibri"/>
              <a:cs typeface="Calibri"/>
              <a:sym typeface="Calibri"/>
            </a:endParaRPr>
          </a:p>
        </p:txBody>
      </p:sp>
      <p:sp>
        <p:nvSpPr>
          <p:cNvPr id="129" name="Google Shape;129;p9"/>
          <p:cNvSpPr/>
          <p:nvPr/>
        </p:nvSpPr>
        <p:spPr>
          <a:xfrm>
            <a:off x="5294263" y="3884488"/>
            <a:ext cx="3358307" cy="189235"/>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15213F"/>
              </a:buClr>
              <a:buSzPts val="900"/>
              <a:buFont typeface="Roboto"/>
              <a:buNone/>
            </a:pPr>
            <a:r>
              <a:rPr b="0" i="0" lang="ko-KR" sz="900" u="none" cap="none" strike="noStrike">
                <a:solidFill>
                  <a:srgbClr val="15213F"/>
                </a:solidFill>
                <a:latin typeface="Roboto"/>
                <a:ea typeface="Roboto"/>
                <a:cs typeface="Roboto"/>
                <a:sym typeface="Roboto"/>
              </a:rPr>
              <a:t>DB 없이 JSON/CSV 파일로 데이터 관리!</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0"/>
          <p:cNvSpPr/>
          <p:nvPr/>
        </p:nvSpPr>
        <p:spPr>
          <a:xfrm>
            <a:off x="496119" y="830684"/>
            <a:ext cx="8151763"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700" u="none" cap="none" strike="noStrike">
                <a:solidFill>
                  <a:srgbClr val="3257B8"/>
                </a:solidFill>
                <a:latin typeface="Roboto Slab"/>
                <a:ea typeface="Roboto Slab"/>
                <a:cs typeface="Roboto Slab"/>
                <a:sym typeface="Roboto Slab"/>
              </a:rPr>
              <a:t>기본 용어 사전 ① — 프로그래밍</a:t>
            </a:r>
            <a:endParaRPr b="1" i="0" sz="2700" u="none" cap="none" strike="noStrike">
              <a:solidFill>
                <a:schemeClr val="dk1"/>
              </a:solidFill>
              <a:latin typeface="Calibri"/>
              <a:ea typeface="Calibri"/>
              <a:cs typeface="Calibri"/>
              <a:sym typeface="Calibri"/>
            </a:endParaRPr>
          </a:p>
        </p:txBody>
      </p:sp>
      <p:sp>
        <p:nvSpPr>
          <p:cNvPr id="136" name="Google Shape;136;p10"/>
          <p:cNvSpPr/>
          <p:nvPr/>
        </p:nvSpPr>
        <p:spPr>
          <a:xfrm>
            <a:off x="496119" y="1466255"/>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어려운 용어들을 일상 비유로 쉽게 이해해봐요!</a:t>
            </a:r>
            <a:endParaRPr b="0" i="0" sz="950" u="none" cap="none" strike="noStrike">
              <a:solidFill>
                <a:schemeClr val="dk1"/>
              </a:solidFill>
              <a:latin typeface="Calibri"/>
              <a:ea typeface="Calibri"/>
              <a:cs typeface="Calibri"/>
              <a:sym typeface="Calibri"/>
            </a:endParaRPr>
          </a:p>
        </p:txBody>
      </p:sp>
      <p:pic>
        <p:nvPicPr>
          <p:cNvPr descr="preencoded.png" id="137" name="Google Shape;137;p10"/>
          <p:cNvPicPr preferRelativeResize="0"/>
          <p:nvPr/>
        </p:nvPicPr>
        <p:blipFill rotWithShape="1">
          <a:blip r:embed="rId3">
            <a:alphaModFix/>
          </a:blip>
          <a:srcRect b="0" l="0" r="0" t="0"/>
          <a:stretch/>
        </p:blipFill>
        <p:spPr>
          <a:xfrm>
            <a:off x="1301874" y="1804243"/>
            <a:ext cx="310083" cy="310083"/>
          </a:xfrm>
          <a:prstGeom prst="rect">
            <a:avLst/>
          </a:prstGeom>
          <a:noFill/>
          <a:ln>
            <a:noFill/>
          </a:ln>
        </p:spPr>
      </p:pic>
      <p:sp>
        <p:nvSpPr>
          <p:cNvPr id="138" name="Google Shape;138;p10"/>
          <p:cNvSpPr/>
          <p:nvPr/>
        </p:nvSpPr>
        <p:spPr>
          <a:xfrm>
            <a:off x="496119" y="2269331"/>
            <a:ext cx="1921669"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700" u="none" cap="none" strike="noStrike">
                <a:solidFill>
                  <a:srgbClr val="15213F"/>
                </a:solidFill>
                <a:latin typeface="Roboto Slab"/>
                <a:ea typeface="Roboto Slab"/>
                <a:cs typeface="Roboto Slab"/>
                <a:sym typeface="Roboto Slab"/>
              </a:rPr>
              <a:t>변수</a:t>
            </a:r>
            <a:endParaRPr b="0" i="0" sz="1700" u="none" cap="none" strike="noStrike">
              <a:solidFill>
                <a:schemeClr val="dk1"/>
              </a:solidFill>
              <a:latin typeface="Calibri"/>
              <a:ea typeface="Calibri"/>
              <a:cs typeface="Calibri"/>
              <a:sym typeface="Calibri"/>
            </a:endParaRPr>
          </a:p>
        </p:txBody>
      </p:sp>
      <p:sp>
        <p:nvSpPr>
          <p:cNvPr id="139" name="Google Shape;139;p10"/>
          <p:cNvSpPr/>
          <p:nvPr/>
        </p:nvSpPr>
        <p:spPr>
          <a:xfrm>
            <a:off x="496119" y="2537594"/>
            <a:ext cx="1921669" cy="396925"/>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이름표 붙은 서랍</a:t>
            </a:r>
            <a:endParaRPr b="0" i="0" sz="9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데이터를 담는 이름 붙은 상자</a:t>
            </a:r>
            <a:endParaRPr b="0" i="0" sz="950" u="none" cap="none" strike="noStrike">
              <a:solidFill>
                <a:schemeClr val="dk1"/>
              </a:solidFill>
              <a:latin typeface="Calibri"/>
              <a:ea typeface="Calibri"/>
              <a:cs typeface="Calibri"/>
              <a:sym typeface="Calibri"/>
            </a:endParaRPr>
          </a:p>
        </p:txBody>
      </p:sp>
      <p:pic>
        <p:nvPicPr>
          <p:cNvPr descr="preencoded.png" id="140" name="Google Shape;140;p10"/>
          <p:cNvPicPr preferRelativeResize="0"/>
          <p:nvPr/>
        </p:nvPicPr>
        <p:blipFill rotWithShape="1">
          <a:blip r:embed="rId4">
            <a:alphaModFix/>
          </a:blip>
          <a:srcRect b="0" l="0" r="0" t="0"/>
          <a:stretch/>
        </p:blipFill>
        <p:spPr>
          <a:xfrm>
            <a:off x="3378547" y="1804243"/>
            <a:ext cx="310083" cy="310083"/>
          </a:xfrm>
          <a:prstGeom prst="rect">
            <a:avLst/>
          </a:prstGeom>
          <a:noFill/>
          <a:ln>
            <a:noFill/>
          </a:ln>
        </p:spPr>
      </p:pic>
      <p:sp>
        <p:nvSpPr>
          <p:cNvPr id="141" name="Google Shape;141;p10"/>
          <p:cNvSpPr/>
          <p:nvPr/>
        </p:nvSpPr>
        <p:spPr>
          <a:xfrm>
            <a:off x="2572792" y="2269331"/>
            <a:ext cx="1921669"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700" u="none" cap="none" strike="noStrike">
                <a:solidFill>
                  <a:srgbClr val="15213F"/>
                </a:solidFill>
                <a:latin typeface="Roboto Slab"/>
                <a:ea typeface="Roboto Slab"/>
                <a:cs typeface="Roboto Slab"/>
                <a:sym typeface="Roboto Slab"/>
              </a:rPr>
              <a:t>함수</a:t>
            </a:r>
            <a:endParaRPr b="0" i="0" sz="1700" u="none" cap="none" strike="noStrike">
              <a:solidFill>
                <a:schemeClr val="dk1"/>
              </a:solidFill>
              <a:latin typeface="Calibri"/>
              <a:ea typeface="Calibri"/>
              <a:cs typeface="Calibri"/>
              <a:sym typeface="Calibri"/>
            </a:endParaRPr>
          </a:p>
        </p:txBody>
      </p:sp>
      <p:sp>
        <p:nvSpPr>
          <p:cNvPr id="142" name="Google Shape;142;p10"/>
          <p:cNvSpPr/>
          <p:nvPr/>
        </p:nvSpPr>
        <p:spPr>
          <a:xfrm>
            <a:off x="2572792" y="2537594"/>
            <a:ext cx="1921669" cy="396925"/>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라면 끓이기 레시피</a:t>
            </a:r>
            <a:endParaRPr b="0" i="0" sz="9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특정 작업을 묶어놓은 것</a:t>
            </a:r>
            <a:endParaRPr b="0" i="0" sz="950" u="none" cap="none" strike="noStrike">
              <a:solidFill>
                <a:schemeClr val="dk1"/>
              </a:solidFill>
              <a:latin typeface="Calibri"/>
              <a:ea typeface="Calibri"/>
              <a:cs typeface="Calibri"/>
              <a:sym typeface="Calibri"/>
            </a:endParaRPr>
          </a:p>
        </p:txBody>
      </p:sp>
      <p:pic>
        <p:nvPicPr>
          <p:cNvPr descr="preencoded.png" id="143" name="Google Shape;143;p10"/>
          <p:cNvPicPr preferRelativeResize="0"/>
          <p:nvPr/>
        </p:nvPicPr>
        <p:blipFill rotWithShape="1">
          <a:blip r:embed="rId5">
            <a:alphaModFix/>
          </a:blip>
          <a:srcRect b="0" l="0" r="0" t="0"/>
          <a:stretch/>
        </p:blipFill>
        <p:spPr>
          <a:xfrm>
            <a:off x="5455221" y="1804243"/>
            <a:ext cx="310083" cy="310083"/>
          </a:xfrm>
          <a:prstGeom prst="rect">
            <a:avLst/>
          </a:prstGeom>
          <a:noFill/>
          <a:ln>
            <a:noFill/>
          </a:ln>
        </p:spPr>
      </p:pic>
      <p:sp>
        <p:nvSpPr>
          <p:cNvPr id="144" name="Google Shape;144;p10"/>
          <p:cNvSpPr/>
          <p:nvPr/>
        </p:nvSpPr>
        <p:spPr>
          <a:xfrm>
            <a:off x="4649465" y="2269331"/>
            <a:ext cx="1921669"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700" u="none" cap="none" strike="noStrike">
                <a:solidFill>
                  <a:srgbClr val="15213F"/>
                </a:solidFill>
                <a:latin typeface="Roboto Slab"/>
                <a:ea typeface="Roboto Slab"/>
                <a:cs typeface="Roboto Slab"/>
                <a:sym typeface="Roboto Slab"/>
              </a:rPr>
              <a:t>배열</a:t>
            </a:r>
            <a:endParaRPr b="0" i="0" sz="1700" u="none" cap="none" strike="noStrike">
              <a:solidFill>
                <a:schemeClr val="dk1"/>
              </a:solidFill>
              <a:latin typeface="Calibri"/>
              <a:ea typeface="Calibri"/>
              <a:cs typeface="Calibri"/>
              <a:sym typeface="Calibri"/>
            </a:endParaRPr>
          </a:p>
        </p:txBody>
      </p:sp>
      <p:sp>
        <p:nvSpPr>
          <p:cNvPr id="145" name="Google Shape;145;p10"/>
          <p:cNvSpPr/>
          <p:nvPr/>
        </p:nvSpPr>
        <p:spPr>
          <a:xfrm>
            <a:off x="4649465" y="2537594"/>
            <a:ext cx="1921669" cy="396925"/>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출석부</a:t>
            </a:r>
            <a:endParaRPr b="0" i="0" sz="9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여러 데이터를 순서대로 나열</a:t>
            </a:r>
            <a:endParaRPr b="0" i="0" sz="950" u="none" cap="none" strike="noStrike">
              <a:solidFill>
                <a:schemeClr val="dk1"/>
              </a:solidFill>
              <a:latin typeface="Calibri"/>
              <a:ea typeface="Calibri"/>
              <a:cs typeface="Calibri"/>
              <a:sym typeface="Calibri"/>
            </a:endParaRPr>
          </a:p>
        </p:txBody>
      </p:sp>
      <p:pic>
        <p:nvPicPr>
          <p:cNvPr descr="preencoded.png" id="146" name="Google Shape;146;p10"/>
          <p:cNvPicPr preferRelativeResize="0"/>
          <p:nvPr/>
        </p:nvPicPr>
        <p:blipFill rotWithShape="1">
          <a:blip r:embed="rId6">
            <a:alphaModFix/>
          </a:blip>
          <a:srcRect b="0" l="0" r="0" t="0"/>
          <a:stretch/>
        </p:blipFill>
        <p:spPr>
          <a:xfrm>
            <a:off x="7531968" y="1804243"/>
            <a:ext cx="310083" cy="310083"/>
          </a:xfrm>
          <a:prstGeom prst="rect">
            <a:avLst/>
          </a:prstGeom>
          <a:noFill/>
          <a:ln>
            <a:noFill/>
          </a:ln>
        </p:spPr>
      </p:pic>
      <p:sp>
        <p:nvSpPr>
          <p:cNvPr id="147" name="Google Shape;147;p10"/>
          <p:cNvSpPr/>
          <p:nvPr/>
        </p:nvSpPr>
        <p:spPr>
          <a:xfrm>
            <a:off x="6726138" y="2269331"/>
            <a:ext cx="1921743"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700" u="none" cap="none" strike="noStrike">
                <a:solidFill>
                  <a:srgbClr val="15213F"/>
                </a:solidFill>
                <a:latin typeface="Roboto Slab"/>
                <a:ea typeface="Roboto Slab"/>
                <a:cs typeface="Roboto Slab"/>
                <a:sym typeface="Roboto Slab"/>
              </a:rPr>
              <a:t>딕셔너리</a:t>
            </a:r>
            <a:endParaRPr b="0" i="0" sz="1700" u="none" cap="none" strike="noStrike">
              <a:solidFill>
                <a:schemeClr val="dk1"/>
              </a:solidFill>
              <a:latin typeface="Calibri"/>
              <a:ea typeface="Calibri"/>
              <a:cs typeface="Calibri"/>
              <a:sym typeface="Calibri"/>
            </a:endParaRPr>
          </a:p>
        </p:txBody>
      </p:sp>
      <p:sp>
        <p:nvSpPr>
          <p:cNvPr id="148" name="Google Shape;148;p10"/>
          <p:cNvSpPr/>
          <p:nvPr/>
        </p:nvSpPr>
        <p:spPr>
          <a:xfrm>
            <a:off x="6726138" y="2537594"/>
            <a:ext cx="1921743" cy="396925"/>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학생증</a:t>
            </a:r>
            <a:endParaRPr b="0" i="0" sz="9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"이름: 값" 쌍으로 묶은 데이터</a:t>
            </a:r>
            <a:endParaRPr b="0" i="0" sz="950" u="none" cap="none" strike="noStrike">
              <a:solidFill>
                <a:schemeClr val="dk1"/>
              </a:solidFill>
              <a:latin typeface="Calibri"/>
              <a:ea typeface="Calibri"/>
              <a:cs typeface="Calibri"/>
              <a:sym typeface="Calibri"/>
            </a:endParaRPr>
          </a:p>
        </p:txBody>
      </p:sp>
      <p:pic>
        <p:nvPicPr>
          <p:cNvPr descr="preencoded.png" id="149" name="Google Shape;149;p10"/>
          <p:cNvPicPr preferRelativeResize="0"/>
          <p:nvPr/>
        </p:nvPicPr>
        <p:blipFill rotWithShape="1">
          <a:blip r:embed="rId7">
            <a:alphaModFix/>
          </a:blip>
          <a:srcRect b="0" l="0" r="0" t="0"/>
          <a:stretch/>
        </p:blipFill>
        <p:spPr>
          <a:xfrm>
            <a:off x="3378547" y="3182541"/>
            <a:ext cx="310083" cy="310083"/>
          </a:xfrm>
          <a:prstGeom prst="rect">
            <a:avLst/>
          </a:prstGeom>
          <a:noFill/>
          <a:ln>
            <a:noFill/>
          </a:ln>
        </p:spPr>
      </p:pic>
      <p:sp>
        <p:nvSpPr>
          <p:cNvPr id="150" name="Google Shape;150;p10"/>
          <p:cNvSpPr/>
          <p:nvPr/>
        </p:nvSpPr>
        <p:spPr>
          <a:xfrm>
            <a:off x="2572792" y="3647629"/>
            <a:ext cx="1921669"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700" u="none" cap="none" strike="noStrike">
                <a:solidFill>
                  <a:srgbClr val="15213F"/>
                </a:solidFill>
                <a:latin typeface="Roboto Slab"/>
                <a:ea typeface="Roboto Slab"/>
                <a:cs typeface="Roboto Slab"/>
                <a:sym typeface="Roboto Slab"/>
              </a:rPr>
              <a:t>조건문 (IF)</a:t>
            </a:r>
            <a:endParaRPr b="0" i="0" sz="1700" u="none" cap="none" strike="noStrike">
              <a:solidFill>
                <a:schemeClr val="dk1"/>
              </a:solidFill>
              <a:latin typeface="Calibri"/>
              <a:ea typeface="Calibri"/>
              <a:cs typeface="Calibri"/>
              <a:sym typeface="Calibri"/>
            </a:endParaRPr>
          </a:p>
        </p:txBody>
      </p:sp>
      <p:sp>
        <p:nvSpPr>
          <p:cNvPr id="151" name="Google Shape;151;p10"/>
          <p:cNvSpPr/>
          <p:nvPr/>
        </p:nvSpPr>
        <p:spPr>
          <a:xfrm>
            <a:off x="2572792" y="3915891"/>
            <a:ext cx="1921669" cy="396925"/>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우산 규칙</a:t>
            </a:r>
            <a:endParaRPr b="0" i="0" sz="9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"비 오면 우산, 아니면 그냥"</a:t>
            </a:r>
            <a:endParaRPr b="0" i="0" sz="950" u="none" cap="none" strike="noStrike">
              <a:solidFill>
                <a:schemeClr val="dk1"/>
              </a:solidFill>
              <a:latin typeface="Calibri"/>
              <a:ea typeface="Calibri"/>
              <a:cs typeface="Calibri"/>
              <a:sym typeface="Calibri"/>
            </a:endParaRPr>
          </a:p>
        </p:txBody>
      </p:sp>
      <p:pic>
        <p:nvPicPr>
          <p:cNvPr descr="preencoded.png" id="152" name="Google Shape;152;p10"/>
          <p:cNvPicPr preferRelativeResize="0"/>
          <p:nvPr/>
        </p:nvPicPr>
        <p:blipFill rotWithShape="1">
          <a:blip r:embed="rId8">
            <a:alphaModFix/>
          </a:blip>
          <a:srcRect b="0" l="0" r="0" t="0"/>
          <a:stretch/>
        </p:blipFill>
        <p:spPr>
          <a:xfrm>
            <a:off x="5455221" y="3182541"/>
            <a:ext cx="310083" cy="310083"/>
          </a:xfrm>
          <a:prstGeom prst="rect">
            <a:avLst/>
          </a:prstGeom>
          <a:noFill/>
          <a:ln>
            <a:noFill/>
          </a:ln>
        </p:spPr>
      </p:pic>
      <p:sp>
        <p:nvSpPr>
          <p:cNvPr id="153" name="Google Shape;153;p10"/>
          <p:cNvSpPr/>
          <p:nvPr/>
        </p:nvSpPr>
        <p:spPr>
          <a:xfrm>
            <a:off x="4649465" y="3647629"/>
            <a:ext cx="1921669"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700" u="none" cap="none" strike="noStrike">
                <a:solidFill>
                  <a:srgbClr val="15213F"/>
                </a:solidFill>
                <a:latin typeface="Roboto Slab"/>
                <a:ea typeface="Roboto Slab"/>
                <a:cs typeface="Roboto Slab"/>
                <a:sym typeface="Roboto Slab"/>
              </a:rPr>
              <a:t>반복문 (Loop)</a:t>
            </a:r>
            <a:endParaRPr b="0" i="0" sz="1700" u="none" cap="none" strike="noStrike">
              <a:solidFill>
                <a:schemeClr val="dk1"/>
              </a:solidFill>
              <a:latin typeface="Calibri"/>
              <a:ea typeface="Calibri"/>
              <a:cs typeface="Calibri"/>
              <a:sym typeface="Calibri"/>
            </a:endParaRPr>
          </a:p>
        </p:txBody>
      </p:sp>
      <p:sp>
        <p:nvSpPr>
          <p:cNvPr id="154" name="Google Shape;154;p10"/>
          <p:cNvSpPr/>
          <p:nvPr/>
        </p:nvSpPr>
        <p:spPr>
          <a:xfrm>
            <a:off x="4649465" y="3915891"/>
            <a:ext cx="1921669" cy="396925"/>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팔굽혀펴기 10번</a:t>
            </a:r>
            <a:endParaRPr b="0" i="0" sz="9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같은 작업을 여러 번 반복</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p:nvPr/>
        </p:nvSpPr>
        <p:spPr>
          <a:xfrm>
            <a:off x="496119" y="1415653"/>
            <a:ext cx="8151763"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700" u="none" cap="none" strike="noStrike">
                <a:solidFill>
                  <a:srgbClr val="3257B8"/>
                </a:solidFill>
                <a:latin typeface="Roboto Slab"/>
                <a:ea typeface="Roboto Slab"/>
                <a:cs typeface="Roboto Slab"/>
                <a:sym typeface="Roboto Slab"/>
              </a:rPr>
              <a:t>기본 용어 사전 ② — 웹 개발</a:t>
            </a:r>
            <a:endParaRPr b="1" i="0" sz="2700" u="none" cap="none" strike="noStrike">
              <a:solidFill>
                <a:schemeClr val="dk1"/>
              </a:solidFill>
              <a:latin typeface="Calibri"/>
              <a:ea typeface="Calibri"/>
              <a:cs typeface="Calibri"/>
              <a:sym typeface="Calibri"/>
            </a:endParaRPr>
          </a:p>
        </p:txBody>
      </p:sp>
      <p:sp>
        <p:nvSpPr>
          <p:cNvPr id="161" name="Google Shape;161;p11"/>
          <p:cNvSpPr/>
          <p:nvPr/>
        </p:nvSpPr>
        <p:spPr>
          <a:xfrm>
            <a:off x="496119" y="2051224"/>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웹 개발에서 자주 쓰는 단어들, 편의점 비유로 정복해봐요!</a:t>
            </a:r>
            <a:endParaRPr b="0" i="0" sz="1250" u="none" cap="none" strike="noStrike">
              <a:solidFill>
                <a:schemeClr val="dk1"/>
              </a:solidFill>
              <a:latin typeface="Calibri"/>
              <a:ea typeface="Calibri"/>
              <a:cs typeface="Calibri"/>
              <a:sym typeface="Calibri"/>
            </a:endParaRPr>
          </a:p>
        </p:txBody>
      </p:sp>
      <p:pic>
        <p:nvPicPr>
          <p:cNvPr descr="preencoded.png" id="162" name="Google Shape;162;p11"/>
          <p:cNvPicPr preferRelativeResize="0"/>
          <p:nvPr/>
        </p:nvPicPr>
        <p:blipFill rotWithShape="1">
          <a:blip r:embed="rId3">
            <a:alphaModFix/>
          </a:blip>
          <a:srcRect b="0" l="0" r="0" t="0"/>
          <a:stretch/>
        </p:blipFill>
        <p:spPr>
          <a:xfrm>
            <a:off x="496125" y="2389200"/>
            <a:ext cx="1944956" cy="1538600"/>
          </a:xfrm>
          <a:prstGeom prst="rect">
            <a:avLst/>
          </a:prstGeom>
          <a:noFill/>
          <a:ln>
            <a:noFill/>
          </a:ln>
        </p:spPr>
      </p:pic>
      <p:sp>
        <p:nvSpPr>
          <p:cNvPr id="163" name="Google Shape;163;p11"/>
          <p:cNvSpPr/>
          <p:nvPr/>
        </p:nvSpPr>
        <p:spPr>
          <a:xfrm>
            <a:off x="691530" y="2527474"/>
            <a:ext cx="1611288"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서버 / 클라이언트</a:t>
            </a:r>
            <a:endParaRPr b="1" i="0" sz="1500" u="none" cap="none" strike="noStrike">
              <a:solidFill>
                <a:schemeClr val="dk1"/>
              </a:solidFill>
              <a:latin typeface="Calibri"/>
              <a:ea typeface="Calibri"/>
              <a:cs typeface="Calibri"/>
              <a:sym typeface="Calibri"/>
            </a:endParaRPr>
          </a:p>
        </p:txBody>
      </p:sp>
      <p:sp>
        <p:nvSpPr>
          <p:cNvPr id="164" name="Google Shape;164;p11"/>
          <p:cNvSpPr/>
          <p:nvPr/>
        </p:nvSpPr>
        <p:spPr>
          <a:xfrm>
            <a:off x="691530" y="2795736"/>
            <a:ext cx="1611288" cy="59538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서버 = 편의점 직원 (요청 받고 응답)</a:t>
            </a:r>
            <a:endParaRPr b="0" i="0" sz="12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클라이언트 = 손님 (브라우저)</a:t>
            </a:r>
            <a:endParaRPr b="0" i="0" sz="1250" u="none" cap="none" strike="noStrike">
              <a:solidFill>
                <a:schemeClr val="dk1"/>
              </a:solidFill>
              <a:latin typeface="Calibri"/>
              <a:ea typeface="Calibri"/>
              <a:cs typeface="Calibri"/>
              <a:sym typeface="Calibri"/>
            </a:endParaRPr>
          </a:p>
        </p:txBody>
      </p:sp>
      <p:pic>
        <p:nvPicPr>
          <p:cNvPr descr="preencoded.png" id="165" name="Google Shape;165;p11"/>
          <p:cNvPicPr preferRelativeResize="0"/>
          <p:nvPr/>
        </p:nvPicPr>
        <p:blipFill rotWithShape="1">
          <a:blip r:embed="rId3">
            <a:alphaModFix/>
          </a:blip>
          <a:srcRect b="0" l="0" r="0" t="0"/>
          <a:stretch/>
        </p:blipFill>
        <p:spPr>
          <a:xfrm>
            <a:off x="2565056" y="2389200"/>
            <a:ext cx="1944956" cy="1538600"/>
          </a:xfrm>
          <a:prstGeom prst="rect">
            <a:avLst/>
          </a:prstGeom>
          <a:noFill/>
          <a:ln>
            <a:noFill/>
          </a:ln>
        </p:spPr>
      </p:pic>
      <p:sp>
        <p:nvSpPr>
          <p:cNvPr id="166" name="Google Shape;166;p11"/>
          <p:cNvSpPr/>
          <p:nvPr/>
        </p:nvSpPr>
        <p:spPr>
          <a:xfrm>
            <a:off x="2760464" y="2527474"/>
            <a:ext cx="1611288"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API / URL / 라우트</a:t>
            </a:r>
            <a:endParaRPr b="1" i="0" sz="1500" u="none" cap="none" strike="noStrike">
              <a:solidFill>
                <a:schemeClr val="dk1"/>
              </a:solidFill>
              <a:latin typeface="Calibri"/>
              <a:ea typeface="Calibri"/>
              <a:cs typeface="Calibri"/>
              <a:sym typeface="Calibri"/>
            </a:endParaRPr>
          </a:p>
        </p:txBody>
      </p:sp>
      <p:sp>
        <p:nvSpPr>
          <p:cNvPr id="167" name="Google Shape;167;p11"/>
          <p:cNvSpPr/>
          <p:nvPr/>
        </p:nvSpPr>
        <p:spPr>
          <a:xfrm>
            <a:off x="2760464" y="2795736"/>
            <a:ext cx="1611288" cy="59538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API = 주문서 </a:t>
            </a:r>
            <a:br>
              <a:rPr b="0" i="0" lang="ko-KR" sz="1250" u="none" cap="none" strike="noStrike">
                <a:solidFill>
                  <a:srgbClr val="15213F"/>
                </a:solidFill>
                <a:latin typeface="Roboto"/>
                <a:ea typeface="Roboto"/>
                <a:cs typeface="Roboto"/>
                <a:sym typeface="Roboto"/>
              </a:rPr>
            </a:br>
            <a:r>
              <a:rPr b="0" i="0" lang="ko-KR" sz="1250" u="none" cap="none" strike="noStrike">
                <a:solidFill>
                  <a:srgbClr val="15213F"/>
                </a:solidFill>
                <a:latin typeface="Roboto"/>
                <a:ea typeface="Roboto"/>
                <a:cs typeface="Roboto"/>
                <a:sym typeface="Roboto"/>
              </a:rPr>
              <a:t>(프론트-백 대화 통로)</a:t>
            </a:r>
            <a:endParaRPr b="0" i="0" sz="12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URL = 집 주소, </a:t>
            </a:r>
            <a:br>
              <a:rPr b="0" i="0" lang="ko-KR" sz="1250" u="none" cap="none" strike="noStrike">
                <a:solidFill>
                  <a:srgbClr val="15213F"/>
                </a:solidFill>
                <a:latin typeface="Roboto"/>
                <a:ea typeface="Roboto"/>
                <a:cs typeface="Roboto"/>
                <a:sym typeface="Roboto"/>
              </a:rPr>
            </a:br>
            <a:r>
              <a:rPr b="0" i="0" lang="ko-KR" sz="1250" u="none" cap="none" strike="noStrike">
                <a:solidFill>
                  <a:srgbClr val="15213F"/>
                </a:solidFill>
                <a:latin typeface="Roboto"/>
                <a:ea typeface="Roboto"/>
                <a:cs typeface="Roboto"/>
                <a:sym typeface="Roboto"/>
              </a:rPr>
              <a:t>라우트 = 안내판</a:t>
            </a:r>
            <a:endParaRPr b="0" i="0" sz="1250" u="none" cap="none" strike="noStrike">
              <a:solidFill>
                <a:schemeClr val="dk1"/>
              </a:solidFill>
              <a:latin typeface="Calibri"/>
              <a:ea typeface="Calibri"/>
              <a:cs typeface="Calibri"/>
              <a:sym typeface="Calibri"/>
            </a:endParaRPr>
          </a:p>
        </p:txBody>
      </p:sp>
      <p:pic>
        <p:nvPicPr>
          <p:cNvPr descr="preencoded.png" id="168" name="Google Shape;168;p11"/>
          <p:cNvPicPr preferRelativeResize="0"/>
          <p:nvPr/>
        </p:nvPicPr>
        <p:blipFill rotWithShape="1">
          <a:blip r:embed="rId3">
            <a:alphaModFix/>
          </a:blip>
          <a:srcRect b="0" l="0" r="0" t="0"/>
          <a:stretch/>
        </p:blipFill>
        <p:spPr>
          <a:xfrm>
            <a:off x="4633987" y="2389200"/>
            <a:ext cx="1944956" cy="1538600"/>
          </a:xfrm>
          <a:prstGeom prst="rect">
            <a:avLst/>
          </a:prstGeom>
          <a:noFill/>
          <a:ln>
            <a:noFill/>
          </a:ln>
        </p:spPr>
      </p:pic>
      <p:sp>
        <p:nvSpPr>
          <p:cNvPr id="169" name="Google Shape;169;p11"/>
          <p:cNvSpPr/>
          <p:nvPr/>
        </p:nvSpPr>
        <p:spPr>
          <a:xfrm>
            <a:off x="4829398" y="2527474"/>
            <a:ext cx="1611288"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fetch</a:t>
            </a:r>
            <a:endParaRPr b="1" i="0" sz="1500" u="none" cap="none" strike="noStrike">
              <a:solidFill>
                <a:schemeClr val="dk1"/>
              </a:solidFill>
              <a:latin typeface="Calibri"/>
              <a:ea typeface="Calibri"/>
              <a:cs typeface="Calibri"/>
              <a:sym typeface="Calibri"/>
            </a:endParaRPr>
          </a:p>
        </p:txBody>
      </p:sp>
      <p:sp>
        <p:nvSpPr>
          <p:cNvPr id="170" name="Google Shape;170;p11"/>
          <p:cNvSpPr/>
          <p:nvPr/>
        </p:nvSpPr>
        <p:spPr>
          <a:xfrm>
            <a:off x="4829398" y="2795736"/>
            <a:ext cx="1611288" cy="59538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카카오톡 같은 것!</a:t>
            </a:r>
            <a:endParaRPr b="0" i="0" sz="12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JS가 서버에 메시지를 보내는 함수</a:t>
            </a:r>
            <a:endParaRPr b="0" i="0" sz="1250" u="none" cap="none" strike="noStrike">
              <a:solidFill>
                <a:schemeClr val="dk1"/>
              </a:solidFill>
              <a:latin typeface="Calibri"/>
              <a:ea typeface="Calibri"/>
              <a:cs typeface="Calibri"/>
              <a:sym typeface="Calibri"/>
            </a:endParaRPr>
          </a:p>
        </p:txBody>
      </p:sp>
      <p:pic>
        <p:nvPicPr>
          <p:cNvPr descr="preencoded.png" id="171" name="Google Shape;171;p11"/>
          <p:cNvPicPr preferRelativeResize="0"/>
          <p:nvPr/>
        </p:nvPicPr>
        <p:blipFill rotWithShape="1">
          <a:blip r:embed="rId3">
            <a:alphaModFix/>
          </a:blip>
          <a:srcRect b="0" l="0" r="0" t="0"/>
          <a:stretch/>
        </p:blipFill>
        <p:spPr>
          <a:xfrm>
            <a:off x="6702919" y="2389200"/>
            <a:ext cx="1944956" cy="1538600"/>
          </a:xfrm>
          <a:prstGeom prst="rect">
            <a:avLst/>
          </a:prstGeom>
          <a:noFill/>
          <a:ln>
            <a:noFill/>
          </a:ln>
        </p:spPr>
      </p:pic>
      <p:sp>
        <p:nvSpPr>
          <p:cNvPr id="172" name="Google Shape;172;p11"/>
          <p:cNvSpPr/>
          <p:nvPr/>
        </p:nvSpPr>
        <p:spPr>
          <a:xfrm>
            <a:off x="6898332" y="2527474"/>
            <a:ext cx="1611288"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JSON / CSV</a:t>
            </a:r>
            <a:endParaRPr b="1" i="0" sz="1500" u="none" cap="none" strike="noStrike">
              <a:solidFill>
                <a:schemeClr val="dk1"/>
              </a:solidFill>
              <a:latin typeface="Calibri"/>
              <a:ea typeface="Calibri"/>
              <a:cs typeface="Calibri"/>
              <a:sym typeface="Calibri"/>
            </a:endParaRPr>
          </a:p>
        </p:txBody>
      </p:sp>
      <p:sp>
        <p:nvSpPr>
          <p:cNvPr id="173" name="Google Shape;173;p11"/>
          <p:cNvSpPr/>
          <p:nvPr/>
        </p:nvSpPr>
        <p:spPr>
          <a:xfrm>
            <a:off x="6898332" y="2795736"/>
            <a:ext cx="1611288" cy="793849"/>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JSON = 자기소개 카드 {"이름":"값"}</a:t>
            </a:r>
            <a:endParaRPr b="0" i="0" sz="12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CSV = 쉼표로 구분된 엑셀 출석부</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2"/>
          <p:cNvSpPr/>
          <p:nvPr/>
        </p:nvSpPr>
        <p:spPr>
          <a:xfrm>
            <a:off x="496119" y="1109811"/>
            <a:ext cx="8151763"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700" u="none" cap="none" strike="noStrike">
                <a:solidFill>
                  <a:srgbClr val="3257B8"/>
                </a:solidFill>
                <a:latin typeface="Roboto Slab"/>
                <a:ea typeface="Roboto Slab"/>
                <a:cs typeface="Roboto Slab"/>
                <a:sym typeface="Roboto Slab"/>
              </a:rPr>
              <a:t>기본 용어 사전 ③ — AI / 컴퓨터 비전</a:t>
            </a:r>
            <a:endParaRPr b="1" i="0" sz="2700" u="none" cap="none" strike="noStrike">
              <a:solidFill>
                <a:schemeClr val="dk1"/>
              </a:solidFill>
              <a:latin typeface="Calibri"/>
              <a:ea typeface="Calibri"/>
              <a:cs typeface="Calibri"/>
              <a:sym typeface="Calibri"/>
            </a:endParaRPr>
          </a:p>
        </p:txBody>
      </p:sp>
      <p:sp>
        <p:nvSpPr>
          <p:cNvPr id="180" name="Google Shape;180;p12"/>
          <p:cNvSpPr/>
          <p:nvPr/>
        </p:nvSpPr>
        <p:spPr>
          <a:xfrm>
            <a:off x="496119" y="1745382"/>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Phase 3~4에서 등장하는 AI 전문 용어들! 미리 알아두면 나중에 훨씬 쉬워요.</a:t>
            </a:r>
            <a:endParaRPr b="0" i="0" sz="1250" u="none" cap="none" strike="noStrike">
              <a:solidFill>
                <a:schemeClr val="dk1"/>
              </a:solidFill>
              <a:latin typeface="Calibri"/>
              <a:ea typeface="Calibri"/>
              <a:cs typeface="Calibri"/>
              <a:sym typeface="Calibri"/>
            </a:endParaRPr>
          </a:p>
        </p:txBody>
      </p:sp>
      <p:pic>
        <p:nvPicPr>
          <p:cNvPr descr="preencoded.png" id="181" name="Google Shape;181;p12"/>
          <p:cNvPicPr preferRelativeResize="0"/>
          <p:nvPr/>
        </p:nvPicPr>
        <p:blipFill rotWithShape="1">
          <a:blip r:embed="rId3">
            <a:alphaModFix/>
          </a:blip>
          <a:srcRect b="0" l="0" r="0" t="0"/>
          <a:stretch/>
        </p:blipFill>
        <p:spPr>
          <a:xfrm>
            <a:off x="496125" y="2083376"/>
            <a:ext cx="1944956" cy="1161075"/>
          </a:xfrm>
          <a:prstGeom prst="rect">
            <a:avLst/>
          </a:prstGeom>
          <a:noFill/>
          <a:ln>
            <a:noFill/>
          </a:ln>
        </p:spPr>
      </p:pic>
      <p:sp>
        <p:nvSpPr>
          <p:cNvPr id="182" name="Google Shape;182;p12"/>
          <p:cNvSpPr/>
          <p:nvPr/>
        </p:nvSpPr>
        <p:spPr>
          <a:xfrm>
            <a:off x="620092" y="2207344"/>
            <a:ext cx="1697013"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1" i="0" lang="ko-KR" sz="1800" u="none" cap="none" strike="noStrike">
                <a:solidFill>
                  <a:srgbClr val="15213F"/>
                </a:solidFill>
                <a:latin typeface="Roboto Slab"/>
                <a:ea typeface="Roboto Slab"/>
                <a:cs typeface="Roboto Slab"/>
                <a:sym typeface="Roboto Slab"/>
              </a:rPr>
              <a:t>MediaPipe</a:t>
            </a:r>
            <a:endParaRPr b="1" i="0" sz="1800" u="none" cap="none" strike="noStrike">
              <a:solidFill>
                <a:schemeClr val="dk1"/>
              </a:solidFill>
              <a:latin typeface="Calibri"/>
              <a:ea typeface="Calibri"/>
              <a:cs typeface="Calibri"/>
              <a:sym typeface="Calibri"/>
            </a:endParaRPr>
          </a:p>
        </p:txBody>
      </p:sp>
      <p:sp>
        <p:nvSpPr>
          <p:cNvPr id="183" name="Google Shape;183;p12"/>
          <p:cNvSpPr/>
          <p:nvPr/>
        </p:nvSpPr>
        <p:spPr>
          <a:xfrm>
            <a:off x="620092" y="2575870"/>
            <a:ext cx="1697100" cy="396900"/>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구글의 </a:t>
            </a:r>
            <a:r>
              <a:rPr b="1" i="0" lang="ko-KR" sz="1250" u="none" cap="none" strike="noStrike">
                <a:solidFill>
                  <a:srgbClr val="15213F"/>
                </a:solidFill>
                <a:latin typeface="Roboto"/>
                <a:ea typeface="Roboto"/>
                <a:cs typeface="Roboto"/>
                <a:sym typeface="Roboto"/>
              </a:rPr>
              <a:t>만능 돋보기</a:t>
            </a:r>
            <a:endParaRPr b="0" i="0" sz="12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얼굴/손/몸 인식 AI</a:t>
            </a:r>
            <a:endParaRPr b="0" i="0" sz="1250" u="none" cap="none" strike="noStrike">
              <a:solidFill>
                <a:schemeClr val="dk1"/>
              </a:solidFill>
              <a:latin typeface="Calibri"/>
              <a:ea typeface="Calibri"/>
              <a:cs typeface="Calibri"/>
              <a:sym typeface="Calibri"/>
            </a:endParaRPr>
          </a:p>
        </p:txBody>
      </p:sp>
      <p:pic>
        <p:nvPicPr>
          <p:cNvPr descr="preencoded.png" id="184" name="Google Shape;184;p12"/>
          <p:cNvPicPr preferRelativeResize="0"/>
          <p:nvPr/>
        </p:nvPicPr>
        <p:blipFill rotWithShape="1">
          <a:blip r:embed="rId3">
            <a:alphaModFix/>
          </a:blip>
          <a:srcRect b="0" l="0" r="0" t="0"/>
          <a:stretch/>
        </p:blipFill>
        <p:spPr>
          <a:xfrm>
            <a:off x="2565056" y="2083376"/>
            <a:ext cx="1944956" cy="1161075"/>
          </a:xfrm>
          <a:prstGeom prst="rect">
            <a:avLst/>
          </a:prstGeom>
          <a:noFill/>
          <a:ln>
            <a:noFill/>
          </a:ln>
        </p:spPr>
      </p:pic>
      <p:sp>
        <p:nvSpPr>
          <p:cNvPr id="185" name="Google Shape;185;p12"/>
          <p:cNvSpPr/>
          <p:nvPr/>
        </p:nvSpPr>
        <p:spPr>
          <a:xfrm>
            <a:off x="2689027" y="2207344"/>
            <a:ext cx="1697013"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1" i="0" lang="ko-KR" sz="1800" u="none" cap="none" strike="noStrike">
                <a:solidFill>
                  <a:srgbClr val="15213F"/>
                </a:solidFill>
                <a:latin typeface="Roboto Slab"/>
                <a:ea typeface="Roboto Slab"/>
                <a:cs typeface="Roboto Slab"/>
                <a:sym typeface="Roboto Slab"/>
              </a:rPr>
              <a:t>Face Mesh</a:t>
            </a:r>
            <a:endParaRPr b="1" i="0" sz="1800" u="none" cap="none" strike="noStrike">
              <a:solidFill>
                <a:schemeClr val="dk1"/>
              </a:solidFill>
              <a:latin typeface="Calibri"/>
              <a:ea typeface="Calibri"/>
              <a:cs typeface="Calibri"/>
              <a:sym typeface="Calibri"/>
            </a:endParaRPr>
          </a:p>
        </p:txBody>
      </p:sp>
      <p:sp>
        <p:nvSpPr>
          <p:cNvPr id="186" name="Google Shape;186;p12"/>
          <p:cNvSpPr/>
          <p:nvPr/>
        </p:nvSpPr>
        <p:spPr>
          <a:xfrm>
            <a:off x="2689027" y="2575870"/>
            <a:ext cx="1697100" cy="396900"/>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얼굴에 468개 스티커</a:t>
            </a:r>
            <a:endParaRPr b="0" i="0" sz="12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얼굴 위 468개 점을 찍는 기능</a:t>
            </a:r>
            <a:endParaRPr b="0" i="0" sz="1250" u="none" cap="none" strike="noStrike">
              <a:solidFill>
                <a:schemeClr val="dk1"/>
              </a:solidFill>
              <a:latin typeface="Calibri"/>
              <a:ea typeface="Calibri"/>
              <a:cs typeface="Calibri"/>
              <a:sym typeface="Calibri"/>
            </a:endParaRPr>
          </a:p>
        </p:txBody>
      </p:sp>
      <p:pic>
        <p:nvPicPr>
          <p:cNvPr descr="preencoded.png" id="187" name="Google Shape;187;p12"/>
          <p:cNvPicPr preferRelativeResize="0"/>
          <p:nvPr/>
        </p:nvPicPr>
        <p:blipFill rotWithShape="1">
          <a:blip r:embed="rId3">
            <a:alphaModFix/>
          </a:blip>
          <a:srcRect b="0" l="0" r="0" t="0"/>
          <a:stretch/>
        </p:blipFill>
        <p:spPr>
          <a:xfrm>
            <a:off x="4633987" y="2083376"/>
            <a:ext cx="1944956" cy="1161075"/>
          </a:xfrm>
          <a:prstGeom prst="rect">
            <a:avLst/>
          </a:prstGeom>
          <a:noFill/>
          <a:ln>
            <a:noFill/>
          </a:ln>
        </p:spPr>
      </p:pic>
      <p:sp>
        <p:nvSpPr>
          <p:cNvPr id="188" name="Google Shape;188;p12"/>
          <p:cNvSpPr/>
          <p:nvPr/>
        </p:nvSpPr>
        <p:spPr>
          <a:xfrm>
            <a:off x="4757961" y="2207344"/>
            <a:ext cx="1697013"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1" i="0" lang="ko-KR" sz="1800" u="none" cap="none" strike="noStrike">
                <a:solidFill>
                  <a:srgbClr val="15213F"/>
                </a:solidFill>
                <a:latin typeface="Roboto Slab"/>
                <a:ea typeface="Roboto Slab"/>
                <a:cs typeface="Roboto Slab"/>
                <a:sym typeface="Roboto Slab"/>
              </a:rPr>
              <a:t>EAR</a:t>
            </a:r>
            <a:endParaRPr b="1" i="0" sz="1800" u="none" cap="none" strike="noStrike">
              <a:solidFill>
                <a:schemeClr val="dk1"/>
              </a:solidFill>
              <a:latin typeface="Calibri"/>
              <a:ea typeface="Calibri"/>
              <a:cs typeface="Calibri"/>
              <a:sym typeface="Calibri"/>
            </a:endParaRPr>
          </a:p>
        </p:txBody>
      </p:sp>
      <p:sp>
        <p:nvSpPr>
          <p:cNvPr id="189" name="Google Shape;189;p12"/>
          <p:cNvSpPr/>
          <p:nvPr/>
        </p:nvSpPr>
        <p:spPr>
          <a:xfrm>
            <a:off x="4757961" y="2575870"/>
            <a:ext cx="1697100" cy="396900"/>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만두 납작함 측정기</a:t>
            </a:r>
            <a:endParaRPr b="0" i="0" sz="12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눈 세로÷가로 비율</a:t>
            </a:r>
            <a:br>
              <a:rPr lang="ko-KR" sz="1250">
                <a:solidFill>
                  <a:srgbClr val="15213F"/>
                </a:solidFill>
                <a:latin typeface="Roboto"/>
                <a:ea typeface="Roboto"/>
                <a:cs typeface="Roboto"/>
                <a:sym typeface="Roboto"/>
              </a:rPr>
            </a:br>
            <a:r>
              <a:rPr b="0" i="0" lang="ko-KR" sz="1250" u="none" cap="none" strike="noStrike">
                <a:solidFill>
                  <a:srgbClr val="15213F"/>
                </a:solidFill>
                <a:latin typeface="Roboto"/>
                <a:ea typeface="Roboto"/>
                <a:cs typeface="Roboto"/>
                <a:sym typeface="Roboto"/>
              </a:rPr>
              <a:t>(졸음 감지)</a:t>
            </a:r>
            <a:endParaRPr b="0" i="0" sz="1250" u="none" cap="none" strike="noStrike">
              <a:solidFill>
                <a:schemeClr val="dk1"/>
              </a:solidFill>
              <a:latin typeface="Calibri"/>
              <a:ea typeface="Calibri"/>
              <a:cs typeface="Calibri"/>
              <a:sym typeface="Calibri"/>
            </a:endParaRPr>
          </a:p>
        </p:txBody>
      </p:sp>
      <p:pic>
        <p:nvPicPr>
          <p:cNvPr descr="preencoded.png" id="190" name="Google Shape;190;p12"/>
          <p:cNvPicPr preferRelativeResize="0"/>
          <p:nvPr/>
        </p:nvPicPr>
        <p:blipFill rotWithShape="1">
          <a:blip r:embed="rId3">
            <a:alphaModFix/>
          </a:blip>
          <a:srcRect b="0" l="0" r="0" t="0"/>
          <a:stretch/>
        </p:blipFill>
        <p:spPr>
          <a:xfrm>
            <a:off x="6702918" y="2083376"/>
            <a:ext cx="1944956" cy="1161075"/>
          </a:xfrm>
          <a:prstGeom prst="rect">
            <a:avLst/>
          </a:prstGeom>
          <a:noFill/>
          <a:ln>
            <a:noFill/>
          </a:ln>
        </p:spPr>
      </p:pic>
      <p:sp>
        <p:nvSpPr>
          <p:cNvPr id="191" name="Google Shape;191;p12"/>
          <p:cNvSpPr/>
          <p:nvPr/>
        </p:nvSpPr>
        <p:spPr>
          <a:xfrm>
            <a:off x="6826895" y="2207344"/>
            <a:ext cx="1697013"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1" i="0" lang="ko-KR" sz="1800" u="none" cap="none" strike="noStrike">
                <a:solidFill>
                  <a:srgbClr val="15213F"/>
                </a:solidFill>
                <a:latin typeface="Roboto Slab"/>
                <a:ea typeface="Roboto Slab"/>
                <a:cs typeface="Roboto Slab"/>
                <a:sym typeface="Roboto Slab"/>
              </a:rPr>
              <a:t>YOLO</a:t>
            </a:r>
            <a:endParaRPr b="1" i="0" sz="1800" u="none" cap="none" strike="noStrike">
              <a:solidFill>
                <a:schemeClr val="dk1"/>
              </a:solidFill>
              <a:latin typeface="Calibri"/>
              <a:ea typeface="Calibri"/>
              <a:cs typeface="Calibri"/>
              <a:sym typeface="Calibri"/>
            </a:endParaRPr>
          </a:p>
        </p:txBody>
      </p:sp>
      <p:sp>
        <p:nvSpPr>
          <p:cNvPr id="192" name="Google Shape;192;p12"/>
          <p:cNvSpPr/>
          <p:nvPr/>
        </p:nvSpPr>
        <p:spPr>
          <a:xfrm>
            <a:off x="6826895" y="2575870"/>
            <a:ext cx="1697100" cy="396900"/>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"월리를 찾아라!" AI 버전</a:t>
            </a:r>
            <a:endParaRPr b="0" i="0" sz="12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사진에서 물체를 찾는 AI</a:t>
            </a:r>
            <a:endParaRPr b="0" i="0" sz="1250" u="none" cap="none" strike="noStrike">
              <a:solidFill>
                <a:schemeClr val="dk1"/>
              </a:solidFill>
              <a:latin typeface="Calibri"/>
              <a:ea typeface="Calibri"/>
              <a:cs typeface="Calibri"/>
              <a:sym typeface="Calibri"/>
            </a:endParaRPr>
          </a:p>
        </p:txBody>
      </p:sp>
      <p:pic>
        <p:nvPicPr>
          <p:cNvPr descr="preencoded.png" id="193" name="Google Shape;193;p12"/>
          <p:cNvPicPr preferRelativeResize="0"/>
          <p:nvPr/>
        </p:nvPicPr>
        <p:blipFill rotWithShape="1">
          <a:blip r:embed="rId4">
            <a:alphaModFix/>
          </a:blip>
          <a:srcRect b="0" l="0" r="0" t="0"/>
          <a:stretch/>
        </p:blipFill>
        <p:spPr>
          <a:xfrm>
            <a:off x="496125" y="3509000"/>
            <a:ext cx="4013887" cy="1161075"/>
          </a:xfrm>
          <a:prstGeom prst="rect">
            <a:avLst/>
          </a:prstGeom>
          <a:noFill/>
          <a:ln>
            <a:noFill/>
          </a:ln>
        </p:spPr>
      </p:pic>
      <p:sp>
        <p:nvSpPr>
          <p:cNvPr id="194" name="Google Shape;194;p12"/>
          <p:cNvSpPr/>
          <p:nvPr/>
        </p:nvSpPr>
        <p:spPr>
          <a:xfrm>
            <a:off x="620092" y="3645506"/>
            <a:ext cx="3765900" cy="1938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1" i="0" lang="ko-KR" sz="1800" u="none" cap="none" strike="noStrike">
                <a:solidFill>
                  <a:srgbClr val="15213F"/>
                </a:solidFill>
                <a:latin typeface="Roboto Slab"/>
                <a:ea typeface="Roboto Slab"/>
                <a:cs typeface="Roboto Slab"/>
                <a:sym typeface="Roboto Slab"/>
              </a:rPr>
              <a:t>임계값 / 디바운싱</a:t>
            </a:r>
            <a:endParaRPr b="1" i="0" sz="1800" u="none" cap="none" strike="noStrike">
              <a:solidFill>
                <a:schemeClr val="dk1"/>
              </a:solidFill>
              <a:latin typeface="Calibri"/>
              <a:ea typeface="Calibri"/>
              <a:cs typeface="Calibri"/>
              <a:sym typeface="Calibri"/>
            </a:endParaRPr>
          </a:p>
        </p:txBody>
      </p:sp>
      <p:sp>
        <p:nvSpPr>
          <p:cNvPr id="195" name="Google Shape;195;p12"/>
          <p:cNvSpPr/>
          <p:nvPr/>
        </p:nvSpPr>
        <p:spPr>
          <a:xfrm>
            <a:off x="620092" y="4014032"/>
            <a:ext cx="3765900" cy="396900"/>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임계값 = 합격선 (60점)</a:t>
            </a:r>
            <a:endParaRPr b="0" i="0" sz="12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디바운싱 = 엘리베이터 버튼 연타 무시</a:t>
            </a:r>
            <a:endParaRPr b="0" i="0" sz="1250" u="none" cap="none" strike="noStrike">
              <a:solidFill>
                <a:schemeClr val="dk1"/>
              </a:solidFill>
              <a:latin typeface="Calibri"/>
              <a:ea typeface="Calibri"/>
              <a:cs typeface="Calibri"/>
              <a:sym typeface="Calibri"/>
            </a:endParaRPr>
          </a:p>
        </p:txBody>
      </p:sp>
      <p:pic>
        <p:nvPicPr>
          <p:cNvPr descr="preencoded.png" id="196" name="Google Shape;196;p12"/>
          <p:cNvPicPr preferRelativeResize="0"/>
          <p:nvPr/>
        </p:nvPicPr>
        <p:blipFill rotWithShape="1">
          <a:blip r:embed="rId4">
            <a:alphaModFix/>
          </a:blip>
          <a:srcRect b="0" l="0" r="0" t="0"/>
          <a:stretch/>
        </p:blipFill>
        <p:spPr>
          <a:xfrm>
            <a:off x="4633986" y="3509000"/>
            <a:ext cx="4013887" cy="1161075"/>
          </a:xfrm>
          <a:prstGeom prst="rect">
            <a:avLst/>
          </a:prstGeom>
          <a:noFill/>
          <a:ln>
            <a:noFill/>
          </a:ln>
        </p:spPr>
      </p:pic>
      <p:sp>
        <p:nvSpPr>
          <p:cNvPr id="197" name="Google Shape;197;p12"/>
          <p:cNvSpPr/>
          <p:nvPr/>
        </p:nvSpPr>
        <p:spPr>
          <a:xfrm>
            <a:off x="4757961" y="3645506"/>
            <a:ext cx="3765900" cy="1938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1" i="0" lang="ko-KR" sz="1800" u="none" cap="none" strike="noStrike">
                <a:solidFill>
                  <a:srgbClr val="15213F"/>
                </a:solidFill>
                <a:latin typeface="Roboto Slab"/>
                <a:ea typeface="Roboto Slab"/>
                <a:cs typeface="Roboto Slab"/>
                <a:sym typeface="Roboto Slab"/>
              </a:rPr>
              <a:t>프레임 / confidence</a:t>
            </a:r>
            <a:endParaRPr b="1" i="0" sz="1800" u="none" cap="none" strike="noStrike">
              <a:solidFill>
                <a:schemeClr val="dk1"/>
              </a:solidFill>
              <a:latin typeface="Calibri"/>
              <a:ea typeface="Calibri"/>
              <a:cs typeface="Calibri"/>
              <a:sym typeface="Calibri"/>
            </a:endParaRPr>
          </a:p>
        </p:txBody>
      </p:sp>
      <p:sp>
        <p:nvSpPr>
          <p:cNvPr id="198" name="Google Shape;198;p12"/>
          <p:cNvSpPr/>
          <p:nvPr/>
        </p:nvSpPr>
        <p:spPr>
          <a:xfrm>
            <a:off x="4757961" y="4014032"/>
            <a:ext cx="3765900" cy="396900"/>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프레임 = 만화책 한 컷</a:t>
            </a:r>
            <a:endParaRPr b="0" i="0" sz="1250" u="none" cap="none" strike="noStrike">
              <a:solidFill>
                <a:schemeClr val="dk1"/>
              </a:solidFill>
              <a:latin typeface="Calibri"/>
              <a:ea typeface="Calibri"/>
              <a:cs typeface="Calibri"/>
              <a:sym typeface="Calibri"/>
            </a:endParaRPr>
          </a:p>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confidence = AI의 답안 확신도 (0~1)</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descr="preencoded.png" id="204" name="Google Shape;204;p13"/>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205" name="Google Shape;205;p13"/>
          <p:cNvSpPr/>
          <p:nvPr/>
        </p:nvSpPr>
        <p:spPr>
          <a:xfrm>
            <a:off x="496119" y="459150"/>
            <a:ext cx="543300" cy="188700"/>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3"/>
          <p:cNvSpPr/>
          <p:nvPr/>
        </p:nvSpPr>
        <p:spPr>
          <a:xfrm>
            <a:off x="570533" y="496358"/>
            <a:ext cx="851700" cy="114300"/>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1</a:t>
            </a:r>
            <a:endParaRPr b="0" i="0" sz="750" u="none" cap="none" strike="noStrike">
              <a:solidFill>
                <a:schemeClr val="dk1"/>
              </a:solidFill>
              <a:latin typeface="Calibri"/>
              <a:ea typeface="Calibri"/>
              <a:cs typeface="Calibri"/>
              <a:sym typeface="Calibri"/>
            </a:endParaRPr>
          </a:p>
        </p:txBody>
      </p:sp>
      <p:sp>
        <p:nvSpPr>
          <p:cNvPr id="207" name="Google Shape;207;p13"/>
          <p:cNvSpPr/>
          <p:nvPr/>
        </p:nvSpPr>
        <p:spPr>
          <a:xfrm>
            <a:off x="496119" y="697275"/>
            <a:ext cx="4722900" cy="3876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400" u="none" cap="none" strike="noStrike">
                <a:solidFill>
                  <a:srgbClr val="3257B8"/>
                </a:solidFill>
                <a:latin typeface="Roboto Slab"/>
                <a:ea typeface="Roboto Slab"/>
                <a:cs typeface="Roboto Slab"/>
                <a:sym typeface="Roboto Slab"/>
              </a:rPr>
              <a:t>Phase 1 — 기본 타이머 만들기</a:t>
            </a:r>
            <a:endParaRPr b="1" i="0" sz="2400" u="none" cap="none" strike="noStrike">
              <a:solidFill>
                <a:schemeClr val="dk1"/>
              </a:solidFill>
              <a:latin typeface="Calibri"/>
              <a:ea typeface="Calibri"/>
              <a:cs typeface="Calibri"/>
              <a:sym typeface="Calibri"/>
            </a:endParaRPr>
          </a:p>
        </p:txBody>
      </p:sp>
      <p:sp>
        <p:nvSpPr>
          <p:cNvPr id="208" name="Google Shape;208;p13"/>
          <p:cNvSpPr/>
          <p:nvPr/>
        </p:nvSpPr>
        <p:spPr>
          <a:xfrm>
            <a:off x="496194" y="1183743"/>
            <a:ext cx="47229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기간: </a:t>
            </a:r>
            <a:r>
              <a:rPr b="1" i="0" lang="ko-KR" sz="1150" u="none" cap="none" strike="noStrike">
                <a:solidFill>
                  <a:srgbClr val="15213F"/>
                </a:solidFill>
                <a:latin typeface="Roboto"/>
                <a:ea typeface="Roboto"/>
                <a:cs typeface="Roboto"/>
                <a:sym typeface="Roboto"/>
              </a:rPr>
              <a:t>2주</a:t>
            </a:r>
            <a:r>
              <a:rPr b="0" i="0" lang="ko-KR" sz="1150" u="none" cap="none" strike="noStrike">
                <a:solidFill>
                  <a:srgbClr val="15213F"/>
                </a:solidFill>
                <a:latin typeface="Roboto"/>
                <a:ea typeface="Roboto"/>
                <a:cs typeface="Roboto"/>
                <a:sym typeface="Roboto"/>
              </a:rPr>
              <a:t> | AI 없음 | 수동 스톱워치</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비유: </a:t>
            </a:r>
            <a:r>
              <a:rPr b="1" i="0" lang="ko-KR" sz="1150" u="none" cap="none" strike="noStrike">
                <a:solidFill>
                  <a:srgbClr val="15213F"/>
                </a:solidFill>
                <a:latin typeface="Roboto"/>
                <a:ea typeface="Roboto"/>
                <a:cs typeface="Roboto"/>
                <a:sym typeface="Roboto"/>
              </a:rPr>
              <a:t>체육 선생님이 스톱워치를 직접 누르는 것!</a:t>
            </a:r>
            <a:endParaRPr b="0" i="0" sz="1150" u="none" cap="none" strike="noStrike">
              <a:solidFill>
                <a:schemeClr val="dk1"/>
              </a:solidFill>
              <a:latin typeface="Calibri"/>
              <a:ea typeface="Calibri"/>
              <a:cs typeface="Calibri"/>
              <a:sym typeface="Calibri"/>
            </a:endParaRPr>
          </a:p>
        </p:txBody>
      </p:sp>
      <p:sp>
        <p:nvSpPr>
          <p:cNvPr id="209" name="Google Shape;209;p13"/>
          <p:cNvSpPr/>
          <p:nvPr/>
        </p:nvSpPr>
        <p:spPr>
          <a:xfrm>
            <a:off x="496119" y="1920106"/>
            <a:ext cx="248022" cy="1550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50"/>
              <a:buFont typeface="Roboto Slab Light"/>
              <a:buNone/>
            </a:pPr>
            <a:r>
              <a:rPr b="0" i="0" lang="ko-KR" sz="1150" u="none" cap="none" strike="noStrike">
                <a:solidFill>
                  <a:srgbClr val="15213F"/>
                </a:solidFill>
                <a:latin typeface="Roboto Slab Light"/>
                <a:ea typeface="Roboto Slab Light"/>
                <a:cs typeface="Roboto Slab Light"/>
                <a:sym typeface="Roboto Slab Light"/>
              </a:rPr>
              <a:t>01</a:t>
            </a:r>
            <a:endParaRPr b="0" i="0" sz="1150" u="none" cap="none" strike="noStrike">
              <a:solidFill>
                <a:schemeClr val="dk1"/>
              </a:solidFill>
              <a:latin typeface="Calibri"/>
              <a:ea typeface="Calibri"/>
              <a:cs typeface="Calibri"/>
              <a:sym typeface="Calibri"/>
            </a:endParaRPr>
          </a:p>
        </p:txBody>
      </p:sp>
      <p:sp>
        <p:nvSpPr>
          <p:cNvPr id="210" name="Google Shape;210;p13"/>
          <p:cNvSpPr/>
          <p:nvPr/>
        </p:nvSpPr>
        <p:spPr>
          <a:xfrm>
            <a:off x="496119" y="2116559"/>
            <a:ext cx="2299395"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11" name="Google Shape;211;p13"/>
          <p:cNvSpPr/>
          <p:nvPr/>
        </p:nvSpPr>
        <p:spPr>
          <a:xfrm>
            <a:off x="496119" y="2207121"/>
            <a:ext cx="2299395"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0" i="0" lang="ko-KR" u="none" cap="none" strike="noStrike">
                <a:solidFill>
                  <a:srgbClr val="15213F"/>
                </a:solidFill>
                <a:latin typeface="Roboto Slab"/>
                <a:ea typeface="Roboto Slab"/>
                <a:cs typeface="Roboto Slab"/>
                <a:sym typeface="Roboto Slab"/>
              </a:rPr>
              <a:t>과목 선택 + 추가/삭제</a:t>
            </a:r>
            <a:endParaRPr b="0" i="0" u="none" cap="none" strike="noStrike">
              <a:solidFill>
                <a:schemeClr val="dk1"/>
              </a:solidFill>
              <a:latin typeface="Calibri"/>
              <a:ea typeface="Calibri"/>
              <a:cs typeface="Calibri"/>
              <a:sym typeface="Calibri"/>
            </a:endParaRPr>
          </a:p>
        </p:txBody>
      </p:sp>
      <p:sp>
        <p:nvSpPr>
          <p:cNvPr id="212" name="Google Shape;212;p13"/>
          <p:cNvSpPr/>
          <p:nvPr/>
        </p:nvSpPr>
        <p:spPr>
          <a:xfrm>
            <a:off x="496119" y="2475384"/>
            <a:ext cx="2299395"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내가 공부할 과목을 직접 설정</a:t>
            </a:r>
            <a:endParaRPr b="0" i="0" sz="1150" u="none" cap="none" strike="noStrike">
              <a:solidFill>
                <a:schemeClr val="dk1"/>
              </a:solidFill>
              <a:latin typeface="Calibri"/>
              <a:ea typeface="Calibri"/>
              <a:cs typeface="Calibri"/>
              <a:sym typeface="Calibri"/>
            </a:endParaRPr>
          </a:p>
        </p:txBody>
      </p:sp>
      <p:sp>
        <p:nvSpPr>
          <p:cNvPr id="213" name="Google Shape;213;p13"/>
          <p:cNvSpPr/>
          <p:nvPr/>
        </p:nvSpPr>
        <p:spPr>
          <a:xfrm>
            <a:off x="2919487" y="1920106"/>
            <a:ext cx="248022" cy="1550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50"/>
              <a:buFont typeface="Roboto Slab Light"/>
              <a:buNone/>
            </a:pPr>
            <a:r>
              <a:rPr b="0" i="0" lang="ko-KR" sz="1150" u="none" cap="none" strike="noStrike">
                <a:solidFill>
                  <a:srgbClr val="15213F"/>
                </a:solidFill>
                <a:latin typeface="Roboto Slab Light"/>
                <a:ea typeface="Roboto Slab Light"/>
                <a:cs typeface="Roboto Slab Light"/>
                <a:sym typeface="Roboto Slab Light"/>
              </a:rPr>
              <a:t>02</a:t>
            </a:r>
            <a:endParaRPr b="0" i="0" sz="1150" u="none" cap="none" strike="noStrike">
              <a:solidFill>
                <a:schemeClr val="dk1"/>
              </a:solidFill>
              <a:latin typeface="Calibri"/>
              <a:ea typeface="Calibri"/>
              <a:cs typeface="Calibri"/>
              <a:sym typeface="Calibri"/>
            </a:endParaRPr>
          </a:p>
        </p:txBody>
      </p:sp>
      <p:sp>
        <p:nvSpPr>
          <p:cNvPr id="214" name="Google Shape;214;p13"/>
          <p:cNvSpPr/>
          <p:nvPr/>
        </p:nvSpPr>
        <p:spPr>
          <a:xfrm>
            <a:off x="2919487" y="2116559"/>
            <a:ext cx="2299395"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15" name="Google Shape;215;p13"/>
          <p:cNvSpPr/>
          <p:nvPr/>
        </p:nvSpPr>
        <p:spPr>
          <a:xfrm>
            <a:off x="2919487" y="2207121"/>
            <a:ext cx="2299395"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0" i="0" lang="ko-KR" u="none" cap="none" strike="noStrike">
                <a:solidFill>
                  <a:srgbClr val="15213F"/>
                </a:solidFill>
                <a:latin typeface="Roboto Slab"/>
                <a:ea typeface="Roboto Slab"/>
                <a:cs typeface="Roboto Slab"/>
                <a:sym typeface="Roboto Slab"/>
              </a:rPr>
              <a:t>시작/정지 버튼 타이머</a:t>
            </a:r>
            <a:endParaRPr b="0" i="0" u="none" cap="none" strike="noStrike">
              <a:solidFill>
                <a:schemeClr val="dk1"/>
              </a:solidFill>
              <a:latin typeface="Calibri"/>
              <a:ea typeface="Calibri"/>
              <a:cs typeface="Calibri"/>
              <a:sym typeface="Calibri"/>
            </a:endParaRPr>
          </a:p>
        </p:txBody>
      </p:sp>
      <p:sp>
        <p:nvSpPr>
          <p:cNvPr id="216" name="Google Shape;216;p13"/>
          <p:cNvSpPr/>
          <p:nvPr/>
        </p:nvSpPr>
        <p:spPr>
          <a:xfrm>
            <a:off x="2919487" y="2475384"/>
            <a:ext cx="2299395"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순공 시간 / 딴짓 시간 실시간 표시</a:t>
            </a:r>
            <a:endParaRPr b="0" i="0" sz="1150" u="none" cap="none" strike="noStrike">
              <a:solidFill>
                <a:schemeClr val="dk1"/>
              </a:solidFill>
              <a:latin typeface="Calibri"/>
              <a:ea typeface="Calibri"/>
              <a:cs typeface="Calibri"/>
              <a:sym typeface="Calibri"/>
            </a:endParaRPr>
          </a:p>
        </p:txBody>
      </p:sp>
      <p:sp>
        <p:nvSpPr>
          <p:cNvPr id="217" name="Google Shape;217;p13"/>
          <p:cNvSpPr/>
          <p:nvPr/>
        </p:nvSpPr>
        <p:spPr>
          <a:xfrm>
            <a:off x="496119" y="2890838"/>
            <a:ext cx="248022" cy="1550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50"/>
              <a:buFont typeface="Roboto Slab Light"/>
              <a:buNone/>
            </a:pPr>
            <a:r>
              <a:rPr b="0" i="0" lang="ko-KR" sz="1150" u="none" cap="none" strike="noStrike">
                <a:solidFill>
                  <a:srgbClr val="15213F"/>
                </a:solidFill>
                <a:latin typeface="Roboto Slab Light"/>
                <a:ea typeface="Roboto Slab Light"/>
                <a:cs typeface="Roboto Slab Light"/>
                <a:sym typeface="Roboto Slab Light"/>
              </a:rPr>
              <a:t>03</a:t>
            </a:r>
            <a:endParaRPr b="0" i="0" sz="1150" u="none" cap="none" strike="noStrike">
              <a:solidFill>
                <a:schemeClr val="dk1"/>
              </a:solidFill>
              <a:latin typeface="Calibri"/>
              <a:ea typeface="Calibri"/>
              <a:cs typeface="Calibri"/>
              <a:sym typeface="Calibri"/>
            </a:endParaRPr>
          </a:p>
        </p:txBody>
      </p:sp>
      <p:sp>
        <p:nvSpPr>
          <p:cNvPr id="218" name="Google Shape;218;p13"/>
          <p:cNvSpPr/>
          <p:nvPr/>
        </p:nvSpPr>
        <p:spPr>
          <a:xfrm>
            <a:off x="496119" y="3074863"/>
            <a:ext cx="4722763"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19" name="Google Shape;219;p13"/>
          <p:cNvSpPr/>
          <p:nvPr/>
        </p:nvSpPr>
        <p:spPr>
          <a:xfrm>
            <a:off x="496119" y="3177853"/>
            <a:ext cx="4722763"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0" i="0" lang="ko-KR" u="none" cap="none" strike="noStrike">
                <a:solidFill>
                  <a:srgbClr val="15213F"/>
                </a:solidFill>
                <a:latin typeface="Roboto Slab"/>
                <a:ea typeface="Roboto Slab"/>
                <a:cs typeface="Roboto Slab"/>
                <a:sym typeface="Roboto Slab"/>
              </a:rPr>
              <a:t>세션 기록 저장</a:t>
            </a:r>
            <a:endParaRPr b="0" i="0" u="none" cap="none" strike="noStrike">
              <a:solidFill>
                <a:schemeClr val="dk1"/>
              </a:solidFill>
              <a:latin typeface="Calibri"/>
              <a:ea typeface="Calibri"/>
              <a:cs typeface="Calibri"/>
              <a:sym typeface="Calibri"/>
            </a:endParaRPr>
          </a:p>
        </p:txBody>
      </p:sp>
      <p:sp>
        <p:nvSpPr>
          <p:cNvPr id="220" name="Google Shape;220;p13"/>
          <p:cNvSpPr/>
          <p:nvPr/>
        </p:nvSpPr>
        <p:spPr>
          <a:xfrm>
            <a:off x="496119" y="3446115"/>
            <a:ext cx="47227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공부가 끝나면 JSON 파일에 자동 저장</a:t>
            </a:r>
            <a:endParaRPr b="0" i="0" sz="1150" u="none" cap="none" strike="noStrike">
              <a:solidFill>
                <a:schemeClr val="dk1"/>
              </a:solidFill>
              <a:latin typeface="Calibri"/>
              <a:ea typeface="Calibri"/>
              <a:cs typeface="Calibri"/>
              <a:sym typeface="Calibri"/>
            </a:endParaRPr>
          </a:p>
        </p:txBody>
      </p:sp>
      <p:sp>
        <p:nvSpPr>
          <p:cNvPr id="221" name="Google Shape;221;p13"/>
          <p:cNvSpPr/>
          <p:nvPr/>
        </p:nvSpPr>
        <p:spPr>
          <a:xfrm>
            <a:off x="496119" y="3852342"/>
            <a:ext cx="4722763" cy="694432"/>
          </a:xfrm>
          <a:prstGeom prst="roundRect">
            <a:avLst>
              <a:gd fmla="val 2679"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2" name="Google Shape;222;p13"/>
          <p:cNvPicPr preferRelativeResize="0"/>
          <p:nvPr/>
        </p:nvPicPr>
        <p:blipFill rotWithShape="1">
          <a:blip r:embed="rId4">
            <a:alphaModFix/>
          </a:blip>
          <a:srcRect b="0" l="0" r="0" t="0"/>
          <a:stretch/>
        </p:blipFill>
        <p:spPr>
          <a:xfrm>
            <a:off x="620092" y="4032126"/>
            <a:ext cx="155004" cy="123974"/>
          </a:xfrm>
          <a:prstGeom prst="rect">
            <a:avLst/>
          </a:prstGeom>
          <a:noFill/>
          <a:ln>
            <a:noFill/>
          </a:ln>
        </p:spPr>
      </p:pic>
      <p:sp>
        <p:nvSpPr>
          <p:cNvPr id="223" name="Google Shape;223;p13"/>
          <p:cNvSpPr/>
          <p:nvPr/>
        </p:nvSpPr>
        <p:spPr>
          <a:xfrm>
            <a:off x="899071" y="4032052"/>
            <a:ext cx="4195837"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00"/>
              </a:buClr>
              <a:buSzPts val="950"/>
              <a:buFont typeface="Roboto"/>
              <a:buNone/>
            </a:pPr>
            <a:r>
              <a:rPr b="0" i="0" lang="ko-KR" sz="1250" u="none" cap="none" strike="noStrike">
                <a:solidFill>
                  <a:srgbClr val="000000"/>
                </a:solidFill>
                <a:latin typeface="Roboto"/>
                <a:ea typeface="Roboto"/>
                <a:cs typeface="Roboto"/>
                <a:sym typeface="Roboto"/>
              </a:rPr>
              <a:t>아직 AI가 없으니 "공부 시작"과 "종료"를 </a:t>
            </a:r>
            <a:r>
              <a:rPr b="1" i="0" lang="ko-KR" sz="1250" u="none" cap="none" strike="noStrike">
                <a:solidFill>
                  <a:srgbClr val="000000"/>
                </a:solidFill>
                <a:latin typeface="Roboto"/>
                <a:ea typeface="Roboto"/>
                <a:cs typeface="Roboto"/>
                <a:sym typeface="Roboto"/>
              </a:rPr>
              <a:t>직접 클릭</a:t>
            </a:r>
            <a:r>
              <a:rPr b="0" i="0" lang="ko-KR" sz="1250" u="none" cap="none" strike="noStrike">
                <a:solidFill>
                  <a:srgbClr val="000000"/>
                </a:solidFill>
                <a:latin typeface="Roboto"/>
                <a:ea typeface="Roboto"/>
                <a:cs typeface="Roboto"/>
                <a:sym typeface="Roboto"/>
              </a:rPr>
              <a:t>합니다. </a:t>
            </a:r>
            <a:br>
              <a:rPr b="0" i="0" lang="ko-KR" sz="1250" u="none" cap="none" strike="noStrike">
                <a:solidFill>
                  <a:srgbClr val="000000"/>
                </a:solidFill>
                <a:latin typeface="Roboto"/>
                <a:ea typeface="Roboto"/>
                <a:cs typeface="Roboto"/>
                <a:sym typeface="Roboto"/>
              </a:rPr>
            </a:br>
            <a:r>
              <a:rPr b="0" i="0" lang="ko-KR" sz="1250" u="none" cap="none" strike="noStrike">
                <a:solidFill>
                  <a:srgbClr val="000000"/>
                </a:solidFill>
                <a:latin typeface="Roboto"/>
                <a:ea typeface="Roboto"/>
                <a:cs typeface="Roboto"/>
                <a:sym typeface="Roboto"/>
              </a:rPr>
              <a:t>나중에 AI가 이 버튼을 대신 눌러줄 거예요!</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4"/>
          <p:cNvSpPr/>
          <p:nvPr/>
        </p:nvSpPr>
        <p:spPr>
          <a:xfrm>
            <a:off x="496119" y="645840"/>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4"/>
          <p:cNvSpPr/>
          <p:nvPr/>
        </p:nvSpPr>
        <p:spPr>
          <a:xfrm>
            <a:off x="570533" y="683047"/>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1</a:t>
            </a:r>
            <a:endParaRPr b="0" i="0" sz="750" u="none" cap="none" strike="noStrike">
              <a:solidFill>
                <a:schemeClr val="dk1"/>
              </a:solidFill>
              <a:latin typeface="Calibri"/>
              <a:ea typeface="Calibri"/>
              <a:cs typeface="Calibri"/>
              <a:sym typeface="Calibri"/>
            </a:endParaRPr>
          </a:p>
        </p:txBody>
      </p:sp>
      <p:sp>
        <p:nvSpPr>
          <p:cNvPr id="231" name="Google Shape;231;p14"/>
          <p:cNvSpPr/>
          <p:nvPr/>
        </p:nvSpPr>
        <p:spPr>
          <a:xfrm>
            <a:off x="496119" y="883965"/>
            <a:ext cx="8151763"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600" u="none" cap="none" strike="noStrike">
                <a:solidFill>
                  <a:srgbClr val="3257B8"/>
                </a:solidFill>
                <a:latin typeface="Roboto Slab"/>
                <a:ea typeface="Roboto Slab"/>
                <a:cs typeface="Roboto Slab"/>
                <a:sym typeface="Roboto Slab"/>
              </a:rPr>
              <a:t>Flask 서버 만들기 — 주방 설치</a:t>
            </a:r>
            <a:endParaRPr b="1" i="0" sz="2600" u="none" cap="none" strike="noStrike">
              <a:solidFill>
                <a:schemeClr val="dk1"/>
              </a:solidFill>
              <a:latin typeface="Calibri"/>
              <a:ea typeface="Calibri"/>
              <a:cs typeface="Calibri"/>
              <a:sym typeface="Calibri"/>
            </a:endParaRPr>
          </a:p>
        </p:txBody>
      </p:sp>
      <p:sp>
        <p:nvSpPr>
          <p:cNvPr id="232" name="Google Shape;232;p14"/>
          <p:cNvSpPr/>
          <p:nvPr/>
        </p:nvSpPr>
        <p:spPr>
          <a:xfrm>
            <a:off x="496119" y="1457548"/>
            <a:ext cx="8608963" cy="2032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Flask = Python으로 만든 미니 주방 세트!</a:t>
            </a:r>
            <a:r>
              <a:rPr b="0" i="0" lang="ko-KR" sz="1250" u="none" cap="none" strike="noStrike">
                <a:solidFill>
                  <a:srgbClr val="15213F"/>
                </a:solidFill>
                <a:latin typeface="Roboto"/>
                <a:ea typeface="Roboto"/>
                <a:cs typeface="Roboto"/>
                <a:sym typeface="Roboto"/>
              </a:rPr>
              <a:t> URL 하나하나가 주방장이 처리하는 주문이에요. </a:t>
            </a:r>
            <a:br>
              <a:rPr b="0" i="0" lang="ko-KR" sz="1250" u="none" cap="none" strike="noStrike">
                <a:solidFill>
                  <a:srgbClr val="15213F"/>
                </a:solidFill>
                <a:latin typeface="Roboto"/>
                <a:ea typeface="Roboto"/>
                <a:cs typeface="Roboto"/>
                <a:sym typeface="Roboto"/>
              </a:rPr>
            </a:br>
            <a:r>
              <a:rPr b="0" i="0" lang="ko-KR" sz="1250" u="none" cap="none" strike="noStrike">
                <a:solidFill>
                  <a:srgbClr val="15213F"/>
                </a:solidFill>
                <a:highlight>
                  <a:srgbClr val="EEEFF1"/>
                </a:highlight>
                <a:latin typeface="Consolas"/>
                <a:ea typeface="Consolas"/>
                <a:cs typeface="Consolas"/>
                <a:sym typeface="Consolas"/>
              </a:rPr>
              <a:t>python app.py</a:t>
            </a:r>
            <a:r>
              <a:rPr b="0" i="0" lang="ko-KR" sz="1250" u="none" cap="none" strike="noStrike">
                <a:solidFill>
                  <a:srgbClr val="15213F"/>
                </a:solidFill>
                <a:latin typeface="Roboto"/>
                <a:ea typeface="Roboto"/>
                <a:cs typeface="Roboto"/>
                <a:sym typeface="Roboto"/>
              </a:rPr>
              <a:t> 실행 후 </a:t>
            </a:r>
            <a:r>
              <a:rPr b="0" i="0" lang="ko-KR" sz="1250" u="none" cap="none" strike="noStrike">
                <a:solidFill>
                  <a:srgbClr val="15213F"/>
                </a:solidFill>
                <a:highlight>
                  <a:srgbClr val="EEEFF1"/>
                </a:highlight>
                <a:latin typeface="Consolas"/>
                <a:ea typeface="Consolas"/>
                <a:cs typeface="Consolas"/>
                <a:sym typeface="Consolas"/>
              </a:rPr>
              <a:t>http://localhost:5000</a:t>
            </a:r>
            <a:r>
              <a:rPr b="0" i="0" lang="ko-KR" sz="1250" u="none" cap="none" strike="noStrike">
                <a:solidFill>
                  <a:srgbClr val="15213F"/>
                </a:solidFill>
                <a:latin typeface="Roboto"/>
                <a:ea typeface="Roboto"/>
                <a:cs typeface="Roboto"/>
                <a:sym typeface="Roboto"/>
              </a:rPr>
              <a:t>으로 접속!</a:t>
            </a:r>
            <a:endParaRPr b="0" i="0" sz="1250" u="none" cap="none" strike="noStrike">
              <a:solidFill>
                <a:schemeClr val="dk1"/>
              </a:solidFill>
              <a:latin typeface="Calibri"/>
              <a:ea typeface="Calibri"/>
              <a:cs typeface="Calibri"/>
              <a:sym typeface="Calibri"/>
            </a:endParaRPr>
          </a:p>
        </p:txBody>
      </p:sp>
      <p:pic>
        <p:nvPicPr>
          <p:cNvPr descr="preencoded.png" id="233" name="Google Shape;233;p14"/>
          <p:cNvPicPr preferRelativeResize="0"/>
          <p:nvPr/>
        </p:nvPicPr>
        <p:blipFill rotWithShape="1">
          <a:blip r:embed="rId3">
            <a:alphaModFix/>
          </a:blip>
          <a:srcRect b="0" l="0" r="0" t="0"/>
          <a:stretch/>
        </p:blipFill>
        <p:spPr>
          <a:xfrm>
            <a:off x="496044" y="2171124"/>
            <a:ext cx="4013896" cy="1115318"/>
          </a:xfrm>
          <a:prstGeom prst="rect">
            <a:avLst/>
          </a:prstGeom>
          <a:noFill/>
          <a:ln>
            <a:noFill/>
          </a:ln>
        </p:spPr>
      </p:pic>
      <p:sp>
        <p:nvSpPr>
          <p:cNvPr id="234" name="Google Shape;234;p14"/>
          <p:cNvSpPr/>
          <p:nvPr/>
        </p:nvSpPr>
        <p:spPr>
          <a:xfrm>
            <a:off x="634305" y="2681456"/>
            <a:ext cx="3737400" cy="193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GET /</a:t>
            </a:r>
            <a:endParaRPr b="1" i="0" sz="1600" u="none" cap="none" strike="noStrike">
              <a:solidFill>
                <a:schemeClr val="dk1"/>
              </a:solidFill>
              <a:latin typeface="Calibri"/>
              <a:ea typeface="Calibri"/>
              <a:cs typeface="Calibri"/>
              <a:sym typeface="Calibri"/>
            </a:endParaRPr>
          </a:p>
        </p:txBody>
      </p:sp>
      <p:sp>
        <p:nvSpPr>
          <p:cNvPr id="235" name="Google Shape;235;p14"/>
          <p:cNvSpPr/>
          <p:nvPr/>
        </p:nvSpPr>
        <p:spPr>
          <a:xfrm>
            <a:off x="634305" y="2949719"/>
            <a:ext cx="3737400" cy="198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메인 페이지 표시 — 메뉴판 보여주기</a:t>
            </a:r>
            <a:endParaRPr b="0" i="0" sz="950" u="none" cap="none" strike="noStrike">
              <a:solidFill>
                <a:schemeClr val="dk1"/>
              </a:solidFill>
              <a:latin typeface="Calibri"/>
              <a:ea typeface="Calibri"/>
              <a:cs typeface="Calibri"/>
              <a:sym typeface="Calibri"/>
            </a:endParaRPr>
          </a:p>
        </p:txBody>
      </p:sp>
      <p:pic>
        <p:nvPicPr>
          <p:cNvPr descr="preencoded.png" id="236" name="Google Shape;236;p14"/>
          <p:cNvPicPr preferRelativeResize="0"/>
          <p:nvPr/>
        </p:nvPicPr>
        <p:blipFill rotWithShape="1">
          <a:blip r:embed="rId3">
            <a:alphaModFix/>
          </a:blip>
          <a:srcRect b="0" l="0" r="0" t="0"/>
          <a:stretch/>
        </p:blipFill>
        <p:spPr>
          <a:xfrm>
            <a:off x="4633912" y="2171124"/>
            <a:ext cx="4013896" cy="1115318"/>
          </a:xfrm>
          <a:prstGeom prst="rect">
            <a:avLst/>
          </a:prstGeom>
          <a:noFill/>
          <a:ln>
            <a:noFill/>
          </a:ln>
        </p:spPr>
      </p:pic>
      <p:sp>
        <p:nvSpPr>
          <p:cNvPr id="237" name="Google Shape;237;p14"/>
          <p:cNvSpPr/>
          <p:nvPr/>
        </p:nvSpPr>
        <p:spPr>
          <a:xfrm>
            <a:off x="4772173" y="2681456"/>
            <a:ext cx="3737400" cy="193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GET /timer</a:t>
            </a:r>
            <a:endParaRPr b="1" i="0" sz="1600" u="none" cap="none" strike="noStrike">
              <a:solidFill>
                <a:schemeClr val="dk1"/>
              </a:solidFill>
              <a:latin typeface="Calibri"/>
              <a:ea typeface="Calibri"/>
              <a:cs typeface="Calibri"/>
              <a:sym typeface="Calibri"/>
            </a:endParaRPr>
          </a:p>
        </p:txBody>
      </p:sp>
      <p:sp>
        <p:nvSpPr>
          <p:cNvPr id="238" name="Google Shape;238;p14"/>
          <p:cNvSpPr/>
          <p:nvPr/>
        </p:nvSpPr>
        <p:spPr>
          <a:xfrm>
            <a:off x="4772173" y="2949719"/>
            <a:ext cx="3737400" cy="198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타이머 페이지 표시 — 공부방 안내</a:t>
            </a:r>
            <a:endParaRPr b="0" i="0" sz="950" u="none" cap="none" strike="noStrike">
              <a:solidFill>
                <a:schemeClr val="dk1"/>
              </a:solidFill>
              <a:latin typeface="Calibri"/>
              <a:ea typeface="Calibri"/>
              <a:cs typeface="Calibri"/>
              <a:sym typeface="Calibri"/>
            </a:endParaRPr>
          </a:p>
        </p:txBody>
      </p:sp>
      <p:pic>
        <p:nvPicPr>
          <p:cNvPr descr="preencoded.png" id="239" name="Google Shape;239;p14"/>
          <p:cNvPicPr preferRelativeResize="0"/>
          <p:nvPr/>
        </p:nvPicPr>
        <p:blipFill rotWithShape="1">
          <a:blip r:embed="rId3">
            <a:alphaModFix/>
          </a:blip>
          <a:srcRect b="0" l="0" r="0" t="0"/>
          <a:stretch/>
        </p:blipFill>
        <p:spPr>
          <a:xfrm>
            <a:off x="496044" y="3410416"/>
            <a:ext cx="4013896" cy="1115318"/>
          </a:xfrm>
          <a:prstGeom prst="rect">
            <a:avLst/>
          </a:prstGeom>
          <a:noFill/>
          <a:ln>
            <a:noFill/>
          </a:ln>
        </p:spPr>
      </p:pic>
      <p:sp>
        <p:nvSpPr>
          <p:cNvPr id="240" name="Google Shape;240;p14"/>
          <p:cNvSpPr/>
          <p:nvPr/>
        </p:nvSpPr>
        <p:spPr>
          <a:xfrm>
            <a:off x="634305" y="3920748"/>
            <a:ext cx="3737400" cy="193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GET /api/subjects</a:t>
            </a:r>
            <a:endParaRPr b="1" i="0" sz="1600" u="none" cap="none" strike="noStrike">
              <a:solidFill>
                <a:schemeClr val="dk1"/>
              </a:solidFill>
              <a:latin typeface="Calibri"/>
              <a:ea typeface="Calibri"/>
              <a:cs typeface="Calibri"/>
              <a:sym typeface="Calibri"/>
            </a:endParaRPr>
          </a:p>
        </p:txBody>
      </p:sp>
      <p:sp>
        <p:nvSpPr>
          <p:cNvPr id="241" name="Google Shape;241;p14"/>
          <p:cNvSpPr/>
          <p:nvPr/>
        </p:nvSpPr>
        <p:spPr>
          <a:xfrm>
            <a:off x="634305" y="4189011"/>
            <a:ext cx="3737400" cy="198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과목 목록 보내기 — 냉장고에서 재료 꺼내기</a:t>
            </a:r>
            <a:endParaRPr b="0" i="0" sz="950" u="none" cap="none" strike="noStrike">
              <a:solidFill>
                <a:schemeClr val="dk1"/>
              </a:solidFill>
              <a:latin typeface="Calibri"/>
              <a:ea typeface="Calibri"/>
              <a:cs typeface="Calibri"/>
              <a:sym typeface="Calibri"/>
            </a:endParaRPr>
          </a:p>
        </p:txBody>
      </p:sp>
      <p:pic>
        <p:nvPicPr>
          <p:cNvPr descr="preencoded.png" id="242" name="Google Shape;242;p14"/>
          <p:cNvPicPr preferRelativeResize="0"/>
          <p:nvPr/>
        </p:nvPicPr>
        <p:blipFill rotWithShape="1">
          <a:blip r:embed="rId3">
            <a:alphaModFix/>
          </a:blip>
          <a:srcRect b="0" l="0" r="0" t="0"/>
          <a:stretch/>
        </p:blipFill>
        <p:spPr>
          <a:xfrm>
            <a:off x="4633912" y="3410416"/>
            <a:ext cx="4013896" cy="1115318"/>
          </a:xfrm>
          <a:prstGeom prst="rect">
            <a:avLst/>
          </a:prstGeom>
          <a:noFill/>
          <a:ln>
            <a:noFill/>
          </a:ln>
        </p:spPr>
      </p:pic>
      <p:sp>
        <p:nvSpPr>
          <p:cNvPr id="243" name="Google Shape;243;p14"/>
          <p:cNvSpPr/>
          <p:nvPr/>
        </p:nvSpPr>
        <p:spPr>
          <a:xfrm>
            <a:off x="4772173" y="3920748"/>
            <a:ext cx="3737400" cy="193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POST /api/sessions/save</a:t>
            </a:r>
            <a:endParaRPr b="1" i="0" sz="1600" u="none" cap="none" strike="noStrike">
              <a:solidFill>
                <a:schemeClr val="dk1"/>
              </a:solidFill>
              <a:latin typeface="Calibri"/>
              <a:ea typeface="Calibri"/>
              <a:cs typeface="Calibri"/>
              <a:sym typeface="Calibri"/>
            </a:endParaRPr>
          </a:p>
        </p:txBody>
      </p:sp>
      <p:sp>
        <p:nvSpPr>
          <p:cNvPr id="244" name="Google Shape;244;p14"/>
          <p:cNvSpPr/>
          <p:nvPr/>
        </p:nvSpPr>
        <p:spPr>
          <a:xfrm>
            <a:off x="4772173" y="4189011"/>
            <a:ext cx="3737400" cy="198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공부 기록 저장 — 오늘 매출 장부에 적기</a:t>
            </a:r>
            <a:endParaRPr b="0" i="0" sz="950" u="none" cap="none" strike="noStrike">
              <a:solidFill>
                <a:schemeClr val="dk1"/>
              </a:solidFill>
              <a:latin typeface="Calibri"/>
              <a:ea typeface="Calibri"/>
              <a:cs typeface="Calibri"/>
              <a:sym typeface="Calibri"/>
            </a:endParaRPr>
          </a:p>
        </p:txBody>
      </p:sp>
      <p:sp>
        <p:nvSpPr>
          <p:cNvPr id="245" name="Google Shape;245;p14"/>
          <p:cNvSpPr/>
          <p:nvPr/>
        </p:nvSpPr>
        <p:spPr>
          <a:xfrm>
            <a:off x="496044" y="4787836"/>
            <a:ext cx="8609100" cy="2031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Consolas"/>
              <a:buNone/>
            </a:pPr>
            <a:r>
              <a:rPr b="0" i="0" lang="ko-KR" sz="950" u="none" cap="none" strike="noStrike">
                <a:solidFill>
                  <a:srgbClr val="15213F"/>
                </a:solidFill>
                <a:highlight>
                  <a:srgbClr val="EEEFF1"/>
                </a:highlight>
                <a:latin typeface="Consolas"/>
                <a:ea typeface="Consolas"/>
                <a:cs typeface="Consolas"/>
                <a:sym typeface="Consolas"/>
              </a:rPr>
              <a:t>@app.route("/")</a:t>
            </a:r>
            <a:r>
              <a:rPr b="0" i="0" lang="ko-KR" sz="950" u="none" cap="none" strike="noStrike">
                <a:solidFill>
                  <a:srgbClr val="15213F"/>
                </a:solidFill>
                <a:latin typeface="Roboto"/>
                <a:ea typeface="Roboto"/>
                <a:cs typeface="Roboto"/>
                <a:sym typeface="Roboto"/>
              </a:rPr>
              <a:t> = 건물 안내판  |  </a:t>
            </a:r>
            <a:r>
              <a:rPr b="0" i="0" lang="ko-KR" sz="950" u="none" cap="none" strike="noStrike">
                <a:solidFill>
                  <a:srgbClr val="15213F"/>
                </a:solidFill>
                <a:highlight>
                  <a:srgbClr val="EEEFF1"/>
                </a:highlight>
                <a:latin typeface="Consolas"/>
                <a:ea typeface="Consolas"/>
                <a:cs typeface="Consolas"/>
                <a:sym typeface="Consolas"/>
              </a:rPr>
              <a:t>render_template()</a:t>
            </a:r>
            <a:r>
              <a:rPr b="0" i="0" lang="ko-KR" sz="950" u="none" cap="none" strike="noStrike">
                <a:solidFill>
                  <a:srgbClr val="15213F"/>
                </a:solidFill>
                <a:latin typeface="Roboto"/>
                <a:ea typeface="Roboto"/>
                <a:cs typeface="Roboto"/>
                <a:sym typeface="Roboto"/>
              </a:rPr>
              <a:t> = 종이에 인쇄해서 손님에게 건네기</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5"/>
          <p:cNvSpPr/>
          <p:nvPr/>
        </p:nvSpPr>
        <p:spPr>
          <a:xfrm>
            <a:off x="496119" y="373559"/>
            <a:ext cx="509141" cy="176585"/>
          </a:xfrm>
          <a:prstGeom prst="roundRect">
            <a:avLst>
              <a:gd fmla="val 7903"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5"/>
          <p:cNvSpPr/>
          <p:nvPr/>
        </p:nvSpPr>
        <p:spPr>
          <a:xfrm>
            <a:off x="565845" y="408384"/>
            <a:ext cx="826889" cy="10693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00"/>
              <a:buFont typeface="Roboto"/>
              <a:buNone/>
            </a:pPr>
            <a:r>
              <a:rPr b="0" i="0" lang="ko-KR" sz="700" u="none" cap="none" strike="noStrike">
                <a:solidFill>
                  <a:srgbClr val="15213F"/>
                </a:solidFill>
                <a:latin typeface="Roboto"/>
                <a:ea typeface="Roboto"/>
                <a:cs typeface="Roboto"/>
                <a:sym typeface="Roboto"/>
              </a:rPr>
              <a:t>PHASE 1</a:t>
            </a:r>
            <a:endParaRPr b="0" i="0" sz="700" u="none" cap="none" strike="noStrike">
              <a:solidFill>
                <a:schemeClr val="dk1"/>
              </a:solidFill>
              <a:latin typeface="Calibri"/>
              <a:ea typeface="Calibri"/>
              <a:cs typeface="Calibri"/>
              <a:sym typeface="Calibri"/>
            </a:endParaRPr>
          </a:p>
        </p:txBody>
      </p:sp>
      <p:sp>
        <p:nvSpPr>
          <p:cNvPr id="253" name="Google Shape;253;p15"/>
          <p:cNvSpPr/>
          <p:nvPr/>
        </p:nvSpPr>
        <p:spPr>
          <a:xfrm>
            <a:off x="496119" y="593750"/>
            <a:ext cx="8151763" cy="36336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250"/>
              <a:buFont typeface="Roboto Slab"/>
              <a:buNone/>
            </a:pPr>
            <a:r>
              <a:rPr b="1" i="0" lang="ko-KR" sz="2250" u="none" cap="none" strike="noStrike">
                <a:solidFill>
                  <a:srgbClr val="3257B8"/>
                </a:solidFill>
                <a:latin typeface="Roboto Slab"/>
                <a:ea typeface="Roboto Slab"/>
                <a:cs typeface="Roboto Slab"/>
                <a:sym typeface="Roboto Slab"/>
              </a:rPr>
              <a:t>HTML 화면 설계 — 집의 골조</a:t>
            </a:r>
            <a:endParaRPr b="1" i="0" sz="2250" u="none" cap="none" strike="noStrike">
              <a:solidFill>
                <a:schemeClr val="dk1"/>
              </a:solidFill>
              <a:latin typeface="Calibri"/>
              <a:ea typeface="Calibri"/>
              <a:cs typeface="Calibri"/>
              <a:sym typeface="Calibri"/>
            </a:endParaRPr>
          </a:p>
        </p:txBody>
      </p:sp>
      <p:sp>
        <p:nvSpPr>
          <p:cNvPr id="254" name="Google Shape;254;p15"/>
          <p:cNvSpPr/>
          <p:nvPr/>
        </p:nvSpPr>
        <p:spPr>
          <a:xfrm>
            <a:off x="412403" y="1120601"/>
            <a:ext cx="4101480" cy="1414835"/>
          </a:xfrm>
          <a:prstGeom prst="roundRect">
            <a:avLst>
              <a:gd fmla="val 1233" name="adj"/>
            </a:avLst>
          </a:prstGeom>
          <a:solidFill>
            <a:srgbClr val="325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5"/>
          <p:cNvSpPr/>
          <p:nvPr/>
        </p:nvSpPr>
        <p:spPr>
          <a:xfrm>
            <a:off x="528638" y="1229618"/>
            <a:ext cx="3869010" cy="1816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100"/>
              <a:buFont typeface="Roboto Slab"/>
              <a:buNone/>
            </a:pPr>
            <a:r>
              <a:rPr b="0" i="0" lang="ko-KR" u="none" cap="none" strike="noStrike">
                <a:solidFill>
                  <a:srgbClr val="FFFFFF"/>
                </a:solidFill>
                <a:latin typeface="Roboto Slab"/>
                <a:ea typeface="Roboto Slab"/>
                <a:cs typeface="Roboto Slab"/>
                <a:sym typeface="Roboto Slab"/>
              </a:rPr>
              <a:t>index.html = 현관 로비</a:t>
            </a:r>
            <a:endParaRPr b="0" i="0" u="none" cap="none" strike="noStrike">
              <a:solidFill>
                <a:schemeClr val="dk1"/>
              </a:solidFill>
              <a:latin typeface="Calibri"/>
              <a:ea typeface="Calibri"/>
              <a:cs typeface="Calibri"/>
              <a:sym typeface="Calibri"/>
            </a:endParaRPr>
          </a:p>
        </p:txBody>
      </p:sp>
      <p:sp>
        <p:nvSpPr>
          <p:cNvPr id="256" name="Google Shape;256;p15"/>
          <p:cNvSpPr/>
          <p:nvPr/>
        </p:nvSpPr>
        <p:spPr>
          <a:xfrm>
            <a:off x="528638" y="1520279"/>
            <a:ext cx="3869010" cy="917079"/>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000000"/>
              </a:buClr>
              <a:buSzPts val="900"/>
              <a:buFont typeface="Roboto"/>
              <a:buNone/>
            </a:pPr>
            <a:r>
              <a:rPr b="0" i="0" lang="ko-KR" sz="900" u="none" cap="none" strike="noStrike">
                <a:solidFill>
                  <a:srgbClr val="000000"/>
                </a:solidFill>
                <a:latin typeface="Roboto"/>
                <a:ea typeface="Roboto"/>
                <a:cs typeface="Roboto"/>
                <a:sym typeface="Roboto"/>
              </a:rPr>
              <a:t>📌</a:t>
            </a:r>
            <a:r>
              <a:rPr b="0" i="0" lang="ko-KR" sz="900" u="none" cap="none" strike="noStrike">
                <a:solidFill>
                  <a:srgbClr val="FFFFFF"/>
                </a:solidFill>
                <a:latin typeface="Roboto"/>
                <a:ea typeface="Roboto"/>
                <a:cs typeface="Roboto"/>
                <a:sym typeface="Roboto"/>
              </a:rPr>
              <a:t> 간판: AI 공부 매니저</a:t>
            </a:r>
            <a:endParaRPr b="0" i="0" sz="900" u="none" cap="none" strike="noStrike">
              <a:solidFill>
                <a:schemeClr val="dk1"/>
              </a:solidFill>
              <a:latin typeface="Calibri"/>
              <a:ea typeface="Calibri"/>
              <a:cs typeface="Calibri"/>
              <a:sym typeface="Calibri"/>
            </a:endParaRPr>
          </a:p>
          <a:p>
            <a:pPr indent="0" lvl="0" marL="0" marR="0" rtl="0" algn="l">
              <a:lnSpc>
                <a:spcPct val="129000"/>
              </a:lnSpc>
              <a:spcBef>
                <a:spcPts val="750"/>
              </a:spcBef>
              <a:spcAft>
                <a:spcPts val="0"/>
              </a:spcAft>
              <a:buClr>
                <a:srgbClr val="000000"/>
              </a:buClr>
              <a:buSzPts val="900"/>
              <a:buFont typeface="Roboto"/>
              <a:buNone/>
            </a:pPr>
            <a:r>
              <a:rPr b="0" i="0" lang="ko-KR" sz="900" u="none" cap="none" strike="noStrike">
                <a:solidFill>
                  <a:srgbClr val="000000"/>
                </a:solidFill>
                <a:latin typeface="Roboto"/>
                <a:ea typeface="Roboto"/>
                <a:cs typeface="Roboto"/>
                <a:sym typeface="Roboto"/>
              </a:rPr>
              <a:t>🛗</a:t>
            </a:r>
            <a:r>
              <a:rPr b="0" i="0" lang="ko-KR" sz="900" u="none" cap="none" strike="noStrike">
                <a:solidFill>
                  <a:srgbClr val="FFFFFF"/>
                </a:solidFill>
                <a:latin typeface="Roboto"/>
                <a:ea typeface="Roboto"/>
                <a:cs typeface="Roboto"/>
                <a:sym typeface="Roboto"/>
              </a:rPr>
              <a:t> 엘리베이터 버튼 4개</a:t>
            </a:r>
            <a:endParaRPr b="0" i="0" sz="900" u="none" cap="none" strike="noStrike">
              <a:solidFill>
                <a:schemeClr val="dk1"/>
              </a:solidFill>
              <a:latin typeface="Calibri"/>
              <a:ea typeface="Calibri"/>
              <a:cs typeface="Calibri"/>
              <a:sym typeface="Calibri"/>
            </a:endParaRPr>
          </a:p>
          <a:p>
            <a:pPr indent="0" lvl="0" marL="0" marR="0" rtl="0" algn="l">
              <a:lnSpc>
                <a:spcPct val="129000"/>
              </a:lnSpc>
              <a:spcBef>
                <a:spcPts val="0"/>
              </a:spcBef>
              <a:spcAft>
                <a:spcPts val="0"/>
              </a:spcAft>
              <a:buClr>
                <a:srgbClr val="000000"/>
              </a:buClr>
              <a:buSzPts val="900"/>
              <a:buFont typeface="Roboto"/>
              <a:buNone/>
            </a:pPr>
            <a:r>
              <a:rPr b="0" i="0" lang="ko-KR" sz="900" u="none" cap="none" strike="noStrike">
                <a:solidFill>
                  <a:srgbClr val="000000"/>
                </a:solidFill>
                <a:latin typeface="Roboto"/>
                <a:ea typeface="Roboto"/>
                <a:cs typeface="Roboto"/>
                <a:sym typeface="Roboto"/>
              </a:rPr>
              <a:t>📖</a:t>
            </a:r>
            <a:r>
              <a:rPr b="0" i="0" lang="ko-KR" sz="900" u="none" cap="none" strike="noStrike">
                <a:solidFill>
                  <a:srgbClr val="FFFFFF"/>
                </a:solidFill>
                <a:latin typeface="Roboto"/>
                <a:ea typeface="Roboto"/>
                <a:cs typeface="Roboto"/>
                <a:sym typeface="Roboto"/>
              </a:rPr>
              <a:t> 공부 시작 | </a:t>
            </a:r>
            <a:r>
              <a:rPr b="0" i="0" lang="ko-KR" sz="900" u="none" cap="none" strike="noStrike">
                <a:solidFill>
                  <a:srgbClr val="000000"/>
                </a:solidFill>
                <a:latin typeface="Roboto"/>
                <a:ea typeface="Roboto"/>
                <a:cs typeface="Roboto"/>
                <a:sym typeface="Roboto"/>
              </a:rPr>
              <a:t>📊</a:t>
            </a:r>
            <a:r>
              <a:rPr b="0" i="0" lang="ko-KR" sz="900" u="none" cap="none" strike="noStrike">
                <a:solidFill>
                  <a:srgbClr val="FFFFFF"/>
                </a:solidFill>
                <a:latin typeface="Roboto"/>
                <a:ea typeface="Roboto"/>
                <a:cs typeface="Roboto"/>
                <a:sym typeface="Roboto"/>
              </a:rPr>
              <a:t> 통계 | </a:t>
            </a:r>
            <a:r>
              <a:rPr b="0" i="0" lang="ko-KR" sz="900" u="none" cap="none" strike="noStrike">
                <a:solidFill>
                  <a:srgbClr val="000000"/>
                </a:solidFill>
                <a:latin typeface="Roboto"/>
                <a:ea typeface="Roboto"/>
                <a:cs typeface="Roboto"/>
                <a:sym typeface="Roboto"/>
              </a:rPr>
              <a:t>✅</a:t>
            </a:r>
            <a:r>
              <a:rPr b="0" i="0" lang="ko-KR" sz="900" u="none" cap="none" strike="noStrike">
                <a:solidFill>
                  <a:srgbClr val="FFFFFF"/>
                </a:solidFill>
                <a:latin typeface="Roboto"/>
                <a:ea typeface="Roboto"/>
                <a:cs typeface="Roboto"/>
                <a:sym typeface="Roboto"/>
              </a:rPr>
              <a:t> 체크리스트 | </a:t>
            </a:r>
            <a:r>
              <a:rPr b="0" i="0" lang="ko-KR" sz="900" u="none" cap="none" strike="noStrike">
                <a:solidFill>
                  <a:srgbClr val="000000"/>
                </a:solidFill>
                <a:latin typeface="Roboto"/>
                <a:ea typeface="Roboto"/>
                <a:cs typeface="Roboto"/>
                <a:sym typeface="Roboto"/>
              </a:rPr>
              <a:t>⚙️</a:t>
            </a:r>
            <a:r>
              <a:rPr b="0" i="0" lang="ko-KR" sz="900" u="none" cap="none" strike="noStrike">
                <a:solidFill>
                  <a:srgbClr val="FFFFFF"/>
                </a:solidFill>
                <a:latin typeface="Roboto"/>
                <a:ea typeface="Roboto"/>
                <a:cs typeface="Roboto"/>
                <a:sym typeface="Roboto"/>
              </a:rPr>
              <a:t> 설정</a:t>
            </a:r>
            <a:endParaRPr b="0" i="0" sz="900" u="none" cap="none" strike="noStrike">
              <a:solidFill>
                <a:schemeClr val="dk1"/>
              </a:solidFill>
              <a:latin typeface="Calibri"/>
              <a:ea typeface="Calibri"/>
              <a:cs typeface="Calibri"/>
              <a:sym typeface="Calibri"/>
            </a:endParaRPr>
          </a:p>
          <a:p>
            <a:pPr indent="0" lvl="0" marL="0" marR="0" rtl="0" algn="l">
              <a:lnSpc>
                <a:spcPct val="129000"/>
              </a:lnSpc>
              <a:spcBef>
                <a:spcPts val="750"/>
              </a:spcBef>
              <a:spcAft>
                <a:spcPts val="0"/>
              </a:spcAft>
              <a:buClr>
                <a:srgbClr val="000000"/>
              </a:buClr>
              <a:buSzPts val="900"/>
              <a:buFont typeface="Roboto"/>
              <a:buNone/>
            </a:pPr>
            <a:r>
              <a:rPr b="0" i="0" lang="ko-KR" sz="900" u="none" cap="none" strike="noStrike">
                <a:solidFill>
                  <a:srgbClr val="000000"/>
                </a:solidFill>
                <a:latin typeface="Roboto"/>
                <a:ea typeface="Roboto"/>
                <a:cs typeface="Roboto"/>
                <a:sym typeface="Roboto"/>
              </a:rPr>
              <a:t>📺</a:t>
            </a:r>
            <a:r>
              <a:rPr b="0" i="0" lang="ko-KR" sz="900" u="none" cap="none" strike="noStrike">
                <a:solidFill>
                  <a:srgbClr val="FFFFFF"/>
                </a:solidFill>
                <a:latin typeface="Roboto"/>
                <a:ea typeface="Roboto"/>
                <a:cs typeface="Roboto"/>
                <a:sym typeface="Roboto"/>
              </a:rPr>
              <a:t> 오늘 전광판: 순공 0h 00m | 달성률 0%</a:t>
            </a:r>
            <a:endParaRPr b="0" i="0" sz="900" u="none" cap="none" strike="noStrike">
              <a:solidFill>
                <a:schemeClr val="dk1"/>
              </a:solidFill>
              <a:latin typeface="Calibri"/>
              <a:ea typeface="Calibri"/>
              <a:cs typeface="Calibri"/>
              <a:sym typeface="Calibri"/>
            </a:endParaRPr>
          </a:p>
        </p:txBody>
      </p:sp>
      <p:sp>
        <p:nvSpPr>
          <p:cNvPr id="257" name="Google Shape;257;p15"/>
          <p:cNvSpPr/>
          <p:nvPr/>
        </p:nvSpPr>
        <p:spPr>
          <a:xfrm>
            <a:off x="4718596" y="1229618"/>
            <a:ext cx="3934048" cy="1816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1100"/>
              <a:buFont typeface="Roboto Slab"/>
              <a:buNone/>
            </a:pPr>
            <a:r>
              <a:rPr b="0" i="0" lang="ko-KR" u="none" cap="none" strike="noStrike">
                <a:solidFill>
                  <a:srgbClr val="3257B8"/>
                </a:solidFill>
                <a:latin typeface="Roboto Slab"/>
                <a:ea typeface="Roboto Slab"/>
                <a:cs typeface="Roboto Slab"/>
                <a:sym typeface="Roboto Slab"/>
              </a:rPr>
              <a:t>timer.html = 공부방</a:t>
            </a:r>
            <a:endParaRPr b="0" i="0" u="none" cap="none" strike="noStrike">
              <a:solidFill>
                <a:schemeClr val="dk1"/>
              </a:solidFill>
              <a:latin typeface="Calibri"/>
              <a:ea typeface="Calibri"/>
              <a:cs typeface="Calibri"/>
              <a:sym typeface="Calibri"/>
            </a:endParaRPr>
          </a:p>
        </p:txBody>
      </p:sp>
      <p:sp>
        <p:nvSpPr>
          <p:cNvPr id="258" name="Google Shape;258;p15"/>
          <p:cNvSpPr/>
          <p:nvPr/>
        </p:nvSpPr>
        <p:spPr>
          <a:xfrm>
            <a:off x="4718596" y="1520279"/>
            <a:ext cx="3934048" cy="917079"/>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000000"/>
              </a:buClr>
              <a:buSzPts val="900"/>
              <a:buFont typeface="Roboto"/>
              <a:buNone/>
            </a:pPr>
            <a:r>
              <a:rPr b="0" i="0" lang="ko-KR" sz="900" u="none" cap="none" strike="noStrike">
                <a:solidFill>
                  <a:srgbClr val="000000"/>
                </a:solidFill>
                <a:latin typeface="Roboto"/>
                <a:ea typeface="Roboto"/>
                <a:cs typeface="Roboto"/>
                <a:sym typeface="Roboto"/>
              </a:rPr>
              <a:t>📚</a:t>
            </a:r>
            <a:r>
              <a:rPr b="0" i="0" lang="ko-KR" sz="900" u="none" cap="none" strike="noStrike">
                <a:solidFill>
                  <a:srgbClr val="15213F"/>
                </a:solidFill>
                <a:latin typeface="Roboto"/>
                <a:ea typeface="Roboto"/>
                <a:cs typeface="Roboto"/>
                <a:sym typeface="Roboto"/>
              </a:rPr>
              <a:t> 현재 과목: 수학</a:t>
            </a:r>
            <a:endParaRPr b="0" i="0" sz="900" u="none" cap="none" strike="noStrike">
              <a:solidFill>
                <a:schemeClr val="dk1"/>
              </a:solidFill>
              <a:latin typeface="Calibri"/>
              <a:ea typeface="Calibri"/>
              <a:cs typeface="Calibri"/>
              <a:sym typeface="Calibri"/>
            </a:endParaRPr>
          </a:p>
          <a:p>
            <a:pPr indent="0" lvl="0" marL="0" marR="0" rtl="0" algn="l">
              <a:lnSpc>
                <a:spcPct val="129000"/>
              </a:lnSpc>
              <a:spcBef>
                <a:spcPts val="750"/>
              </a:spcBef>
              <a:spcAft>
                <a:spcPts val="0"/>
              </a:spcAft>
              <a:buClr>
                <a:srgbClr val="000000"/>
              </a:buClr>
              <a:buSzPts val="900"/>
              <a:buFont typeface="Roboto"/>
              <a:buNone/>
            </a:pPr>
            <a:r>
              <a:rPr b="0" i="0" lang="ko-KR" sz="900" u="none" cap="none" strike="noStrike">
                <a:solidFill>
                  <a:srgbClr val="000000"/>
                </a:solidFill>
                <a:latin typeface="Roboto"/>
                <a:ea typeface="Roboto"/>
                <a:cs typeface="Roboto"/>
                <a:sym typeface="Roboto"/>
              </a:rPr>
              <a:t>⏱️</a:t>
            </a:r>
            <a:r>
              <a:rPr b="0" i="0" lang="ko-KR" sz="900" u="none" cap="none" strike="noStrike">
                <a:solidFill>
                  <a:srgbClr val="15213F"/>
                </a:solidFill>
                <a:latin typeface="Roboto"/>
                <a:ea typeface="Roboto"/>
                <a:cs typeface="Roboto"/>
                <a:sym typeface="Roboto"/>
              </a:rPr>
              <a:t> </a:t>
            </a:r>
            <a:r>
              <a:rPr b="0" i="0" lang="ko-KR" sz="900" u="none" cap="none" strike="noStrike">
                <a:solidFill>
                  <a:srgbClr val="000000"/>
                </a:solidFill>
                <a:latin typeface="Roboto"/>
                <a:ea typeface="Roboto"/>
                <a:cs typeface="Roboto"/>
                <a:sym typeface="Roboto"/>
              </a:rPr>
              <a:t>🟢</a:t>
            </a:r>
            <a:r>
              <a:rPr b="0" i="0" lang="ko-KR" sz="900" u="none" cap="none" strike="noStrike">
                <a:solidFill>
                  <a:srgbClr val="15213F"/>
                </a:solidFill>
                <a:latin typeface="Roboto"/>
                <a:ea typeface="Roboto"/>
                <a:cs typeface="Roboto"/>
                <a:sym typeface="Roboto"/>
              </a:rPr>
              <a:t> 순공 00:00:00</a:t>
            </a:r>
            <a:endParaRPr b="0" i="0" sz="900" u="none" cap="none" strike="noStrike">
              <a:solidFill>
                <a:schemeClr val="dk1"/>
              </a:solidFill>
              <a:latin typeface="Calibri"/>
              <a:ea typeface="Calibri"/>
              <a:cs typeface="Calibri"/>
              <a:sym typeface="Calibri"/>
            </a:endParaRPr>
          </a:p>
          <a:p>
            <a:pPr indent="0" lvl="0" marL="0" marR="0" rtl="0" algn="l">
              <a:lnSpc>
                <a:spcPct val="129000"/>
              </a:lnSpc>
              <a:spcBef>
                <a:spcPts val="0"/>
              </a:spcBef>
              <a:spcAft>
                <a:spcPts val="0"/>
              </a:spcAft>
              <a:buClr>
                <a:srgbClr val="000000"/>
              </a:buClr>
              <a:buSzPts val="900"/>
              <a:buFont typeface="Roboto"/>
              <a:buNone/>
            </a:pPr>
            <a:r>
              <a:rPr b="0" i="0" lang="ko-KR" sz="900" u="none" cap="none" strike="noStrike">
                <a:solidFill>
                  <a:srgbClr val="000000"/>
                </a:solidFill>
                <a:latin typeface="Roboto"/>
                <a:ea typeface="Roboto"/>
                <a:cs typeface="Roboto"/>
                <a:sym typeface="Roboto"/>
              </a:rPr>
              <a:t>⏱️</a:t>
            </a:r>
            <a:r>
              <a:rPr b="0" i="0" lang="ko-KR" sz="900" u="none" cap="none" strike="noStrike">
                <a:solidFill>
                  <a:srgbClr val="15213F"/>
                </a:solidFill>
                <a:latin typeface="Roboto"/>
                <a:ea typeface="Roboto"/>
                <a:cs typeface="Roboto"/>
                <a:sym typeface="Roboto"/>
              </a:rPr>
              <a:t> </a:t>
            </a:r>
            <a:r>
              <a:rPr b="0" i="0" lang="ko-KR" sz="900" u="none" cap="none" strike="noStrike">
                <a:solidFill>
                  <a:srgbClr val="000000"/>
                </a:solidFill>
                <a:latin typeface="Roboto"/>
                <a:ea typeface="Roboto"/>
                <a:cs typeface="Roboto"/>
                <a:sym typeface="Roboto"/>
              </a:rPr>
              <a:t>🔴</a:t>
            </a:r>
            <a:r>
              <a:rPr b="0" i="0" lang="ko-KR" sz="900" u="none" cap="none" strike="noStrike">
                <a:solidFill>
                  <a:srgbClr val="15213F"/>
                </a:solidFill>
                <a:latin typeface="Roboto"/>
                <a:ea typeface="Roboto"/>
                <a:cs typeface="Roboto"/>
                <a:sym typeface="Roboto"/>
              </a:rPr>
              <a:t> 딴짓 00:00:00</a:t>
            </a:r>
            <a:endParaRPr b="0" i="0" sz="900" u="none" cap="none" strike="noStrike">
              <a:solidFill>
                <a:schemeClr val="dk1"/>
              </a:solidFill>
              <a:latin typeface="Calibri"/>
              <a:ea typeface="Calibri"/>
              <a:cs typeface="Calibri"/>
              <a:sym typeface="Calibri"/>
            </a:endParaRPr>
          </a:p>
          <a:p>
            <a:pPr indent="0" lvl="0" marL="0" marR="0" rtl="0" algn="l">
              <a:lnSpc>
                <a:spcPct val="129000"/>
              </a:lnSpc>
              <a:spcBef>
                <a:spcPts val="750"/>
              </a:spcBef>
              <a:spcAft>
                <a:spcPts val="0"/>
              </a:spcAft>
              <a:buClr>
                <a:srgbClr val="000000"/>
              </a:buClr>
              <a:buSzPts val="900"/>
              <a:buFont typeface="Roboto"/>
              <a:buNone/>
            </a:pPr>
            <a:r>
              <a:rPr b="0" i="0" lang="ko-KR" sz="900" u="none" cap="none" strike="noStrike">
                <a:solidFill>
                  <a:srgbClr val="000000"/>
                </a:solidFill>
                <a:latin typeface="Roboto"/>
                <a:ea typeface="Roboto"/>
                <a:cs typeface="Roboto"/>
                <a:sym typeface="Roboto"/>
              </a:rPr>
              <a:t>🎮</a:t>
            </a:r>
            <a:r>
              <a:rPr b="0" i="0" lang="ko-KR" sz="900" u="none" cap="none" strike="noStrike">
                <a:solidFill>
                  <a:srgbClr val="15213F"/>
                </a:solidFill>
                <a:latin typeface="Roboto"/>
                <a:ea typeface="Roboto"/>
                <a:cs typeface="Roboto"/>
                <a:sym typeface="Roboto"/>
              </a:rPr>
              <a:t> [공부 시작] [과목 변경] [종료]</a:t>
            </a:r>
            <a:endParaRPr b="0" i="0" sz="900" u="none" cap="none" strike="noStrike">
              <a:solidFill>
                <a:schemeClr val="dk1"/>
              </a:solidFill>
              <a:latin typeface="Calibri"/>
              <a:ea typeface="Calibri"/>
              <a:cs typeface="Calibri"/>
              <a:sym typeface="Calibri"/>
            </a:endParaRPr>
          </a:p>
        </p:txBody>
      </p:sp>
      <p:sp>
        <p:nvSpPr>
          <p:cNvPr id="259" name="Google Shape;259;p15"/>
          <p:cNvSpPr/>
          <p:nvPr/>
        </p:nvSpPr>
        <p:spPr>
          <a:xfrm>
            <a:off x="496119" y="2658070"/>
            <a:ext cx="4021336" cy="348853"/>
          </a:xfrm>
          <a:prstGeom prst="roundRect">
            <a:avLst>
              <a:gd fmla="val 5000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0" name="Google Shape;260;p15"/>
          <p:cNvPicPr preferRelativeResize="0"/>
          <p:nvPr/>
        </p:nvPicPr>
        <p:blipFill rotWithShape="1">
          <a:blip r:embed="rId3">
            <a:alphaModFix/>
          </a:blip>
          <a:srcRect b="0" l="0" r="0" t="0"/>
          <a:stretch/>
        </p:blipFill>
        <p:spPr>
          <a:xfrm>
            <a:off x="2419573" y="2745284"/>
            <a:ext cx="174427" cy="174427"/>
          </a:xfrm>
          <a:prstGeom prst="rect">
            <a:avLst/>
          </a:prstGeom>
          <a:noFill/>
          <a:ln>
            <a:noFill/>
          </a:ln>
        </p:spPr>
      </p:pic>
      <p:sp>
        <p:nvSpPr>
          <p:cNvPr id="261" name="Google Shape;261;p15"/>
          <p:cNvSpPr/>
          <p:nvPr/>
        </p:nvSpPr>
        <p:spPr>
          <a:xfrm>
            <a:off x="612353" y="3115940"/>
            <a:ext cx="3788866" cy="1816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&lt;div&gt;</a:t>
            </a:r>
            <a:endParaRPr b="1" i="0" u="none" cap="none" strike="noStrike">
              <a:solidFill>
                <a:schemeClr val="dk1"/>
              </a:solidFill>
              <a:latin typeface="Calibri"/>
              <a:ea typeface="Calibri"/>
              <a:cs typeface="Calibri"/>
              <a:sym typeface="Calibri"/>
            </a:endParaRPr>
          </a:p>
        </p:txBody>
      </p:sp>
      <p:sp>
        <p:nvSpPr>
          <p:cNvPr id="262" name="Google Shape;262;p15"/>
          <p:cNvSpPr/>
          <p:nvPr/>
        </p:nvSpPr>
        <p:spPr>
          <a:xfrm>
            <a:off x="612353" y="3413127"/>
            <a:ext cx="3789000" cy="180300"/>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빈 상자</a:t>
            </a:r>
            <a:endParaRPr b="0" i="0" sz="1200" u="none" cap="none" strike="noStrike">
              <a:solidFill>
                <a:schemeClr val="dk1"/>
              </a:solidFill>
              <a:latin typeface="Calibri"/>
              <a:ea typeface="Calibri"/>
              <a:cs typeface="Calibri"/>
              <a:sym typeface="Calibri"/>
            </a:endParaRPr>
          </a:p>
        </p:txBody>
      </p:sp>
      <p:sp>
        <p:nvSpPr>
          <p:cNvPr id="263" name="Google Shape;263;p15"/>
          <p:cNvSpPr/>
          <p:nvPr/>
        </p:nvSpPr>
        <p:spPr>
          <a:xfrm>
            <a:off x="4626471" y="2658070"/>
            <a:ext cx="4021410" cy="348853"/>
          </a:xfrm>
          <a:prstGeom prst="roundRect">
            <a:avLst>
              <a:gd fmla="val 5000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4" name="Google Shape;264;p15"/>
          <p:cNvPicPr preferRelativeResize="0"/>
          <p:nvPr/>
        </p:nvPicPr>
        <p:blipFill rotWithShape="1">
          <a:blip r:embed="rId4">
            <a:alphaModFix/>
          </a:blip>
          <a:srcRect b="0" l="0" r="0" t="0"/>
          <a:stretch/>
        </p:blipFill>
        <p:spPr>
          <a:xfrm>
            <a:off x="6549926" y="2745284"/>
            <a:ext cx="174427" cy="174427"/>
          </a:xfrm>
          <a:prstGeom prst="rect">
            <a:avLst/>
          </a:prstGeom>
          <a:noFill/>
          <a:ln>
            <a:noFill/>
          </a:ln>
        </p:spPr>
      </p:pic>
      <p:sp>
        <p:nvSpPr>
          <p:cNvPr id="265" name="Google Shape;265;p15"/>
          <p:cNvSpPr/>
          <p:nvPr/>
        </p:nvSpPr>
        <p:spPr>
          <a:xfrm>
            <a:off x="4742706" y="3115940"/>
            <a:ext cx="3788941" cy="1816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&lt;button&gt;</a:t>
            </a:r>
            <a:endParaRPr b="1" i="0" u="none" cap="none" strike="noStrike">
              <a:solidFill>
                <a:schemeClr val="dk1"/>
              </a:solidFill>
              <a:latin typeface="Calibri"/>
              <a:ea typeface="Calibri"/>
              <a:cs typeface="Calibri"/>
              <a:sym typeface="Calibri"/>
            </a:endParaRPr>
          </a:p>
        </p:txBody>
      </p:sp>
      <p:sp>
        <p:nvSpPr>
          <p:cNvPr id="266" name="Google Shape;266;p15"/>
          <p:cNvSpPr/>
          <p:nvPr/>
        </p:nvSpPr>
        <p:spPr>
          <a:xfrm>
            <a:off x="4742706" y="3413127"/>
            <a:ext cx="3789000" cy="180300"/>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스위치</a:t>
            </a:r>
            <a:endParaRPr b="0" i="0" sz="1200" u="none" cap="none" strike="noStrike">
              <a:solidFill>
                <a:schemeClr val="dk1"/>
              </a:solidFill>
              <a:latin typeface="Calibri"/>
              <a:ea typeface="Calibri"/>
              <a:cs typeface="Calibri"/>
              <a:sym typeface="Calibri"/>
            </a:endParaRPr>
          </a:p>
        </p:txBody>
      </p:sp>
      <p:sp>
        <p:nvSpPr>
          <p:cNvPr id="267" name="Google Shape;267;p15"/>
          <p:cNvSpPr/>
          <p:nvPr/>
        </p:nvSpPr>
        <p:spPr>
          <a:xfrm>
            <a:off x="496119" y="3768477"/>
            <a:ext cx="4021336" cy="348853"/>
          </a:xfrm>
          <a:prstGeom prst="roundRect">
            <a:avLst>
              <a:gd fmla="val 5000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8" name="Google Shape;268;p15"/>
          <p:cNvPicPr preferRelativeResize="0"/>
          <p:nvPr/>
        </p:nvPicPr>
        <p:blipFill rotWithShape="1">
          <a:blip r:embed="rId5">
            <a:alphaModFix/>
          </a:blip>
          <a:srcRect b="0" l="0" r="0" t="0"/>
          <a:stretch/>
        </p:blipFill>
        <p:spPr>
          <a:xfrm>
            <a:off x="2419573" y="3855690"/>
            <a:ext cx="174427" cy="174427"/>
          </a:xfrm>
          <a:prstGeom prst="rect">
            <a:avLst/>
          </a:prstGeom>
          <a:noFill/>
          <a:ln>
            <a:noFill/>
          </a:ln>
        </p:spPr>
      </p:pic>
      <p:sp>
        <p:nvSpPr>
          <p:cNvPr id="269" name="Google Shape;269;p15"/>
          <p:cNvSpPr/>
          <p:nvPr/>
        </p:nvSpPr>
        <p:spPr>
          <a:xfrm>
            <a:off x="612353" y="4226347"/>
            <a:ext cx="3788866" cy="1816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&lt;select&gt;</a:t>
            </a:r>
            <a:endParaRPr b="1" i="0" u="none" cap="none" strike="noStrike">
              <a:solidFill>
                <a:schemeClr val="dk1"/>
              </a:solidFill>
              <a:latin typeface="Calibri"/>
              <a:ea typeface="Calibri"/>
              <a:cs typeface="Calibri"/>
              <a:sym typeface="Calibri"/>
            </a:endParaRPr>
          </a:p>
        </p:txBody>
      </p:sp>
      <p:sp>
        <p:nvSpPr>
          <p:cNvPr id="270" name="Google Shape;270;p15"/>
          <p:cNvSpPr/>
          <p:nvPr/>
        </p:nvSpPr>
        <p:spPr>
          <a:xfrm>
            <a:off x="612353" y="4523533"/>
            <a:ext cx="3789000" cy="180300"/>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자판기</a:t>
            </a:r>
            <a:endParaRPr b="0" i="0" sz="1200" u="none" cap="none" strike="noStrike">
              <a:solidFill>
                <a:schemeClr val="dk1"/>
              </a:solidFill>
              <a:latin typeface="Calibri"/>
              <a:ea typeface="Calibri"/>
              <a:cs typeface="Calibri"/>
              <a:sym typeface="Calibri"/>
            </a:endParaRPr>
          </a:p>
        </p:txBody>
      </p:sp>
      <p:sp>
        <p:nvSpPr>
          <p:cNvPr id="271" name="Google Shape;271;p15"/>
          <p:cNvSpPr/>
          <p:nvPr/>
        </p:nvSpPr>
        <p:spPr>
          <a:xfrm>
            <a:off x="4626471" y="3768477"/>
            <a:ext cx="4021410" cy="348853"/>
          </a:xfrm>
          <a:prstGeom prst="roundRect">
            <a:avLst>
              <a:gd fmla="val 5000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2" name="Google Shape;272;p15"/>
          <p:cNvPicPr preferRelativeResize="0"/>
          <p:nvPr/>
        </p:nvPicPr>
        <p:blipFill rotWithShape="1">
          <a:blip r:embed="rId6">
            <a:alphaModFix/>
          </a:blip>
          <a:srcRect b="0" l="0" r="0" t="0"/>
          <a:stretch/>
        </p:blipFill>
        <p:spPr>
          <a:xfrm>
            <a:off x="6549926" y="3855690"/>
            <a:ext cx="174427" cy="174427"/>
          </a:xfrm>
          <a:prstGeom prst="rect">
            <a:avLst/>
          </a:prstGeom>
          <a:noFill/>
          <a:ln>
            <a:noFill/>
          </a:ln>
        </p:spPr>
      </p:pic>
      <p:sp>
        <p:nvSpPr>
          <p:cNvPr id="273" name="Google Shape;273;p15"/>
          <p:cNvSpPr/>
          <p:nvPr/>
        </p:nvSpPr>
        <p:spPr>
          <a:xfrm>
            <a:off x="4742706" y="4226347"/>
            <a:ext cx="3788941" cy="1816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&lt;input&gt;</a:t>
            </a:r>
            <a:endParaRPr b="1" i="0" u="none" cap="none" strike="noStrike">
              <a:solidFill>
                <a:schemeClr val="dk1"/>
              </a:solidFill>
              <a:latin typeface="Calibri"/>
              <a:ea typeface="Calibri"/>
              <a:cs typeface="Calibri"/>
              <a:sym typeface="Calibri"/>
            </a:endParaRPr>
          </a:p>
        </p:txBody>
      </p:sp>
      <p:sp>
        <p:nvSpPr>
          <p:cNvPr id="274" name="Google Shape;274;p15"/>
          <p:cNvSpPr/>
          <p:nvPr/>
        </p:nvSpPr>
        <p:spPr>
          <a:xfrm>
            <a:off x="4742706" y="4523533"/>
            <a:ext cx="3789000" cy="180300"/>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편지 투입구</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6"/>
          <p:cNvSpPr/>
          <p:nvPr/>
        </p:nvSpPr>
        <p:spPr>
          <a:xfrm>
            <a:off x="496119" y="761256"/>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6"/>
          <p:cNvSpPr/>
          <p:nvPr/>
        </p:nvSpPr>
        <p:spPr>
          <a:xfrm>
            <a:off x="570533" y="798463"/>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1</a:t>
            </a:r>
            <a:endParaRPr b="0" i="0" sz="750" u="none" cap="none" strike="noStrike">
              <a:solidFill>
                <a:schemeClr val="dk1"/>
              </a:solidFill>
              <a:latin typeface="Calibri"/>
              <a:ea typeface="Calibri"/>
              <a:cs typeface="Calibri"/>
              <a:sym typeface="Calibri"/>
            </a:endParaRPr>
          </a:p>
        </p:txBody>
      </p:sp>
      <p:sp>
        <p:nvSpPr>
          <p:cNvPr id="282" name="Google Shape;282;p16"/>
          <p:cNvSpPr/>
          <p:nvPr/>
        </p:nvSpPr>
        <p:spPr>
          <a:xfrm>
            <a:off x="496119" y="999381"/>
            <a:ext cx="8151763"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600" u="none" cap="none" strike="noStrike">
                <a:solidFill>
                  <a:srgbClr val="3257B8"/>
                </a:solidFill>
                <a:latin typeface="Roboto Slab"/>
                <a:ea typeface="Roboto Slab"/>
                <a:cs typeface="Roboto Slab"/>
                <a:sym typeface="Roboto Slab"/>
              </a:rPr>
              <a:t>CSS 디자인 — 집에 옷 입히기</a:t>
            </a:r>
            <a:endParaRPr b="1" i="0" sz="2600" u="none" cap="none" strike="noStrike">
              <a:solidFill>
                <a:schemeClr val="dk1"/>
              </a:solidFill>
              <a:latin typeface="Calibri"/>
              <a:ea typeface="Calibri"/>
              <a:cs typeface="Calibri"/>
              <a:sym typeface="Calibri"/>
            </a:endParaRPr>
          </a:p>
        </p:txBody>
      </p:sp>
      <p:sp>
        <p:nvSpPr>
          <p:cNvPr id="283" name="Google Shape;283;p16"/>
          <p:cNvSpPr/>
          <p:nvPr/>
        </p:nvSpPr>
        <p:spPr>
          <a:xfrm>
            <a:off x="496119" y="1572964"/>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CSS = 색상, 크기, 분위기 설정. 우리 앱은 </a:t>
            </a:r>
            <a:r>
              <a:rPr b="1" i="0" lang="ko-KR" sz="1250" u="none" cap="none" strike="noStrike">
                <a:solidFill>
                  <a:srgbClr val="15213F"/>
                </a:solidFill>
                <a:latin typeface="Roboto"/>
                <a:ea typeface="Roboto"/>
                <a:cs typeface="Roboto"/>
                <a:sym typeface="Roboto"/>
              </a:rPr>
              <a:t>신호등 색상 체계</a:t>
            </a:r>
            <a:r>
              <a:rPr b="0" i="0" lang="ko-KR" sz="1250" u="none" cap="none" strike="noStrike">
                <a:solidFill>
                  <a:srgbClr val="15213F"/>
                </a:solidFill>
                <a:latin typeface="Roboto"/>
                <a:ea typeface="Roboto"/>
                <a:cs typeface="Roboto"/>
                <a:sym typeface="Roboto"/>
              </a:rPr>
              <a:t>를 사용합니다!</a:t>
            </a:r>
            <a:endParaRPr b="0" i="0" sz="1250" u="none" cap="none" strike="noStrike">
              <a:solidFill>
                <a:schemeClr val="dk1"/>
              </a:solidFill>
              <a:latin typeface="Calibri"/>
              <a:ea typeface="Calibri"/>
              <a:cs typeface="Calibri"/>
              <a:sym typeface="Calibri"/>
            </a:endParaRPr>
          </a:p>
        </p:txBody>
      </p:sp>
      <p:sp>
        <p:nvSpPr>
          <p:cNvPr id="284" name="Google Shape;284;p16"/>
          <p:cNvSpPr/>
          <p:nvPr/>
        </p:nvSpPr>
        <p:spPr>
          <a:xfrm>
            <a:off x="496119" y="1910953"/>
            <a:ext cx="8151763" cy="1835795"/>
          </a:xfrm>
          <a:prstGeom prst="roundRect">
            <a:avLst>
              <a:gd fmla="val 1014"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6"/>
          <p:cNvSpPr/>
          <p:nvPr/>
        </p:nvSpPr>
        <p:spPr>
          <a:xfrm>
            <a:off x="496119" y="1910953"/>
            <a:ext cx="2717229" cy="917897"/>
          </a:xfrm>
          <a:custGeom>
            <a:rect b="b" l="l" r="r" t="t"/>
            <a:pathLst>
              <a:path extrusionOk="0" h="917897" w="2717229">
                <a:moveTo>
                  <a:pt x="15506" y="0"/>
                </a:moveTo>
                <a:lnTo>
                  <a:pt x="2717229" y="0"/>
                </a:lnTo>
                <a:lnTo>
                  <a:pt x="2717229" y="917897"/>
                </a:lnTo>
                <a:lnTo>
                  <a:pt x="0" y="917897"/>
                </a:lnTo>
                <a:lnTo>
                  <a:pt x="0" y="15506"/>
                </a:lnTo>
                <a:cubicBezTo>
                  <a:pt x="0" y="6942"/>
                  <a:pt x="6942" y="0"/>
                  <a:pt x="15506" y="0"/>
                </a:cubicBezTo>
                <a:close/>
              </a:path>
            </a:pathLst>
          </a:cu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6"/>
          <p:cNvSpPr/>
          <p:nvPr/>
        </p:nvSpPr>
        <p:spPr>
          <a:xfrm>
            <a:off x="620092" y="2034927"/>
            <a:ext cx="2469282"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집중/순공/성공</a:t>
            </a:r>
            <a:endParaRPr b="1" i="0" sz="1500" u="none" cap="none" strike="noStrike">
              <a:solidFill>
                <a:schemeClr val="dk1"/>
              </a:solidFill>
              <a:latin typeface="Calibri"/>
              <a:ea typeface="Calibri"/>
              <a:cs typeface="Calibri"/>
              <a:sym typeface="Calibri"/>
            </a:endParaRPr>
          </a:p>
        </p:txBody>
      </p:sp>
      <p:sp>
        <p:nvSpPr>
          <p:cNvPr id="287" name="Google Shape;287;p16"/>
          <p:cNvSpPr/>
          <p:nvPr/>
        </p:nvSpPr>
        <p:spPr>
          <a:xfrm>
            <a:off x="858217" y="2345551"/>
            <a:ext cx="24693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#4CAF50 초록</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"파란불 — 가도 좋다!"</a:t>
            </a:r>
            <a:endParaRPr b="0" i="0" sz="950" u="none" cap="none" strike="noStrike">
              <a:solidFill>
                <a:schemeClr val="dk1"/>
              </a:solidFill>
              <a:latin typeface="Calibri"/>
              <a:ea typeface="Calibri"/>
              <a:cs typeface="Calibri"/>
              <a:sym typeface="Calibri"/>
            </a:endParaRPr>
          </a:p>
        </p:txBody>
      </p:sp>
      <p:sp>
        <p:nvSpPr>
          <p:cNvPr id="288" name="Google Shape;288;p16"/>
          <p:cNvSpPr/>
          <p:nvPr/>
        </p:nvSpPr>
        <p:spPr>
          <a:xfrm>
            <a:off x="3213348" y="1910953"/>
            <a:ext cx="2717229" cy="917897"/>
          </a:xfrm>
          <a:prstGeom prst="rect">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6"/>
          <p:cNvSpPr/>
          <p:nvPr/>
        </p:nvSpPr>
        <p:spPr>
          <a:xfrm>
            <a:off x="3213348" y="1910953"/>
            <a:ext cx="14288" cy="917897"/>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6"/>
          <p:cNvSpPr/>
          <p:nvPr/>
        </p:nvSpPr>
        <p:spPr>
          <a:xfrm>
            <a:off x="3337322" y="2034927"/>
            <a:ext cx="2469282"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딴짓/경고/정지</a:t>
            </a:r>
            <a:endParaRPr b="1" i="0" sz="1500" u="none" cap="none" strike="noStrike">
              <a:solidFill>
                <a:schemeClr val="dk1"/>
              </a:solidFill>
              <a:latin typeface="Calibri"/>
              <a:ea typeface="Calibri"/>
              <a:cs typeface="Calibri"/>
              <a:sym typeface="Calibri"/>
            </a:endParaRPr>
          </a:p>
        </p:txBody>
      </p:sp>
      <p:sp>
        <p:nvSpPr>
          <p:cNvPr id="291" name="Google Shape;291;p16"/>
          <p:cNvSpPr/>
          <p:nvPr/>
        </p:nvSpPr>
        <p:spPr>
          <a:xfrm>
            <a:off x="3575447" y="2345551"/>
            <a:ext cx="24693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#F44336 빨강</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"빨간불 — 멈춰!"</a:t>
            </a:r>
            <a:endParaRPr b="0" i="0" sz="950" u="none" cap="none" strike="noStrike">
              <a:solidFill>
                <a:schemeClr val="dk1"/>
              </a:solidFill>
              <a:latin typeface="Calibri"/>
              <a:ea typeface="Calibri"/>
              <a:cs typeface="Calibri"/>
              <a:sym typeface="Calibri"/>
            </a:endParaRPr>
          </a:p>
        </p:txBody>
      </p:sp>
      <p:sp>
        <p:nvSpPr>
          <p:cNvPr id="292" name="Google Shape;292;p16"/>
          <p:cNvSpPr/>
          <p:nvPr/>
        </p:nvSpPr>
        <p:spPr>
          <a:xfrm>
            <a:off x="5930578" y="1910953"/>
            <a:ext cx="2717229" cy="917897"/>
          </a:xfrm>
          <a:custGeom>
            <a:rect b="b" l="l" r="r" t="t"/>
            <a:pathLst>
              <a:path extrusionOk="0" h="917897" w="2717229">
                <a:moveTo>
                  <a:pt x="0" y="0"/>
                </a:moveTo>
                <a:lnTo>
                  <a:pt x="2701724" y="0"/>
                </a:lnTo>
                <a:cubicBezTo>
                  <a:pt x="2705836" y="0"/>
                  <a:pt x="2709780" y="1634"/>
                  <a:pt x="2712688" y="4542"/>
                </a:cubicBezTo>
                <a:cubicBezTo>
                  <a:pt x="2715596" y="7450"/>
                  <a:pt x="2717230" y="11394"/>
                  <a:pt x="2717230" y="15506"/>
                </a:cubicBezTo>
                <a:lnTo>
                  <a:pt x="2717229" y="917897"/>
                </a:lnTo>
                <a:lnTo>
                  <a:pt x="0" y="917897"/>
                </a:lnTo>
                <a:lnTo>
                  <a:pt x="0" y="0"/>
                </a:lnTo>
                <a:close/>
              </a:path>
            </a:pathLst>
          </a:cu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6"/>
          <p:cNvSpPr/>
          <p:nvPr/>
        </p:nvSpPr>
        <p:spPr>
          <a:xfrm>
            <a:off x="5930578" y="1910953"/>
            <a:ext cx="14288" cy="917897"/>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6"/>
          <p:cNvSpPr/>
          <p:nvPr/>
        </p:nvSpPr>
        <p:spPr>
          <a:xfrm>
            <a:off x="6054551" y="2034927"/>
            <a:ext cx="2469282"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주의/알림</a:t>
            </a:r>
            <a:endParaRPr b="1" i="0" sz="1500" u="none" cap="none" strike="noStrike">
              <a:solidFill>
                <a:schemeClr val="dk1"/>
              </a:solidFill>
              <a:latin typeface="Calibri"/>
              <a:ea typeface="Calibri"/>
              <a:cs typeface="Calibri"/>
              <a:sym typeface="Calibri"/>
            </a:endParaRPr>
          </a:p>
        </p:txBody>
      </p:sp>
      <p:sp>
        <p:nvSpPr>
          <p:cNvPr id="295" name="Google Shape;295;p16"/>
          <p:cNvSpPr/>
          <p:nvPr/>
        </p:nvSpPr>
        <p:spPr>
          <a:xfrm>
            <a:off x="6292676" y="2345551"/>
            <a:ext cx="24693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#FFC107 노랑</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"노란불 — 조심!"</a:t>
            </a:r>
            <a:endParaRPr b="0" i="0" sz="950" u="none" cap="none" strike="noStrike">
              <a:solidFill>
                <a:schemeClr val="dk1"/>
              </a:solidFill>
              <a:latin typeface="Calibri"/>
              <a:ea typeface="Calibri"/>
              <a:cs typeface="Calibri"/>
              <a:sym typeface="Calibri"/>
            </a:endParaRPr>
          </a:p>
        </p:txBody>
      </p:sp>
      <p:sp>
        <p:nvSpPr>
          <p:cNvPr id="296" name="Google Shape;296;p16"/>
          <p:cNvSpPr/>
          <p:nvPr/>
        </p:nvSpPr>
        <p:spPr>
          <a:xfrm>
            <a:off x="496119" y="2828851"/>
            <a:ext cx="4075807" cy="917897"/>
          </a:xfrm>
          <a:custGeom>
            <a:rect b="b" l="l" r="r" t="t"/>
            <a:pathLst>
              <a:path extrusionOk="0" h="917897" w="4075807">
                <a:moveTo>
                  <a:pt x="0" y="0"/>
                </a:moveTo>
                <a:lnTo>
                  <a:pt x="4075807" y="0"/>
                </a:lnTo>
                <a:lnTo>
                  <a:pt x="4075807" y="917897"/>
                </a:lnTo>
                <a:lnTo>
                  <a:pt x="15506" y="917897"/>
                </a:lnTo>
                <a:cubicBezTo>
                  <a:pt x="6942" y="917897"/>
                  <a:pt x="0" y="910955"/>
                  <a:pt x="0" y="902391"/>
                </a:cubicBezTo>
                <a:lnTo>
                  <a:pt x="0" y="0"/>
                </a:lnTo>
                <a:close/>
              </a:path>
            </a:pathLst>
          </a:cu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6"/>
          <p:cNvSpPr/>
          <p:nvPr/>
        </p:nvSpPr>
        <p:spPr>
          <a:xfrm>
            <a:off x="496119" y="2828851"/>
            <a:ext cx="4075807" cy="14288"/>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6"/>
          <p:cNvSpPr/>
          <p:nvPr/>
        </p:nvSpPr>
        <p:spPr>
          <a:xfrm>
            <a:off x="620092" y="2952824"/>
            <a:ext cx="3827859"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보통/중립</a:t>
            </a:r>
            <a:endParaRPr b="1" i="0" sz="1500" u="none" cap="none" strike="noStrike">
              <a:solidFill>
                <a:schemeClr val="dk1"/>
              </a:solidFill>
              <a:latin typeface="Calibri"/>
              <a:ea typeface="Calibri"/>
              <a:cs typeface="Calibri"/>
              <a:sym typeface="Calibri"/>
            </a:endParaRPr>
          </a:p>
        </p:txBody>
      </p:sp>
      <p:sp>
        <p:nvSpPr>
          <p:cNvPr id="299" name="Google Shape;299;p16"/>
          <p:cNvSpPr/>
          <p:nvPr/>
        </p:nvSpPr>
        <p:spPr>
          <a:xfrm>
            <a:off x="858217" y="3263449"/>
            <a:ext cx="38280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#2196F3 파랑</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"바다색 — 평범한 정보"</a:t>
            </a:r>
            <a:endParaRPr b="0" i="0" sz="950" u="none" cap="none" strike="noStrike">
              <a:solidFill>
                <a:schemeClr val="dk1"/>
              </a:solidFill>
              <a:latin typeface="Calibri"/>
              <a:ea typeface="Calibri"/>
              <a:cs typeface="Calibri"/>
              <a:sym typeface="Calibri"/>
            </a:endParaRPr>
          </a:p>
        </p:txBody>
      </p:sp>
      <p:sp>
        <p:nvSpPr>
          <p:cNvPr id="300" name="Google Shape;300;p16"/>
          <p:cNvSpPr/>
          <p:nvPr/>
        </p:nvSpPr>
        <p:spPr>
          <a:xfrm>
            <a:off x="4571926" y="2828851"/>
            <a:ext cx="4075881" cy="917897"/>
          </a:xfrm>
          <a:custGeom>
            <a:rect b="b" l="l" r="r" t="t"/>
            <a:pathLst>
              <a:path extrusionOk="0" h="917897" w="4075881">
                <a:moveTo>
                  <a:pt x="0" y="0"/>
                </a:moveTo>
                <a:lnTo>
                  <a:pt x="4075881" y="0"/>
                </a:lnTo>
                <a:lnTo>
                  <a:pt x="4075881" y="902392"/>
                </a:lnTo>
                <a:cubicBezTo>
                  <a:pt x="4075881" y="910956"/>
                  <a:pt x="4068939" y="917898"/>
                  <a:pt x="4060375" y="917898"/>
                </a:cubicBezTo>
                <a:lnTo>
                  <a:pt x="0" y="917897"/>
                </a:lnTo>
                <a:lnTo>
                  <a:pt x="0" y="0"/>
                </a:lnTo>
                <a:close/>
              </a:path>
            </a:pathLst>
          </a:cu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6"/>
          <p:cNvSpPr/>
          <p:nvPr/>
        </p:nvSpPr>
        <p:spPr>
          <a:xfrm>
            <a:off x="4571926" y="2828851"/>
            <a:ext cx="14288" cy="917897"/>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6"/>
          <p:cNvSpPr/>
          <p:nvPr/>
        </p:nvSpPr>
        <p:spPr>
          <a:xfrm>
            <a:off x="4571926" y="2828851"/>
            <a:ext cx="4075881" cy="14288"/>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6"/>
          <p:cNvSpPr/>
          <p:nvPr/>
        </p:nvSpPr>
        <p:spPr>
          <a:xfrm>
            <a:off x="4695899" y="2952824"/>
            <a:ext cx="3827934"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비활성</a:t>
            </a:r>
            <a:endParaRPr b="1" i="0" sz="1500" u="none" cap="none" strike="noStrike">
              <a:solidFill>
                <a:schemeClr val="dk1"/>
              </a:solidFill>
              <a:latin typeface="Calibri"/>
              <a:ea typeface="Calibri"/>
              <a:cs typeface="Calibri"/>
              <a:sym typeface="Calibri"/>
            </a:endParaRPr>
          </a:p>
        </p:txBody>
      </p:sp>
      <p:sp>
        <p:nvSpPr>
          <p:cNvPr id="304" name="Google Shape;304;p16"/>
          <p:cNvSpPr/>
          <p:nvPr/>
        </p:nvSpPr>
        <p:spPr>
          <a:xfrm>
            <a:off x="4934024" y="3263449"/>
            <a:ext cx="38280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#9E9E9E 회색</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"꺼진 전등"</a:t>
            </a:r>
            <a:endParaRPr b="0" i="0" sz="950" u="none" cap="none" strike="noStrike">
              <a:solidFill>
                <a:schemeClr val="dk1"/>
              </a:solidFill>
              <a:latin typeface="Calibri"/>
              <a:ea typeface="Calibri"/>
              <a:cs typeface="Calibri"/>
              <a:sym typeface="Calibri"/>
            </a:endParaRPr>
          </a:p>
        </p:txBody>
      </p:sp>
      <p:sp>
        <p:nvSpPr>
          <p:cNvPr id="305" name="Google Shape;305;p16"/>
          <p:cNvSpPr/>
          <p:nvPr/>
        </p:nvSpPr>
        <p:spPr>
          <a:xfrm>
            <a:off x="496119" y="3886274"/>
            <a:ext cx="8151763" cy="495970"/>
          </a:xfrm>
          <a:prstGeom prst="roundRect">
            <a:avLst>
              <a:gd fmla="val 3752"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6" name="Google Shape;306;p16"/>
          <p:cNvPicPr preferRelativeResize="0"/>
          <p:nvPr/>
        </p:nvPicPr>
        <p:blipFill rotWithShape="1">
          <a:blip r:embed="rId3">
            <a:alphaModFix/>
          </a:blip>
          <a:srcRect b="0" l="0" r="0" t="0"/>
          <a:stretch/>
        </p:blipFill>
        <p:spPr>
          <a:xfrm>
            <a:off x="620092" y="4066059"/>
            <a:ext cx="155004" cy="123974"/>
          </a:xfrm>
          <a:prstGeom prst="rect">
            <a:avLst/>
          </a:prstGeom>
          <a:noFill/>
          <a:ln>
            <a:noFill/>
          </a:ln>
        </p:spPr>
      </p:pic>
      <p:sp>
        <p:nvSpPr>
          <p:cNvPr id="307" name="Google Shape;307;p16"/>
          <p:cNvSpPr/>
          <p:nvPr/>
        </p:nvSpPr>
        <p:spPr>
          <a:xfrm>
            <a:off x="899071" y="4041204"/>
            <a:ext cx="808203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00"/>
              </a:buClr>
              <a:buSzPts val="950"/>
              <a:buFont typeface="Roboto"/>
              <a:buNone/>
            </a:pPr>
            <a:r>
              <a:rPr b="1" i="0" lang="ko-KR" sz="1250" u="none" cap="none" strike="noStrike">
                <a:solidFill>
                  <a:srgbClr val="000000"/>
                </a:solidFill>
                <a:latin typeface="Roboto"/>
                <a:ea typeface="Roboto"/>
                <a:cs typeface="Roboto"/>
                <a:sym typeface="Roboto"/>
              </a:rPr>
              <a:t>반응형 디자인 = 변신 로봇!</a:t>
            </a:r>
            <a:r>
              <a:rPr b="0" i="0" lang="ko-KR" sz="1250" u="none" cap="none" strike="noStrike">
                <a:solidFill>
                  <a:srgbClr val="000000"/>
                </a:solidFill>
                <a:latin typeface="Roboto"/>
                <a:ea typeface="Roboto"/>
                <a:cs typeface="Roboto"/>
                <a:sym typeface="Roboto"/>
              </a:rPr>
              <a:t> PC에서는 펼치고, 태블릿에서는 접힙니다. 화면 크기에 따라 자동으로 레이아웃이 바뀌어요!</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7"/>
          <p:cNvSpPr/>
          <p:nvPr/>
        </p:nvSpPr>
        <p:spPr>
          <a:xfrm>
            <a:off x="496119" y="996628"/>
            <a:ext cx="543300" cy="188700"/>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700"/>
          </a:p>
        </p:txBody>
      </p:sp>
      <p:sp>
        <p:nvSpPr>
          <p:cNvPr id="314" name="Google Shape;314;p17"/>
          <p:cNvSpPr/>
          <p:nvPr/>
        </p:nvSpPr>
        <p:spPr>
          <a:xfrm>
            <a:off x="570533" y="1033835"/>
            <a:ext cx="851700" cy="114300"/>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1" i="0" lang="ko-KR" sz="1050" u="none" cap="none" strike="noStrike">
                <a:solidFill>
                  <a:srgbClr val="15213F"/>
                </a:solidFill>
                <a:latin typeface="Roboto"/>
                <a:ea typeface="Roboto"/>
                <a:cs typeface="Roboto"/>
                <a:sym typeface="Roboto"/>
              </a:rPr>
              <a:t>PHASE 1</a:t>
            </a:r>
            <a:endParaRPr b="1" i="0" sz="1050" u="none" cap="none" strike="noStrike">
              <a:solidFill>
                <a:schemeClr val="dk1"/>
              </a:solidFill>
              <a:latin typeface="Calibri"/>
              <a:ea typeface="Calibri"/>
              <a:cs typeface="Calibri"/>
              <a:sym typeface="Calibri"/>
            </a:endParaRPr>
          </a:p>
        </p:txBody>
      </p:sp>
      <p:sp>
        <p:nvSpPr>
          <p:cNvPr id="315" name="Google Shape;315;p17"/>
          <p:cNvSpPr/>
          <p:nvPr/>
        </p:nvSpPr>
        <p:spPr>
          <a:xfrm>
            <a:off x="496119" y="1234753"/>
            <a:ext cx="8151900" cy="3876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700" u="none" cap="none" strike="noStrike">
                <a:solidFill>
                  <a:srgbClr val="3257B8"/>
                </a:solidFill>
                <a:latin typeface="Roboto Slab"/>
                <a:ea typeface="Roboto Slab"/>
                <a:cs typeface="Roboto Slab"/>
                <a:sym typeface="Roboto Slab"/>
              </a:rPr>
              <a:t>JavaScript 타이머 — 전기 배선</a:t>
            </a:r>
            <a:endParaRPr b="1" i="0" sz="2700" u="none" cap="none" strike="noStrike">
              <a:solidFill>
                <a:schemeClr val="dk1"/>
              </a:solidFill>
              <a:latin typeface="Calibri"/>
              <a:ea typeface="Calibri"/>
              <a:cs typeface="Calibri"/>
              <a:sym typeface="Calibri"/>
            </a:endParaRPr>
          </a:p>
        </p:txBody>
      </p:sp>
      <p:sp>
        <p:nvSpPr>
          <p:cNvPr id="316" name="Google Shape;316;p17"/>
          <p:cNvSpPr/>
          <p:nvPr/>
        </p:nvSpPr>
        <p:spPr>
          <a:xfrm>
            <a:off x="496119" y="2046461"/>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JavaScript = 웹 페이지에 생명을 불어넣는 언어!</a:t>
            </a:r>
            <a:r>
              <a:rPr b="1" i="0" lang="ko-KR" sz="1250" u="none" cap="none" strike="noStrike">
                <a:solidFill>
                  <a:srgbClr val="15213F"/>
                </a:solidFill>
                <a:latin typeface="Roboto"/>
                <a:ea typeface="Roboto"/>
                <a:cs typeface="Roboto"/>
                <a:sym typeface="Roboto"/>
              </a:rPr>
              <a:t> timer.js가 스톱워치의 내부 회로 역할을 합니다.</a:t>
            </a:r>
            <a:endParaRPr b="1" i="0" sz="1250" u="none" cap="none" strike="noStrike">
              <a:solidFill>
                <a:schemeClr val="dk1"/>
              </a:solidFill>
              <a:latin typeface="Calibri"/>
              <a:ea typeface="Calibri"/>
              <a:cs typeface="Calibri"/>
              <a:sym typeface="Calibri"/>
            </a:endParaRPr>
          </a:p>
        </p:txBody>
      </p:sp>
      <p:pic>
        <p:nvPicPr>
          <p:cNvPr descr="preencoded.png" id="317" name="Google Shape;317;p17"/>
          <p:cNvPicPr preferRelativeResize="0"/>
          <p:nvPr/>
        </p:nvPicPr>
        <p:blipFill rotWithShape="1">
          <a:blip r:embed="rId3">
            <a:alphaModFix/>
          </a:blip>
          <a:srcRect b="0" l="0" r="0" t="0"/>
          <a:stretch/>
        </p:blipFill>
        <p:spPr>
          <a:xfrm>
            <a:off x="496119" y="2384450"/>
            <a:ext cx="310083" cy="310083"/>
          </a:xfrm>
          <a:prstGeom prst="rect">
            <a:avLst/>
          </a:prstGeom>
          <a:noFill/>
          <a:ln>
            <a:noFill/>
          </a:ln>
        </p:spPr>
      </p:pic>
      <p:sp>
        <p:nvSpPr>
          <p:cNvPr id="318" name="Google Shape;318;p17"/>
          <p:cNvSpPr/>
          <p:nvPr/>
        </p:nvSpPr>
        <p:spPr>
          <a:xfrm>
            <a:off x="961206" y="2384450"/>
            <a:ext cx="3533254"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변수 — 기억 칩</a:t>
            </a:r>
            <a:endParaRPr b="1" i="0" sz="1500" u="none" cap="none" strike="noStrike">
              <a:solidFill>
                <a:schemeClr val="dk1"/>
              </a:solidFill>
              <a:latin typeface="Calibri"/>
              <a:ea typeface="Calibri"/>
              <a:cs typeface="Calibri"/>
              <a:sym typeface="Calibri"/>
            </a:endParaRPr>
          </a:p>
        </p:txBody>
      </p:sp>
      <p:sp>
        <p:nvSpPr>
          <p:cNvPr id="319" name="Google Shape;319;p17"/>
          <p:cNvSpPr/>
          <p:nvPr/>
        </p:nvSpPr>
        <p:spPr>
          <a:xfrm>
            <a:off x="961206" y="2652713"/>
            <a:ext cx="3533254"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과목명, 순공 시간, 현재 상태를 메모리에 기억</a:t>
            </a:r>
            <a:endParaRPr b="0" i="0" sz="950" u="none" cap="none" strike="noStrike">
              <a:solidFill>
                <a:schemeClr val="dk1"/>
              </a:solidFill>
              <a:latin typeface="Calibri"/>
              <a:ea typeface="Calibri"/>
              <a:cs typeface="Calibri"/>
              <a:sym typeface="Calibri"/>
            </a:endParaRPr>
          </a:p>
        </p:txBody>
      </p:sp>
      <p:pic>
        <p:nvPicPr>
          <p:cNvPr descr="preencoded.png" id="320" name="Google Shape;320;p17"/>
          <p:cNvPicPr preferRelativeResize="0"/>
          <p:nvPr/>
        </p:nvPicPr>
        <p:blipFill rotWithShape="1">
          <a:blip r:embed="rId4">
            <a:alphaModFix/>
          </a:blip>
          <a:srcRect b="0" l="0" r="0" t="0"/>
          <a:stretch/>
        </p:blipFill>
        <p:spPr>
          <a:xfrm>
            <a:off x="4649465" y="2384450"/>
            <a:ext cx="310083" cy="310083"/>
          </a:xfrm>
          <a:prstGeom prst="rect">
            <a:avLst/>
          </a:prstGeom>
          <a:noFill/>
          <a:ln>
            <a:noFill/>
          </a:ln>
        </p:spPr>
      </p:pic>
      <p:sp>
        <p:nvSpPr>
          <p:cNvPr id="321" name="Google Shape;321;p17"/>
          <p:cNvSpPr/>
          <p:nvPr/>
        </p:nvSpPr>
        <p:spPr>
          <a:xfrm>
            <a:off x="5114553" y="2384450"/>
            <a:ext cx="3533329"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시작 함수 — 출발 총소리</a:t>
            </a:r>
            <a:endParaRPr b="1" i="0" sz="1500" u="none" cap="none" strike="noStrike">
              <a:solidFill>
                <a:schemeClr val="dk1"/>
              </a:solidFill>
              <a:latin typeface="Calibri"/>
              <a:ea typeface="Calibri"/>
              <a:cs typeface="Calibri"/>
              <a:sym typeface="Calibri"/>
            </a:endParaRPr>
          </a:p>
        </p:txBody>
      </p:sp>
      <p:sp>
        <p:nvSpPr>
          <p:cNvPr id="322" name="Google Shape;322;p17"/>
          <p:cNvSpPr/>
          <p:nvPr/>
        </p:nvSpPr>
        <p:spPr>
          <a:xfrm>
            <a:off x="5114553" y="2652713"/>
            <a:ext cx="3533329"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1초마다 째깍거리는 알람 시계를 시작시킴</a:t>
            </a:r>
            <a:endParaRPr b="0" i="0" sz="950" u="none" cap="none" strike="noStrike">
              <a:solidFill>
                <a:schemeClr val="dk1"/>
              </a:solidFill>
              <a:latin typeface="Calibri"/>
              <a:ea typeface="Calibri"/>
              <a:cs typeface="Calibri"/>
              <a:sym typeface="Calibri"/>
            </a:endParaRPr>
          </a:p>
        </p:txBody>
      </p:sp>
      <p:pic>
        <p:nvPicPr>
          <p:cNvPr descr="preencoded.png" id="323" name="Google Shape;323;p17"/>
          <p:cNvPicPr preferRelativeResize="0"/>
          <p:nvPr/>
        </p:nvPicPr>
        <p:blipFill rotWithShape="1">
          <a:blip r:embed="rId5">
            <a:alphaModFix/>
          </a:blip>
          <a:srcRect b="0" l="0" r="0" t="0"/>
          <a:stretch/>
        </p:blipFill>
        <p:spPr>
          <a:xfrm>
            <a:off x="496119" y="3099197"/>
            <a:ext cx="310083" cy="310083"/>
          </a:xfrm>
          <a:prstGeom prst="rect">
            <a:avLst/>
          </a:prstGeom>
          <a:noFill/>
          <a:ln>
            <a:noFill/>
          </a:ln>
        </p:spPr>
      </p:pic>
      <p:sp>
        <p:nvSpPr>
          <p:cNvPr id="324" name="Google Shape;324;p17"/>
          <p:cNvSpPr/>
          <p:nvPr/>
        </p:nvSpPr>
        <p:spPr>
          <a:xfrm>
            <a:off x="961206" y="3099197"/>
            <a:ext cx="3533254"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틱 함수 — 째깍째깍</a:t>
            </a:r>
            <a:endParaRPr b="1" i="0" sz="1500" u="none" cap="none" strike="noStrike">
              <a:solidFill>
                <a:schemeClr val="dk1"/>
              </a:solidFill>
              <a:latin typeface="Calibri"/>
              <a:ea typeface="Calibri"/>
              <a:cs typeface="Calibri"/>
              <a:sym typeface="Calibri"/>
            </a:endParaRPr>
          </a:p>
        </p:txBody>
      </p:sp>
      <p:sp>
        <p:nvSpPr>
          <p:cNvPr id="325" name="Google Shape;325;p17"/>
          <p:cNvSpPr/>
          <p:nvPr/>
        </p:nvSpPr>
        <p:spPr>
          <a:xfrm>
            <a:off x="961206" y="3367460"/>
            <a:ext cx="3533254"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매초 순공 또는 딴짓에 +1초를 더함</a:t>
            </a:r>
            <a:endParaRPr b="0" i="0" sz="950" u="none" cap="none" strike="noStrike">
              <a:solidFill>
                <a:schemeClr val="dk1"/>
              </a:solidFill>
              <a:latin typeface="Calibri"/>
              <a:ea typeface="Calibri"/>
              <a:cs typeface="Calibri"/>
              <a:sym typeface="Calibri"/>
            </a:endParaRPr>
          </a:p>
        </p:txBody>
      </p:sp>
      <p:pic>
        <p:nvPicPr>
          <p:cNvPr descr="preencoded.png" id="326" name="Google Shape;326;p17"/>
          <p:cNvPicPr preferRelativeResize="0"/>
          <p:nvPr/>
        </p:nvPicPr>
        <p:blipFill rotWithShape="1">
          <a:blip r:embed="rId6">
            <a:alphaModFix/>
          </a:blip>
          <a:srcRect b="0" l="0" r="0" t="0"/>
          <a:stretch/>
        </p:blipFill>
        <p:spPr>
          <a:xfrm>
            <a:off x="4649465" y="3099197"/>
            <a:ext cx="310083" cy="310083"/>
          </a:xfrm>
          <a:prstGeom prst="rect">
            <a:avLst/>
          </a:prstGeom>
          <a:noFill/>
          <a:ln>
            <a:noFill/>
          </a:ln>
        </p:spPr>
      </p:pic>
      <p:sp>
        <p:nvSpPr>
          <p:cNvPr id="327" name="Google Shape;327;p17"/>
          <p:cNvSpPr/>
          <p:nvPr/>
        </p:nvSpPr>
        <p:spPr>
          <a:xfrm>
            <a:off x="5114553" y="3099197"/>
            <a:ext cx="3533329"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fetch — 카카오톡</a:t>
            </a:r>
            <a:endParaRPr b="1" i="0" sz="1500" u="none" cap="none" strike="noStrike">
              <a:solidFill>
                <a:schemeClr val="dk1"/>
              </a:solidFill>
              <a:latin typeface="Calibri"/>
              <a:ea typeface="Calibri"/>
              <a:cs typeface="Calibri"/>
              <a:sym typeface="Calibri"/>
            </a:endParaRPr>
          </a:p>
        </p:txBody>
      </p:sp>
      <p:sp>
        <p:nvSpPr>
          <p:cNvPr id="328" name="Google Shape;328;p17"/>
          <p:cNvSpPr/>
          <p:nvPr/>
        </p:nvSpPr>
        <p:spPr>
          <a:xfrm>
            <a:off x="5114553" y="3367460"/>
            <a:ext cx="3533329"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서버에 "저장해줘!" 메시지를 보내는 역할</a:t>
            </a:r>
            <a:endParaRPr b="0" i="0" sz="950" u="none" cap="none" strike="noStrike">
              <a:solidFill>
                <a:schemeClr val="dk1"/>
              </a:solidFill>
              <a:latin typeface="Calibri"/>
              <a:ea typeface="Calibri"/>
              <a:cs typeface="Calibri"/>
              <a:sym typeface="Calibri"/>
            </a:endParaRPr>
          </a:p>
        </p:txBody>
      </p:sp>
      <p:sp>
        <p:nvSpPr>
          <p:cNvPr id="329" name="Google Shape;329;p17"/>
          <p:cNvSpPr/>
          <p:nvPr/>
        </p:nvSpPr>
        <p:spPr>
          <a:xfrm>
            <a:off x="496119" y="3705448"/>
            <a:ext cx="8608963" cy="2032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Consolas"/>
              <a:buNone/>
            </a:pPr>
            <a:r>
              <a:rPr b="0" i="0" lang="ko-KR" sz="1450" u="none" cap="none" strike="noStrike">
                <a:solidFill>
                  <a:srgbClr val="15213F"/>
                </a:solidFill>
                <a:highlight>
                  <a:srgbClr val="EEEFF1"/>
                </a:highlight>
                <a:latin typeface="Consolas"/>
                <a:ea typeface="Consolas"/>
                <a:cs typeface="Consolas"/>
                <a:sym typeface="Consolas"/>
              </a:rPr>
              <a:t>setInterval</a:t>
            </a:r>
            <a:r>
              <a:rPr b="0" i="0" lang="ko-KR" sz="1450" u="none" cap="none" strike="noStrike">
                <a:solidFill>
                  <a:srgbClr val="15213F"/>
                </a:solidFill>
                <a:latin typeface="Roboto"/>
                <a:ea typeface="Roboto"/>
                <a:cs typeface="Roboto"/>
                <a:sym typeface="Roboto"/>
              </a:rPr>
              <a:t> = 알람 시계: "1초마다 째깍!" 반복 실행    </a:t>
            </a:r>
            <a:br>
              <a:rPr b="0" i="0" lang="ko-KR" sz="1450" u="none" cap="none" strike="noStrike">
                <a:solidFill>
                  <a:srgbClr val="15213F"/>
                </a:solidFill>
                <a:latin typeface="Roboto"/>
                <a:ea typeface="Roboto"/>
                <a:cs typeface="Roboto"/>
                <a:sym typeface="Roboto"/>
              </a:rPr>
            </a:br>
            <a:r>
              <a:rPr b="0" i="0" lang="ko-KR" sz="1450" u="none" cap="none" strike="noStrike">
                <a:solidFill>
                  <a:srgbClr val="15213F"/>
                </a:solidFill>
                <a:highlight>
                  <a:srgbClr val="EEEFF1"/>
                </a:highlight>
                <a:latin typeface="Consolas"/>
                <a:ea typeface="Consolas"/>
                <a:cs typeface="Consolas"/>
                <a:sym typeface="Consolas"/>
              </a:rPr>
              <a:t>clearInterval</a:t>
            </a:r>
            <a:r>
              <a:rPr b="0" i="0" lang="ko-KR" sz="1450" u="none" cap="none" strike="noStrike">
                <a:solidFill>
                  <a:srgbClr val="15213F"/>
                </a:solidFill>
                <a:latin typeface="Roboto"/>
                <a:ea typeface="Roboto"/>
                <a:cs typeface="Roboto"/>
                <a:sym typeface="Roboto"/>
              </a:rPr>
              <a:t> = 알람 끄기: "이제 그만 울려!"</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8"/>
          <p:cNvSpPr/>
          <p:nvPr/>
        </p:nvSpPr>
        <p:spPr>
          <a:xfrm>
            <a:off x="496119" y="385614"/>
            <a:ext cx="466799" cy="161851"/>
          </a:xfrm>
          <a:prstGeom prst="roundRect">
            <a:avLst>
              <a:gd fmla="val 790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8"/>
          <p:cNvSpPr/>
          <p:nvPr/>
        </p:nvSpPr>
        <p:spPr>
          <a:xfrm>
            <a:off x="560040" y="417537"/>
            <a:ext cx="796156" cy="9800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650"/>
              <a:buFont typeface="Roboto"/>
              <a:buNone/>
            </a:pPr>
            <a:r>
              <a:rPr b="0" i="0" lang="ko-KR" sz="650" u="none" cap="none" strike="noStrike">
                <a:solidFill>
                  <a:srgbClr val="15213F"/>
                </a:solidFill>
                <a:latin typeface="Roboto"/>
                <a:ea typeface="Roboto"/>
                <a:cs typeface="Roboto"/>
                <a:sym typeface="Roboto"/>
              </a:rPr>
              <a:t>PHASE 1</a:t>
            </a:r>
            <a:endParaRPr b="0" i="0" sz="650" u="none" cap="none" strike="noStrike">
              <a:solidFill>
                <a:schemeClr val="dk1"/>
              </a:solidFill>
              <a:latin typeface="Calibri"/>
              <a:ea typeface="Calibri"/>
              <a:cs typeface="Calibri"/>
              <a:sym typeface="Calibri"/>
            </a:endParaRPr>
          </a:p>
        </p:txBody>
      </p:sp>
      <p:sp>
        <p:nvSpPr>
          <p:cNvPr id="337" name="Google Shape;337;p18"/>
          <p:cNvSpPr/>
          <p:nvPr/>
        </p:nvSpPr>
        <p:spPr>
          <a:xfrm>
            <a:off x="496119" y="584076"/>
            <a:ext cx="8151763" cy="33307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050"/>
              <a:buFont typeface="Roboto Slab"/>
              <a:buNone/>
            </a:pPr>
            <a:r>
              <a:rPr b="1" i="0" lang="ko-KR" sz="2450" u="none" cap="none" strike="noStrike">
                <a:solidFill>
                  <a:srgbClr val="3257B8"/>
                </a:solidFill>
                <a:latin typeface="Roboto Slab"/>
                <a:ea typeface="Roboto Slab"/>
                <a:cs typeface="Roboto Slab"/>
                <a:sym typeface="Roboto Slab"/>
              </a:rPr>
              <a:t>JSON 데이터 — 공부 일기장</a:t>
            </a:r>
            <a:endParaRPr b="1" i="0" sz="2450" u="none" cap="none" strike="noStrike">
              <a:solidFill>
                <a:schemeClr val="dk1"/>
              </a:solidFill>
              <a:latin typeface="Calibri"/>
              <a:ea typeface="Calibri"/>
              <a:cs typeface="Calibri"/>
              <a:sym typeface="Calibri"/>
            </a:endParaRPr>
          </a:p>
        </p:txBody>
      </p:sp>
      <p:sp>
        <p:nvSpPr>
          <p:cNvPr id="338" name="Google Shape;338;p18"/>
          <p:cNvSpPr/>
          <p:nvPr/>
        </p:nvSpPr>
        <p:spPr>
          <a:xfrm>
            <a:off x="496119" y="1146125"/>
            <a:ext cx="3945880" cy="16653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1000"/>
              <a:buFont typeface="Roboto Slab"/>
              <a:buNone/>
            </a:pPr>
            <a:r>
              <a:rPr b="0" i="0" lang="ko-KR" sz="1000" u="none" cap="none" strike="noStrike">
                <a:solidFill>
                  <a:srgbClr val="3257B8"/>
                </a:solidFill>
                <a:latin typeface="Roboto Slab"/>
                <a:ea typeface="Roboto Slab"/>
                <a:cs typeface="Roboto Slab"/>
                <a:sym typeface="Roboto Slab"/>
              </a:rPr>
              <a:t>subjects.json = 시간표</a:t>
            </a:r>
            <a:endParaRPr b="0" i="0" sz="1000" u="none" cap="none" strike="noStrike">
              <a:solidFill>
                <a:schemeClr val="dk1"/>
              </a:solidFill>
              <a:latin typeface="Calibri"/>
              <a:ea typeface="Calibri"/>
              <a:cs typeface="Calibri"/>
              <a:sym typeface="Calibri"/>
            </a:endParaRPr>
          </a:p>
        </p:txBody>
      </p:sp>
      <p:sp>
        <p:nvSpPr>
          <p:cNvPr id="339" name="Google Shape;339;p18"/>
          <p:cNvSpPr/>
          <p:nvPr/>
        </p:nvSpPr>
        <p:spPr>
          <a:xfrm>
            <a:off x="496119" y="1415653"/>
            <a:ext cx="3945880" cy="2750344"/>
          </a:xfrm>
          <a:prstGeom prst="roundRect">
            <a:avLst>
              <a:gd fmla="val 581" name="adj"/>
            </a:avLst>
          </a:prstGeom>
          <a:solidFill>
            <a:srgbClr val="EE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8"/>
          <p:cNvSpPr/>
          <p:nvPr/>
        </p:nvSpPr>
        <p:spPr>
          <a:xfrm>
            <a:off x="490825" y="1415649"/>
            <a:ext cx="3956400" cy="3452100"/>
          </a:xfrm>
          <a:prstGeom prst="roundRect">
            <a:avLst>
              <a:gd fmla="val 581" name="adj"/>
            </a:avLst>
          </a:prstGeom>
          <a:solidFill>
            <a:srgbClr val="EE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8"/>
          <p:cNvSpPr/>
          <p:nvPr/>
        </p:nvSpPr>
        <p:spPr>
          <a:xfrm>
            <a:off x="624036" y="1522214"/>
            <a:ext cx="3690045" cy="2537222"/>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"subjects":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"name": "수학",</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"daily_goal": 60,</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"weekly_goal": 300,</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"color": "#4CAF50"</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"name": "영어",</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"daily_goal": 40,</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"weekly_goal": 180,</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"color": "#2196F3"</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a:t>
            </a:r>
            <a:endParaRPr b="0" i="0" sz="1100" u="none" cap="none" strike="noStrike">
              <a:solidFill>
                <a:schemeClr val="dk1"/>
              </a:solidFill>
              <a:latin typeface="Calibri"/>
              <a:ea typeface="Calibri"/>
              <a:cs typeface="Calibri"/>
              <a:sym typeface="Calibri"/>
            </a:endParaRPr>
          </a:p>
        </p:txBody>
      </p:sp>
      <p:sp>
        <p:nvSpPr>
          <p:cNvPr id="342" name="Google Shape;342;p18"/>
          <p:cNvSpPr/>
          <p:nvPr/>
        </p:nvSpPr>
        <p:spPr>
          <a:xfrm>
            <a:off x="4706764" y="1146125"/>
            <a:ext cx="3945880" cy="16653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1000"/>
              <a:buFont typeface="Roboto Slab"/>
              <a:buNone/>
            </a:pPr>
            <a:r>
              <a:rPr b="0" i="0" lang="ko-KR" sz="1000" u="none" cap="none" strike="noStrike">
                <a:solidFill>
                  <a:srgbClr val="3257B8"/>
                </a:solidFill>
                <a:latin typeface="Roboto Slab"/>
                <a:ea typeface="Roboto Slab"/>
                <a:cs typeface="Roboto Slab"/>
                <a:sym typeface="Roboto Slab"/>
              </a:rPr>
              <a:t>sessions/2026-07-28.json = 7월 28일 일기</a:t>
            </a:r>
            <a:endParaRPr b="0" i="0" sz="1000" u="none" cap="none" strike="noStrike">
              <a:solidFill>
                <a:schemeClr val="dk1"/>
              </a:solidFill>
              <a:latin typeface="Calibri"/>
              <a:ea typeface="Calibri"/>
              <a:cs typeface="Calibri"/>
              <a:sym typeface="Calibri"/>
            </a:endParaRPr>
          </a:p>
        </p:txBody>
      </p:sp>
      <p:sp>
        <p:nvSpPr>
          <p:cNvPr id="343" name="Google Shape;343;p18"/>
          <p:cNvSpPr/>
          <p:nvPr/>
        </p:nvSpPr>
        <p:spPr>
          <a:xfrm>
            <a:off x="4706764" y="1415653"/>
            <a:ext cx="3945880" cy="2274615"/>
          </a:xfrm>
          <a:prstGeom prst="roundRect">
            <a:avLst>
              <a:gd fmla="val 703" name="adj"/>
            </a:avLst>
          </a:prstGeom>
          <a:solidFill>
            <a:srgbClr val="EE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8"/>
          <p:cNvSpPr/>
          <p:nvPr/>
        </p:nvSpPr>
        <p:spPr>
          <a:xfrm>
            <a:off x="4701475" y="1415649"/>
            <a:ext cx="3956400" cy="2925900"/>
          </a:xfrm>
          <a:prstGeom prst="roundRect">
            <a:avLst>
              <a:gd fmla="val 703" name="adj"/>
            </a:avLst>
          </a:prstGeom>
          <a:solidFill>
            <a:srgbClr val="EE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8"/>
          <p:cNvSpPr/>
          <p:nvPr/>
        </p:nvSpPr>
        <p:spPr>
          <a:xfrm>
            <a:off x="4834675" y="1522228"/>
            <a:ext cx="3690000" cy="27504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"date": "2026-07-28",</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"sessions":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"subject": "수학",</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"start": "16:00",</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"end": "17:15",</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"focus": 48,</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"distract": 27,</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"focus_rate": 64</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  ]</a:t>
            </a:r>
            <a:endParaRPr b="0" i="0" sz="1100" u="none" cap="none" strike="noStrike">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15213F"/>
              </a:buClr>
              <a:buSzPts val="800"/>
              <a:buFont typeface="Consolas"/>
              <a:buNone/>
            </a:pPr>
            <a:r>
              <a:rPr b="0" i="0" lang="ko-KR" sz="1100" u="none" cap="none" strike="noStrike">
                <a:solidFill>
                  <a:srgbClr val="15213F"/>
                </a:solidFill>
                <a:highlight>
                  <a:srgbClr val="EEEFF1"/>
                </a:highlight>
                <a:latin typeface="Consolas"/>
                <a:ea typeface="Consolas"/>
                <a:cs typeface="Consolas"/>
                <a:sym typeface="Consolas"/>
              </a:rPr>
              <a:t>}</a:t>
            </a:r>
            <a:endParaRPr b="0" i="0" sz="1100" u="none" cap="none" strike="noStrike">
              <a:solidFill>
                <a:schemeClr val="dk1"/>
              </a:solidFill>
              <a:latin typeface="Calibri"/>
              <a:ea typeface="Calibri"/>
              <a:cs typeface="Calibri"/>
              <a:sym typeface="Calibri"/>
            </a:endParaRPr>
          </a:p>
        </p:txBody>
      </p:sp>
      <p:sp>
        <p:nvSpPr>
          <p:cNvPr id="346" name="Google Shape;346;p18"/>
          <p:cNvSpPr/>
          <p:nvPr/>
        </p:nvSpPr>
        <p:spPr>
          <a:xfrm>
            <a:off x="490819" y="4983500"/>
            <a:ext cx="8151900" cy="385800"/>
          </a:xfrm>
          <a:prstGeom prst="roundRect">
            <a:avLst>
              <a:gd fmla="val 414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pic>
        <p:nvPicPr>
          <p:cNvPr descr="preencoded.png" id="347" name="Google Shape;347;p18"/>
          <p:cNvPicPr preferRelativeResize="0"/>
          <p:nvPr/>
        </p:nvPicPr>
        <p:blipFill rotWithShape="1">
          <a:blip r:embed="rId3">
            <a:alphaModFix/>
          </a:blip>
          <a:srcRect b="0" l="0" r="0" t="0"/>
          <a:stretch/>
        </p:blipFill>
        <p:spPr>
          <a:xfrm>
            <a:off x="602679" y="4521473"/>
            <a:ext cx="133201" cy="106561"/>
          </a:xfrm>
          <a:prstGeom prst="rect">
            <a:avLst/>
          </a:prstGeom>
          <a:noFill/>
          <a:ln>
            <a:noFill/>
          </a:ln>
        </p:spPr>
      </p:pic>
      <p:sp>
        <p:nvSpPr>
          <p:cNvPr id="348" name="Google Shape;348;p18"/>
          <p:cNvSpPr/>
          <p:nvPr/>
        </p:nvSpPr>
        <p:spPr>
          <a:xfrm>
            <a:off x="837142" y="5101744"/>
            <a:ext cx="8156100" cy="1587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000000"/>
              </a:buClr>
              <a:buSzPts val="800"/>
              <a:buFont typeface="Roboto"/>
              <a:buNone/>
            </a:pPr>
            <a:r>
              <a:rPr b="0" i="0" lang="ko-KR" sz="1000" u="none" cap="none" strike="noStrike">
                <a:solidFill>
                  <a:srgbClr val="000000"/>
                </a:solidFill>
                <a:latin typeface="Roboto"/>
                <a:ea typeface="Roboto"/>
                <a:cs typeface="Roboto"/>
                <a:sym typeface="Roboto"/>
              </a:rPr>
              <a:t>JSON = </a:t>
            </a:r>
            <a:r>
              <a:rPr b="1" i="0" lang="ko-KR" sz="1000" u="none" cap="none" strike="noStrike">
                <a:solidFill>
                  <a:srgbClr val="000000"/>
                </a:solidFill>
                <a:latin typeface="Roboto"/>
                <a:ea typeface="Roboto"/>
                <a:cs typeface="Roboto"/>
                <a:sym typeface="Roboto"/>
              </a:rPr>
              <a:t>자기소개 카드</a:t>
            </a:r>
            <a:r>
              <a:rPr b="0" i="0" lang="ko-KR" sz="1000" u="none" cap="none" strike="noStrike">
                <a:solidFill>
                  <a:srgbClr val="000000"/>
                </a:solidFill>
                <a:latin typeface="Roboto"/>
                <a:ea typeface="Roboto"/>
                <a:cs typeface="Roboto"/>
                <a:sym typeface="Roboto"/>
              </a:rPr>
              <a:t>: "이름: 값" 형태의 텍스트 파일. 메모장으로 열어서 직접 확인할 수 있어요!</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9"/>
          <p:cNvSpPr/>
          <p:nvPr/>
        </p:nvSpPr>
        <p:spPr>
          <a:xfrm>
            <a:off x="496119" y="362396"/>
            <a:ext cx="500732" cy="173757"/>
          </a:xfrm>
          <a:prstGeom prst="roundRect">
            <a:avLst>
              <a:gd fmla="val 7898"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9"/>
          <p:cNvSpPr/>
          <p:nvPr/>
        </p:nvSpPr>
        <p:spPr>
          <a:xfrm>
            <a:off x="564728" y="396701"/>
            <a:ext cx="820713" cy="105147"/>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00"/>
              <a:buFont typeface="Roboto"/>
              <a:buNone/>
            </a:pPr>
            <a:r>
              <a:rPr b="0" i="0" lang="ko-KR" sz="700" u="none" cap="none" strike="noStrike">
                <a:solidFill>
                  <a:srgbClr val="15213F"/>
                </a:solidFill>
                <a:latin typeface="Roboto"/>
                <a:ea typeface="Roboto"/>
                <a:cs typeface="Roboto"/>
                <a:sym typeface="Roboto"/>
              </a:rPr>
              <a:t>PHASE 1</a:t>
            </a:r>
            <a:endParaRPr b="0" i="0" sz="700" u="none" cap="none" strike="noStrike">
              <a:solidFill>
                <a:schemeClr val="dk1"/>
              </a:solidFill>
              <a:latin typeface="Calibri"/>
              <a:ea typeface="Calibri"/>
              <a:cs typeface="Calibri"/>
              <a:sym typeface="Calibri"/>
            </a:endParaRPr>
          </a:p>
        </p:txBody>
      </p:sp>
      <p:sp>
        <p:nvSpPr>
          <p:cNvPr id="356" name="Google Shape;356;p19"/>
          <p:cNvSpPr/>
          <p:nvPr/>
        </p:nvSpPr>
        <p:spPr>
          <a:xfrm>
            <a:off x="496119" y="578272"/>
            <a:ext cx="8151763" cy="3573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250"/>
              <a:buFont typeface="Roboto Slab"/>
              <a:buNone/>
            </a:pPr>
            <a:r>
              <a:rPr b="1" i="0" lang="ko-KR" sz="2250" u="none" cap="none" strike="noStrike">
                <a:solidFill>
                  <a:srgbClr val="3257B8"/>
                </a:solidFill>
                <a:latin typeface="Roboto Slab"/>
                <a:ea typeface="Roboto Slab"/>
                <a:cs typeface="Roboto Slab"/>
                <a:sym typeface="Roboto Slab"/>
              </a:rPr>
              <a:t>Phase 1 개발 순서</a:t>
            </a:r>
            <a:endParaRPr b="1" i="0" sz="2250" u="none" cap="none" strike="noStrike">
              <a:solidFill>
                <a:schemeClr val="dk1"/>
              </a:solidFill>
              <a:latin typeface="Calibri"/>
              <a:ea typeface="Calibri"/>
              <a:cs typeface="Calibri"/>
              <a:sym typeface="Calibri"/>
            </a:endParaRPr>
          </a:p>
        </p:txBody>
      </p:sp>
      <p:sp>
        <p:nvSpPr>
          <p:cNvPr id="357" name="Google Shape;357;p19"/>
          <p:cNvSpPr/>
          <p:nvPr/>
        </p:nvSpPr>
        <p:spPr>
          <a:xfrm>
            <a:off x="496119" y="1093738"/>
            <a:ext cx="8608963"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0" i="0" lang="ko-KR" u="none" cap="none" strike="noStrike">
                <a:solidFill>
                  <a:srgbClr val="15213F"/>
                </a:solidFill>
                <a:latin typeface="Roboto"/>
                <a:ea typeface="Roboto"/>
                <a:cs typeface="Roboto"/>
                <a:sym typeface="Roboto"/>
              </a:rPr>
              <a:t>집 짓기 공정표처럼, 순서를 지켜야 무너지지 않아요! 총 10단계로 진행합니다.</a:t>
            </a:r>
            <a:endParaRPr b="0" i="0" u="none" cap="none" strike="noStrike">
              <a:solidFill>
                <a:schemeClr val="dk1"/>
              </a:solidFill>
              <a:latin typeface="Calibri"/>
              <a:ea typeface="Calibri"/>
              <a:cs typeface="Calibri"/>
              <a:sym typeface="Calibri"/>
            </a:endParaRPr>
          </a:p>
        </p:txBody>
      </p:sp>
      <p:sp>
        <p:nvSpPr>
          <p:cNvPr id="358" name="Google Shape;358;p19"/>
          <p:cNvSpPr/>
          <p:nvPr/>
        </p:nvSpPr>
        <p:spPr>
          <a:xfrm>
            <a:off x="496119" y="1388120"/>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00"/>
              <a:buFont typeface="Roboto Slab Light"/>
              <a:buNone/>
            </a:pPr>
            <a:r>
              <a:rPr b="0" i="0" lang="ko-KR" sz="900" u="none" cap="none" strike="noStrike">
                <a:solidFill>
                  <a:srgbClr val="15213F"/>
                </a:solidFill>
                <a:latin typeface="Roboto Slab Light"/>
                <a:ea typeface="Roboto Slab Light"/>
                <a:cs typeface="Roboto Slab Light"/>
                <a:sym typeface="Roboto Slab Light"/>
              </a:rPr>
              <a:t>01</a:t>
            </a:r>
            <a:endParaRPr b="0" i="0" sz="900" u="none" cap="none" strike="noStrike">
              <a:solidFill>
                <a:schemeClr val="dk1"/>
              </a:solidFill>
              <a:latin typeface="Calibri"/>
              <a:ea typeface="Calibri"/>
              <a:cs typeface="Calibri"/>
              <a:sym typeface="Calibri"/>
            </a:endParaRPr>
          </a:p>
        </p:txBody>
      </p:sp>
      <p:sp>
        <p:nvSpPr>
          <p:cNvPr id="359" name="Google Shape;359;p19"/>
          <p:cNvSpPr/>
          <p:nvPr/>
        </p:nvSpPr>
        <p:spPr>
          <a:xfrm>
            <a:off x="496119" y="1568128"/>
            <a:ext cx="4023196"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9"/>
          <p:cNvSpPr/>
          <p:nvPr/>
        </p:nvSpPr>
        <p:spPr>
          <a:xfrm>
            <a:off x="496119" y="1653853"/>
            <a:ext cx="4023196"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Flask 서버 기본 틀</a:t>
            </a:r>
            <a:endParaRPr b="1" i="0" u="none" cap="none" strike="noStrike">
              <a:solidFill>
                <a:schemeClr val="dk1"/>
              </a:solidFill>
              <a:latin typeface="Calibri"/>
              <a:ea typeface="Calibri"/>
              <a:cs typeface="Calibri"/>
              <a:sym typeface="Calibri"/>
            </a:endParaRPr>
          </a:p>
        </p:txBody>
      </p:sp>
      <p:sp>
        <p:nvSpPr>
          <p:cNvPr id="361" name="Google Shape;361;p19"/>
          <p:cNvSpPr/>
          <p:nvPr/>
        </p:nvSpPr>
        <p:spPr>
          <a:xfrm>
            <a:off x="496119" y="1895773"/>
            <a:ext cx="4023196"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주방 설치 + 가스 연결</a:t>
            </a:r>
            <a:endParaRPr b="0" i="0" sz="1200" u="none" cap="none" strike="noStrike">
              <a:solidFill>
                <a:schemeClr val="dk1"/>
              </a:solidFill>
              <a:latin typeface="Calibri"/>
              <a:ea typeface="Calibri"/>
              <a:cs typeface="Calibri"/>
              <a:sym typeface="Calibri"/>
            </a:endParaRPr>
          </a:p>
        </p:txBody>
      </p:sp>
      <p:sp>
        <p:nvSpPr>
          <p:cNvPr id="362" name="Google Shape;362;p19"/>
          <p:cNvSpPr/>
          <p:nvPr/>
        </p:nvSpPr>
        <p:spPr>
          <a:xfrm>
            <a:off x="4624685" y="1388120"/>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00"/>
              <a:buFont typeface="Roboto Slab Light"/>
              <a:buNone/>
            </a:pPr>
            <a:r>
              <a:rPr b="0" i="0" lang="ko-KR" sz="900" u="none" cap="none" strike="noStrike">
                <a:solidFill>
                  <a:srgbClr val="15213F"/>
                </a:solidFill>
                <a:latin typeface="Roboto Slab Light"/>
                <a:ea typeface="Roboto Slab Light"/>
                <a:cs typeface="Roboto Slab Light"/>
                <a:sym typeface="Roboto Slab Light"/>
              </a:rPr>
              <a:t>02</a:t>
            </a:r>
            <a:endParaRPr b="0" i="0" sz="900" u="none" cap="none" strike="noStrike">
              <a:solidFill>
                <a:schemeClr val="dk1"/>
              </a:solidFill>
              <a:latin typeface="Calibri"/>
              <a:ea typeface="Calibri"/>
              <a:cs typeface="Calibri"/>
              <a:sym typeface="Calibri"/>
            </a:endParaRPr>
          </a:p>
        </p:txBody>
      </p:sp>
      <p:sp>
        <p:nvSpPr>
          <p:cNvPr id="363" name="Google Shape;363;p19"/>
          <p:cNvSpPr/>
          <p:nvPr/>
        </p:nvSpPr>
        <p:spPr>
          <a:xfrm>
            <a:off x="4624685" y="1568128"/>
            <a:ext cx="4023196"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9"/>
          <p:cNvSpPr/>
          <p:nvPr/>
        </p:nvSpPr>
        <p:spPr>
          <a:xfrm>
            <a:off x="4624685" y="1653853"/>
            <a:ext cx="4023196"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메인 페이지 HTML</a:t>
            </a:r>
            <a:endParaRPr b="1" i="0" u="none" cap="none" strike="noStrike">
              <a:solidFill>
                <a:schemeClr val="dk1"/>
              </a:solidFill>
              <a:latin typeface="Calibri"/>
              <a:ea typeface="Calibri"/>
              <a:cs typeface="Calibri"/>
              <a:sym typeface="Calibri"/>
            </a:endParaRPr>
          </a:p>
        </p:txBody>
      </p:sp>
      <p:sp>
        <p:nvSpPr>
          <p:cNvPr id="365" name="Google Shape;365;p19"/>
          <p:cNvSpPr/>
          <p:nvPr/>
        </p:nvSpPr>
        <p:spPr>
          <a:xfrm>
            <a:off x="4624685" y="1895773"/>
            <a:ext cx="4023196"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로비 만들기</a:t>
            </a:r>
            <a:endParaRPr b="0" i="0" sz="1200" u="none" cap="none" strike="noStrike">
              <a:solidFill>
                <a:schemeClr val="dk1"/>
              </a:solidFill>
              <a:latin typeface="Calibri"/>
              <a:ea typeface="Calibri"/>
              <a:cs typeface="Calibri"/>
              <a:sym typeface="Calibri"/>
            </a:endParaRPr>
          </a:p>
        </p:txBody>
      </p:sp>
      <p:sp>
        <p:nvSpPr>
          <p:cNvPr id="366" name="Google Shape;366;p19"/>
          <p:cNvSpPr/>
          <p:nvPr/>
        </p:nvSpPr>
        <p:spPr>
          <a:xfrm>
            <a:off x="496119" y="2262708"/>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00"/>
              <a:buFont typeface="Roboto Slab Light"/>
              <a:buNone/>
            </a:pPr>
            <a:r>
              <a:rPr b="0" i="0" lang="ko-KR" sz="900" u="none" cap="none" strike="noStrike">
                <a:solidFill>
                  <a:srgbClr val="15213F"/>
                </a:solidFill>
                <a:latin typeface="Roboto Slab Light"/>
                <a:ea typeface="Roboto Slab Light"/>
                <a:cs typeface="Roboto Slab Light"/>
                <a:sym typeface="Roboto Slab Light"/>
              </a:rPr>
              <a:t>03</a:t>
            </a:r>
            <a:endParaRPr b="0" i="0" sz="900" u="none" cap="none" strike="noStrike">
              <a:solidFill>
                <a:schemeClr val="dk1"/>
              </a:solidFill>
              <a:latin typeface="Calibri"/>
              <a:ea typeface="Calibri"/>
              <a:cs typeface="Calibri"/>
              <a:sym typeface="Calibri"/>
            </a:endParaRPr>
          </a:p>
        </p:txBody>
      </p:sp>
      <p:sp>
        <p:nvSpPr>
          <p:cNvPr id="367" name="Google Shape;367;p19"/>
          <p:cNvSpPr/>
          <p:nvPr/>
        </p:nvSpPr>
        <p:spPr>
          <a:xfrm>
            <a:off x="496119" y="2431256"/>
            <a:ext cx="4023196"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9"/>
          <p:cNvSpPr/>
          <p:nvPr/>
        </p:nvSpPr>
        <p:spPr>
          <a:xfrm>
            <a:off x="496119" y="2528441"/>
            <a:ext cx="4023196"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과목 설정 화면 + CRUD API</a:t>
            </a:r>
            <a:endParaRPr b="1" i="0" u="none" cap="none" strike="noStrike">
              <a:solidFill>
                <a:schemeClr val="dk1"/>
              </a:solidFill>
              <a:latin typeface="Calibri"/>
              <a:ea typeface="Calibri"/>
              <a:cs typeface="Calibri"/>
              <a:sym typeface="Calibri"/>
            </a:endParaRPr>
          </a:p>
        </p:txBody>
      </p:sp>
      <p:sp>
        <p:nvSpPr>
          <p:cNvPr id="369" name="Google Shape;369;p19"/>
          <p:cNvSpPr/>
          <p:nvPr/>
        </p:nvSpPr>
        <p:spPr>
          <a:xfrm>
            <a:off x="496119" y="2770361"/>
            <a:ext cx="4023196"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관리실 + 주문서 시스템 설치</a:t>
            </a:r>
            <a:endParaRPr b="0" i="0" sz="1200" u="none" cap="none" strike="noStrike">
              <a:solidFill>
                <a:schemeClr val="dk1"/>
              </a:solidFill>
              <a:latin typeface="Calibri"/>
              <a:ea typeface="Calibri"/>
              <a:cs typeface="Calibri"/>
              <a:sym typeface="Calibri"/>
            </a:endParaRPr>
          </a:p>
        </p:txBody>
      </p:sp>
      <p:sp>
        <p:nvSpPr>
          <p:cNvPr id="370" name="Google Shape;370;p19"/>
          <p:cNvSpPr/>
          <p:nvPr/>
        </p:nvSpPr>
        <p:spPr>
          <a:xfrm>
            <a:off x="4624685" y="2262708"/>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00"/>
              <a:buFont typeface="Roboto Slab Light"/>
              <a:buNone/>
            </a:pPr>
            <a:r>
              <a:rPr b="0" i="0" lang="ko-KR" sz="900" u="none" cap="none" strike="noStrike">
                <a:solidFill>
                  <a:srgbClr val="15213F"/>
                </a:solidFill>
                <a:latin typeface="Roboto Slab Light"/>
                <a:ea typeface="Roboto Slab Light"/>
                <a:cs typeface="Roboto Slab Light"/>
                <a:sym typeface="Roboto Slab Light"/>
              </a:rPr>
              <a:t>04</a:t>
            </a:r>
            <a:endParaRPr b="0" i="0" sz="900" u="none" cap="none" strike="noStrike">
              <a:solidFill>
                <a:schemeClr val="dk1"/>
              </a:solidFill>
              <a:latin typeface="Calibri"/>
              <a:ea typeface="Calibri"/>
              <a:cs typeface="Calibri"/>
              <a:sym typeface="Calibri"/>
            </a:endParaRPr>
          </a:p>
        </p:txBody>
      </p:sp>
      <p:sp>
        <p:nvSpPr>
          <p:cNvPr id="371" name="Google Shape;371;p19"/>
          <p:cNvSpPr/>
          <p:nvPr/>
        </p:nvSpPr>
        <p:spPr>
          <a:xfrm>
            <a:off x="4624685" y="2431256"/>
            <a:ext cx="4023196"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9"/>
          <p:cNvSpPr/>
          <p:nvPr/>
        </p:nvSpPr>
        <p:spPr>
          <a:xfrm>
            <a:off x="4624685" y="2528441"/>
            <a:ext cx="4023196"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subjects.json 설계</a:t>
            </a:r>
            <a:endParaRPr b="1" i="0" u="none" cap="none" strike="noStrike">
              <a:solidFill>
                <a:schemeClr val="dk1"/>
              </a:solidFill>
              <a:latin typeface="Calibri"/>
              <a:ea typeface="Calibri"/>
              <a:cs typeface="Calibri"/>
              <a:sym typeface="Calibri"/>
            </a:endParaRPr>
          </a:p>
        </p:txBody>
      </p:sp>
      <p:sp>
        <p:nvSpPr>
          <p:cNvPr id="373" name="Google Shape;373;p19"/>
          <p:cNvSpPr/>
          <p:nvPr/>
        </p:nvSpPr>
        <p:spPr>
          <a:xfrm>
            <a:off x="4624685" y="2770361"/>
            <a:ext cx="4023196"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냉장고 설치 + 시간표 넣기</a:t>
            </a:r>
            <a:endParaRPr b="0" i="0" sz="1200" u="none" cap="none" strike="noStrike">
              <a:solidFill>
                <a:schemeClr val="dk1"/>
              </a:solidFill>
              <a:latin typeface="Calibri"/>
              <a:ea typeface="Calibri"/>
              <a:cs typeface="Calibri"/>
              <a:sym typeface="Calibri"/>
            </a:endParaRPr>
          </a:p>
        </p:txBody>
      </p:sp>
      <p:sp>
        <p:nvSpPr>
          <p:cNvPr id="374" name="Google Shape;374;p19"/>
          <p:cNvSpPr/>
          <p:nvPr/>
        </p:nvSpPr>
        <p:spPr>
          <a:xfrm>
            <a:off x="496119" y="3137297"/>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00"/>
              <a:buFont typeface="Roboto Slab Light"/>
              <a:buNone/>
            </a:pPr>
            <a:r>
              <a:rPr b="0" i="0" lang="ko-KR" sz="900" u="none" cap="none" strike="noStrike">
                <a:solidFill>
                  <a:srgbClr val="15213F"/>
                </a:solidFill>
                <a:latin typeface="Roboto Slab Light"/>
                <a:ea typeface="Roboto Slab Light"/>
                <a:cs typeface="Roboto Slab Light"/>
                <a:sym typeface="Roboto Slab Light"/>
              </a:rPr>
              <a:t>05</a:t>
            </a:r>
            <a:endParaRPr b="0" i="0" sz="900" u="none" cap="none" strike="noStrike">
              <a:solidFill>
                <a:schemeClr val="dk1"/>
              </a:solidFill>
              <a:latin typeface="Calibri"/>
              <a:ea typeface="Calibri"/>
              <a:cs typeface="Calibri"/>
              <a:sym typeface="Calibri"/>
            </a:endParaRPr>
          </a:p>
        </p:txBody>
      </p:sp>
      <p:sp>
        <p:nvSpPr>
          <p:cNvPr id="375" name="Google Shape;375;p19"/>
          <p:cNvSpPr/>
          <p:nvPr/>
        </p:nvSpPr>
        <p:spPr>
          <a:xfrm>
            <a:off x="496119" y="3294459"/>
            <a:ext cx="4023196"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9"/>
          <p:cNvSpPr/>
          <p:nvPr/>
        </p:nvSpPr>
        <p:spPr>
          <a:xfrm>
            <a:off x="496119" y="3403029"/>
            <a:ext cx="4023196"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과목 관리 JS</a:t>
            </a:r>
            <a:endParaRPr b="1" i="0" u="none" cap="none" strike="noStrike">
              <a:solidFill>
                <a:schemeClr val="dk1"/>
              </a:solidFill>
              <a:latin typeface="Calibri"/>
              <a:ea typeface="Calibri"/>
              <a:cs typeface="Calibri"/>
              <a:sym typeface="Calibri"/>
            </a:endParaRPr>
          </a:p>
        </p:txBody>
      </p:sp>
      <p:sp>
        <p:nvSpPr>
          <p:cNvPr id="377" name="Google Shape;377;p19"/>
          <p:cNvSpPr/>
          <p:nvPr/>
        </p:nvSpPr>
        <p:spPr>
          <a:xfrm>
            <a:off x="496119" y="3644950"/>
            <a:ext cx="4023196"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관리실 전기 배선</a:t>
            </a:r>
            <a:endParaRPr b="0" i="0" sz="1200" u="none" cap="none" strike="noStrike">
              <a:solidFill>
                <a:schemeClr val="dk1"/>
              </a:solidFill>
              <a:latin typeface="Calibri"/>
              <a:ea typeface="Calibri"/>
              <a:cs typeface="Calibri"/>
              <a:sym typeface="Calibri"/>
            </a:endParaRPr>
          </a:p>
        </p:txBody>
      </p:sp>
      <p:sp>
        <p:nvSpPr>
          <p:cNvPr id="378" name="Google Shape;378;p19"/>
          <p:cNvSpPr/>
          <p:nvPr/>
        </p:nvSpPr>
        <p:spPr>
          <a:xfrm>
            <a:off x="4624685" y="3137297"/>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00"/>
              <a:buFont typeface="Roboto Slab Light"/>
              <a:buNone/>
            </a:pPr>
            <a:r>
              <a:rPr b="0" i="0" lang="ko-KR" sz="900" u="none" cap="none" strike="noStrike">
                <a:solidFill>
                  <a:srgbClr val="15213F"/>
                </a:solidFill>
                <a:latin typeface="Roboto Slab Light"/>
                <a:ea typeface="Roboto Slab Light"/>
                <a:cs typeface="Roboto Slab Light"/>
                <a:sym typeface="Roboto Slab Light"/>
              </a:rPr>
              <a:t>06</a:t>
            </a:r>
            <a:endParaRPr b="0" i="0" sz="900" u="none" cap="none" strike="noStrike">
              <a:solidFill>
                <a:schemeClr val="dk1"/>
              </a:solidFill>
              <a:latin typeface="Calibri"/>
              <a:ea typeface="Calibri"/>
              <a:cs typeface="Calibri"/>
              <a:sym typeface="Calibri"/>
            </a:endParaRPr>
          </a:p>
        </p:txBody>
      </p:sp>
      <p:sp>
        <p:nvSpPr>
          <p:cNvPr id="379" name="Google Shape;379;p19"/>
          <p:cNvSpPr/>
          <p:nvPr/>
        </p:nvSpPr>
        <p:spPr>
          <a:xfrm>
            <a:off x="4624685" y="3294459"/>
            <a:ext cx="4023196"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9"/>
          <p:cNvSpPr/>
          <p:nvPr/>
        </p:nvSpPr>
        <p:spPr>
          <a:xfrm>
            <a:off x="4624685" y="3403029"/>
            <a:ext cx="4023196"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타이머 화면 HTML + JS</a:t>
            </a:r>
            <a:endParaRPr b="1" i="0" u="none" cap="none" strike="noStrike">
              <a:solidFill>
                <a:schemeClr val="dk1"/>
              </a:solidFill>
              <a:latin typeface="Calibri"/>
              <a:ea typeface="Calibri"/>
              <a:cs typeface="Calibri"/>
              <a:sym typeface="Calibri"/>
            </a:endParaRPr>
          </a:p>
        </p:txBody>
      </p:sp>
      <p:sp>
        <p:nvSpPr>
          <p:cNvPr id="381" name="Google Shape;381;p19"/>
          <p:cNvSpPr/>
          <p:nvPr/>
        </p:nvSpPr>
        <p:spPr>
          <a:xfrm>
            <a:off x="4624685" y="3644950"/>
            <a:ext cx="4023196"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공부방에 시계 설치 + 건전지 넣기</a:t>
            </a:r>
            <a:endParaRPr b="0" i="0" sz="1200" u="none" cap="none" strike="noStrike">
              <a:solidFill>
                <a:schemeClr val="dk1"/>
              </a:solidFill>
              <a:latin typeface="Calibri"/>
              <a:ea typeface="Calibri"/>
              <a:cs typeface="Calibri"/>
              <a:sym typeface="Calibri"/>
            </a:endParaRPr>
          </a:p>
        </p:txBody>
      </p:sp>
      <p:sp>
        <p:nvSpPr>
          <p:cNvPr id="382" name="Google Shape;382;p19"/>
          <p:cNvSpPr/>
          <p:nvPr/>
        </p:nvSpPr>
        <p:spPr>
          <a:xfrm>
            <a:off x="496119" y="4011885"/>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00"/>
              <a:buFont typeface="Roboto Slab Light"/>
              <a:buNone/>
            </a:pPr>
            <a:r>
              <a:rPr b="0" i="0" lang="ko-KR" sz="900" u="none" cap="none" strike="noStrike">
                <a:solidFill>
                  <a:srgbClr val="15213F"/>
                </a:solidFill>
                <a:latin typeface="Roboto Slab Light"/>
                <a:ea typeface="Roboto Slab Light"/>
                <a:cs typeface="Roboto Slab Light"/>
                <a:sym typeface="Roboto Slab Light"/>
              </a:rPr>
              <a:t>07</a:t>
            </a:r>
            <a:endParaRPr b="0" i="0" sz="900" u="none" cap="none" strike="noStrike">
              <a:solidFill>
                <a:schemeClr val="dk1"/>
              </a:solidFill>
              <a:latin typeface="Calibri"/>
              <a:ea typeface="Calibri"/>
              <a:cs typeface="Calibri"/>
              <a:sym typeface="Calibri"/>
            </a:endParaRPr>
          </a:p>
        </p:txBody>
      </p:sp>
      <p:sp>
        <p:nvSpPr>
          <p:cNvPr id="383" name="Google Shape;383;p19"/>
          <p:cNvSpPr/>
          <p:nvPr/>
        </p:nvSpPr>
        <p:spPr>
          <a:xfrm>
            <a:off x="496119" y="4157588"/>
            <a:ext cx="4023196"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9"/>
          <p:cNvSpPr/>
          <p:nvPr/>
        </p:nvSpPr>
        <p:spPr>
          <a:xfrm>
            <a:off x="496119" y="4277618"/>
            <a:ext cx="4023196"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세션 저장 API</a:t>
            </a:r>
            <a:endParaRPr b="1" i="0" u="none" cap="none" strike="noStrike">
              <a:solidFill>
                <a:schemeClr val="dk1"/>
              </a:solidFill>
              <a:latin typeface="Calibri"/>
              <a:ea typeface="Calibri"/>
              <a:cs typeface="Calibri"/>
              <a:sym typeface="Calibri"/>
            </a:endParaRPr>
          </a:p>
        </p:txBody>
      </p:sp>
      <p:sp>
        <p:nvSpPr>
          <p:cNvPr id="385" name="Google Shape;385;p19"/>
          <p:cNvSpPr/>
          <p:nvPr/>
        </p:nvSpPr>
        <p:spPr>
          <a:xfrm>
            <a:off x="496119" y="4519538"/>
            <a:ext cx="4023196"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일기장 서랍 설치</a:t>
            </a:r>
            <a:endParaRPr b="0" i="0" sz="1200" u="none" cap="none" strike="noStrike">
              <a:solidFill>
                <a:schemeClr val="dk1"/>
              </a:solidFill>
              <a:latin typeface="Calibri"/>
              <a:ea typeface="Calibri"/>
              <a:cs typeface="Calibri"/>
              <a:sym typeface="Calibri"/>
            </a:endParaRPr>
          </a:p>
        </p:txBody>
      </p:sp>
      <p:sp>
        <p:nvSpPr>
          <p:cNvPr id="386" name="Google Shape;386;p19"/>
          <p:cNvSpPr/>
          <p:nvPr/>
        </p:nvSpPr>
        <p:spPr>
          <a:xfrm>
            <a:off x="4624685" y="4011885"/>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213F"/>
              </a:buClr>
              <a:buSzPts val="900"/>
              <a:buFont typeface="Roboto Slab Light"/>
              <a:buNone/>
            </a:pPr>
            <a:r>
              <a:rPr b="0" i="0" lang="ko-KR" sz="900" u="none" cap="none" strike="noStrike">
                <a:solidFill>
                  <a:srgbClr val="15213F"/>
                </a:solidFill>
                <a:latin typeface="Roboto Slab Light"/>
                <a:ea typeface="Roboto Slab Light"/>
                <a:cs typeface="Roboto Slab Light"/>
                <a:sym typeface="Roboto Slab Light"/>
              </a:rPr>
              <a:t>08</a:t>
            </a:r>
            <a:endParaRPr b="0" i="0" sz="900" u="none" cap="none" strike="noStrike">
              <a:solidFill>
                <a:schemeClr val="dk1"/>
              </a:solidFill>
              <a:latin typeface="Calibri"/>
              <a:ea typeface="Calibri"/>
              <a:cs typeface="Calibri"/>
              <a:sym typeface="Calibri"/>
            </a:endParaRPr>
          </a:p>
        </p:txBody>
      </p:sp>
      <p:sp>
        <p:nvSpPr>
          <p:cNvPr id="387" name="Google Shape;387;p19"/>
          <p:cNvSpPr/>
          <p:nvPr/>
        </p:nvSpPr>
        <p:spPr>
          <a:xfrm>
            <a:off x="4624685" y="4157588"/>
            <a:ext cx="4023196" cy="14288"/>
          </a:xfrm>
          <a:prstGeom prst="rect">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9"/>
          <p:cNvSpPr/>
          <p:nvPr/>
        </p:nvSpPr>
        <p:spPr>
          <a:xfrm>
            <a:off x="4624685" y="4277618"/>
            <a:ext cx="4023196"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세션 리포트</a:t>
            </a:r>
            <a:endParaRPr b="1" i="0" u="none" cap="none" strike="noStrike">
              <a:solidFill>
                <a:schemeClr val="dk1"/>
              </a:solidFill>
              <a:latin typeface="Calibri"/>
              <a:ea typeface="Calibri"/>
              <a:cs typeface="Calibri"/>
              <a:sym typeface="Calibri"/>
            </a:endParaRPr>
          </a:p>
        </p:txBody>
      </p:sp>
      <p:sp>
        <p:nvSpPr>
          <p:cNvPr id="389" name="Google Shape;389;p19"/>
          <p:cNvSpPr/>
          <p:nvPr/>
        </p:nvSpPr>
        <p:spPr>
          <a:xfrm>
            <a:off x="4624685" y="4519538"/>
            <a:ext cx="4023196"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성적표 출력기 설치</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pic>
        <p:nvPicPr>
          <p:cNvPr descr="preencoded.png" id="395" name="Google Shape;395;p20"/>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396" name="Google Shape;396;p20"/>
          <p:cNvSpPr/>
          <p:nvPr/>
        </p:nvSpPr>
        <p:spPr>
          <a:xfrm>
            <a:off x="496119" y="342900"/>
            <a:ext cx="483840" cy="167878"/>
          </a:xfrm>
          <a:prstGeom prst="roundRect">
            <a:avLst>
              <a:gd fmla="val 7897"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0"/>
          <p:cNvSpPr/>
          <p:nvPr/>
        </p:nvSpPr>
        <p:spPr>
          <a:xfrm>
            <a:off x="562347" y="376014"/>
            <a:ext cx="808583" cy="101650"/>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650"/>
              <a:buFont typeface="Roboto"/>
              <a:buNone/>
            </a:pPr>
            <a:r>
              <a:rPr b="0" i="0" lang="ko-KR" sz="650" u="none" cap="none" strike="noStrike">
                <a:solidFill>
                  <a:srgbClr val="15213F"/>
                </a:solidFill>
                <a:latin typeface="Roboto"/>
                <a:ea typeface="Roboto"/>
                <a:cs typeface="Roboto"/>
                <a:sym typeface="Roboto"/>
              </a:rPr>
              <a:t>PHASE 2</a:t>
            </a:r>
            <a:endParaRPr b="0" i="0" sz="650" u="none" cap="none" strike="noStrike">
              <a:solidFill>
                <a:schemeClr val="dk1"/>
              </a:solidFill>
              <a:latin typeface="Calibri"/>
              <a:ea typeface="Calibri"/>
              <a:cs typeface="Calibri"/>
              <a:sym typeface="Calibri"/>
            </a:endParaRPr>
          </a:p>
        </p:txBody>
      </p:sp>
      <p:sp>
        <p:nvSpPr>
          <p:cNvPr id="398" name="Google Shape;398;p20"/>
          <p:cNvSpPr/>
          <p:nvPr/>
        </p:nvSpPr>
        <p:spPr>
          <a:xfrm>
            <a:off x="496119" y="550069"/>
            <a:ext cx="4722763" cy="34528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150"/>
              <a:buFont typeface="Roboto Slab"/>
              <a:buNone/>
            </a:pPr>
            <a:r>
              <a:rPr b="1" i="0" lang="ko-KR" sz="2150" u="none" cap="none" strike="noStrike">
                <a:solidFill>
                  <a:srgbClr val="3257B8"/>
                </a:solidFill>
                <a:latin typeface="Roboto Slab"/>
                <a:ea typeface="Roboto Slab"/>
                <a:cs typeface="Roboto Slab"/>
                <a:sym typeface="Roboto Slab"/>
              </a:rPr>
              <a:t>Phase 2 — 대시보드 &amp; 통계</a:t>
            </a:r>
            <a:endParaRPr b="1" i="0" sz="2150" u="none" cap="none" strike="noStrike">
              <a:solidFill>
                <a:schemeClr val="dk1"/>
              </a:solidFill>
              <a:latin typeface="Calibri"/>
              <a:ea typeface="Calibri"/>
              <a:cs typeface="Calibri"/>
              <a:sym typeface="Calibri"/>
            </a:endParaRPr>
          </a:p>
        </p:txBody>
      </p:sp>
      <p:sp>
        <p:nvSpPr>
          <p:cNvPr id="399" name="Google Shape;399;p20"/>
          <p:cNvSpPr/>
          <p:nvPr/>
        </p:nvSpPr>
        <p:spPr>
          <a:xfrm>
            <a:off x="496119" y="1042913"/>
            <a:ext cx="4722763" cy="334268"/>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15213F"/>
              </a:buClr>
              <a:buSzPts val="850"/>
              <a:buFont typeface="Roboto"/>
              <a:buNone/>
            </a:pPr>
            <a:r>
              <a:rPr b="0" i="0" lang="ko-KR" sz="1050" u="none" cap="none" strike="noStrike">
                <a:solidFill>
                  <a:srgbClr val="15213F"/>
                </a:solidFill>
                <a:latin typeface="Roboto"/>
                <a:ea typeface="Roboto"/>
                <a:cs typeface="Roboto"/>
                <a:sym typeface="Roboto"/>
              </a:rPr>
              <a:t>기간: </a:t>
            </a:r>
            <a:r>
              <a:rPr b="1" i="0" lang="ko-KR" sz="1050" u="none" cap="none" strike="noStrike">
                <a:solidFill>
                  <a:srgbClr val="15213F"/>
                </a:solidFill>
                <a:latin typeface="Roboto"/>
                <a:ea typeface="Roboto"/>
                <a:cs typeface="Roboto"/>
                <a:sym typeface="Roboto"/>
              </a:rPr>
              <a:t>4주</a:t>
            </a:r>
            <a:r>
              <a:rPr b="0" i="0" lang="ko-KR" sz="1050" u="none" cap="none" strike="noStrike">
                <a:solidFill>
                  <a:srgbClr val="15213F"/>
                </a:solidFill>
                <a:latin typeface="Roboto"/>
                <a:ea typeface="Roboto"/>
                <a:cs typeface="Roboto"/>
                <a:sym typeface="Roboto"/>
              </a:rPr>
              <a:t> | 차트 + AI 코멘트</a:t>
            </a:r>
            <a:endParaRPr b="0" i="0" sz="105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15213F"/>
              </a:buClr>
              <a:buSzPts val="850"/>
              <a:buFont typeface="Roboto"/>
              <a:buNone/>
            </a:pPr>
            <a:r>
              <a:rPr b="0" i="0" lang="ko-KR" sz="1050" u="none" cap="none" strike="noStrike">
                <a:solidFill>
                  <a:srgbClr val="15213F"/>
                </a:solidFill>
                <a:latin typeface="Roboto"/>
                <a:ea typeface="Roboto"/>
                <a:cs typeface="Roboto"/>
                <a:sym typeface="Roboto"/>
              </a:rPr>
              <a:t>비유: </a:t>
            </a:r>
            <a:r>
              <a:rPr b="1" i="0" lang="ko-KR" sz="1050" u="none" cap="none" strike="noStrike">
                <a:solidFill>
                  <a:srgbClr val="15213F"/>
                </a:solidFill>
                <a:latin typeface="Roboto"/>
                <a:ea typeface="Roboto"/>
                <a:cs typeface="Roboto"/>
                <a:sym typeface="Roboto"/>
              </a:rPr>
              <a:t>선생님이 시험지를 걷고 → 채점하고 → 성적표를 만드는 것!</a:t>
            </a:r>
            <a:endParaRPr b="0" i="0" sz="1050" u="none" cap="none" strike="noStrike">
              <a:solidFill>
                <a:schemeClr val="dk1"/>
              </a:solidFill>
              <a:latin typeface="Calibri"/>
              <a:ea typeface="Calibri"/>
              <a:cs typeface="Calibri"/>
              <a:sym typeface="Calibri"/>
            </a:endParaRPr>
          </a:p>
        </p:txBody>
      </p:sp>
      <p:sp>
        <p:nvSpPr>
          <p:cNvPr id="400" name="Google Shape;400;p20"/>
          <p:cNvSpPr/>
          <p:nvPr/>
        </p:nvSpPr>
        <p:spPr>
          <a:xfrm>
            <a:off x="496119" y="1487835"/>
            <a:ext cx="4722763" cy="624408"/>
          </a:xfrm>
          <a:prstGeom prst="roundRect">
            <a:avLst>
              <a:gd fmla="val 2654"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0"/>
          <p:cNvSpPr/>
          <p:nvPr/>
        </p:nvSpPr>
        <p:spPr>
          <a:xfrm>
            <a:off x="594016" y="1598265"/>
            <a:ext cx="45018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050"/>
              <a:buFont typeface="Roboto Slab"/>
              <a:buNone/>
            </a:pPr>
            <a:r>
              <a:rPr b="1" i="0" lang="ko-KR" sz="1450" u="none" cap="none" strike="noStrike">
                <a:solidFill>
                  <a:srgbClr val="000000"/>
                </a:solidFill>
                <a:latin typeface="Roboto Slab"/>
                <a:ea typeface="Roboto Slab"/>
                <a:cs typeface="Roboto Slab"/>
                <a:sym typeface="Roboto Slab"/>
              </a:rPr>
              <a:t>📅</a:t>
            </a:r>
            <a:r>
              <a:rPr b="1" i="0" lang="ko-KR" sz="1450" u="none" cap="none" strike="noStrike">
                <a:solidFill>
                  <a:srgbClr val="15213F"/>
                </a:solidFill>
                <a:latin typeface="Roboto Slab"/>
                <a:ea typeface="Roboto Slab"/>
                <a:cs typeface="Roboto Slab"/>
                <a:sym typeface="Roboto Slab"/>
              </a:rPr>
              <a:t> 일간/주간/월간 통계</a:t>
            </a:r>
            <a:endParaRPr b="1" i="0" sz="1450" u="none" cap="none" strike="noStrike">
              <a:solidFill>
                <a:schemeClr val="dk1"/>
              </a:solidFill>
              <a:latin typeface="Calibri"/>
              <a:ea typeface="Calibri"/>
              <a:cs typeface="Calibri"/>
              <a:sym typeface="Calibri"/>
            </a:endParaRPr>
          </a:p>
        </p:txBody>
      </p:sp>
      <p:sp>
        <p:nvSpPr>
          <p:cNvPr id="402" name="Google Shape;402;p20"/>
          <p:cNvSpPr/>
          <p:nvPr/>
        </p:nvSpPr>
        <p:spPr>
          <a:xfrm>
            <a:off x="606549" y="1872278"/>
            <a:ext cx="4501800" cy="167100"/>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15213F"/>
              </a:buClr>
              <a:buSzPts val="850"/>
              <a:buFont typeface="Roboto"/>
              <a:buNone/>
            </a:pPr>
            <a:r>
              <a:rPr b="0" i="0" lang="ko-KR" sz="1050" u="none" cap="none" strike="noStrike">
                <a:solidFill>
                  <a:srgbClr val="15213F"/>
                </a:solidFill>
                <a:latin typeface="Roboto"/>
                <a:ea typeface="Roboto"/>
                <a:cs typeface="Roboto"/>
                <a:sym typeface="Roboto"/>
              </a:rPr>
              <a:t>날짜별 공부 데이터를 한눈에 볼 수 있는 대시보드</a:t>
            </a:r>
            <a:endParaRPr b="0" i="0" sz="1050" u="none" cap="none" strike="noStrike">
              <a:solidFill>
                <a:schemeClr val="dk1"/>
              </a:solidFill>
              <a:latin typeface="Calibri"/>
              <a:ea typeface="Calibri"/>
              <a:cs typeface="Calibri"/>
              <a:sym typeface="Calibri"/>
            </a:endParaRPr>
          </a:p>
        </p:txBody>
      </p:sp>
      <p:sp>
        <p:nvSpPr>
          <p:cNvPr id="403" name="Google Shape;403;p20"/>
          <p:cNvSpPr/>
          <p:nvPr/>
        </p:nvSpPr>
        <p:spPr>
          <a:xfrm>
            <a:off x="496119" y="2210619"/>
            <a:ext cx="4722763" cy="624408"/>
          </a:xfrm>
          <a:prstGeom prst="roundRect">
            <a:avLst>
              <a:gd fmla="val 2654"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0"/>
          <p:cNvSpPr/>
          <p:nvPr/>
        </p:nvSpPr>
        <p:spPr>
          <a:xfrm>
            <a:off x="594016" y="2321049"/>
            <a:ext cx="45018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050"/>
              <a:buFont typeface="Roboto Slab"/>
              <a:buNone/>
            </a:pPr>
            <a:r>
              <a:rPr b="1" i="0" lang="ko-KR" sz="1450" u="none" cap="none" strike="noStrike">
                <a:solidFill>
                  <a:srgbClr val="000000"/>
                </a:solidFill>
                <a:latin typeface="Roboto Slab"/>
                <a:ea typeface="Roboto Slab"/>
                <a:cs typeface="Roboto Slab"/>
                <a:sym typeface="Roboto Slab"/>
              </a:rPr>
              <a:t>📊</a:t>
            </a:r>
            <a:r>
              <a:rPr b="1" i="0" lang="ko-KR" sz="1450" u="none" cap="none" strike="noStrike">
                <a:solidFill>
                  <a:srgbClr val="15213F"/>
                </a:solidFill>
                <a:latin typeface="Roboto Slab"/>
                <a:ea typeface="Roboto Slab"/>
                <a:cs typeface="Roboto Slab"/>
                <a:sym typeface="Roboto Slab"/>
              </a:rPr>
              <a:t> 차트 시각화</a:t>
            </a:r>
            <a:endParaRPr b="1" i="0" sz="1450" u="none" cap="none" strike="noStrike">
              <a:solidFill>
                <a:schemeClr val="dk1"/>
              </a:solidFill>
              <a:latin typeface="Calibri"/>
              <a:ea typeface="Calibri"/>
              <a:cs typeface="Calibri"/>
              <a:sym typeface="Calibri"/>
            </a:endParaRPr>
          </a:p>
        </p:txBody>
      </p:sp>
      <p:sp>
        <p:nvSpPr>
          <p:cNvPr id="405" name="Google Shape;405;p20"/>
          <p:cNvSpPr/>
          <p:nvPr/>
        </p:nvSpPr>
        <p:spPr>
          <a:xfrm>
            <a:off x="606549" y="2595062"/>
            <a:ext cx="4501800" cy="167100"/>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15213F"/>
              </a:buClr>
              <a:buSzPts val="850"/>
              <a:buFont typeface="Roboto"/>
              <a:buNone/>
            </a:pPr>
            <a:r>
              <a:rPr b="0" i="0" lang="ko-KR" sz="1050" u="none" cap="none" strike="noStrike">
                <a:solidFill>
                  <a:srgbClr val="15213F"/>
                </a:solidFill>
                <a:latin typeface="Roboto"/>
                <a:ea typeface="Roboto"/>
                <a:cs typeface="Roboto"/>
                <a:sym typeface="Roboto"/>
              </a:rPr>
              <a:t>과목별 막대 그래프, 순공/딴짓 파이 차트</a:t>
            </a:r>
            <a:endParaRPr b="0" i="0" sz="1050" u="none" cap="none" strike="noStrike">
              <a:solidFill>
                <a:schemeClr val="dk1"/>
              </a:solidFill>
              <a:latin typeface="Calibri"/>
              <a:ea typeface="Calibri"/>
              <a:cs typeface="Calibri"/>
              <a:sym typeface="Calibri"/>
            </a:endParaRPr>
          </a:p>
        </p:txBody>
      </p:sp>
      <p:sp>
        <p:nvSpPr>
          <p:cNvPr id="406" name="Google Shape;406;p20"/>
          <p:cNvSpPr/>
          <p:nvPr/>
        </p:nvSpPr>
        <p:spPr>
          <a:xfrm>
            <a:off x="496119" y="2933402"/>
            <a:ext cx="4722763" cy="624408"/>
          </a:xfrm>
          <a:prstGeom prst="roundRect">
            <a:avLst>
              <a:gd fmla="val 2654"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0"/>
          <p:cNvSpPr/>
          <p:nvPr/>
        </p:nvSpPr>
        <p:spPr>
          <a:xfrm>
            <a:off x="594016" y="3043833"/>
            <a:ext cx="45018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050"/>
              <a:buFont typeface="Roboto Slab"/>
              <a:buNone/>
            </a:pPr>
            <a:r>
              <a:rPr b="1" i="0" lang="ko-KR" sz="1450" u="none" cap="none" strike="noStrike">
                <a:solidFill>
                  <a:srgbClr val="000000"/>
                </a:solidFill>
                <a:latin typeface="Roboto Slab"/>
                <a:ea typeface="Roboto Slab"/>
                <a:cs typeface="Roboto Slab"/>
                <a:sym typeface="Roboto Slab"/>
              </a:rPr>
              <a:t>📁</a:t>
            </a:r>
            <a:r>
              <a:rPr b="1" i="0" lang="ko-KR" sz="1450" u="none" cap="none" strike="noStrike">
                <a:solidFill>
                  <a:srgbClr val="15213F"/>
                </a:solidFill>
                <a:latin typeface="Roboto Slab"/>
                <a:ea typeface="Roboto Slab"/>
                <a:cs typeface="Roboto Slab"/>
                <a:sym typeface="Roboto Slab"/>
              </a:rPr>
              <a:t> CSV 저장</a:t>
            </a:r>
            <a:endParaRPr b="1" i="0" sz="1450" u="none" cap="none" strike="noStrike">
              <a:solidFill>
                <a:schemeClr val="dk1"/>
              </a:solidFill>
              <a:latin typeface="Calibri"/>
              <a:ea typeface="Calibri"/>
              <a:cs typeface="Calibri"/>
              <a:sym typeface="Calibri"/>
            </a:endParaRPr>
          </a:p>
        </p:txBody>
      </p:sp>
      <p:sp>
        <p:nvSpPr>
          <p:cNvPr id="408" name="Google Shape;408;p20"/>
          <p:cNvSpPr/>
          <p:nvPr/>
        </p:nvSpPr>
        <p:spPr>
          <a:xfrm>
            <a:off x="606549" y="3317845"/>
            <a:ext cx="4501800" cy="167100"/>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15213F"/>
              </a:buClr>
              <a:buSzPts val="850"/>
              <a:buFont typeface="Roboto"/>
              <a:buNone/>
            </a:pPr>
            <a:r>
              <a:rPr b="0" i="0" lang="ko-KR" sz="1050" u="none" cap="none" strike="noStrike">
                <a:solidFill>
                  <a:srgbClr val="15213F"/>
                </a:solidFill>
                <a:latin typeface="Roboto"/>
                <a:ea typeface="Roboto"/>
                <a:cs typeface="Roboto"/>
                <a:sym typeface="Roboto"/>
              </a:rPr>
              <a:t>통계를 CSV로 저장해 엑셀로 열기 가능!</a:t>
            </a:r>
            <a:endParaRPr b="0" i="0" sz="1050" u="none" cap="none" strike="noStrike">
              <a:solidFill>
                <a:schemeClr val="dk1"/>
              </a:solidFill>
              <a:latin typeface="Calibri"/>
              <a:ea typeface="Calibri"/>
              <a:cs typeface="Calibri"/>
              <a:sym typeface="Calibri"/>
            </a:endParaRPr>
          </a:p>
        </p:txBody>
      </p:sp>
      <p:sp>
        <p:nvSpPr>
          <p:cNvPr id="409" name="Google Shape;409;p20"/>
          <p:cNvSpPr/>
          <p:nvPr/>
        </p:nvSpPr>
        <p:spPr>
          <a:xfrm>
            <a:off x="496119" y="3656186"/>
            <a:ext cx="4722763" cy="624408"/>
          </a:xfrm>
          <a:prstGeom prst="roundRect">
            <a:avLst>
              <a:gd fmla="val 2654"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0"/>
          <p:cNvSpPr/>
          <p:nvPr/>
        </p:nvSpPr>
        <p:spPr>
          <a:xfrm>
            <a:off x="594016" y="3766617"/>
            <a:ext cx="45018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050"/>
              <a:buFont typeface="Roboto Slab"/>
              <a:buNone/>
            </a:pPr>
            <a:r>
              <a:rPr b="1" i="0" lang="ko-KR" sz="1450" u="none" cap="none" strike="noStrike">
                <a:solidFill>
                  <a:srgbClr val="000000"/>
                </a:solidFill>
                <a:latin typeface="Roboto Slab"/>
                <a:ea typeface="Roboto Slab"/>
                <a:cs typeface="Roboto Slab"/>
                <a:sym typeface="Roboto Slab"/>
              </a:rPr>
              <a:t>🤖</a:t>
            </a:r>
            <a:r>
              <a:rPr b="1" i="0" lang="ko-KR" sz="1450" u="none" cap="none" strike="noStrike">
                <a:solidFill>
                  <a:srgbClr val="15213F"/>
                </a:solidFill>
                <a:latin typeface="Roboto Slab"/>
                <a:ea typeface="Roboto Slab"/>
                <a:cs typeface="Roboto Slab"/>
                <a:sym typeface="Roboto Slab"/>
              </a:rPr>
              <a:t> AI 코멘트</a:t>
            </a:r>
            <a:endParaRPr b="1" i="0" sz="1450" u="none" cap="none" strike="noStrike">
              <a:solidFill>
                <a:schemeClr val="dk1"/>
              </a:solidFill>
              <a:latin typeface="Calibri"/>
              <a:ea typeface="Calibri"/>
              <a:cs typeface="Calibri"/>
              <a:sym typeface="Calibri"/>
            </a:endParaRPr>
          </a:p>
        </p:txBody>
      </p:sp>
      <p:sp>
        <p:nvSpPr>
          <p:cNvPr id="411" name="Google Shape;411;p20"/>
          <p:cNvSpPr/>
          <p:nvPr/>
        </p:nvSpPr>
        <p:spPr>
          <a:xfrm>
            <a:off x="606549" y="4040629"/>
            <a:ext cx="4501800" cy="167100"/>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15213F"/>
              </a:buClr>
              <a:buSzPts val="850"/>
              <a:buFont typeface="Roboto"/>
              <a:buNone/>
            </a:pPr>
            <a:r>
              <a:rPr b="0" i="0" lang="ko-KR" sz="1050" u="none" cap="none" strike="noStrike">
                <a:solidFill>
                  <a:srgbClr val="15213F"/>
                </a:solidFill>
                <a:latin typeface="Roboto"/>
                <a:ea typeface="Roboto"/>
                <a:cs typeface="Roboto"/>
                <a:sym typeface="Roboto"/>
              </a:rPr>
              <a:t>5가지 항목의 자동 피드백 코멘트 생성</a:t>
            </a:r>
            <a:endParaRPr b="0" i="0" sz="1050" u="none" cap="none" strike="noStrike">
              <a:solidFill>
                <a:schemeClr val="dk1"/>
              </a:solidFill>
              <a:latin typeface="Calibri"/>
              <a:ea typeface="Calibri"/>
              <a:cs typeface="Calibri"/>
              <a:sym typeface="Calibri"/>
            </a:endParaRPr>
          </a:p>
        </p:txBody>
      </p:sp>
      <p:sp>
        <p:nvSpPr>
          <p:cNvPr id="412" name="Google Shape;412;p20"/>
          <p:cNvSpPr/>
          <p:nvPr/>
        </p:nvSpPr>
        <p:spPr>
          <a:xfrm>
            <a:off x="496125" y="4391251"/>
            <a:ext cx="4722900" cy="564300"/>
          </a:xfrm>
          <a:prstGeom prst="roundRect">
            <a:avLst>
              <a:gd fmla="val 4049"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3" name="Google Shape;413;p20"/>
          <p:cNvPicPr preferRelativeResize="0"/>
          <p:nvPr/>
        </p:nvPicPr>
        <p:blipFill rotWithShape="1">
          <a:blip r:embed="rId4">
            <a:alphaModFix/>
          </a:blip>
          <a:srcRect b="0" l="0" r="0" t="0"/>
          <a:stretch/>
        </p:blipFill>
        <p:spPr>
          <a:xfrm>
            <a:off x="606549" y="4542160"/>
            <a:ext cx="138038" cy="110430"/>
          </a:xfrm>
          <a:prstGeom prst="rect">
            <a:avLst/>
          </a:prstGeom>
          <a:noFill/>
          <a:ln>
            <a:noFill/>
          </a:ln>
        </p:spPr>
      </p:pic>
      <p:sp>
        <p:nvSpPr>
          <p:cNvPr id="414" name="Google Shape;414;p20"/>
          <p:cNvSpPr/>
          <p:nvPr/>
        </p:nvSpPr>
        <p:spPr>
          <a:xfrm>
            <a:off x="855018" y="4517231"/>
            <a:ext cx="4710633" cy="167134"/>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000000"/>
              </a:buClr>
              <a:buSzPts val="850"/>
              <a:buFont typeface="Roboto"/>
              <a:buNone/>
            </a:pPr>
            <a:r>
              <a:rPr b="0" i="0" lang="ko-KR" sz="1050" u="none" cap="none" strike="noStrike">
                <a:solidFill>
                  <a:srgbClr val="000000"/>
                </a:solidFill>
                <a:latin typeface="Roboto"/>
                <a:ea typeface="Roboto"/>
                <a:cs typeface="Roboto"/>
                <a:sym typeface="Roboto"/>
              </a:rPr>
              <a:t>Phase 1에서 쌓인 데이터를 </a:t>
            </a:r>
            <a:r>
              <a:rPr b="1" i="0" lang="ko-KR" sz="1050" u="none" cap="none" strike="noStrike">
                <a:solidFill>
                  <a:srgbClr val="000000"/>
                </a:solidFill>
                <a:latin typeface="Roboto"/>
                <a:ea typeface="Roboto"/>
                <a:cs typeface="Roboto"/>
                <a:sym typeface="Roboto"/>
              </a:rPr>
              <a:t>눈에 보이게</a:t>
            </a:r>
            <a:r>
              <a:rPr b="0" i="0" lang="ko-KR" sz="1050" u="none" cap="none" strike="noStrike">
                <a:solidFill>
                  <a:srgbClr val="000000"/>
                </a:solidFill>
                <a:latin typeface="Roboto"/>
                <a:ea typeface="Roboto"/>
                <a:cs typeface="Roboto"/>
                <a:sym typeface="Roboto"/>
              </a:rPr>
              <a:t> 만드는 단계! </a:t>
            </a:r>
            <a:br>
              <a:rPr b="0" i="0" lang="ko-KR" sz="1050" u="none" cap="none" strike="noStrike">
                <a:solidFill>
                  <a:srgbClr val="000000"/>
                </a:solidFill>
                <a:latin typeface="Roboto"/>
                <a:ea typeface="Roboto"/>
                <a:cs typeface="Roboto"/>
                <a:sym typeface="Roboto"/>
              </a:rPr>
            </a:br>
            <a:r>
              <a:rPr b="0" i="0" lang="ko-KR" sz="1050" u="none" cap="none" strike="noStrike">
                <a:solidFill>
                  <a:srgbClr val="000000"/>
                </a:solidFill>
                <a:latin typeface="Roboto"/>
                <a:ea typeface="Roboto"/>
                <a:cs typeface="Roboto"/>
                <a:sym typeface="Roboto"/>
              </a:rPr>
              <a:t>숫자를 그림으로 바꾸는 마법이에요.</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21"/>
          <p:cNvSpPr/>
          <p:nvPr/>
        </p:nvSpPr>
        <p:spPr>
          <a:xfrm>
            <a:off x="496119" y="587425"/>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1"/>
          <p:cNvSpPr/>
          <p:nvPr/>
        </p:nvSpPr>
        <p:spPr>
          <a:xfrm>
            <a:off x="570533" y="624632"/>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2</a:t>
            </a:r>
            <a:endParaRPr b="0" i="0" sz="750" u="none" cap="none" strike="noStrike">
              <a:solidFill>
                <a:schemeClr val="dk1"/>
              </a:solidFill>
              <a:latin typeface="Calibri"/>
              <a:ea typeface="Calibri"/>
              <a:cs typeface="Calibri"/>
              <a:sym typeface="Calibri"/>
            </a:endParaRPr>
          </a:p>
        </p:txBody>
      </p:sp>
      <p:sp>
        <p:nvSpPr>
          <p:cNvPr id="422" name="Google Shape;422;p21"/>
          <p:cNvSpPr/>
          <p:nvPr/>
        </p:nvSpPr>
        <p:spPr>
          <a:xfrm>
            <a:off x="496119" y="825550"/>
            <a:ext cx="8151763"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400" u="none" cap="none" strike="noStrike">
                <a:solidFill>
                  <a:srgbClr val="3257B8"/>
                </a:solidFill>
                <a:latin typeface="Roboto Slab"/>
                <a:ea typeface="Roboto Slab"/>
                <a:cs typeface="Roboto Slab"/>
                <a:sym typeface="Roboto Slab"/>
              </a:rPr>
              <a:t>CSV 파일 — 성적 장부</a:t>
            </a:r>
            <a:endParaRPr b="1" i="0" sz="2400" u="none" cap="none" strike="noStrike">
              <a:solidFill>
                <a:schemeClr val="dk1"/>
              </a:solidFill>
              <a:latin typeface="Calibri"/>
              <a:ea typeface="Calibri"/>
              <a:cs typeface="Calibri"/>
              <a:sym typeface="Calibri"/>
            </a:endParaRPr>
          </a:p>
        </p:txBody>
      </p:sp>
      <p:sp>
        <p:nvSpPr>
          <p:cNvPr id="423" name="Google Shape;423;p21"/>
          <p:cNvSpPr/>
          <p:nvPr/>
        </p:nvSpPr>
        <p:spPr>
          <a:xfrm>
            <a:off x="496119" y="1399133"/>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CSV = 쉼표로 구분된 데이터.</a:t>
            </a:r>
            <a:r>
              <a:rPr b="0" i="0" lang="ko-KR" sz="950" u="none" cap="none" strike="noStrike">
                <a:solidFill>
                  <a:srgbClr val="15213F"/>
                </a:solidFill>
                <a:latin typeface="Roboto"/>
                <a:ea typeface="Roboto"/>
                <a:cs typeface="Roboto"/>
                <a:sym typeface="Roboto"/>
              </a:rPr>
              <a:t> 엑셀 출석부처럼 생겼고, 엑셀로 바로 열 수 있어요!</a:t>
            </a:r>
            <a:endParaRPr b="0" i="0" sz="950" u="none" cap="none" strike="noStrike">
              <a:solidFill>
                <a:schemeClr val="dk1"/>
              </a:solidFill>
              <a:latin typeface="Calibri"/>
              <a:ea typeface="Calibri"/>
              <a:cs typeface="Calibri"/>
              <a:sym typeface="Calibri"/>
            </a:endParaRPr>
          </a:p>
        </p:txBody>
      </p:sp>
      <p:sp>
        <p:nvSpPr>
          <p:cNvPr id="424" name="Google Shape;424;p21"/>
          <p:cNvSpPr/>
          <p:nvPr/>
        </p:nvSpPr>
        <p:spPr>
          <a:xfrm>
            <a:off x="496119" y="1737122"/>
            <a:ext cx="8151763" cy="1041797"/>
          </a:xfrm>
          <a:prstGeom prst="roundRect">
            <a:avLst>
              <a:gd fmla="val 1786" name="adj"/>
            </a:avLst>
          </a:prstGeom>
          <a:solidFill>
            <a:srgbClr val="EE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1"/>
          <p:cNvSpPr/>
          <p:nvPr/>
        </p:nvSpPr>
        <p:spPr>
          <a:xfrm>
            <a:off x="489942" y="1737122"/>
            <a:ext cx="8164116" cy="1041797"/>
          </a:xfrm>
          <a:prstGeom prst="roundRect">
            <a:avLst>
              <a:gd fmla="val 1786" name="adj"/>
            </a:avLst>
          </a:prstGeom>
          <a:solidFill>
            <a:srgbClr val="EE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1"/>
          <p:cNvSpPr/>
          <p:nvPr/>
        </p:nvSpPr>
        <p:spPr>
          <a:xfrm>
            <a:off x="644947" y="1861096"/>
            <a:ext cx="7854107" cy="793849"/>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32F62"/>
              </a:buClr>
              <a:buSzPts val="950"/>
              <a:buFont typeface="Consolas"/>
              <a:buNone/>
            </a:pPr>
            <a:r>
              <a:rPr b="0" i="0" lang="ko-KR" sz="1150" u="none" cap="none" strike="noStrike">
                <a:solidFill>
                  <a:srgbClr val="032F62"/>
                </a:solidFill>
                <a:highlight>
                  <a:srgbClr val="EEEFF1"/>
                </a:highlight>
                <a:latin typeface="Consolas"/>
                <a:ea typeface="Consolas"/>
                <a:cs typeface="Consolas"/>
                <a:sym typeface="Consolas"/>
              </a:rPr>
              <a:t>날짜,순공,딴짓,핸드폰,졸음,멍때림,수학,영어,순공률</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032F62"/>
              </a:buClr>
              <a:buSzPts val="950"/>
              <a:buFont typeface="Consolas"/>
              <a:buNone/>
            </a:pPr>
            <a:r>
              <a:rPr b="0" i="0" lang="ko-KR" sz="1150" u="none" cap="none" strike="noStrike">
                <a:solidFill>
                  <a:srgbClr val="032F62"/>
                </a:solidFill>
                <a:highlight>
                  <a:srgbClr val="EEEFF1"/>
                </a:highlight>
                <a:latin typeface="Consolas"/>
                <a:ea typeface="Consolas"/>
                <a:cs typeface="Consolas"/>
                <a:sym typeface="Consolas"/>
              </a:rPr>
              <a:t>2026-07-28,128,62,25,7,15,48,30,67%</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032F62"/>
              </a:buClr>
              <a:buSzPts val="950"/>
              <a:buFont typeface="Consolas"/>
              <a:buNone/>
            </a:pPr>
            <a:r>
              <a:rPr b="0" i="0" lang="ko-KR" sz="1150" u="none" cap="none" strike="noStrike">
                <a:solidFill>
                  <a:srgbClr val="032F62"/>
                </a:solidFill>
                <a:highlight>
                  <a:srgbClr val="EEEFF1"/>
                </a:highlight>
                <a:latin typeface="Consolas"/>
                <a:ea typeface="Consolas"/>
                <a:cs typeface="Consolas"/>
                <a:sym typeface="Consolas"/>
              </a:rPr>
              <a:t>2026-07-27,115,70,30,10,18,40,25,62%</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032F62"/>
              </a:buClr>
              <a:buSzPts val="950"/>
              <a:buFont typeface="Consolas"/>
              <a:buNone/>
            </a:pPr>
            <a:r>
              <a:rPr b="0" i="0" lang="ko-KR" sz="1150" u="none" cap="none" strike="noStrike">
                <a:solidFill>
                  <a:srgbClr val="032F62"/>
                </a:solidFill>
                <a:highlight>
                  <a:srgbClr val="EEEFF1"/>
                </a:highlight>
                <a:latin typeface="Consolas"/>
                <a:ea typeface="Consolas"/>
                <a:cs typeface="Consolas"/>
                <a:sym typeface="Consolas"/>
              </a:rPr>
              <a:t>2026-07-26,142,50,20,5,10,55,35,74%</a:t>
            </a:r>
            <a:endParaRPr b="0" i="0" sz="1150" u="none" cap="none" strike="noStrike">
              <a:solidFill>
                <a:schemeClr val="dk1"/>
              </a:solidFill>
              <a:latin typeface="Calibri"/>
              <a:ea typeface="Calibri"/>
              <a:cs typeface="Calibri"/>
              <a:sym typeface="Calibri"/>
            </a:endParaRPr>
          </a:p>
        </p:txBody>
      </p:sp>
      <p:pic>
        <p:nvPicPr>
          <p:cNvPr descr="preencoded.png" id="427" name="Google Shape;427;p21"/>
          <p:cNvPicPr preferRelativeResize="0"/>
          <p:nvPr/>
        </p:nvPicPr>
        <p:blipFill rotWithShape="1">
          <a:blip r:embed="rId3">
            <a:alphaModFix/>
          </a:blip>
          <a:srcRect b="0" l="0" r="0" t="0"/>
          <a:stretch/>
        </p:blipFill>
        <p:spPr>
          <a:xfrm>
            <a:off x="496119" y="2918445"/>
            <a:ext cx="2634555" cy="1299567"/>
          </a:xfrm>
          <a:prstGeom prst="rect">
            <a:avLst/>
          </a:prstGeom>
          <a:noFill/>
          <a:ln>
            <a:noFill/>
          </a:ln>
        </p:spPr>
      </p:pic>
      <p:sp>
        <p:nvSpPr>
          <p:cNvPr id="428" name="Google Shape;428;p21"/>
          <p:cNvSpPr/>
          <p:nvPr/>
        </p:nvSpPr>
        <p:spPr>
          <a:xfrm>
            <a:off x="634380" y="3414564"/>
            <a:ext cx="2358033"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u="none" cap="none" strike="noStrike">
                <a:solidFill>
                  <a:srgbClr val="15213F"/>
                </a:solidFill>
                <a:latin typeface="Roboto Slab"/>
                <a:ea typeface="Roboto Slab"/>
                <a:cs typeface="Roboto Slab"/>
                <a:sym typeface="Roboto Slab"/>
              </a:rPr>
              <a:t>daily_stats.csv</a:t>
            </a:r>
            <a:endParaRPr b="1" i="0" u="none" cap="none" strike="noStrike">
              <a:solidFill>
                <a:schemeClr val="dk1"/>
              </a:solidFill>
              <a:latin typeface="Calibri"/>
              <a:ea typeface="Calibri"/>
              <a:cs typeface="Calibri"/>
              <a:sym typeface="Calibri"/>
            </a:endParaRPr>
          </a:p>
        </p:txBody>
      </p:sp>
      <p:sp>
        <p:nvSpPr>
          <p:cNvPr id="429" name="Google Shape;429;p21"/>
          <p:cNvSpPr/>
          <p:nvPr/>
        </p:nvSpPr>
        <p:spPr>
          <a:xfrm>
            <a:off x="634380" y="3682826"/>
            <a:ext cx="2358033"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150" u="none" cap="none" strike="noStrike">
                <a:solidFill>
                  <a:srgbClr val="15213F"/>
                </a:solidFill>
                <a:latin typeface="Roboto"/>
                <a:ea typeface="Roboto"/>
                <a:cs typeface="Roboto"/>
                <a:sym typeface="Roboto"/>
              </a:rPr>
              <a:t>일일 성적표</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하루 1줄씩 기록</a:t>
            </a:r>
            <a:endParaRPr b="0" i="0" sz="1150" u="none" cap="none" strike="noStrike">
              <a:solidFill>
                <a:schemeClr val="dk1"/>
              </a:solidFill>
              <a:latin typeface="Calibri"/>
              <a:ea typeface="Calibri"/>
              <a:cs typeface="Calibri"/>
              <a:sym typeface="Calibri"/>
            </a:endParaRPr>
          </a:p>
        </p:txBody>
      </p:sp>
      <p:pic>
        <p:nvPicPr>
          <p:cNvPr descr="preencoded.png" id="430" name="Google Shape;430;p21"/>
          <p:cNvPicPr preferRelativeResize="0"/>
          <p:nvPr/>
        </p:nvPicPr>
        <p:blipFill rotWithShape="1">
          <a:blip r:embed="rId3">
            <a:alphaModFix/>
          </a:blip>
          <a:srcRect b="0" l="0" r="0" t="0"/>
          <a:stretch/>
        </p:blipFill>
        <p:spPr>
          <a:xfrm>
            <a:off x="3254648" y="2918445"/>
            <a:ext cx="2634630" cy="1299567"/>
          </a:xfrm>
          <a:prstGeom prst="rect">
            <a:avLst/>
          </a:prstGeom>
          <a:noFill/>
          <a:ln>
            <a:noFill/>
          </a:ln>
        </p:spPr>
      </p:pic>
      <p:sp>
        <p:nvSpPr>
          <p:cNvPr id="431" name="Google Shape;431;p21"/>
          <p:cNvSpPr/>
          <p:nvPr/>
        </p:nvSpPr>
        <p:spPr>
          <a:xfrm>
            <a:off x="3392909" y="3414564"/>
            <a:ext cx="2358107"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u="none" cap="none" strike="noStrike">
                <a:solidFill>
                  <a:srgbClr val="15213F"/>
                </a:solidFill>
                <a:latin typeface="Roboto Slab"/>
                <a:ea typeface="Roboto Slab"/>
                <a:cs typeface="Roboto Slab"/>
                <a:sym typeface="Roboto Slab"/>
              </a:rPr>
              <a:t>weekly_stats.csv</a:t>
            </a:r>
            <a:endParaRPr b="1" i="0" u="none" cap="none" strike="noStrike">
              <a:solidFill>
                <a:schemeClr val="dk1"/>
              </a:solidFill>
              <a:latin typeface="Calibri"/>
              <a:ea typeface="Calibri"/>
              <a:cs typeface="Calibri"/>
              <a:sym typeface="Calibri"/>
            </a:endParaRPr>
          </a:p>
        </p:txBody>
      </p:sp>
      <p:sp>
        <p:nvSpPr>
          <p:cNvPr id="432" name="Google Shape;432;p21"/>
          <p:cNvSpPr/>
          <p:nvPr/>
        </p:nvSpPr>
        <p:spPr>
          <a:xfrm>
            <a:off x="3392909" y="3682826"/>
            <a:ext cx="2358107"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150" u="none" cap="none" strike="noStrike">
                <a:solidFill>
                  <a:srgbClr val="15213F"/>
                </a:solidFill>
                <a:latin typeface="Roboto"/>
                <a:ea typeface="Roboto"/>
                <a:cs typeface="Roboto"/>
                <a:sym typeface="Roboto"/>
              </a:rPr>
              <a:t>주간 평가서</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일주일에 1줄씩 기록</a:t>
            </a:r>
            <a:endParaRPr b="0" i="0" sz="1150" u="none" cap="none" strike="noStrike">
              <a:solidFill>
                <a:schemeClr val="dk1"/>
              </a:solidFill>
              <a:latin typeface="Calibri"/>
              <a:ea typeface="Calibri"/>
              <a:cs typeface="Calibri"/>
              <a:sym typeface="Calibri"/>
            </a:endParaRPr>
          </a:p>
        </p:txBody>
      </p:sp>
      <p:pic>
        <p:nvPicPr>
          <p:cNvPr descr="preencoded.png" id="433" name="Google Shape;433;p21"/>
          <p:cNvPicPr preferRelativeResize="0"/>
          <p:nvPr/>
        </p:nvPicPr>
        <p:blipFill rotWithShape="1">
          <a:blip r:embed="rId3">
            <a:alphaModFix/>
          </a:blip>
          <a:srcRect b="0" l="0" r="0" t="0"/>
          <a:stretch/>
        </p:blipFill>
        <p:spPr>
          <a:xfrm>
            <a:off x="6013252" y="2918445"/>
            <a:ext cx="2634555" cy="1299567"/>
          </a:xfrm>
          <a:prstGeom prst="rect">
            <a:avLst/>
          </a:prstGeom>
          <a:noFill/>
          <a:ln>
            <a:noFill/>
          </a:ln>
        </p:spPr>
      </p:pic>
      <p:sp>
        <p:nvSpPr>
          <p:cNvPr id="434" name="Google Shape;434;p21"/>
          <p:cNvSpPr/>
          <p:nvPr/>
        </p:nvSpPr>
        <p:spPr>
          <a:xfrm>
            <a:off x="6151513" y="3414564"/>
            <a:ext cx="2358033"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u="none" cap="none" strike="noStrike">
                <a:solidFill>
                  <a:srgbClr val="15213F"/>
                </a:solidFill>
                <a:latin typeface="Roboto Slab"/>
                <a:ea typeface="Roboto Slab"/>
                <a:cs typeface="Roboto Slab"/>
                <a:sym typeface="Roboto Slab"/>
              </a:rPr>
              <a:t>monthly_stats.csv</a:t>
            </a:r>
            <a:endParaRPr b="1" i="0" u="none" cap="none" strike="noStrike">
              <a:solidFill>
                <a:schemeClr val="dk1"/>
              </a:solidFill>
              <a:latin typeface="Calibri"/>
              <a:ea typeface="Calibri"/>
              <a:cs typeface="Calibri"/>
              <a:sym typeface="Calibri"/>
            </a:endParaRPr>
          </a:p>
        </p:txBody>
      </p:sp>
      <p:sp>
        <p:nvSpPr>
          <p:cNvPr id="435" name="Google Shape;435;p21"/>
          <p:cNvSpPr/>
          <p:nvPr/>
        </p:nvSpPr>
        <p:spPr>
          <a:xfrm>
            <a:off x="6151513" y="3682826"/>
            <a:ext cx="2358033"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150" u="none" cap="none" strike="noStrike">
                <a:solidFill>
                  <a:srgbClr val="15213F"/>
                </a:solidFill>
                <a:latin typeface="Roboto"/>
                <a:ea typeface="Roboto"/>
                <a:cs typeface="Roboto"/>
                <a:sym typeface="Roboto"/>
              </a:rPr>
              <a:t>가정통신문</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한 달에 1줄씩 기록</a:t>
            </a:r>
            <a:endParaRPr b="0" i="0" sz="1150" u="none" cap="none" strike="noStrike">
              <a:solidFill>
                <a:schemeClr val="dk1"/>
              </a:solidFill>
              <a:latin typeface="Calibri"/>
              <a:ea typeface="Calibri"/>
              <a:cs typeface="Calibri"/>
              <a:sym typeface="Calibri"/>
            </a:endParaRPr>
          </a:p>
        </p:txBody>
      </p:sp>
      <p:sp>
        <p:nvSpPr>
          <p:cNvPr id="436" name="Google Shape;436;p21"/>
          <p:cNvSpPr/>
          <p:nvPr/>
        </p:nvSpPr>
        <p:spPr>
          <a:xfrm>
            <a:off x="496119" y="4357539"/>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첫 줄 = 과목명(header), 나머지 줄 = 점수(data). CSV의 최대 장점: </a:t>
            </a:r>
            <a:r>
              <a:rPr b="1" i="0" lang="ko-KR" sz="1250" u="none" cap="none" strike="noStrike">
                <a:solidFill>
                  <a:srgbClr val="FF0000"/>
                </a:solidFill>
                <a:latin typeface="Roboto"/>
                <a:ea typeface="Roboto"/>
                <a:cs typeface="Roboto"/>
                <a:sym typeface="Roboto"/>
              </a:rPr>
              <a:t>엑셀로 바로 열어볼 수 있다!</a:t>
            </a:r>
            <a:endParaRPr b="0" i="0" sz="1250" u="none" cap="none" strike="noStrike">
              <a:solidFill>
                <a:srgbClr val="FF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22"/>
          <p:cNvSpPr/>
          <p:nvPr/>
        </p:nvSpPr>
        <p:spPr>
          <a:xfrm>
            <a:off x="496119" y="735434"/>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2"/>
          <p:cNvSpPr/>
          <p:nvPr/>
        </p:nvSpPr>
        <p:spPr>
          <a:xfrm>
            <a:off x="570533" y="772641"/>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2</a:t>
            </a:r>
            <a:endParaRPr b="0" i="0" sz="750" u="none" cap="none" strike="noStrike">
              <a:solidFill>
                <a:schemeClr val="dk1"/>
              </a:solidFill>
              <a:latin typeface="Calibri"/>
              <a:ea typeface="Calibri"/>
              <a:cs typeface="Calibri"/>
              <a:sym typeface="Calibri"/>
            </a:endParaRPr>
          </a:p>
        </p:txBody>
      </p:sp>
      <p:sp>
        <p:nvSpPr>
          <p:cNvPr id="444" name="Google Shape;444;p22"/>
          <p:cNvSpPr/>
          <p:nvPr/>
        </p:nvSpPr>
        <p:spPr>
          <a:xfrm>
            <a:off x="496119" y="973559"/>
            <a:ext cx="8151763" cy="4018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700" u="none" cap="none" strike="noStrike">
                <a:solidFill>
                  <a:srgbClr val="3257B8"/>
                </a:solidFill>
                <a:latin typeface="Roboto Slab"/>
                <a:ea typeface="Roboto Slab"/>
                <a:cs typeface="Roboto Slab"/>
                <a:sym typeface="Roboto Slab"/>
              </a:rPr>
              <a:t>Chart.js — 자동 그래프 기계 </a:t>
            </a:r>
            <a:r>
              <a:rPr b="1" i="0" lang="ko-KR" sz="2700" u="none" cap="none" strike="noStrike">
                <a:solidFill>
                  <a:srgbClr val="000000"/>
                </a:solidFill>
                <a:latin typeface="Roboto Slab"/>
                <a:ea typeface="Roboto Slab"/>
                <a:cs typeface="Roboto Slab"/>
                <a:sym typeface="Roboto Slab"/>
              </a:rPr>
              <a:t>📊</a:t>
            </a:r>
            <a:endParaRPr b="1" i="0" sz="2700" u="none" cap="none" strike="noStrike">
              <a:solidFill>
                <a:schemeClr val="dk1"/>
              </a:solidFill>
              <a:latin typeface="Calibri"/>
              <a:ea typeface="Calibri"/>
              <a:cs typeface="Calibri"/>
              <a:sym typeface="Calibri"/>
            </a:endParaRPr>
          </a:p>
        </p:txBody>
      </p:sp>
      <p:sp>
        <p:nvSpPr>
          <p:cNvPr id="445" name="Google Shape;445;p22"/>
          <p:cNvSpPr/>
          <p:nvPr/>
        </p:nvSpPr>
        <p:spPr>
          <a:xfrm>
            <a:off x="496119" y="1561430"/>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350" u="none" cap="none" strike="noStrike">
                <a:solidFill>
                  <a:srgbClr val="15213F"/>
                </a:solidFill>
                <a:latin typeface="Roboto"/>
                <a:ea typeface="Roboto"/>
                <a:cs typeface="Roboto"/>
                <a:sym typeface="Roboto"/>
              </a:rPr>
              <a:t>수학 시간에 모눈종이에 점 찍고 선 잇는 걸, </a:t>
            </a:r>
            <a:r>
              <a:rPr b="1" i="0" lang="ko-KR" sz="1350" u="none" cap="none" strike="noStrike">
                <a:solidFill>
                  <a:srgbClr val="15213F"/>
                </a:solidFill>
                <a:latin typeface="Roboto"/>
                <a:ea typeface="Roboto"/>
                <a:cs typeface="Roboto"/>
                <a:sym typeface="Roboto"/>
              </a:rPr>
              <a:t>자동으로 해주는 도구!</a:t>
            </a:r>
            <a:r>
              <a:rPr b="0" i="0" lang="ko-KR" sz="1350" u="none" cap="none" strike="noStrike">
                <a:solidFill>
                  <a:srgbClr val="15213F"/>
                </a:solidFill>
                <a:latin typeface="Roboto"/>
                <a:ea typeface="Roboto"/>
                <a:cs typeface="Roboto"/>
                <a:sym typeface="Roboto"/>
              </a:rPr>
              <a:t> 데이터만 넣으면 차트가 알아서 그려집니다.</a:t>
            </a:r>
            <a:endParaRPr b="0" i="0" sz="1350" u="none" cap="none" strike="noStrike">
              <a:solidFill>
                <a:schemeClr val="dk1"/>
              </a:solidFill>
              <a:latin typeface="Calibri"/>
              <a:ea typeface="Calibri"/>
              <a:cs typeface="Calibri"/>
              <a:sym typeface="Calibri"/>
            </a:endParaRPr>
          </a:p>
        </p:txBody>
      </p:sp>
      <p:pic>
        <p:nvPicPr>
          <p:cNvPr descr="preencoded.png" id="446" name="Google Shape;446;p22"/>
          <p:cNvPicPr preferRelativeResize="0"/>
          <p:nvPr/>
        </p:nvPicPr>
        <p:blipFill rotWithShape="1">
          <a:blip r:embed="rId3">
            <a:alphaModFix/>
          </a:blip>
          <a:srcRect b="0" l="0" r="0" t="0"/>
          <a:stretch/>
        </p:blipFill>
        <p:spPr>
          <a:xfrm>
            <a:off x="496119" y="1899419"/>
            <a:ext cx="310083" cy="310083"/>
          </a:xfrm>
          <a:prstGeom prst="rect">
            <a:avLst/>
          </a:prstGeom>
          <a:noFill/>
          <a:ln>
            <a:noFill/>
          </a:ln>
        </p:spPr>
      </p:pic>
      <p:sp>
        <p:nvSpPr>
          <p:cNvPr id="447" name="Google Shape;447;p22"/>
          <p:cNvSpPr/>
          <p:nvPr/>
        </p:nvSpPr>
        <p:spPr>
          <a:xfrm>
            <a:off x="496119" y="2364507"/>
            <a:ext cx="3998342"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가로 막대 차트</a:t>
            </a:r>
            <a:endParaRPr b="1" i="0" sz="1500" u="none" cap="none" strike="noStrike">
              <a:solidFill>
                <a:schemeClr val="dk1"/>
              </a:solidFill>
              <a:latin typeface="Calibri"/>
              <a:ea typeface="Calibri"/>
              <a:cs typeface="Calibri"/>
              <a:sym typeface="Calibri"/>
            </a:endParaRPr>
          </a:p>
        </p:txBody>
      </p:sp>
      <p:sp>
        <p:nvSpPr>
          <p:cNvPr id="448" name="Google Shape;448;p22"/>
          <p:cNvSpPr/>
          <p:nvPr/>
        </p:nvSpPr>
        <p:spPr>
          <a:xfrm>
            <a:off x="483586" y="2682902"/>
            <a:ext cx="39984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체력 게이지처럼 생긴 모양</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과목별 순공 vs 목표 비교</a:t>
            </a:r>
            <a:endParaRPr b="0" i="0" sz="1150" u="none" cap="none" strike="noStrike">
              <a:solidFill>
                <a:schemeClr val="dk1"/>
              </a:solidFill>
              <a:latin typeface="Calibri"/>
              <a:ea typeface="Calibri"/>
              <a:cs typeface="Calibri"/>
              <a:sym typeface="Calibri"/>
            </a:endParaRPr>
          </a:p>
        </p:txBody>
      </p:sp>
      <p:pic>
        <p:nvPicPr>
          <p:cNvPr descr="preencoded.png" id="449" name="Google Shape;449;p22"/>
          <p:cNvPicPr preferRelativeResize="0"/>
          <p:nvPr/>
        </p:nvPicPr>
        <p:blipFill rotWithShape="1">
          <a:blip r:embed="rId4">
            <a:alphaModFix/>
          </a:blip>
          <a:srcRect b="0" l="0" r="0" t="0"/>
          <a:stretch/>
        </p:blipFill>
        <p:spPr>
          <a:xfrm>
            <a:off x="4649465" y="1899419"/>
            <a:ext cx="310083" cy="310083"/>
          </a:xfrm>
          <a:prstGeom prst="rect">
            <a:avLst/>
          </a:prstGeom>
          <a:noFill/>
          <a:ln>
            <a:noFill/>
          </a:ln>
        </p:spPr>
      </p:pic>
      <p:sp>
        <p:nvSpPr>
          <p:cNvPr id="450" name="Google Shape;450;p22"/>
          <p:cNvSpPr/>
          <p:nvPr/>
        </p:nvSpPr>
        <p:spPr>
          <a:xfrm>
            <a:off x="4649465" y="2364507"/>
            <a:ext cx="399841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도넛 차트</a:t>
            </a:r>
            <a:endParaRPr b="1" i="0" sz="1500" u="none" cap="none" strike="noStrike">
              <a:solidFill>
                <a:schemeClr val="dk1"/>
              </a:solidFill>
              <a:latin typeface="Calibri"/>
              <a:ea typeface="Calibri"/>
              <a:cs typeface="Calibri"/>
              <a:sym typeface="Calibri"/>
            </a:endParaRPr>
          </a:p>
        </p:txBody>
      </p:sp>
      <p:sp>
        <p:nvSpPr>
          <p:cNvPr id="451" name="Google Shape;451;p22"/>
          <p:cNvSpPr/>
          <p:nvPr/>
        </p:nvSpPr>
        <p:spPr>
          <a:xfrm>
            <a:off x="4636932" y="2682902"/>
            <a:ext cx="39984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피자 조각처럼 생긴 모양</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순공/딴짓 비율 한눈에</a:t>
            </a:r>
            <a:endParaRPr b="0" i="0" sz="1150" u="none" cap="none" strike="noStrike">
              <a:solidFill>
                <a:schemeClr val="dk1"/>
              </a:solidFill>
              <a:latin typeface="Calibri"/>
              <a:ea typeface="Calibri"/>
              <a:cs typeface="Calibri"/>
              <a:sym typeface="Calibri"/>
            </a:endParaRPr>
          </a:p>
        </p:txBody>
      </p:sp>
      <p:pic>
        <p:nvPicPr>
          <p:cNvPr descr="preencoded.png" id="452" name="Google Shape;452;p22"/>
          <p:cNvPicPr preferRelativeResize="0"/>
          <p:nvPr/>
        </p:nvPicPr>
        <p:blipFill rotWithShape="1">
          <a:blip r:embed="rId5">
            <a:alphaModFix/>
          </a:blip>
          <a:srcRect b="0" l="0" r="0" t="0"/>
          <a:stretch/>
        </p:blipFill>
        <p:spPr>
          <a:xfrm>
            <a:off x="496119" y="3277716"/>
            <a:ext cx="310083" cy="310083"/>
          </a:xfrm>
          <a:prstGeom prst="rect">
            <a:avLst/>
          </a:prstGeom>
          <a:noFill/>
          <a:ln>
            <a:noFill/>
          </a:ln>
        </p:spPr>
      </p:pic>
      <p:sp>
        <p:nvSpPr>
          <p:cNvPr id="453" name="Google Shape;453;p22"/>
          <p:cNvSpPr/>
          <p:nvPr/>
        </p:nvSpPr>
        <p:spPr>
          <a:xfrm>
            <a:off x="496119" y="3742804"/>
            <a:ext cx="3998342"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선 그래프</a:t>
            </a:r>
            <a:endParaRPr b="1" i="0" sz="1500" u="none" cap="none" strike="noStrike">
              <a:solidFill>
                <a:schemeClr val="dk1"/>
              </a:solidFill>
              <a:latin typeface="Calibri"/>
              <a:ea typeface="Calibri"/>
              <a:cs typeface="Calibri"/>
              <a:sym typeface="Calibri"/>
            </a:endParaRPr>
          </a:p>
        </p:txBody>
      </p:sp>
      <p:sp>
        <p:nvSpPr>
          <p:cNvPr id="454" name="Google Shape;454;p22"/>
          <p:cNvSpPr/>
          <p:nvPr/>
        </p:nvSpPr>
        <p:spPr>
          <a:xfrm>
            <a:off x="483586" y="4061199"/>
            <a:ext cx="39984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주식 차트처럼 생긴 모양</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일별 순공 시간 추이</a:t>
            </a:r>
            <a:endParaRPr b="0" i="0" sz="1150" u="none" cap="none" strike="noStrike">
              <a:solidFill>
                <a:schemeClr val="dk1"/>
              </a:solidFill>
              <a:latin typeface="Calibri"/>
              <a:ea typeface="Calibri"/>
              <a:cs typeface="Calibri"/>
              <a:sym typeface="Calibri"/>
            </a:endParaRPr>
          </a:p>
        </p:txBody>
      </p:sp>
      <p:pic>
        <p:nvPicPr>
          <p:cNvPr descr="preencoded.png" id="455" name="Google Shape;455;p22"/>
          <p:cNvPicPr preferRelativeResize="0"/>
          <p:nvPr/>
        </p:nvPicPr>
        <p:blipFill rotWithShape="1">
          <a:blip r:embed="rId6">
            <a:alphaModFix/>
          </a:blip>
          <a:srcRect b="0" l="0" r="0" t="0"/>
          <a:stretch/>
        </p:blipFill>
        <p:spPr>
          <a:xfrm>
            <a:off x="4649465" y="3277716"/>
            <a:ext cx="310083" cy="310083"/>
          </a:xfrm>
          <a:prstGeom prst="rect">
            <a:avLst/>
          </a:prstGeom>
          <a:noFill/>
          <a:ln>
            <a:noFill/>
          </a:ln>
        </p:spPr>
      </p:pic>
      <p:sp>
        <p:nvSpPr>
          <p:cNvPr id="456" name="Google Shape;456;p22"/>
          <p:cNvSpPr/>
          <p:nvPr/>
        </p:nvSpPr>
        <p:spPr>
          <a:xfrm>
            <a:off x="4649465" y="3742804"/>
            <a:ext cx="399841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세로 막대 차트</a:t>
            </a:r>
            <a:endParaRPr b="1" i="0" sz="1500" u="none" cap="none" strike="noStrike">
              <a:solidFill>
                <a:schemeClr val="dk1"/>
              </a:solidFill>
              <a:latin typeface="Calibri"/>
              <a:ea typeface="Calibri"/>
              <a:cs typeface="Calibri"/>
              <a:sym typeface="Calibri"/>
            </a:endParaRPr>
          </a:p>
        </p:txBody>
      </p:sp>
      <p:sp>
        <p:nvSpPr>
          <p:cNvPr id="457" name="Google Shape;457;p22"/>
          <p:cNvSpPr/>
          <p:nvPr/>
        </p:nvSpPr>
        <p:spPr>
          <a:xfrm>
            <a:off x="4636932" y="4061199"/>
            <a:ext cx="39984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빗자루 세워놓은 모양</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요일별 공부량 비교</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23"/>
          <p:cNvSpPr/>
          <p:nvPr/>
        </p:nvSpPr>
        <p:spPr>
          <a:xfrm>
            <a:off x="496119" y="377577"/>
            <a:ext cx="534814" cy="185514"/>
          </a:xfrm>
          <a:prstGeom prst="roundRect">
            <a:avLst>
              <a:gd fmla="val 7899"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3"/>
          <p:cNvSpPr/>
          <p:nvPr/>
        </p:nvSpPr>
        <p:spPr>
          <a:xfrm>
            <a:off x="569342" y="414189"/>
            <a:ext cx="845567" cy="11229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2</a:t>
            </a:r>
            <a:endParaRPr b="0" i="0" sz="750" u="none" cap="none" strike="noStrike">
              <a:solidFill>
                <a:schemeClr val="dk1"/>
              </a:solidFill>
              <a:latin typeface="Calibri"/>
              <a:ea typeface="Calibri"/>
              <a:cs typeface="Calibri"/>
              <a:sym typeface="Calibri"/>
            </a:endParaRPr>
          </a:p>
        </p:txBody>
      </p:sp>
      <p:sp>
        <p:nvSpPr>
          <p:cNvPr id="465" name="Google Shape;465;p23"/>
          <p:cNvSpPr/>
          <p:nvPr/>
        </p:nvSpPr>
        <p:spPr>
          <a:xfrm>
            <a:off x="496119" y="611163"/>
            <a:ext cx="8151763" cy="40057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400" u="none" cap="none" strike="noStrike">
                <a:solidFill>
                  <a:srgbClr val="3257B8"/>
                </a:solidFill>
                <a:latin typeface="Roboto Slab"/>
                <a:ea typeface="Roboto Slab"/>
                <a:cs typeface="Roboto Slab"/>
                <a:sym typeface="Roboto Slab"/>
              </a:rPr>
              <a:t>AI 코멘트 — 자동 생활기록부 </a:t>
            </a:r>
            <a:r>
              <a:rPr b="1" i="0" lang="ko-KR" sz="2400" u="none" cap="none" strike="noStrike">
                <a:solidFill>
                  <a:srgbClr val="000000"/>
                </a:solidFill>
                <a:latin typeface="Roboto Slab"/>
                <a:ea typeface="Roboto Slab"/>
                <a:cs typeface="Roboto Slab"/>
                <a:sym typeface="Roboto Slab"/>
              </a:rPr>
              <a:t>🤖</a:t>
            </a:r>
            <a:endParaRPr b="1" i="0" sz="2400" u="none" cap="none" strike="noStrike">
              <a:solidFill>
                <a:schemeClr val="dk1"/>
              </a:solidFill>
              <a:latin typeface="Calibri"/>
              <a:ea typeface="Calibri"/>
              <a:cs typeface="Calibri"/>
              <a:sym typeface="Calibri"/>
            </a:endParaRPr>
          </a:p>
        </p:txBody>
      </p:sp>
      <p:sp>
        <p:nvSpPr>
          <p:cNvPr id="466" name="Google Shape;466;p23"/>
          <p:cNvSpPr/>
          <p:nvPr/>
        </p:nvSpPr>
        <p:spPr>
          <a:xfrm>
            <a:off x="496119" y="1191964"/>
            <a:ext cx="8608963" cy="193849"/>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담임선생님이 매일 써주는 생활기록부 코멘트를 </a:t>
            </a:r>
            <a:r>
              <a:rPr b="1" i="0" lang="ko-KR" sz="1250" u="none" cap="none" strike="noStrike">
                <a:solidFill>
                  <a:srgbClr val="15213F"/>
                </a:solidFill>
                <a:latin typeface="Roboto"/>
                <a:ea typeface="Roboto"/>
                <a:cs typeface="Roboto"/>
                <a:sym typeface="Roboto"/>
              </a:rPr>
              <a:t>자동</a:t>
            </a:r>
            <a:r>
              <a:rPr b="0" i="0" lang="ko-KR" sz="1250" u="none" cap="none" strike="noStrike">
                <a:solidFill>
                  <a:srgbClr val="15213F"/>
                </a:solidFill>
                <a:latin typeface="Roboto"/>
                <a:ea typeface="Roboto"/>
                <a:cs typeface="Roboto"/>
                <a:sym typeface="Roboto"/>
              </a:rPr>
              <a:t>으로! </a:t>
            </a:r>
            <a:br>
              <a:rPr b="0" i="0" lang="ko-KR" sz="1250" u="none" cap="none" strike="noStrike">
                <a:solidFill>
                  <a:srgbClr val="15213F"/>
                </a:solidFill>
                <a:latin typeface="Roboto"/>
                <a:ea typeface="Roboto"/>
                <a:cs typeface="Roboto"/>
                <a:sym typeface="Roboto"/>
              </a:rPr>
            </a:br>
            <a:r>
              <a:rPr b="0" i="0" lang="ko-KR" sz="1250" u="none" cap="none" strike="noStrike">
                <a:solidFill>
                  <a:srgbClr val="15213F"/>
                </a:solidFill>
                <a:latin typeface="Roboto"/>
                <a:ea typeface="Roboto"/>
                <a:cs typeface="Roboto"/>
                <a:sym typeface="Roboto"/>
              </a:rPr>
              <a:t>사실 진짜 AI가 아니라 </a:t>
            </a:r>
            <a:r>
              <a:rPr b="1" i="0" lang="ko-KR" sz="1250" u="none" cap="none" strike="noStrike">
                <a:solidFill>
                  <a:srgbClr val="15213F"/>
                </a:solidFill>
                <a:latin typeface="Roboto"/>
                <a:ea typeface="Roboto"/>
                <a:cs typeface="Roboto"/>
                <a:sym typeface="Roboto"/>
              </a:rPr>
              <a:t>점수에 따라 미리 정해진 문장을 골라주는 자판기</a:t>
            </a:r>
            <a:r>
              <a:rPr b="0" i="0" lang="ko-KR" sz="1250" u="none" cap="none" strike="noStrike">
                <a:solidFill>
                  <a:srgbClr val="15213F"/>
                </a:solidFill>
                <a:latin typeface="Roboto"/>
                <a:ea typeface="Roboto"/>
                <a:cs typeface="Roboto"/>
                <a:sym typeface="Roboto"/>
              </a:rPr>
              <a:t>예요.</a:t>
            </a:r>
            <a:endParaRPr b="0" i="0" sz="1250" u="none" cap="none" strike="noStrike">
              <a:solidFill>
                <a:schemeClr val="dk1"/>
              </a:solidFill>
              <a:latin typeface="Calibri"/>
              <a:ea typeface="Calibri"/>
              <a:cs typeface="Calibri"/>
              <a:sym typeface="Calibri"/>
            </a:endParaRPr>
          </a:p>
        </p:txBody>
      </p:sp>
      <p:pic>
        <p:nvPicPr>
          <p:cNvPr descr="preencoded.png" id="467" name="Google Shape;467;p23"/>
          <p:cNvPicPr preferRelativeResize="0"/>
          <p:nvPr/>
        </p:nvPicPr>
        <p:blipFill rotWithShape="1">
          <a:blip r:embed="rId3">
            <a:alphaModFix/>
          </a:blip>
          <a:srcRect b="0" l="0" r="0" t="0"/>
          <a:stretch/>
        </p:blipFill>
        <p:spPr>
          <a:xfrm>
            <a:off x="541883" y="1775402"/>
            <a:ext cx="183133" cy="183133"/>
          </a:xfrm>
          <a:prstGeom prst="rect">
            <a:avLst/>
          </a:prstGeom>
          <a:noFill/>
          <a:ln>
            <a:noFill/>
          </a:ln>
        </p:spPr>
      </p:pic>
      <p:sp>
        <p:nvSpPr>
          <p:cNvPr id="468" name="Google Shape;468;p23"/>
          <p:cNvSpPr/>
          <p:nvPr/>
        </p:nvSpPr>
        <p:spPr>
          <a:xfrm>
            <a:off x="892894" y="1709016"/>
            <a:ext cx="7755000" cy="190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① 잘한 점</a:t>
            </a:r>
            <a:endParaRPr b="1" i="0" sz="1500" u="none" cap="none" strike="noStrike">
              <a:solidFill>
                <a:schemeClr val="dk1"/>
              </a:solidFill>
              <a:latin typeface="Calibri"/>
              <a:ea typeface="Calibri"/>
              <a:cs typeface="Calibri"/>
              <a:sym typeface="Calibri"/>
            </a:endParaRPr>
          </a:p>
        </p:txBody>
      </p:sp>
      <p:sp>
        <p:nvSpPr>
          <p:cNvPr id="469" name="Google Shape;469;p23"/>
          <p:cNvSpPr/>
          <p:nvPr/>
        </p:nvSpPr>
        <p:spPr>
          <a:xfrm>
            <a:off x="892894" y="1971847"/>
            <a:ext cx="7755000" cy="1938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순공률 80% 이상 → "집중력 최고!" / 어제보다 높으면 → "발전 중!"</a:t>
            </a:r>
            <a:endParaRPr b="0" i="0" sz="1250" u="none" cap="none" strike="noStrike">
              <a:solidFill>
                <a:schemeClr val="dk1"/>
              </a:solidFill>
              <a:latin typeface="Calibri"/>
              <a:ea typeface="Calibri"/>
              <a:cs typeface="Calibri"/>
              <a:sym typeface="Calibri"/>
            </a:endParaRPr>
          </a:p>
        </p:txBody>
      </p:sp>
      <p:pic>
        <p:nvPicPr>
          <p:cNvPr descr="preencoded.png" id="470" name="Google Shape;470;p23"/>
          <p:cNvPicPr preferRelativeResize="0"/>
          <p:nvPr/>
        </p:nvPicPr>
        <p:blipFill rotWithShape="1">
          <a:blip r:embed="rId3">
            <a:alphaModFix/>
          </a:blip>
          <a:srcRect b="0" l="0" r="0" t="0"/>
          <a:stretch/>
        </p:blipFill>
        <p:spPr>
          <a:xfrm>
            <a:off x="541883" y="2472439"/>
            <a:ext cx="183133" cy="183133"/>
          </a:xfrm>
          <a:prstGeom prst="rect">
            <a:avLst/>
          </a:prstGeom>
          <a:noFill/>
          <a:ln>
            <a:noFill/>
          </a:ln>
        </p:spPr>
      </p:pic>
      <p:sp>
        <p:nvSpPr>
          <p:cNvPr id="471" name="Google Shape;471;p23"/>
          <p:cNvSpPr/>
          <p:nvPr/>
        </p:nvSpPr>
        <p:spPr>
          <a:xfrm>
            <a:off x="892894" y="2406053"/>
            <a:ext cx="7755000" cy="190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② 개선할 점</a:t>
            </a:r>
            <a:endParaRPr b="1" i="0" sz="1500" u="none" cap="none" strike="noStrike">
              <a:solidFill>
                <a:schemeClr val="dk1"/>
              </a:solidFill>
              <a:latin typeface="Calibri"/>
              <a:ea typeface="Calibri"/>
              <a:cs typeface="Calibri"/>
              <a:sym typeface="Calibri"/>
            </a:endParaRPr>
          </a:p>
        </p:txBody>
      </p:sp>
      <p:sp>
        <p:nvSpPr>
          <p:cNvPr id="472" name="Google Shape;472;p23"/>
          <p:cNvSpPr/>
          <p:nvPr/>
        </p:nvSpPr>
        <p:spPr>
          <a:xfrm>
            <a:off x="892894" y="2668883"/>
            <a:ext cx="7755000" cy="1938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0분인 과목 존재 시 → "이 과목을 오늘 하지 않았어요"</a:t>
            </a:r>
            <a:endParaRPr b="0" i="0" sz="1250" u="none" cap="none" strike="noStrike">
              <a:solidFill>
                <a:schemeClr val="dk1"/>
              </a:solidFill>
              <a:latin typeface="Calibri"/>
              <a:ea typeface="Calibri"/>
              <a:cs typeface="Calibri"/>
              <a:sym typeface="Calibri"/>
            </a:endParaRPr>
          </a:p>
        </p:txBody>
      </p:sp>
      <p:pic>
        <p:nvPicPr>
          <p:cNvPr descr="preencoded.png" id="473" name="Google Shape;473;p23"/>
          <p:cNvPicPr preferRelativeResize="0"/>
          <p:nvPr/>
        </p:nvPicPr>
        <p:blipFill rotWithShape="1">
          <a:blip r:embed="rId3">
            <a:alphaModFix/>
          </a:blip>
          <a:srcRect b="0" l="0" r="0" t="0"/>
          <a:stretch/>
        </p:blipFill>
        <p:spPr>
          <a:xfrm>
            <a:off x="541883" y="3169475"/>
            <a:ext cx="183133" cy="183133"/>
          </a:xfrm>
          <a:prstGeom prst="rect">
            <a:avLst/>
          </a:prstGeom>
          <a:noFill/>
          <a:ln>
            <a:noFill/>
          </a:ln>
        </p:spPr>
      </p:pic>
      <p:sp>
        <p:nvSpPr>
          <p:cNvPr id="474" name="Google Shape;474;p23"/>
          <p:cNvSpPr/>
          <p:nvPr/>
        </p:nvSpPr>
        <p:spPr>
          <a:xfrm>
            <a:off x="892894" y="3103089"/>
            <a:ext cx="7755000" cy="190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③ 딴짓 분석</a:t>
            </a:r>
            <a:endParaRPr b="1" i="0" sz="1500" u="none" cap="none" strike="noStrike">
              <a:solidFill>
                <a:schemeClr val="dk1"/>
              </a:solidFill>
              <a:latin typeface="Calibri"/>
              <a:ea typeface="Calibri"/>
              <a:cs typeface="Calibri"/>
              <a:sym typeface="Calibri"/>
            </a:endParaRPr>
          </a:p>
        </p:txBody>
      </p:sp>
      <p:sp>
        <p:nvSpPr>
          <p:cNvPr id="475" name="Google Shape;475;p23"/>
          <p:cNvSpPr/>
          <p:nvPr/>
        </p:nvSpPr>
        <p:spPr>
          <a:xfrm>
            <a:off x="892894" y="3365920"/>
            <a:ext cx="7755000" cy="1938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핸드폰 30분 이상 → "핸드폰을 다른 방에 두세요"</a:t>
            </a:r>
            <a:endParaRPr b="0" i="0" sz="1250" u="none" cap="none" strike="noStrike">
              <a:solidFill>
                <a:schemeClr val="dk1"/>
              </a:solidFill>
              <a:latin typeface="Calibri"/>
              <a:ea typeface="Calibri"/>
              <a:cs typeface="Calibri"/>
              <a:sym typeface="Calibri"/>
            </a:endParaRPr>
          </a:p>
        </p:txBody>
      </p:sp>
      <p:pic>
        <p:nvPicPr>
          <p:cNvPr descr="preencoded.png" id="476" name="Google Shape;476;p23"/>
          <p:cNvPicPr preferRelativeResize="0"/>
          <p:nvPr/>
        </p:nvPicPr>
        <p:blipFill rotWithShape="1">
          <a:blip r:embed="rId3">
            <a:alphaModFix/>
          </a:blip>
          <a:srcRect b="0" l="0" r="0" t="0"/>
          <a:stretch/>
        </p:blipFill>
        <p:spPr>
          <a:xfrm>
            <a:off x="541883" y="3866512"/>
            <a:ext cx="183133" cy="183133"/>
          </a:xfrm>
          <a:prstGeom prst="rect">
            <a:avLst/>
          </a:prstGeom>
          <a:noFill/>
          <a:ln>
            <a:noFill/>
          </a:ln>
        </p:spPr>
      </p:pic>
      <p:sp>
        <p:nvSpPr>
          <p:cNvPr id="477" name="Google Shape;477;p23"/>
          <p:cNvSpPr/>
          <p:nvPr/>
        </p:nvSpPr>
        <p:spPr>
          <a:xfrm>
            <a:off x="892894" y="3800126"/>
            <a:ext cx="7755000" cy="190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④ 추천</a:t>
            </a:r>
            <a:endParaRPr b="1" i="0" sz="1500" u="none" cap="none" strike="noStrike">
              <a:solidFill>
                <a:schemeClr val="dk1"/>
              </a:solidFill>
              <a:latin typeface="Calibri"/>
              <a:ea typeface="Calibri"/>
              <a:cs typeface="Calibri"/>
              <a:sym typeface="Calibri"/>
            </a:endParaRPr>
          </a:p>
        </p:txBody>
      </p:sp>
      <p:sp>
        <p:nvSpPr>
          <p:cNvPr id="478" name="Google Shape;478;p23"/>
          <p:cNvSpPr/>
          <p:nvPr/>
        </p:nvSpPr>
        <p:spPr>
          <a:xfrm>
            <a:off x="892894" y="4062956"/>
            <a:ext cx="7755000" cy="1938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순공률 낮으면 → "25분 집중 + 5분 휴식 (뽀모도로)" 추천</a:t>
            </a:r>
            <a:endParaRPr b="0" i="0" sz="1250" u="none" cap="none" strike="noStrike">
              <a:solidFill>
                <a:schemeClr val="dk1"/>
              </a:solidFill>
              <a:latin typeface="Calibri"/>
              <a:ea typeface="Calibri"/>
              <a:cs typeface="Calibri"/>
              <a:sym typeface="Calibri"/>
            </a:endParaRPr>
          </a:p>
        </p:txBody>
      </p:sp>
      <p:pic>
        <p:nvPicPr>
          <p:cNvPr descr="preencoded.png" id="479" name="Google Shape;479;p23"/>
          <p:cNvPicPr preferRelativeResize="0"/>
          <p:nvPr/>
        </p:nvPicPr>
        <p:blipFill rotWithShape="1">
          <a:blip r:embed="rId3">
            <a:alphaModFix/>
          </a:blip>
          <a:srcRect b="0" l="0" r="0" t="0"/>
          <a:stretch/>
        </p:blipFill>
        <p:spPr>
          <a:xfrm>
            <a:off x="541883" y="4563548"/>
            <a:ext cx="183133" cy="183133"/>
          </a:xfrm>
          <a:prstGeom prst="rect">
            <a:avLst/>
          </a:prstGeom>
          <a:noFill/>
          <a:ln>
            <a:noFill/>
          </a:ln>
        </p:spPr>
      </p:pic>
      <p:sp>
        <p:nvSpPr>
          <p:cNvPr id="480" name="Google Shape;480;p23"/>
          <p:cNvSpPr/>
          <p:nvPr/>
        </p:nvSpPr>
        <p:spPr>
          <a:xfrm>
            <a:off x="892894" y="4497163"/>
            <a:ext cx="7755000" cy="190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500" u="none" cap="none" strike="noStrike">
                <a:solidFill>
                  <a:srgbClr val="15213F"/>
                </a:solidFill>
                <a:latin typeface="Roboto Slab"/>
                <a:ea typeface="Roboto Slab"/>
                <a:cs typeface="Roboto Slab"/>
                <a:sym typeface="Roboto Slab"/>
              </a:rPr>
              <a:t>⑤ 다음 목표</a:t>
            </a:r>
            <a:endParaRPr b="1" i="0" sz="1500" u="none" cap="none" strike="noStrike">
              <a:solidFill>
                <a:schemeClr val="dk1"/>
              </a:solidFill>
              <a:latin typeface="Calibri"/>
              <a:ea typeface="Calibri"/>
              <a:cs typeface="Calibri"/>
              <a:sym typeface="Calibri"/>
            </a:endParaRPr>
          </a:p>
        </p:txBody>
      </p:sp>
      <p:sp>
        <p:nvSpPr>
          <p:cNvPr id="481" name="Google Shape;481;p23"/>
          <p:cNvSpPr/>
          <p:nvPr/>
        </p:nvSpPr>
        <p:spPr>
          <a:xfrm>
            <a:off x="892894" y="4759993"/>
            <a:ext cx="7755000" cy="1938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목표 미달 시 → "내일은 10분 더 해볼까요?"</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24"/>
          <p:cNvSpPr/>
          <p:nvPr/>
        </p:nvSpPr>
        <p:spPr>
          <a:xfrm>
            <a:off x="496119" y="349076"/>
            <a:ext cx="305693" cy="105966"/>
          </a:xfrm>
          <a:prstGeom prst="roundRect">
            <a:avLst>
              <a:gd fmla="val 7902"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4"/>
          <p:cNvSpPr/>
          <p:nvPr/>
        </p:nvSpPr>
        <p:spPr>
          <a:xfrm>
            <a:off x="537939" y="369987"/>
            <a:ext cx="679252" cy="64145"/>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400"/>
              <a:buFont typeface="Roboto"/>
              <a:buNone/>
            </a:pPr>
            <a:r>
              <a:rPr b="0" i="0" lang="ko-KR" sz="400" u="none" cap="none" strike="noStrike">
                <a:solidFill>
                  <a:srgbClr val="15213F"/>
                </a:solidFill>
                <a:latin typeface="Roboto"/>
                <a:ea typeface="Roboto"/>
                <a:cs typeface="Roboto"/>
                <a:sym typeface="Roboto"/>
              </a:rPr>
              <a:t>PHASE 2</a:t>
            </a:r>
            <a:endParaRPr b="0" i="0" sz="400" u="none" cap="none" strike="noStrike">
              <a:solidFill>
                <a:schemeClr val="dk1"/>
              </a:solidFill>
              <a:latin typeface="Calibri"/>
              <a:ea typeface="Calibri"/>
              <a:cs typeface="Calibri"/>
              <a:sym typeface="Calibri"/>
            </a:endParaRPr>
          </a:p>
        </p:txBody>
      </p:sp>
      <p:sp>
        <p:nvSpPr>
          <p:cNvPr id="489" name="Google Shape;489;p24"/>
          <p:cNvSpPr/>
          <p:nvPr/>
        </p:nvSpPr>
        <p:spPr>
          <a:xfrm>
            <a:off x="496119" y="470669"/>
            <a:ext cx="8151763" cy="2180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1350"/>
              <a:buFont typeface="Roboto Slab"/>
              <a:buNone/>
            </a:pPr>
            <a:r>
              <a:rPr b="0" i="0" lang="ko-KR" sz="1350" u="none" cap="none" strike="noStrike">
                <a:solidFill>
                  <a:srgbClr val="3257B8"/>
                </a:solidFill>
                <a:latin typeface="Roboto Slab"/>
                <a:ea typeface="Roboto Slab"/>
                <a:cs typeface="Roboto Slab"/>
                <a:sym typeface="Roboto Slab"/>
              </a:rPr>
              <a:t>통계 API — Flask 채점 시스템</a:t>
            </a:r>
            <a:endParaRPr b="0" i="0" sz="1350" u="none" cap="none" strike="noStrike">
              <a:solidFill>
                <a:schemeClr val="dk1"/>
              </a:solidFill>
              <a:latin typeface="Calibri"/>
              <a:ea typeface="Calibri"/>
              <a:cs typeface="Calibri"/>
              <a:sym typeface="Calibri"/>
            </a:endParaRPr>
          </a:p>
        </p:txBody>
      </p:sp>
      <p:sp>
        <p:nvSpPr>
          <p:cNvPr id="490" name="Google Shape;490;p24"/>
          <p:cNvSpPr/>
          <p:nvPr/>
        </p:nvSpPr>
        <p:spPr>
          <a:xfrm>
            <a:off x="496119" y="747564"/>
            <a:ext cx="8608963" cy="872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500"/>
              <a:buFont typeface="Roboto"/>
              <a:buNone/>
            </a:pPr>
            <a:r>
              <a:rPr b="0" i="0" lang="ko-KR" sz="1100" u="none" cap="none" strike="noStrike">
                <a:solidFill>
                  <a:srgbClr val="15213F"/>
                </a:solidFill>
                <a:latin typeface="Roboto"/>
                <a:ea typeface="Roboto"/>
                <a:cs typeface="Roboto"/>
                <a:sym typeface="Roboto"/>
              </a:rPr>
              <a:t>Flask 주방에 </a:t>
            </a:r>
            <a:r>
              <a:rPr b="1" i="0" lang="ko-KR" sz="1100" u="none" cap="none" strike="noStrike">
                <a:solidFill>
                  <a:srgbClr val="15213F"/>
                </a:solidFill>
                <a:latin typeface="Roboto"/>
                <a:ea typeface="Roboto"/>
                <a:cs typeface="Roboto"/>
                <a:sym typeface="Roboto"/>
              </a:rPr>
              <a:t>채점 코너</a:t>
            </a:r>
            <a:r>
              <a:rPr b="0" i="0" lang="ko-KR" sz="1100" u="none" cap="none" strike="noStrike">
                <a:solidFill>
                  <a:srgbClr val="15213F"/>
                </a:solidFill>
                <a:latin typeface="Roboto"/>
                <a:ea typeface="Roboto"/>
                <a:cs typeface="Roboto"/>
                <a:sym typeface="Roboto"/>
              </a:rPr>
              <a:t>가 생겼어요! 각 URL을 호출하면 계산된 통계를 돌려줍니다.</a:t>
            </a:r>
            <a:endParaRPr b="0" i="0" sz="1100" u="none" cap="none" strike="noStrike">
              <a:solidFill>
                <a:schemeClr val="dk1"/>
              </a:solidFill>
              <a:latin typeface="Calibri"/>
              <a:ea typeface="Calibri"/>
              <a:cs typeface="Calibri"/>
              <a:sym typeface="Calibri"/>
            </a:endParaRPr>
          </a:p>
        </p:txBody>
      </p:sp>
      <p:sp>
        <p:nvSpPr>
          <p:cNvPr id="491" name="Google Shape;491;p24"/>
          <p:cNvSpPr/>
          <p:nvPr/>
        </p:nvSpPr>
        <p:spPr>
          <a:xfrm>
            <a:off x="496125" y="1079424"/>
            <a:ext cx="4056300" cy="716700"/>
          </a:xfrm>
          <a:prstGeom prst="roundRect">
            <a:avLst>
              <a:gd fmla="val 2249" name="adj"/>
            </a:avLst>
          </a:prstGeom>
          <a:solidFill>
            <a:srgbClr val="FBFCFE"/>
          </a:solidFill>
          <a:ln cap="flat" cmpd="sng" w="952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492" name="Google Shape;492;p24"/>
          <p:cNvSpPr/>
          <p:nvPr/>
        </p:nvSpPr>
        <p:spPr>
          <a:xfrm>
            <a:off x="575370" y="1158681"/>
            <a:ext cx="3897600" cy="1089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650"/>
              <a:buFont typeface="Roboto Slab"/>
              <a:buNone/>
            </a:pPr>
            <a:r>
              <a:rPr b="1" i="0" lang="ko-KR" sz="1350" u="none" cap="none" strike="noStrike">
                <a:solidFill>
                  <a:srgbClr val="15213F"/>
                </a:solidFill>
                <a:latin typeface="Roboto Slab"/>
                <a:ea typeface="Roboto Slab"/>
                <a:cs typeface="Roboto Slab"/>
                <a:sym typeface="Roboto Slab"/>
              </a:rPr>
              <a:t>/api/stats/daily</a:t>
            </a:r>
            <a:endParaRPr b="1" i="0" sz="1350" u="none" cap="none" strike="noStrike">
              <a:solidFill>
                <a:schemeClr val="dk1"/>
              </a:solidFill>
              <a:latin typeface="Calibri"/>
              <a:ea typeface="Calibri"/>
              <a:cs typeface="Calibri"/>
              <a:sym typeface="Calibri"/>
            </a:endParaRPr>
          </a:p>
        </p:txBody>
      </p:sp>
      <p:sp>
        <p:nvSpPr>
          <p:cNvPr id="493" name="Google Shape;493;p24"/>
          <p:cNvSpPr/>
          <p:nvPr/>
        </p:nvSpPr>
        <p:spPr>
          <a:xfrm>
            <a:off x="575370" y="1441608"/>
            <a:ext cx="3897600" cy="174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500"/>
              <a:buFont typeface="Roboto"/>
              <a:buNone/>
            </a:pPr>
            <a:r>
              <a:rPr b="0" i="0" lang="ko-KR" sz="1100" u="none" cap="none" strike="noStrike">
                <a:solidFill>
                  <a:srgbClr val="15213F"/>
                </a:solidFill>
                <a:latin typeface="Roboto"/>
                <a:ea typeface="Roboto"/>
                <a:cs typeface="Roboto"/>
                <a:sym typeface="Roboto"/>
              </a:rPr>
              <a:t>오늘 세션 합산 → 순공률 계산</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000000"/>
              </a:buClr>
              <a:buSzPts val="500"/>
              <a:buFont typeface="Roboto"/>
              <a:buNone/>
            </a:pPr>
            <a:r>
              <a:rPr b="0" i="0" lang="ko-KR" sz="1100" u="none" cap="none" strike="noStrike">
                <a:solidFill>
                  <a:srgbClr val="000000"/>
                </a:solidFill>
                <a:latin typeface="Roboto"/>
                <a:ea typeface="Roboto"/>
                <a:cs typeface="Roboto"/>
                <a:sym typeface="Roboto"/>
              </a:rPr>
              <a:t>📝</a:t>
            </a:r>
            <a:r>
              <a:rPr b="0" i="0" lang="ko-KR" sz="1100" u="none" cap="none" strike="noStrike">
                <a:solidFill>
                  <a:srgbClr val="15213F"/>
                </a:solidFill>
                <a:latin typeface="Roboto"/>
                <a:ea typeface="Roboto"/>
                <a:cs typeface="Roboto"/>
                <a:sym typeface="Roboto"/>
              </a:rPr>
              <a:t> 오늘 시험 채점</a:t>
            </a:r>
            <a:endParaRPr b="0" i="0" sz="1100" u="none" cap="none" strike="noStrike">
              <a:solidFill>
                <a:schemeClr val="dk1"/>
              </a:solidFill>
              <a:latin typeface="Calibri"/>
              <a:ea typeface="Calibri"/>
              <a:cs typeface="Calibri"/>
              <a:sym typeface="Calibri"/>
            </a:endParaRPr>
          </a:p>
        </p:txBody>
      </p:sp>
      <p:sp>
        <p:nvSpPr>
          <p:cNvPr id="494" name="Google Shape;494;p24"/>
          <p:cNvSpPr/>
          <p:nvPr/>
        </p:nvSpPr>
        <p:spPr>
          <a:xfrm>
            <a:off x="4591570" y="1079424"/>
            <a:ext cx="4056300" cy="716700"/>
          </a:xfrm>
          <a:prstGeom prst="roundRect">
            <a:avLst>
              <a:gd fmla="val 2249" name="adj"/>
            </a:avLst>
          </a:prstGeom>
          <a:solidFill>
            <a:srgbClr val="FBFCFE"/>
          </a:solidFill>
          <a:ln cap="flat" cmpd="sng" w="952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495" name="Google Shape;495;p24"/>
          <p:cNvSpPr/>
          <p:nvPr/>
        </p:nvSpPr>
        <p:spPr>
          <a:xfrm>
            <a:off x="4670822" y="1158681"/>
            <a:ext cx="3897900" cy="1089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650"/>
              <a:buFont typeface="Roboto Slab"/>
              <a:buNone/>
            </a:pPr>
            <a:r>
              <a:rPr b="1" i="0" lang="ko-KR" sz="1350" u="none" cap="none" strike="noStrike">
                <a:solidFill>
                  <a:srgbClr val="15213F"/>
                </a:solidFill>
                <a:latin typeface="Roboto Slab"/>
                <a:ea typeface="Roboto Slab"/>
                <a:cs typeface="Roboto Slab"/>
                <a:sym typeface="Roboto Slab"/>
              </a:rPr>
              <a:t>/api/stats/weekly</a:t>
            </a:r>
            <a:endParaRPr b="1" i="0" sz="1350" u="none" cap="none" strike="noStrike">
              <a:solidFill>
                <a:schemeClr val="dk1"/>
              </a:solidFill>
              <a:latin typeface="Calibri"/>
              <a:ea typeface="Calibri"/>
              <a:cs typeface="Calibri"/>
              <a:sym typeface="Calibri"/>
            </a:endParaRPr>
          </a:p>
        </p:txBody>
      </p:sp>
      <p:sp>
        <p:nvSpPr>
          <p:cNvPr id="496" name="Google Shape;496;p24"/>
          <p:cNvSpPr/>
          <p:nvPr/>
        </p:nvSpPr>
        <p:spPr>
          <a:xfrm>
            <a:off x="4670822" y="1416542"/>
            <a:ext cx="3897900" cy="174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500"/>
              <a:buFont typeface="Roboto"/>
              <a:buNone/>
            </a:pPr>
            <a:r>
              <a:rPr b="0" i="0" lang="ko-KR" sz="1100" u="none" cap="none" strike="noStrike">
                <a:solidFill>
                  <a:srgbClr val="15213F"/>
                </a:solidFill>
                <a:latin typeface="Roboto"/>
                <a:ea typeface="Roboto"/>
                <a:cs typeface="Roboto"/>
                <a:sym typeface="Roboto"/>
              </a:rPr>
              <a:t>7일 합산 → 최고/최저 요일 비교</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000000"/>
              </a:buClr>
              <a:buSzPts val="500"/>
              <a:buFont typeface="Roboto"/>
              <a:buNone/>
            </a:pPr>
            <a:r>
              <a:rPr b="0" i="0" lang="ko-KR" sz="1100" u="none" cap="none" strike="noStrike">
                <a:solidFill>
                  <a:srgbClr val="000000"/>
                </a:solidFill>
                <a:latin typeface="Roboto"/>
                <a:ea typeface="Roboto"/>
                <a:cs typeface="Roboto"/>
                <a:sym typeface="Roboto"/>
              </a:rPr>
              <a:t>📋</a:t>
            </a:r>
            <a:r>
              <a:rPr b="0" i="0" lang="ko-KR" sz="1100" u="none" cap="none" strike="noStrike">
                <a:solidFill>
                  <a:srgbClr val="15213F"/>
                </a:solidFill>
                <a:latin typeface="Roboto"/>
                <a:ea typeface="Roboto"/>
                <a:cs typeface="Roboto"/>
                <a:sym typeface="Roboto"/>
              </a:rPr>
              <a:t> 주간 테스트</a:t>
            </a:r>
            <a:endParaRPr b="0" i="0" sz="1100" u="none" cap="none" strike="noStrike">
              <a:solidFill>
                <a:schemeClr val="dk1"/>
              </a:solidFill>
              <a:latin typeface="Calibri"/>
              <a:ea typeface="Calibri"/>
              <a:cs typeface="Calibri"/>
              <a:sym typeface="Calibri"/>
            </a:endParaRPr>
          </a:p>
        </p:txBody>
      </p:sp>
      <p:sp>
        <p:nvSpPr>
          <p:cNvPr id="497" name="Google Shape;497;p24"/>
          <p:cNvSpPr/>
          <p:nvPr/>
        </p:nvSpPr>
        <p:spPr>
          <a:xfrm>
            <a:off x="496125" y="1997707"/>
            <a:ext cx="4056300" cy="789600"/>
          </a:xfrm>
          <a:prstGeom prst="roundRect">
            <a:avLst>
              <a:gd fmla="val 2249" name="adj"/>
            </a:avLst>
          </a:prstGeom>
          <a:solidFill>
            <a:srgbClr val="FBFCFE"/>
          </a:solidFill>
          <a:ln cap="flat" cmpd="sng" w="952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498" name="Google Shape;498;p24"/>
          <p:cNvSpPr/>
          <p:nvPr/>
        </p:nvSpPr>
        <p:spPr>
          <a:xfrm>
            <a:off x="575370" y="2076944"/>
            <a:ext cx="3897600" cy="1089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650"/>
              <a:buFont typeface="Roboto Slab"/>
              <a:buNone/>
            </a:pPr>
            <a:r>
              <a:rPr b="1" i="0" lang="ko-KR" sz="1350" u="none" cap="none" strike="noStrike">
                <a:solidFill>
                  <a:srgbClr val="15213F"/>
                </a:solidFill>
                <a:latin typeface="Roboto Slab"/>
                <a:ea typeface="Roboto Slab"/>
                <a:cs typeface="Roboto Slab"/>
                <a:sym typeface="Roboto Slab"/>
              </a:rPr>
              <a:t>/api/stats/monthly</a:t>
            </a:r>
            <a:endParaRPr b="1" i="0" sz="1350" u="none" cap="none" strike="noStrike">
              <a:solidFill>
                <a:schemeClr val="dk1"/>
              </a:solidFill>
              <a:latin typeface="Calibri"/>
              <a:ea typeface="Calibri"/>
              <a:cs typeface="Calibri"/>
              <a:sym typeface="Calibri"/>
            </a:endParaRPr>
          </a:p>
        </p:txBody>
      </p:sp>
      <p:sp>
        <p:nvSpPr>
          <p:cNvPr id="499" name="Google Shape;499;p24"/>
          <p:cNvSpPr/>
          <p:nvPr/>
        </p:nvSpPr>
        <p:spPr>
          <a:xfrm>
            <a:off x="575370" y="2322271"/>
            <a:ext cx="3897600" cy="174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500"/>
              <a:buFont typeface="Roboto"/>
              <a:buNone/>
            </a:pPr>
            <a:r>
              <a:rPr b="0" i="0" lang="ko-KR" sz="1100" u="none" cap="none" strike="noStrike">
                <a:solidFill>
                  <a:srgbClr val="15213F"/>
                </a:solidFill>
                <a:latin typeface="Roboto"/>
                <a:ea typeface="Roboto"/>
                <a:cs typeface="Roboto"/>
                <a:sym typeface="Roboto"/>
              </a:rPr>
              <a:t>30일 합산 → 주차별 추이 분석</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000000"/>
              </a:buClr>
              <a:buSzPts val="500"/>
              <a:buFont typeface="Roboto"/>
              <a:buNone/>
            </a:pPr>
            <a:r>
              <a:rPr b="0" i="0" lang="ko-KR" sz="1100" u="none" cap="none" strike="noStrike">
                <a:solidFill>
                  <a:srgbClr val="000000"/>
                </a:solidFill>
                <a:latin typeface="Roboto"/>
                <a:ea typeface="Roboto"/>
                <a:cs typeface="Roboto"/>
                <a:sym typeface="Roboto"/>
              </a:rPr>
              <a:t>📊</a:t>
            </a:r>
            <a:r>
              <a:rPr b="0" i="0" lang="ko-KR" sz="1100" u="none" cap="none" strike="noStrike">
                <a:solidFill>
                  <a:srgbClr val="15213F"/>
                </a:solidFill>
                <a:latin typeface="Roboto"/>
                <a:ea typeface="Roboto"/>
                <a:cs typeface="Roboto"/>
                <a:sym typeface="Roboto"/>
              </a:rPr>
              <a:t> 월말고사</a:t>
            </a:r>
            <a:endParaRPr b="0" i="0" sz="1100" u="none" cap="none" strike="noStrike">
              <a:solidFill>
                <a:schemeClr val="dk1"/>
              </a:solidFill>
              <a:latin typeface="Calibri"/>
              <a:ea typeface="Calibri"/>
              <a:cs typeface="Calibri"/>
              <a:sym typeface="Calibri"/>
            </a:endParaRPr>
          </a:p>
        </p:txBody>
      </p:sp>
      <p:sp>
        <p:nvSpPr>
          <p:cNvPr id="500" name="Google Shape;500;p24"/>
          <p:cNvSpPr/>
          <p:nvPr/>
        </p:nvSpPr>
        <p:spPr>
          <a:xfrm>
            <a:off x="4591576" y="1997707"/>
            <a:ext cx="4056300" cy="789600"/>
          </a:xfrm>
          <a:prstGeom prst="roundRect">
            <a:avLst>
              <a:gd fmla="val 2249" name="adj"/>
            </a:avLst>
          </a:prstGeom>
          <a:solidFill>
            <a:srgbClr val="FBFCFE"/>
          </a:solidFill>
          <a:ln cap="flat" cmpd="sng" w="952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501" name="Google Shape;501;p24"/>
          <p:cNvSpPr/>
          <p:nvPr/>
        </p:nvSpPr>
        <p:spPr>
          <a:xfrm>
            <a:off x="4670822" y="2076944"/>
            <a:ext cx="3897900" cy="1089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650"/>
              <a:buFont typeface="Roboto Slab"/>
              <a:buNone/>
            </a:pPr>
            <a:r>
              <a:rPr b="1" i="0" lang="ko-KR" sz="1350" u="none" cap="none" strike="noStrike">
                <a:solidFill>
                  <a:srgbClr val="15213F"/>
                </a:solidFill>
                <a:latin typeface="Roboto Slab"/>
                <a:ea typeface="Roboto Slab"/>
                <a:cs typeface="Roboto Slab"/>
                <a:sym typeface="Roboto Slab"/>
              </a:rPr>
              <a:t>/api/stats/comments</a:t>
            </a:r>
            <a:endParaRPr b="1" i="0" sz="1350" u="none" cap="none" strike="noStrike">
              <a:solidFill>
                <a:schemeClr val="dk1"/>
              </a:solidFill>
              <a:latin typeface="Calibri"/>
              <a:ea typeface="Calibri"/>
              <a:cs typeface="Calibri"/>
              <a:sym typeface="Calibri"/>
            </a:endParaRPr>
          </a:p>
        </p:txBody>
      </p:sp>
      <p:sp>
        <p:nvSpPr>
          <p:cNvPr id="502" name="Google Shape;502;p24"/>
          <p:cNvSpPr/>
          <p:nvPr/>
        </p:nvSpPr>
        <p:spPr>
          <a:xfrm>
            <a:off x="4670822" y="2322271"/>
            <a:ext cx="3897900" cy="174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500"/>
              <a:buFont typeface="Roboto"/>
              <a:buNone/>
            </a:pPr>
            <a:r>
              <a:rPr b="0" i="0" lang="ko-KR" sz="1100" u="none" cap="none" strike="noStrike">
                <a:solidFill>
                  <a:srgbClr val="15213F"/>
                </a:solidFill>
                <a:latin typeface="Roboto"/>
                <a:ea typeface="Roboto"/>
                <a:cs typeface="Roboto"/>
                <a:sym typeface="Roboto"/>
              </a:rPr>
              <a:t>5가지 코멘트 자동 생성</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000000"/>
              </a:buClr>
              <a:buSzPts val="500"/>
              <a:buFont typeface="Roboto"/>
              <a:buNone/>
            </a:pPr>
            <a:r>
              <a:rPr b="0" i="0" lang="ko-KR" sz="1100" u="none" cap="none" strike="noStrike">
                <a:solidFill>
                  <a:srgbClr val="000000"/>
                </a:solidFill>
                <a:latin typeface="Roboto"/>
                <a:ea typeface="Roboto"/>
                <a:cs typeface="Roboto"/>
                <a:sym typeface="Roboto"/>
              </a:rPr>
              <a:t>📄</a:t>
            </a:r>
            <a:r>
              <a:rPr b="0" i="0" lang="ko-KR" sz="1100" u="none" cap="none" strike="noStrike">
                <a:solidFill>
                  <a:srgbClr val="15213F"/>
                </a:solidFill>
                <a:latin typeface="Roboto"/>
                <a:ea typeface="Roboto"/>
                <a:cs typeface="Roboto"/>
                <a:sym typeface="Roboto"/>
              </a:rPr>
              <a:t> 생활기록부</a:t>
            </a:r>
            <a:endParaRPr b="0" i="0" sz="1100" u="none" cap="none" strike="noStrike">
              <a:solidFill>
                <a:schemeClr val="dk1"/>
              </a:solidFill>
              <a:latin typeface="Calibri"/>
              <a:ea typeface="Calibri"/>
              <a:cs typeface="Calibri"/>
              <a:sym typeface="Calibri"/>
            </a:endParaRPr>
          </a:p>
        </p:txBody>
      </p:sp>
      <p:pic>
        <p:nvPicPr>
          <p:cNvPr descr="preencoded.png" id="503" name="Google Shape;503;p24"/>
          <p:cNvPicPr preferRelativeResize="0"/>
          <p:nvPr/>
        </p:nvPicPr>
        <p:blipFill rotWithShape="1">
          <a:blip r:embed="rId3">
            <a:alphaModFix/>
          </a:blip>
          <a:srcRect b="0" l="0" r="0" t="0"/>
          <a:stretch/>
        </p:blipFill>
        <p:spPr>
          <a:xfrm>
            <a:off x="496127" y="3005723"/>
            <a:ext cx="4833854" cy="2212299"/>
          </a:xfrm>
          <a:prstGeom prst="rect">
            <a:avLst/>
          </a:prstGeom>
          <a:noFill/>
          <a:ln>
            <a:noFill/>
          </a:ln>
        </p:spPr>
      </p:pic>
      <p:sp>
        <p:nvSpPr>
          <p:cNvPr id="504" name="Google Shape;504;p24"/>
          <p:cNvSpPr/>
          <p:nvPr/>
        </p:nvSpPr>
        <p:spPr>
          <a:xfrm>
            <a:off x="4309386" y="4468917"/>
            <a:ext cx="1190100" cy="229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1" i="0" lang="ko-KR" sz="1400" u="none" cap="none" strike="noStrike">
                <a:solidFill>
                  <a:srgbClr val="15213F"/>
                </a:solidFill>
                <a:latin typeface="Roboto Slab"/>
                <a:ea typeface="Roboto Slab"/>
                <a:cs typeface="Roboto Slab"/>
                <a:sym typeface="Roboto Slab"/>
              </a:rPr>
              <a:t>성적표 전송</a:t>
            </a:r>
            <a:endParaRPr b="1" i="0" sz="1400" u="none" cap="none" strike="noStrike">
              <a:solidFill>
                <a:schemeClr val="dk1"/>
              </a:solidFill>
              <a:latin typeface="Calibri"/>
              <a:ea typeface="Calibri"/>
              <a:cs typeface="Calibri"/>
              <a:sym typeface="Calibri"/>
            </a:endParaRPr>
          </a:p>
        </p:txBody>
      </p:sp>
      <p:sp>
        <p:nvSpPr>
          <p:cNvPr id="505" name="Google Shape;505;p24"/>
          <p:cNvSpPr/>
          <p:nvPr/>
        </p:nvSpPr>
        <p:spPr>
          <a:xfrm>
            <a:off x="3106748" y="4456370"/>
            <a:ext cx="1190100" cy="229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1" i="0" lang="ko-KR" sz="1400" u="none" cap="none" strike="noStrike">
                <a:solidFill>
                  <a:srgbClr val="15213F"/>
                </a:solidFill>
                <a:latin typeface="Roboto Slab"/>
                <a:ea typeface="Roboto Slab"/>
                <a:cs typeface="Roboto Slab"/>
                <a:sym typeface="Roboto Slab"/>
              </a:rPr>
              <a:t>과목별 달성률</a:t>
            </a:r>
            <a:endParaRPr b="1" i="0" sz="1400" u="none" cap="none" strike="noStrike">
              <a:solidFill>
                <a:schemeClr val="dk1"/>
              </a:solidFill>
              <a:latin typeface="Calibri"/>
              <a:ea typeface="Calibri"/>
              <a:cs typeface="Calibri"/>
              <a:sym typeface="Calibri"/>
            </a:endParaRPr>
          </a:p>
        </p:txBody>
      </p:sp>
      <p:sp>
        <p:nvSpPr>
          <p:cNvPr id="506" name="Google Shape;506;p24"/>
          <p:cNvSpPr/>
          <p:nvPr/>
        </p:nvSpPr>
        <p:spPr>
          <a:xfrm>
            <a:off x="1834782" y="4456370"/>
            <a:ext cx="1190100" cy="229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1" i="0" lang="ko-KR" sz="1400" u="none" cap="none" strike="noStrike">
                <a:solidFill>
                  <a:srgbClr val="15213F"/>
                </a:solidFill>
                <a:latin typeface="Roboto Slab"/>
                <a:ea typeface="Roboto Slab"/>
                <a:cs typeface="Roboto Slab"/>
                <a:sym typeface="Roboto Slab"/>
              </a:rPr>
              <a:t>교시 점수 합산</a:t>
            </a:r>
            <a:endParaRPr b="1" i="0" sz="1400" u="none" cap="none" strike="noStrike">
              <a:solidFill>
                <a:schemeClr val="dk1"/>
              </a:solidFill>
              <a:latin typeface="Calibri"/>
              <a:ea typeface="Calibri"/>
              <a:cs typeface="Calibri"/>
              <a:sym typeface="Calibri"/>
            </a:endParaRPr>
          </a:p>
        </p:txBody>
      </p:sp>
      <p:sp>
        <p:nvSpPr>
          <p:cNvPr id="507" name="Google Shape;507;p24"/>
          <p:cNvSpPr/>
          <p:nvPr/>
        </p:nvSpPr>
        <p:spPr>
          <a:xfrm>
            <a:off x="562833" y="4456395"/>
            <a:ext cx="1190100" cy="229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1" i="0" lang="ko-KR" sz="1400" u="none" cap="none" strike="noStrike">
                <a:solidFill>
                  <a:srgbClr val="15213F"/>
                </a:solidFill>
                <a:latin typeface="Roboto Slab"/>
                <a:ea typeface="Roboto Slab"/>
                <a:cs typeface="Roboto Slab"/>
                <a:sym typeface="Roboto Slab"/>
              </a:rPr>
              <a:t>세션 불러오기</a:t>
            </a:r>
            <a:endParaRPr b="1" i="0" sz="14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25"/>
          <p:cNvSpPr/>
          <p:nvPr/>
        </p:nvSpPr>
        <p:spPr>
          <a:xfrm>
            <a:off x="496119" y="662136"/>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5"/>
          <p:cNvSpPr/>
          <p:nvPr/>
        </p:nvSpPr>
        <p:spPr>
          <a:xfrm>
            <a:off x="570533" y="699343"/>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2</a:t>
            </a:r>
            <a:endParaRPr b="0" i="0" sz="750" u="none" cap="none" strike="noStrike">
              <a:solidFill>
                <a:schemeClr val="dk1"/>
              </a:solidFill>
              <a:latin typeface="Calibri"/>
              <a:ea typeface="Calibri"/>
              <a:cs typeface="Calibri"/>
              <a:sym typeface="Calibri"/>
            </a:endParaRPr>
          </a:p>
        </p:txBody>
      </p:sp>
      <p:sp>
        <p:nvSpPr>
          <p:cNvPr id="515" name="Google Shape;515;p25"/>
          <p:cNvSpPr/>
          <p:nvPr/>
        </p:nvSpPr>
        <p:spPr>
          <a:xfrm>
            <a:off x="496119" y="900261"/>
            <a:ext cx="8151763"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600" u="none" cap="none" strike="noStrike">
                <a:solidFill>
                  <a:srgbClr val="3257B8"/>
                </a:solidFill>
                <a:latin typeface="Roboto Slab"/>
                <a:ea typeface="Roboto Slab"/>
                <a:cs typeface="Roboto Slab"/>
                <a:sym typeface="Roboto Slab"/>
              </a:rPr>
              <a:t>Phase 2 개발 순서</a:t>
            </a:r>
            <a:endParaRPr b="1" i="0" sz="2600" u="none" cap="none" strike="noStrike">
              <a:solidFill>
                <a:schemeClr val="dk1"/>
              </a:solidFill>
              <a:latin typeface="Calibri"/>
              <a:ea typeface="Calibri"/>
              <a:cs typeface="Calibri"/>
              <a:sym typeface="Calibri"/>
            </a:endParaRPr>
          </a:p>
        </p:txBody>
      </p:sp>
      <p:sp>
        <p:nvSpPr>
          <p:cNvPr id="516" name="Google Shape;516;p25"/>
          <p:cNvSpPr/>
          <p:nvPr/>
        </p:nvSpPr>
        <p:spPr>
          <a:xfrm>
            <a:off x="496119" y="1473845"/>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450" u="none" cap="none" strike="noStrike">
                <a:solidFill>
                  <a:srgbClr val="15213F"/>
                </a:solidFill>
                <a:latin typeface="Roboto"/>
                <a:ea typeface="Roboto"/>
                <a:cs typeface="Roboto"/>
                <a:sym typeface="Roboto"/>
              </a:rPr>
              <a:t>전광판 설치 공정표! 기초부터 심화로 차근차근 올라갑니다.</a:t>
            </a:r>
            <a:endParaRPr b="0" i="0" sz="1450" u="none" cap="none" strike="noStrike">
              <a:solidFill>
                <a:schemeClr val="dk1"/>
              </a:solidFill>
              <a:latin typeface="Calibri"/>
              <a:ea typeface="Calibri"/>
              <a:cs typeface="Calibri"/>
              <a:sym typeface="Calibri"/>
            </a:endParaRPr>
          </a:p>
        </p:txBody>
      </p:sp>
      <p:sp>
        <p:nvSpPr>
          <p:cNvPr id="517" name="Google Shape;517;p25"/>
          <p:cNvSpPr/>
          <p:nvPr/>
        </p:nvSpPr>
        <p:spPr>
          <a:xfrm>
            <a:off x="682154" y="2121917"/>
            <a:ext cx="3827785" cy="123974"/>
          </a:xfrm>
          <a:prstGeom prst="roundRect">
            <a:avLst>
              <a:gd fmla="val 15009"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5"/>
          <p:cNvSpPr/>
          <p:nvPr/>
        </p:nvSpPr>
        <p:spPr>
          <a:xfrm>
            <a:off x="496119" y="1997869"/>
            <a:ext cx="372070" cy="372070"/>
          </a:xfrm>
          <a:prstGeom prst="ellipse">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9" name="Google Shape;519;p25"/>
          <p:cNvPicPr preferRelativeResize="0"/>
          <p:nvPr/>
        </p:nvPicPr>
        <p:blipFill rotWithShape="1">
          <a:blip r:embed="rId3">
            <a:alphaModFix/>
          </a:blip>
          <a:srcRect b="0" l="0" r="0" t="0"/>
          <a:stretch/>
        </p:blipFill>
        <p:spPr>
          <a:xfrm>
            <a:off x="589136" y="2090886"/>
            <a:ext cx="186035" cy="186035"/>
          </a:xfrm>
          <a:prstGeom prst="rect">
            <a:avLst/>
          </a:prstGeom>
          <a:noFill/>
          <a:ln>
            <a:noFill/>
          </a:ln>
        </p:spPr>
      </p:pic>
      <p:sp>
        <p:nvSpPr>
          <p:cNvPr id="520" name="Google Shape;520;p25"/>
          <p:cNvSpPr/>
          <p:nvPr/>
        </p:nvSpPr>
        <p:spPr>
          <a:xfrm>
            <a:off x="620092" y="2418716"/>
            <a:ext cx="3765900" cy="193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대시보드 HTML + Chart.js 연결</a:t>
            </a:r>
            <a:endParaRPr b="1" i="0" sz="1600" u="none" cap="none" strike="noStrike">
              <a:solidFill>
                <a:schemeClr val="dk1"/>
              </a:solidFill>
              <a:latin typeface="Calibri"/>
              <a:ea typeface="Calibri"/>
              <a:cs typeface="Calibri"/>
              <a:sym typeface="Calibri"/>
            </a:endParaRPr>
          </a:p>
        </p:txBody>
      </p:sp>
      <p:sp>
        <p:nvSpPr>
          <p:cNvPr id="521" name="Google Shape;521;p25"/>
          <p:cNvSpPr/>
          <p:nvPr/>
        </p:nvSpPr>
        <p:spPr>
          <a:xfrm>
            <a:off x="620092" y="2724577"/>
            <a:ext cx="3765900" cy="198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전광판 틀 만들기 + LED 모듈 설치</a:t>
            </a:r>
            <a:endParaRPr b="0" i="0" sz="1150" u="none" cap="none" strike="noStrike">
              <a:solidFill>
                <a:schemeClr val="dk1"/>
              </a:solidFill>
              <a:latin typeface="Calibri"/>
              <a:ea typeface="Calibri"/>
              <a:cs typeface="Calibri"/>
              <a:sym typeface="Calibri"/>
            </a:endParaRPr>
          </a:p>
        </p:txBody>
      </p:sp>
      <p:sp>
        <p:nvSpPr>
          <p:cNvPr id="522" name="Google Shape;522;p25"/>
          <p:cNvSpPr/>
          <p:nvPr/>
        </p:nvSpPr>
        <p:spPr>
          <a:xfrm>
            <a:off x="4820022" y="1935882"/>
            <a:ext cx="3827785" cy="123974"/>
          </a:xfrm>
          <a:prstGeom prst="roundRect">
            <a:avLst>
              <a:gd fmla="val 15009"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5"/>
          <p:cNvSpPr/>
          <p:nvPr/>
        </p:nvSpPr>
        <p:spPr>
          <a:xfrm>
            <a:off x="4633987" y="1811834"/>
            <a:ext cx="372070" cy="372070"/>
          </a:xfrm>
          <a:prstGeom prst="ellipse">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24" name="Google Shape;524;p25"/>
          <p:cNvPicPr preferRelativeResize="0"/>
          <p:nvPr/>
        </p:nvPicPr>
        <p:blipFill rotWithShape="1">
          <a:blip r:embed="rId4">
            <a:alphaModFix/>
          </a:blip>
          <a:srcRect b="0" l="0" r="0" t="0"/>
          <a:stretch/>
        </p:blipFill>
        <p:spPr>
          <a:xfrm>
            <a:off x="4727004" y="1904851"/>
            <a:ext cx="186035" cy="186035"/>
          </a:xfrm>
          <a:prstGeom prst="rect">
            <a:avLst/>
          </a:prstGeom>
          <a:noFill/>
          <a:ln>
            <a:noFill/>
          </a:ln>
        </p:spPr>
      </p:pic>
      <p:sp>
        <p:nvSpPr>
          <p:cNvPr id="525" name="Google Shape;525;p25"/>
          <p:cNvSpPr/>
          <p:nvPr/>
        </p:nvSpPr>
        <p:spPr>
          <a:xfrm>
            <a:off x="4757961" y="2232681"/>
            <a:ext cx="3765900" cy="193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일간 통계 API + 차트 그리기</a:t>
            </a:r>
            <a:endParaRPr b="1" i="0" sz="1600" u="none" cap="none" strike="noStrike">
              <a:solidFill>
                <a:schemeClr val="dk1"/>
              </a:solidFill>
              <a:latin typeface="Calibri"/>
              <a:ea typeface="Calibri"/>
              <a:cs typeface="Calibri"/>
              <a:sym typeface="Calibri"/>
            </a:endParaRPr>
          </a:p>
        </p:txBody>
      </p:sp>
      <p:sp>
        <p:nvSpPr>
          <p:cNvPr id="526" name="Google Shape;526;p25"/>
          <p:cNvSpPr/>
          <p:nvPr/>
        </p:nvSpPr>
        <p:spPr>
          <a:xfrm>
            <a:off x="4757961" y="2538541"/>
            <a:ext cx="3765900" cy="198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오늘 채점 계산기 + 전광판 켜기</a:t>
            </a:r>
            <a:endParaRPr b="0" i="0" sz="1150" u="none" cap="none" strike="noStrike">
              <a:solidFill>
                <a:schemeClr val="dk1"/>
              </a:solidFill>
              <a:latin typeface="Calibri"/>
              <a:ea typeface="Calibri"/>
              <a:cs typeface="Calibri"/>
              <a:sym typeface="Calibri"/>
            </a:endParaRPr>
          </a:p>
        </p:txBody>
      </p:sp>
      <p:sp>
        <p:nvSpPr>
          <p:cNvPr id="527" name="Google Shape;527;p25"/>
          <p:cNvSpPr/>
          <p:nvPr/>
        </p:nvSpPr>
        <p:spPr>
          <a:xfrm>
            <a:off x="682154" y="3518669"/>
            <a:ext cx="3827785" cy="123974"/>
          </a:xfrm>
          <a:prstGeom prst="roundRect">
            <a:avLst>
              <a:gd fmla="val 15009"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5"/>
          <p:cNvSpPr/>
          <p:nvPr/>
        </p:nvSpPr>
        <p:spPr>
          <a:xfrm>
            <a:off x="496119" y="3394621"/>
            <a:ext cx="372070" cy="372070"/>
          </a:xfrm>
          <a:prstGeom prst="ellipse">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29" name="Google Shape;529;p25"/>
          <p:cNvPicPr preferRelativeResize="0"/>
          <p:nvPr/>
        </p:nvPicPr>
        <p:blipFill rotWithShape="1">
          <a:blip r:embed="rId5">
            <a:alphaModFix/>
          </a:blip>
          <a:srcRect b="0" l="0" r="0" t="0"/>
          <a:stretch/>
        </p:blipFill>
        <p:spPr>
          <a:xfrm>
            <a:off x="589136" y="3487638"/>
            <a:ext cx="186035" cy="186035"/>
          </a:xfrm>
          <a:prstGeom prst="rect">
            <a:avLst/>
          </a:prstGeom>
          <a:noFill/>
          <a:ln>
            <a:noFill/>
          </a:ln>
        </p:spPr>
      </p:pic>
      <p:sp>
        <p:nvSpPr>
          <p:cNvPr id="530" name="Google Shape;530;p25"/>
          <p:cNvSpPr/>
          <p:nvPr/>
        </p:nvSpPr>
        <p:spPr>
          <a:xfrm>
            <a:off x="620092" y="3815468"/>
            <a:ext cx="3765900" cy="193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코멘트 로직 + CSV 저장</a:t>
            </a:r>
            <a:endParaRPr b="1" i="0" sz="1600" u="none" cap="none" strike="noStrike">
              <a:solidFill>
                <a:schemeClr val="dk1"/>
              </a:solidFill>
              <a:latin typeface="Calibri"/>
              <a:ea typeface="Calibri"/>
              <a:cs typeface="Calibri"/>
              <a:sym typeface="Calibri"/>
            </a:endParaRPr>
          </a:p>
        </p:txBody>
      </p:sp>
      <p:sp>
        <p:nvSpPr>
          <p:cNvPr id="531" name="Google Shape;531;p25"/>
          <p:cNvSpPr/>
          <p:nvPr/>
        </p:nvSpPr>
        <p:spPr>
          <a:xfrm>
            <a:off x="620092" y="4121329"/>
            <a:ext cx="3765900" cy="198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코멘트 자판기 설치 + 장부 자동 기록</a:t>
            </a:r>
            <a:endParaRPr b="0" i="0" sz="1150" u="none" cap="none" strike="noStrike">
              <a:solidFill>
                <a:schemeClr val="dk1"/>
              </a:solidFill>
              <a:latin typeface="Calibri"/>
              <a:ea typeface="Calibri"/>
              <a:cs typeface="Calibri"/>
              <a:sym typeface="Calibri"/>
            </a:endParaRPr>
          </a:p>
        </p:txBody>
      </p:sp>
      <p:sp>
        <p:nvSpPr>
          <p:cNvPr id="532" name="Google Shape;532;p25"/>
          <p:cNvSpPr/>
          <p:nvPr/>
        </p:nvSpPr>
        <p:spPr>
          <a:xfrm>
            <a:off x="4820022" y="3332634"/>
            <a:ext cx="3827785" cy="123974"/>
          </a:xfrm>
          <a:prstGeom prst="roundRect">
            <a:avLst>
              <a:gd fmla="val 15009"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5"/>
          <p:cNvSpPr/>
          <p:nvPr/>
        </p:nvSpPr>
        <p:spPr>
          <a:xfrm>
            <a:off x="4633987" y="3208586"/>
            <a:ext cx="372070" cy="372070"/>
          </a:xfrm>
          <a:prstGeom prst="ellipse">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4" name="Google Shape;534;p25"/>
          <p:cNvPicPr preferRelativeResize="0"/>
          <p:nvPr/>
        </p:nvPicPr>
        <p:blipFill rotWithShape="1">
          <a:blip r:embed="rId6">
            <a:alphaModFix/>
          </a:blip>
          <a:srcRect b="0" l="0" r="0" t="0"/>
          <a:stretch/>
        </p:blipFill>
        <p:spPr>
          <a:xfrm>
            <a:off x="4727004" y="3301603"/>
            <a:ext cx="186035" cy="186035"/>
          </a:xfrm>
          <a:prstGeom prst="rect">
            <a:avLst/>
          </a:prstGeom>
          <a:noFill/>
          <a:ln>
            <a:noFill/>
          </a:ln>
        </p:spPr>
      </p:pic>
      <p:sp>
        <p:nvSpPr>
          <p:cNvPr id="535" name="Google Shape;535;p25"/>
          <p:cNvSpPr/>
          <p:nvPr/>
        </p:nvSpPr>
        <p:spPr>
          <a:xfrm>
            <a:off x="4757961" y="3629433"/>
            <a:ext cx="3765900" cy="193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주간/월간 + CSV 내보내기</a:t>
            </a:r>
            <a:endParaRPr b="1" i="0" sz="1600" u="none" cap="none" strike="noStrike">
              <a:solidFill>
                <a:schemeClr val="dk1"/>
              </a:solidFill>
              <a:latin typeface="Calibri"/>
              <a:ea typeface="Calibri"/>
              <a:cs typeface="Calibri"/>
              <a:sym typeface="Calibri"/>
            </a:endParaRPr>
          </a:p>
        </p:txBody>
      </p:sp>
      <p:sp>
        <p:nvSpPr>
          <p:cNvPr id="536" name="Google Shape;536;p25"/>
          <p:cNvSpPr/>
          <p:nvPr/>
        </p:nvSpPr>
        <p:spPr>
          <a:xfrm>
            <a:off x="4757961" y="3935293"/>
            <a:ext cx="3765900" cy="198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주간/월간 전광판 + 성적표 다운로드</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pic>
        <p:nvPicPr>
          <p:cNvPr descr="preencoded.png" id="542" name="Google Shape;542;p26"/>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543" name="Google Shape;543;p26"/>
          <p:cNvSpPr/>
          <p:nvPr/>
        </p:nvSpPr>
        <p:spPr>
          <a:xfrm>
            <a:off x="496119" y="505495"/>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6"/>
          <p:cNvSpPr/>
          <p:nvPr/>
        </p:nvSpPr>
        <p:spPr>
          <a:xfrm>
            <a:off x="570533" y="542702"/>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3</a:t>
            </a:r>
            <a:endParaRPr b="0" i="0" sz="750" u="none" cap="none" strike="noStrike">
              <a:solidFill>
                <a:schemeClr val="dk1"/>
              </a:solidFill>
              <a:latin typeface="Calibri"/>
              <a:ea typeface="Calibri"/>
              <a:cs typeface="Calibri"/>
              <a:sym typeface="Calibri"/>
            </a:endParaRPr>
          </a:p>
        </p:txBody>
      </p:sp>
      <p:sp>
        <p:nvSpPr>
          <p:cNvPr id="545" name="Google Shape;545;p26"/>
          <p:cNvSpPr/>
          <p:nvPr/>
        </p:nvSpPr>
        <p:spPr>
          <a:xfrm>
            <a:off x="496125" y="743625"/>
            <a:ext cx="5218800" cy="3969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0" i="0" lang="ko-KR" sz="2600" u="none" cap="none" strike="noStrike">
                <a:solidFill>
                  <a:srgbClr val="3257B8"/>
                </a:solidFill>
                <a:latin typeface="Roboto Slab"/>
                <a:ea typeface="Roboto Slab"/>
                <a:cs typeface="Roboto Slab"/>
                <a:sym typeface="Roboto Slab"/>
              </a:rPr>
              <a:t>Phase 3 — MediaPipe AI 자동 감지</a:t>
            </a:r>
            <a:endParaRPr b="0" i="0" sz="2600" u="none" cap="none" strike="noStrike">
              <a:solidFill>
                <a:schemeClr val="dk1"/>
              </a:solidFill>
              <a:latin typeface="Calibri"/>
              <a:ea typeface="Calibri"/>
              <a:cs typeface="Calibri"/>
              <a:sym typeface="Calibri"/>
            </a:endParaRPr>
          </a:p>
        </p:txBody>
      </p:sp>
      <p:sp>
        <p:nvSpPr>
          <p:cNvPr id="546" name="Google Shape;546;p26"/>
          <p:cNvSpPr/>
          <p:nvPr/>
        </p:nvSpPr>
        <p:spPr>
          <a:xfrm>
            <a:off x="496194" y="1492402"/>
            <a:ext cx="4722900" cy="396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기간: </a:t>
            </a:r>
            <a:r>
              <a:rPr b="1" i="0" lang="ko-KR" sz="1150" u="none" cap="none" strike="noStrike">
                <a:solidFill>
                  <a:srgbClr val="15213F"/>
                </a:solidFill>
                <a:latin typeface="Roboto"/>
                <a:ea typeface="Roboto"/>
                <a:cs typeface="Roboto"/>
                <a:sym typeface="Roboto"/>
              </a:rPr>
              <a:t>3주</a:t>
            </a:r>
            <a:r>
              <a:rPr b="0" i="0" lang="ko-KR" sz="1150" u="none" cap="none" strike="noStrike">
                <a:solidFill>
                  <a:srgbClr val="15213F"/>
                </a:solidFill>
                <a:latin typeface="Roboto"/>
                <a:ea typeface="Roboto"/>
                <a:cs typeface="Roboto"/>
                <a:sym typeface="Roboto"/>
              </a:rPr>
              <a:t> | 드디어 </a:t>
            </a:r>
            <a:r>
              <a:rPr b="1" i="0" lang="ko-KR" sz="1150" u="none" cap="none" strike="noStrike">
                <a:solidFill>
                  <a:srgbClr val="15213F"/>
                </a:solidFill>
                <a:latin typeface="Roboto"/>
                <a:ea typeface="Roboto"/>
                <a:cs typeface="Roboto"/>
                <a:sym typeface="Roboto"/>
              </a:rPr>
              <a:t>진짜 AI 등장!</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비유: </a:t>
            </a:r>
            <a:r>
              <a:rPr b="1" i="0" lang="ko-KR" sz="1150" u="none" cap="none" strike="noStrike">
                <a:solidFill>
                  <a:srgbClr val="15213F"/>
                </a:solidFill>
                <a:latin typeface="Roboto"/>
                <a:ea typeface="Roboto"/>
                <a:cs typeface="Roboto"/>
                <a:sym typeface="Roboto"/>
              </a:rPr>
              <a:t>체육 선생님이 옆에서 지켜보며 자동으로 스톱워치를 눌러주는 것!</a:t>
            </a:r>
            <a:endParaRPr b="0" i="0" sz="1150" u="none" cap="none" strike="noStrike">
              <a:solidFill>
                <a:schemeClr val="dk1"/>
              </a:solidFill>
              <a:latin typeface="Calibri"/>
              <a:ea typeface="Calibri"/>
              <a:cs typeface="Calibri"/>
              <a:sym typeface="Calibri"/>
            </a:endParaRPr>
          </a:p>
        </p:txBody>
      </p:sp>
      <p:sp>
        <p:nvSpPr>
          <p:cNvPr id="547" name="Google Shape;547;p26"/>
          <p:cNvSpPr/>
          <p:nvPr/>
        </p:nvSpPr>
        <p:spPr>
          <a:xfrm>
            <a:off x="496119" y="2241203"/>
            <a:ext cx="1491555" cy="917897"/>
          </a:xfrm>
          <a:prstGeom prst="roundRect">
            <a:avLst>
              <a:gd fmla="val 202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6"/>
          <p:cNvSpPr/>
          <p:nvPr/>
        </p:nvSpPr>
        <p:spPr>
          <a:xfrm>
            <a:off x="620092" y="2365177"/>
            <a:ext cx="1243608"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300" u="none" cap="none" strike="noStrike">
                <a:solidFill>
                  <a:srgbClr val="000000"/>
                </a:solidFill>
                <a:latin typeface="Roboto Slab"/>
                <a:ea typeface="Roboto Slab"/>
                <a:cs typeface="Roboto Slab"/>
                <a:sym typeface="Roboto Slab"/>
              </a:rPr>
              <a:t>👤</a:t>
            </a:r>
            <a:r>
              <a:rPr b="1" i="0" lang="ko-KR" sz="1300" u="none" cap="none" strike="noStrike">
                <a:solidFill>
                  <a:srgbClr val="15213F"/>
                </a:solidFill>
                <a:latin typeface="Roboto Slab"/>
                <a:ea typeface="Roboto Slab"/>
                <a:cs typeface="Roboto Slab"/>
                <a:sym typeface="Roboto Slab"/>
              </a:rPr>
              <a:t> 자리 이탈 감지</a:t>
            </a:r>
            <a:endParaRPr b="1" i="0" sz="1300" u="none" cap="none" strike="noStrike">
              <a:solidFill>
                <a:schemeClr val="dk1"/>
              </a:solidFill>
              <a:latin typeface="Calibri"/>
              <a:ea typeface="Calibri"/>
              <a:cs typeface="Calibri"/>
              <a:sym typeface="Calibri"/>
            </a:endParaRPr>
          </a:p>
        </p:txBody>
      </p:sp>
      <p:sp>
        <p:nvSpPr>
          <p:cNvPr id="549" name="Google Shape;549;p26"/>
          <p:cNvSpPr/>
          <p:nvPr/>
        </p:nvSpPr>
        <p:spPr>
          <a:xfrm>
            <a:off x="620092" y="2638202"/>
            <a:ext cx="1243608"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050" u="none" cap="none" strike="noStrike">
                <a:solidFill>
                  <a:srgbClr val="15213F"/>
                </a:solidFill>
                <a:latin typeface="Roboto"/>
                <a:ea typeface="Roboto"/>
                <a:cs typeface="Roboto"/>
                <a:sym typeface="Roboto"/>
              </a:rPr>
              <a:t>얼굴이 안 보이면 자동으로 딴짓 기록</a:t>
            </a:r>
            <a:endParaRPr b="0" i="0" sz="1050" u="none" cap="none" strike="noStrike">
              <a:solidFill>
                <a:schemeClr val="dk1"/>
              </a:solidFill>
              <a:latin typeface="Calibri"/>
              <a:ea typeface="Calibri"/>
              <a:cs typeface="Calibri"/>
              <a:sym typeface="Calibri"/>
            </a:endParaRPr>
          </a:p>
        </p:txBody>
      </p:sp>
      <p:sp>
        <p:nvSpPr>
          <p:cNvPr id="550" name="Google Shape;550;p26"/>
          <p:cNvSpPr/>
          <p:nvPr/>
        </p:nvSpPr>
        <p:spPr>
          <a:xfrm>
            <a:off x="2111648" y="2241203"/>
            <a:ext cx="1491630" cy="917897"/>
          </a:xfrm>
          <a:prstGeom prst="roundRect">
            <a:avLst>
              <a:gd fmla="val 202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6"/>
          <p:cNvSpPr/>
          <p:nvPr/>
        </p:nvSpPr>
        <p:spPr>
          <a:xfrm>
            <a:off x="2235622" y="2365177"/>
            <a:ext cx="1243682"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졸음 감지</a:t>
            </a:r>
            <a:endParaRPr b="1" i="0" sz="1500" u="none" cap="none" strike="noStrike">
              <a:solidFill>
                <a:schemeClr val="dk1"/>
              </a:solidFill>
              <a:latin typeface="Calibri"/>
              <a:ea typeface="Calibri"/>
              <a:cs typeface="Calibri"/>
              <a:sym typeface="Calibri"/>
            </a:endParaRPr>
          </a:p>
        </p:txBody>
      </p:sp>
      <p:sp>
        <p:nvSpPr>
          <p:cNvPr id="552" name="Google Shape;552;p26"/>
          <p:cNvSpPr/>
          <p:nvPr/>
        </p:nvSpPr>
        <p:spPr>
          <a:xfrm>
            <a:off x="2235622" y="2638202"/>
            <a:ext cx="1243682"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050" u="none" cap="none" strike="noStrike">
                <a:solidFill>
                  <a:srgbClr val="15213F"/>
                </a:solidFill>
                <a:latin typeface="Roboto"/>
                <a:ea typeface="Roboto"/>
                <a:cs typeface="Roboto"/>
                <a:sym typeface="Roboto"/>
              </a:rPr>
              <a:t>눈 감김 비율(EAR)로 졸음 자동 감지</a:t>
            </a:r>
            <a:endParaRPr b="0" i="0" sz="1050" u="none" cap="none" strike="noStrike">
              <a:solidFill>
                <a:schemeClr val="dk1"/>
              </a:solidFill>
              <a:latin typeface="Calibri"/>
              <a:ea typeface="Calibri"/>
              <a:cs typeface="Calibri"/>
              <a:sym typeface="Calibri"/>
            </a:endParaRPr>
          </a:p>
        </p:txBody>
      </p:sp>
      <p:sp>
        <p:nvSpPr>
          <p:cNvPr id="553" name="Google Shape;553;p26"/>
          <p:cNvSpPr/>
          <p:nvPr/>
        </p:nvSpPr>
        <p:spPr>
          <a:xfrm>
            <a:off x="3727252" y="2241203"/>
            <a:ext cx="1491630" cy="917897"/>
          </a:xfrm>
          <a:prstGeom prst="roundRect">
            <a:avLst>
              <a:gd fmla="val 202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6"/>
          <p:cNvSpPr/>
          <p:nvPr/>
        </p:nvSpPr>
        <p:spPr>
          <a:xfrm>
            <a:off x="3851225" y="2365177"/>
            <a:ext cx="1243682"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300" u="none" cap="none" strike="noStrike">
                <a:solidFill>
                  <a:srgbClr val="000000"/>
                </a:solidFill>
                <a:latin typeface="Roboto Slab"/>
                <a:ea typeface="Roboto Slab"/>
                <a:cs typeface="Roboto Slab"/>
                <a:sym typeface="Roboto Slab"/>
              </a:rPr>
              <a:t>😶</a:t>
            </a:r>
            <a:r>
              <a:rPr b="1" i="0" lang="ko-KR" sz="1300" u="none" cap="none" strike="noStrike">
                <a:solidFill>
                  <a:srgbClr val="15213F"/>
                </a:solidFill>
                <a:latin typeface="Roboto Slab"/>
                <a:ea typeface="Roboto Slab"/>
                <a:cs typeface="Roboto Slab"/>
                <a:sym typeface="Roboto Slab"/>
              </a:rPr>
              <a:t> 고개 돌림 감지</a:t>
            </a:r>
            <a:endParaRPr b="1" i="0" sz="1300" u="none" cap="none" strike="noStrike">
              <a:solidFill>
                <a:schemeClr val="dk1"/>
              </a:solidFill>
              <a:latin typeface="Calibri"/>
              <a:ea typeface="Calibri"/>
              <a:cs typeface="Calibri"/>
              <a:sym typeface="Calibri"/>
            </a:endParaRPr>
          </a:p>
        </p:txBody>
      </p:sp>
      <p:sp>
        <p:nvSpPr>
          <p:cNvPr id="555" name="Google Shape;555;p26"/>
          <p:cNvSpPr/>
          <p:nvPr/>
        </p:nvSpPr>
        <p:spPr>
          <a:xfrm>
            <a:off x="3851225" y="2638202"/>
            <a:ext cx="1243682"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050" u="none" cap="none" strike="noStrike">
                <a:solidFill>
                  <a:srgbClr val="15213F"/>
                </a:solidFill>
                <a:latin typeface="Roboto"/>
                <a:ea typeface="Roboto"/>
                <a:cs typeface="Roboto"/>
                <a:sym typeface="Roboto"/>
              </a:rPr>
              <a:t>멍때림 및 딴 곳 보기 자동 인식</a:t>
            </a:r>
            <a:endParaRPr b="0" i="0" sz="1050" u="none" cap="none" strike="noStrike">
              <a:solidFill>
                <a:schemeClr val="dk1"/>
              </a:solidFill>
              <a:latin typeface="Calibri"/>
              <a:ea typeface="Calibri"/>
              <a:cs typeface="Calibri"/>
              <a:sym typeface="Calibri"/>
            </a:endParaRPr>
          </a:p>
        </p:txBody>
      </p:sp>
      <p:sp>
        <p:nvSpPr>
          <p:cNvPr id="556" name="Google Shape;556;p26"/>
          <p:cNvSpPr/>
          <p:nvPr/>
        </p:nvSpPr>
        <p:spPr>
          <a:xfrm>
            <a:off x="496119" y="3283074"/>
            <a:ext cx="4722763" cy="719435"/>
          </a:xfrm>
          <a:prstGeom prst="roundRect">
            <a:avLst>
              <a:gd fmla="val 2586"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6"/>
          <p:cNvSpPr/>
          <p:nvPr/>
        </p:nvSpPr>
        <p:spPr>
          <a:xfrm>
            <a:off x="620092" y="3407048"/>
            <a:ext cx="4474815"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실시간 알림</a:t>
            </a:r>
            <a:endParaRPr b="1" i="0" sz="1500" u="none" cap="none" strike="noStrike">
              <a:solidFill>
                <a:schemeClr val="dk1"/>
              </a:solidFill>
              <a:latin typeface="Calibri"/>
              <a:ea typeface="Calibri"/>
              <a:cs typeface="Calibri"/>
              <a:sym typeface="Calibri"/>
            </a:endParaRPr>
          </a:p>
        </p:txBody>
      </p:sp>
      <p:sp>
        <p:nvSpPr>
          <p:cNvPr id="558" name="Google Shape;558;p26"/>
          <p:cNvSpPr/>
          <p:nvPr/>
        </p:nvSpPr>
        <p:spPr>
          <a:xfrm>
            <a:off x="620092" y="3680073"/>
            <a:ext cx="4474815"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050" u="none" cap="none" strike="noStrike">
                <a:solidFill>
                  <a:srgbClr val="15213F"/>
                </a:solidFill>
                <a:latin typeface="Roboto"/>
                <a:ea typeface="Roboto"/>
                <a:cs typeface="Roboto"/>
                <a:sym typeface="Roboto"/>
              </a:rPr>
              <a:t>"집중해 주세요!" 경고 + "대단해요!" 응원</a:t>
            </a:r>
            <a:endParaRPr b="0" i="0" sz="1050" u="none" cap="none" strike="noStrike">
              <a:solidFill>
                <a:schemeClr val="dk1"/>
              </a:solidFill>
              <a:latin typeface="Calibri"/>
              <a:ea typeface="Calibri"/>
              <a:cs typeface="Calibri"/>
              <a:sym typeface="Calibri"/>
            </a:endParaRPr>
          </a:p>
        </p:txBody>
      </p:sp>
      <p:sp>
        <p:nvSpPr>
          <p:cNvPr id="559" name="Google Shape;559;p26"/>
          <p:cNvSpPr/>
          <p:nvPr/>
        </p:nvSpPr>
        <p:spPr>
          <a:xfrm>
            <a:off x="496125" y="4142019"/>
            <a:ext cx="4722900" cy="775800"/>
          </a:xfrm>
          <a:prstGeom prst="roundRect">
            <a:avLst>
              <a:gd fmla="val 3752"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60" name="Google Shape;560;p26"/>
          <p:cNvPicPr preferRelativeResize="0"/>
          <p:nvPr/>
        </p:nvPicPr>
        <p:blipFill rotWithShape="1">
          <a:blip r:embed="rId4">
            <a:alphaModFix/>
          </a:blip>
          <a:srcRect b="0" l="0" r="0" t="0"/>
          <a:stretch/>
        </p:blipFill>
        <p:spPr>
          <a:xfrm>
            <a:off x="620092" y="4321820"/>
            <a:ext cx="155004" cy="123974"/>
          </a:xfrm>
          <a:prstGeom prst="rect">
            <a:avLst/>
          </a:prstGeom>
          <a:noFill/>
          <a:ln>
            <a:noFill/>
          </a:ln>
        </p:spPr>
      </p:pic>
      <p:sp>
        <p:nvSpPr>
          <p:cNvPr id="561" name="Google Shape;561;p26"/>
          <p:cNvSpPr/>
          <p:nvPr/>
        </p:nvSpPr>
        <p:spPr>
          <a:xfrm>
            <a:off x="899071" y="4296966"/>
            <a:ext cx="465303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00"/>
              </a:buClr>
              <a:buSzPts val="950"/>
              <a:buFont typeface="Roboto"/>
              <a:buNone/>
            </a:pPr>
            <a:r>
              <a:rPr b="0" i="0" lang="ko-KR" sz="1250" u="none" cap="none" strike="noStrike">
                <a:solidFill>
                  <a:srgbClr val="000000"/>
                </a:solidFill>
                <a:latin typeface="Roboto"/>
                <a:ea typeface="Roboto"/>
                <a:cs typeface="Roboto"/>
                <a:sym typeface="Roboto"/>
              </a:rPr>
              <a:t>Phase 1~2: 수동 스톱워치 </a:t>
            </a:r>
            <a:br>
              <a:rPr b="0" i="0" lang="ko-KR" sz="1250" u="none" cap="none" strike="noStrike">
                <a:solidFill>
                  <a:srgbClr val="000000"/>
                </a:solidFill>
                <a:latin typeface="Roboto"/>
                <a:ea typeface="Roboto"/>
                <a:cs typeface="Roboto"/>
                <a:sym typeface="Roboto"/>
              </a:rPr>
            </a:br>
            <a:r>
              <a:rPr b="0" i="0" lang="ko-KR" sz="1250" u="none" cap="none" strike="noStrike">
                <a:solidFill>
                  <a:srgbClr val="000000"/>
                </a:solidFill>
                <a:latin typeface="Roboto"/>
                <a:ea typeface="Roboto"/>
                <a:cs typeface="Roboto"/>
                <a:sym typeface="Roboto"/>
              </a:rPr>
              <a:t>→ Phase 3: </a:t>
            </a:r>
            <a:r>
              <a:rPr b="1" i="0" lang="ko-KR" sz="1250" u="none" cap="none" strike="noStrike">
                <a:solidFill>
                  <a:srgbClr val="000000"/>
                </a:solidFill>
                <a:latin typeface="Roboto"/>
                <a:ea typeface="Roboto"/>
                <a:cs typeface="Roboto"/>
                <a:sym typeface="Roboto"/>
              </a:rPr>
              <a:t>AI가 대신 눌러줌!</a:t>
            </a:r>
            <a:r>
              <a:rPr b="0" i="0" lang="ko-KR" sz="1250" u="none" cap="none" strike="noStrike">
                <a:solidFill>
                  <a:srgbClr val="000000"/>
                </a:solidFill>
                <a:latin typeface="Roboto"/>
                <a:ea typeface="Roboto"/>
                <a:cs typeface="Roboto"/>
                <a:sym typeface="Roboto"/>
              </a:rPr>
              <a:t> 손 안 대도 되는 마법!</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27"/>
          <p:cNvSpPr/>
          <p:nvPr/>
        </p:nvSpPr>
        <p:spPr>
          <a:xfrm>
            <a:off x="496119" y="721762"/>
            <a:ext cx="543300" cy="188700"/>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7"/>
          <p:cNvSpPr/>
          <p:nvPr/>
        </p:nvSpPr>
        <p:spPr>
          <a:xfrm>
            <a:off x="570533" y="758969"/>
            <a:ext cx="851700" cy="114300"/>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3</a:t>
            </a:r>
            <a:endParaRPr b="0" i="0" sz="750" u="none" cap="none" strike="noStrike">
              <a:solidFill>
                <a:schemeClr val="dk1"/>
              </a:solidFill>
              <a:latin typeface="Calibri"/>
              <a:ea typeface="Calibri"/>
              <a:cs typeface="Calibri"/>
              <a:sym typeface="Calibri"/>
            </a:endParaRPr>
          </a:p>
        </p:txBody>
      </p:sp>
      <p:sp>
        <p:nvSpPr>
          <p:cNvPr id="569" name="Google Shape;569;p27"/>
          <p:cNvSpPr/>
          <p:nvPr/>
        </p:nvSpPr>
        <p:spPr>
          <a:xfrm>
            <a:off x="496119" y="1097749"/>
            <a:ext cx="8151900" cy="4017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0" i="0" lang="ko-KR" sz="2700" u="none" cap="none" strike="noStrike">
                <a:solidFill>
                  <a:srgbClr val="3257B8"/>
                </a:solidFill>
                <a:latin typeface="Roboto Slab"/>
                <a:ea typeface="Roboto Slab"/>
                <a:cs typeface="Roboto Slab"/>
                <a:sym typeface="Roboto Slab"/>
              </a:rPr>
              <a:t>MediaPipe란? — </a:t>
            </a:r>
            <a:r>
              <a:rPr lang="ko-KR" sz="2700">
                <a:solidFill>
                  <a:srgbClr val="3257B8"/>
                </a:solidFill>
                <a:latin typeface="Roboto Slab"/>
                <a:ea typeface="Roboto Slab"/>
                <a:cs typeface="Roboto Slab"/>
                <a:sym typeface="Roboto Slab"/>
              </a:rPr>
              <a:t>컴퓨터 비전</a:t>
            </a:r>
            <a:r>
              <a:rPr b="0" i="0" lang="ko-KR" sz="2700" u="none" cap="none" strike="noStrike">
                <a:solidFill>
                  <a:srgbClr val="3257B8"/>
                </a:solidFill>
                <a:latin typeface="Roboto Slab"/>
                <a:ea typeface="Roboto Slab"/>
                <a:cs typeface="Roboto Slab"/>
                <a:sym typeface="Roboto Slab"/>
              </a:rPr>
              <a:t> 만능 돋보기 </a:t>
            </a:r>
            <a:r>
              <a:rPr b="0" i="0" lang="ko-KR" sz="2700" u="none" cap="none" strike="noStrike">
                <a:solidFill>
                  <a:srgbClr val="000000"/>
                </a:solidFill>
                <a:latin typeface="Roboto Slab"/>
                <a:ea typeface="Roboto Slab"/>
                <a:cs typeface="Roboto Slab"/>
                <a:sym typeface="Roboto Slab"/>
              </a:rPr>
              <a:t>🔍</a:t>
            </a:r>
            <a:endParaRPr b="0" i="0" sz="2700" u="none" cap="none" strike="noStrike">
              <a:solidFill>
                <a:schemeClr val="dk1"/>
              </a:solidFill>
              <a:latin typeface="Calibri"/>
              <a:ea typeface="Calibri"/>
              <a:cs typeface="Calibri"/>
              <a:sym typeface="Calibri"/>
            </a:endParaRPr>
          </a:p>
        </p:txBody>
      </p:sp>
      <p:sp>
        <p:nvSpPr>
          <p:cNvPr id="570" name="Google Shape;570;p27"/>
          <p:cNvSpPr/>
          <p:nvPr/>
        </p:nvSpPr>
        <p:spPr>
          <a:xfrm>
            <a:off x="496119" y="1673087"/>
            <a:ext cx="8609100" cy="198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MediaPipe = </a:t>
            </a:r>
            <a:r>
              <a:rPr b="1" i="0" lang="ko-KR" sz="1250" u="none" cap="none" strike="noStrike">
                <a:solidFill>
                  <a:srgbClr val="15213F"/>
                </a:solidFill>
                <a:latin typeface="Roboto"/>
                <a:ea typeface="Roboto"/>
                <a:cs typeface="Roboto"/>
                <a:sym typeface="Roboto"/>
              </a:rPr>
              <a:t>구글이 만든 AI 만능 돋보기!</a:t>
            </a:r>
            <a:r>
              <a:rPr b="0" i="0" lang="ko-KR" sz="1250" u="none" cap="none" strike="noStrike">
                <a:solidFill>
                  <a:srgbClr val="15213F"/>
                </a:solidFill>
                <a:latin typeface="Roboto"/>
                <a:ea typeface="Roboto"/>
                <a:cs typeface="Roboto"/>
                <a:sym typeface="Roboto"/>
              </a:rPr>
              <a:t> 이 돋보기로 사람 얼굴을 보면, </a:t>
            </a:r>
            <a:r>
              <a:rPr b="0" i="0" lang="ko-KR" sz="1250" u="none" cap="none" strike="noStrike">
                <a:solidFill>
                  <a:srgbClr val="3257B8"/>
                </a:solidFill>
                <a:latin typeface="Roboto"/>
                <a:ea typeface="Roboto"/>
                <a:cs typeface="Roboto"/>
                <a:sym typeface="Roboto"/>
              </a:rPr>
              <a:t>468개 스티커가 자동으로 딱딱딱</a:t>
            </a:r>
            <a:r>
              <a:rPr b="0" i="0" lang="ko-KR" sz="1250" u="none" cap="none" strike="noStrike">
                <a:solidFill>
                  <a:srgbClr val="15213F"/>
                </a:solidFill>
                <a:latin typeface="Roboto"/>
                <a:ea typeface="Roboto"/>
                <a:cs typeface="Roboto"/>
                <a:sym typeface="Roboto"/>
              </a:rPr>
              <a:t> 붙습니다!</a:t>
            </a:r>
            <a:endParaRPr b="0" i="0" sz="1250" u="none" cap="none" strike="noStrike">
              <a:solidFill>
                <a:schemeClr val="dk1"/>
              </a:solidFill>
              <a:latin typeface="Calibri"/>
              <a:ea typeface="Calibri"/>
              <a:cs typeface="Calibri"/>
              <a:sym typeface="Calibri"/>
            </a:endParaRPr>
          </a:p>
        </p:txBody>
      </p:sp>
      <p:pic>
        <p:nvPicPr>
          <p:cNvPr descr="preencoded.png" id="571" name="Google Shape;571;p27"/>
          <p:cNvPicPr preferRelativeResize="0"/>
          <p:nvPr/>
        </p:nvPicPr>
        <p:blipFill rotWithShape="1">
          <a:blip r:embed="rId3">
            <a:alphaModFix/>
          </a:blip>
          <a:srcRect b="0" l="0" r="0" t="0"/>
          <a:stretch/>
        </p:blipFill>
        <p:spPr>
          <a:xfrm>
            <a:off x="496119" y="2225799"/>
            <a:ext cx="4347270" cy="792807"/>
          </a:xfrm>
          <a:prstGeom prst="rect">
            <a:avLst/>
          </a:prstGeom>
          <a:noFill/>
          <a:ln>
            <a:noFill/>
          </a:ln>
        </p:spPr>
      </p:pic>
      <p:sp>
        <p:nvSpPr>
          <p:cNvPr id="572" name="Google Shape;572;p27"/>
          <p:cNvSpPr/>
          <p:nvPr/>
        </p:nvSpPr>
        <p:spPr>
          <a:xfrm>
            <a:off x="691530" y="2364060"/>
            <a:ext cx="4013597"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0" i="0" lang="ko-KR" sz="1700" u="none" cap="none" strike="noStrike">
                <a:solidFill>
                  <a:srgbClr val="15213F"/>
                </a:solidFill>
                <a:latin typeface="Roboto Slab"/>
                <a:ea typeface="Roboto Slab"/>
                <a:cs typeface="Roboto Slab"/>
                <a:sym typeface="Roboto Slab"/>
              </a:rPr>
              <a:t>Face Mesh — 성형외과 격자선</a:t>
            </a:r>
            <a:endParaRPr b="0" i="0" sz="1700" u="none" cap="none" strike="noStrike">
              <a:solidFill>
                <a:schemeClr val="dk1"/>
              </a:solidFill>
              <a:latin typeface="Calibri"/>
              <a:ea typeface="Calibri"/>
              <a:cs typeface="Calibri"/>
              <a:sym typeface="Calibri"/>
            </a:endParaRPr>
          </a:p>
        </p:txBody>
      </p:sp>
      <p:sp>
        <p:nvSpPr>
          <p:cNvPr id="573" name="Google Shape;573;p27"/>
          <p:cNvSpPr/>
          <p:nvPr/>
        </p:nvSpPr>
        <p:spPr>
          <a:xfrm>
            <a:off x="691530" y="2681883"/>
            <a:ext cx="401359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얼굴에 정확히 </a:t>
            </a:r>
            <a:r>
              <a:rPr b="1" i="0" lang="ko-KR" sz="1150" u="none" cap="none" strike="noStrike">
                <a:solidFill>
                  <a:srgbClr val="15213F"/>
                </a:solidFill>
                <a:latin typeface="Roboto"/>
                <a:ea typeface="Roboto"/>
                <a:cs typeface="Roboto"/>
                <a:sym typeface="Roboto"/>
              </a:rPr>
              <a:t>468개 점</a:t>
            </a:r>
            <a:r>
              <a:rPr b="0" i="0" lang="ko-KR" sz="1150" u="none" cap="none" strike="noStrike">
                <a:solidFill>
                  <a:srgbClr val="15213F"/>
                </a:solidFill>
                <a:latin typeface="Roboto"/>
                <a:ea typeface="Roboto"/>
                <a:cs typeface="Roboto"/>
                <a:sym typeface="Roboto"/>
              </a:rPr>
              <a:t>을 찍어 표정과 방향을 분석합니다</a:t>
            </a:r>
            <a:endParaRPr b="0" i="0" sz="1150" u="none" cap="none" strike="noStrike">
              <a:solidFill>
                <a:schemeClr val="dk1"/>
              </a:solidFill>
              <a:latin typeface="Calibri"/>
              <a:ea typeface="Calibri"/>
              <a:cs typeface="Calibri"/>
              <a:sym typeface="Calibri"/>
            </a:endParaRPr>
          </a:p>
        </p:txBody>
      </p:sp>
      <p:pic>
        <p:nvPicPr>
          <p:cNvPr descr="preencoded.png" id="574" name="Google Shape;574;p27"/>
          <p:cNvPicPr preferRelativeResize="0"/>
          <p:nvPr/>
        </p:nvPicPr>
        <p:blipFill rotWithShape="1">
          <a:blip r:embed="rId3">
            <a:alphaModFix/>
          </a:blip>
          <a:srcRect b="0" l="0" r="0" t="0"/>
          <a:stretch/>
        </p:blipFill>
        <p:spPr>
          <a:xfrm>
            <a:off x="496119" y="3142580"/>
            <a:ext cx="4347270" cy="792807"/>
          </a:xfrm>
          <a:prstGeom prst="rect">
            <a:avLst/>
          </a:prstGeom>
          <a:noFill/>
          <a:ln>
            <a:noFill/>
          </a:ln>
        </p:spPr>
      </p:pic>
      <p:sp>
        <p:nvSpPr>
          <p:cNvPr id="575" name="Google Shape;575;p27"/>
          <p:cNvSpPr/>
          <p:nvPr/>
        </p:nvSpPr>
        <p:spPr>
          <a:xfrm>
            <a:off x="691530" y="3280842"/>
            <a:ext cx="4013597"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0" i="0" lang="ko-KR" sz="1700" u="none" cap="none" strike="noStrike">
                <a:solidFill>
                  <a:srgbClr val="15213F"/>
                </a:solidFill>
                <a:latin typeface="Roboto Slab"/>
                <a:ea typeface="Roboto Slab"/>
                <a:cs typeface="Roboto Slab"/>
                <a:sym typeface="Roboto Slab"/>
              </a:rPr>
              <a:t>Face Detection — 자동 출석 체크</a:t>
            </a:r>
            <a:endParaRPr b="0" i="0" sz="1700" u="none" cap="none" strike="noStrike">
              <a:solidFill>
                <a:schemeClr val="dk1"/>
              </a:solidFill>
              <a:latin typeface="Calibri"/>
              <a:ea typeface="Calibri"/>
              <a:cs typeface="Calibri"/>
              <a:sym typeface="Calibri"/>
            </a:endParaRPr>
          </a:p>
        </p:txBody>
      </p:sp>
      <p:sp>
        <p:nvSpPr>
          <p:cNvPr id="576" name="Google Shape;576;p27"/>
          <p:cNvSpPr/>
          <p:nvPr/>
        </p:nvSpPr>
        <p:spPr>
          <a:xfrm>
            <a:off x="691530" y="3598664"/>
            <a:ext cx="401359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얼굴 있으면 O, 없으면 X. 빠르고 가벼워요!</a:t>
            </a:r>
            <a:endParaRPr b="0" i="0" sz="1150" u="none" cap="none" strike="noStrike">
              <a:solidFill>
                <a:schemeClr val="dk1"/>
              </a:solidFill>
              <a:latin typeface="Calibri"/>
              <a:ea typeface="Calibri"/>
              <a:cs typeface="Calibri"/>
              <a:sym typeface="Calibri"/>
            </a:endParaRPr>
          </a:p>
        </p:txBody>
      </p:sp>
      <p:sp>
        <p:nvSpPr>
          <p:cNvPr id="577" name="Google Shape;577;p27"/>
          <p:cNvSpPr/>
          <p:nvPr/>
        </p:nvSpPr>
        <p:spPr>
          <a:xfrm>
            <a:off x="5150718" y="2225799"/>
            <a:ext cx="1688902" cy="962844"/>
          </a:xfrm>
          <a:prstGeom prst="roundRect">
            <a:avLst>
              <a:gd fmla="val 1932"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7"/>
          <p:cNvSpPr/>
          <p:nvPr/>
        </p:nvSpPr>
        <p:spPr>
          <a:xfrm>
            <a:off x="5274692" y="2349773"/>
            <a:ext cx="1440954" cy="39246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200" u="none" cap="none" strike="noStrike">
                <a:solidFill>
                  <a:srgbClr val="000000"/>
                </a:solidFill>
                <a:latin typeface="Roboto Slab"/>
                <a:ea typeface="Roboto Slab"/>
                <a:cs typeface="Roboto Slab"/>
                <a:sym typeface="Roboto Slab"/>
              </a:rPr>
              <a:t>✅</a:t>
            </a:r>
            <a:r>
              <a:rPr b="0" i="0" lang="ko-KR" sz="1200" u="none" cap="none" strike="noStrike">
                <a:solidFill>
                  <a:srgbClr val="15213F"/>
                </a:solidFill>
                <a:latin typeface="Roboto Slab"/>
                <a:ea typeface="Roboto Slab"/>
                <a:cs typeface="Roboto Slab"/>
                <a:sym typeface="Roboto Slab"/>
              </a:rPr>
              <a:t> 브라우저에서 바로 실행</a:t>
            </a:r>
            <a:endParaRPr b="0" i="0" sz="1200" u="none" cap="none" strike="noStrike">
              <a:solidFill>
                <a:schemeClr val="dk1"/>
              </a:solidFill>
              <a:latin typeface="Calibri"/>
              <a:ea typeface="Calibri"/>
              <a:cs typeface="Calibri"/>
              <a:sym typeface="Calibri"/>
            </a:endParaRPr>
          </a:p>
        </p:txBody>
      </p:sp>
      <p:sp>
        <p:nvSpPr>
          <p:cNvPr id="579" name="Google Shape;579;p27"/>
          <p:cNvSpPr/>
          <p:nvPr/>
        </p:nvSpPr>
        <p:spPr>
          <a:xfrm>
            <a:off x="5274692" y="2866206"/>
            <a:ext cx="1440954"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서버 불필요!</a:t>
            </a:r>
            <a:endParaRPr b="0" i="0" sz="950" u="none" cap="none" strike="noStrike">
              <a:solidFill>
                <a:schemeClr val="dk1"/>
              </a:solidFill>
              <a:latin typeface="Calibri"/>
              <a:ea typeface="Calibri"/>
              <a:cs typeface="Calibri"/>
              <a:sym typeface="Calibri"/>
            </a:endParaRPr>
          </a:p>
        </p:txBody>
      </p:sp>
      <p:sp>
        <p:nvSpPr>
          <p:cNvPr id="580" name="Google Shape;580;p27"/>
          <p:cNvSpPr/>
          <p:nvPr/>
        </p:nvSpPr>
        <p:spPr>
          <a:xfrm>
            <a:off x="6963594" y="2225799"/>
            <a:ext cx="1688976" cy="962844"/>
          </a:xfrm>
          <a:prstGeom prst="roundRect">
            <a:avLst>
              <a:gd fmla="val 1932"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7"/>
          <p:cNvSpPr/>
          <p:nvPr/>
        </p:nvSpPr>
        <p:spPr>
          <a:xfrm>
            <a:off x="7087567" y="2349773"/>
            <a:ext cx="1441028"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200" u="none" cap="none" strike="noStrike">
                <a:solidFill>
                  <a:srgbClr val="000000"/>
                </a:solidFill>
                <a:latin typeface="Roboto Slab"/>
                <a:ea typeface="Roboto Slab"/>
                <a:cs typeface="Roboto Slab"/>
                <a:sym typeface="Roboto Slab"/>
              </a:rPr>
              <a:t>✅</a:t>
            </a:r>
            <a:r>
              <a:rPr b="0" i="0" lang="ko-KR" sz="1200" u="none" cap="none" strike="noStrike">
                <a:solidFill>
                  <a:srgbClr val="15213F"/>
                </a:solidFill>
                <a:latin typeface="Roboto Slab"/>
                <a:ea typeface="Roboto Slab"/>
                <a:cs typeface="Roboto Slab"/>
                <a:sym typeface="Roboto Slab"/>
              </a:rPr>
              <a:t> 완전 무료</a:t>
            </a:r>
            <a:endParaRPr b="0" i="0" sz="1200" u="none" cap="none" strike="noStrike">
              <a:solidFill>
                <a:schemeClr val="dk1"/>
              </a:solidFill>
              <a:latin typeface="Calibri"/>
              <a:ea typeface="Calibri"/>
              <a:cs typeface="Calibri"/>
              <a:sym typeface="Calibri"/>
            </a:endParaRPr>
          </a:p>
        </p:txBody>
      </p:sp>
      <p:sp>
        <p:nvSpPr>
          <p:cNvPr id="582" name="Google Shape;582;p27"/>
          <p:cNvSpPr/>
          <p:nvPr/>
        </p:nvSpPr>
        <p:spPr>
          <a:xfrm>
            <a:off x="7087567" y="2672358"/>
            <a:ext cx="1441028"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구글이 무상 제공</a:t>
            </a:r>
            <a:endParaRPr b="0" i="0" sz="950" u="none" cap="none" strike="noStrike">
              <a:solidFill>
                <a:schemeClr val="dk1"/>
              </a:solidFill>
              <a:latin typeface="Calibri"/>
              <a:ea typeface="Calibri"/>
              <a:cs typeface="Calibri"/>
              <a:sym typeface="Calibri"/>
            </a:endParaRPr>
          </a:p>
        </p:txBody>
      </p:sp>
      <p:sp>
        <p:nvSpPr>
          <p:cNvPr id="583" name="Google Shape;583;p27"/>
          <p:cNvSpPr/>
          <p:nvPr/>
        </p:nvSpPr>
        <p:spPr>
          <a:xfrm>
            <a:off x="5150718" y="3312616"/>
            <a:ext cx="3501851" cy="768995"/>
          </a:xfrm>
          <a:prstGeom prst="roundRect">
            <a:avLst>
              <a:gd fmla="val 242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7"/>
          <p:cNvSpPr/>
          <p:nvPr/>
        </p:nvSpPr>
        <p:spPr>
          <a:xfrm>
            <a:off x="5274692" y="3436590"/>
            <a:ext cx="3253904"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200" u="none" cap="none" strike="noStrike">
                <a:solidFill>
                  <a:srgbClr val="000000"/>
                </a:solidFill>
                <a:latin typeface="Roboto Slab"/>
                <a:ea typeface="Roboto Slab"/>
                <a:cs typeface="Roboto Slab"/>
                <a:sym typeface="Roboto Slab"/>
              </a:rPr>
              <a:t>✅</a:t>
            </a:r>
            <a:r>
              <a:rPr b="0" i="0" lang="ko-KR" sz="1200" u="none" cap="none" strike="noStrike">
                <a:solidFill>
                  <a:srgbClr val="15213F"/>
                </a:solidFill>
                <a:latin typeface="Roboto Slab"/>
                <a:ea typeface="Roboto Slab"/>
                <a:cs typeface="Roboto Slab"/>
                <a:sym typeface="Roboto Slab"/>
              </a:rPr>
              <a:t> 초당 10회+ 분석</a:t>
            </a:r>
            <a:endParaRPr b="0" i="0" sz="1200" u="none" cap="none" strike="noStrike">
              <a:solidFill>
                <a:schemeClr val="dk1"/>
              </a:solidFill>
              <a:latin typeface="Calibri"/>
              <a:ea typeface="Calibri"/>
              <a:cs typeface="Calibri"/>
              <a:sym typeface="Calibri"/>
            </a:endParaRPr>
          </a:p>
        </p:txBody>
      </p:sp>
      <p:sp>
        <p:nvSpPr>
          <p:cNvPr id="585" name="Google Shape;585;p27"/>
          <p:cNvSpPr/>
          <p:nvPr/>
        </p:nvSpPr>
        <p:spPr>
          <a:xfrm>
            <a:off x="5274692" y="3759175"/>
            <a:ext cx="3253904"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실시간으로 빠르게!</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pic>
        <p:nvPicPr>
          <p:cNvPr id="591" name="Google Shape;591;p28"/>
          <p:cNvPicPr preferRelativeResize="0"/>
          <p:nvPr/>
        </p:nvPicPr>
        <p:blipFill>
          <a:blip r:embed="rId3">
            <a:alphaModFix/>
          </a:blip>
          <a:stretch>
            <a:fillRect/>
          </a:stretch>
        </p:blipFill>
        <p:spPr>
          <a:xfrm>
            <a:off x="152400" y="152400"/>
            <a:ext cx="5124450" cy="47815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29"/>
          <p:cNvSpPr/>
          <p:nvPr/>
        </p:nvSpPr>
        <p:spPr>
          <a:xfrm>
            <a:off x="496119" y="344091"/>
            <a:ext cx="433015" cy="150168"/>
          </a:xfrm>
          <a:prstGeom prst="roundRect">
            <a:avLst>
              <a:gd fmla="val 7899"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9"/>
          <p:cNvSpPr/>
          <p:nvPr/>
        </p:nvSpPr>
        <p:spPr>
          <a:xfrm>
            <a:off x="555427" y="373707"/>
            <a:ext cx="771599" cy="90934"/>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600"/>
              <a:buFont typeface="Roboto"/>
              <a:buNone/>
            </a:pPr>
            <a:r>
              <a:rPr b="0" i="0" lang="ko-KR" sz="600" u="none" cap="none" strike="noStrike">
                <a:solidFill>
                  <a:srgbClr val="15213F"/>
                </a:solidFill>
                <a:latin typeface="Roboto"/>
                <a:ea typeface="Roboto"/>
                <a:cs typeface="Roboto"/>
                <a:sym typeface="Roboto"/>
              </a:rPr>
              <a:t>PHASE 3</a:t>
            </a:r>
            <a:endParaRPr b="0" i="0" sz="600" u="none" cap="none" strike="noStrike">
              <a:solidFill>
                <a:schemeClr val="dk1"/>
              </a:solidFill>
              <a:latin typeface="Calibri"/>
              <a:ea typeface="Calibri"/>
              <a:cs typeface="Calibri"/>
              <a:sym typeface="Calibri"/>
            </a:endParaRPr>
          </a:p>
        </p:txBody>
      </p:sp>
      <p:sp>
        <p:nvSpPr>
          <p:cNvPr id="599" name="Google Shape;599;p29"/>
          <p:cNvSpPr/>
          <p:nvPr/>
        </p:nvSpPr>
        <p:spPr>
          <a:xfrm>
            <a:off x="496119" y="525735"/>
            <a:ext cx="8151763" cy="3231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1900"/>
              <a:buFont typeface="Roboto Slab"/>
              <a:buNone/>
            </a:pPr>
            <a:r>
              <a:rPr b="0" i="0" lang="ko-KR" sz="2200" u="none" cap="none" strike="noStrike">
                <a:solidFill>
                  <a:srgbClr val="3257B8"/>
                </a:solidFill>
                <a:latin typeface="Roboto Slab"/>
                <a:ea typeface="Roboto Slab"/>
                <a:cs typeface="Roboto Slab"/>
                <a:sym typeface="Roboto Slab"/>
              </a:rPr>
              <a:t>웹캠 연결 — CCTV 설치 </a:t>
            </a:r>
            <a:r>
              <a:rPr b="0" i="0" lang="ko-KR" sz="2200" u="none" cap="none" strike="noStrike">
                <a:solidFill>
                  <a:srgbClr val="000000"/>
                </a:solidFill>
                <a:latin typeface="Roboto Slab"/>
                <a:ea typeface="Roboto Slab"/>
                <a:cs typeface="Roboto Slab"/>
                <a:sym typeface="Roboto Slab"/>
              </a:rPr>
              <a:t>📷</a:t>
            </a:r>
            <a:endParaRPr b="0" i="0" sz="2200" u="none" cap="none" strike="noStrike">
              <a:solidFill>
                <a:schemeClr val="dk1"/>
              </a:solidFill>
              <a:latin typeface="Calibri"/>
              <a:ea typeface="Calibri"/>
              <a:cs typeface="Calibri"/>
              <a:sym typeface="Calibri"/>
            </a:endParaRPr>
          </a:p>
        </p:txBody>
      </p:sp>
      <p:sp>
        <p:nvSpPr>
          <p:cNvPr id="600" name="Google Shape;600;p29"/>
          <p:cNvSpPr/>
          <p:nvPr/>
        </p:nvSpPr>
        <p:spPr>
          <a:xfrm>
            <a:off x="496119" y="967011"/>
            <a:ext cx="8608963" cy="14681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5213F"/>
              </a:buClr>
              <a:buSzPts val="750"/>
              <a:buFont typeface="Consolas"/>
              <a:buNone/>
            </a:pPr>
            <a:r>
              <a:rPr b="0" i="0" lang="ko-KR" sz="1450" u="none" cap="none" strike="noStrike">
                <a:solidFill>
                  <a:srgbClr val="15213F"/>
                </a:solidFill>
                <a:highlight>
                  <a:srgbClr val="EEEFF1"/>
                </a:highlight>
                <a:latin typeface="Consolas"/>
                <a:ea typeface="Consolas"/>
                <a:cs typeface="Consolas"/>
                <a:sym typeface="Consolas"/>
              </a:rPr>
              <a:t>getUserMedia</a:t>
            </a:r>
            <a:r>
              <a:rPr b="0" i="0" lang="ko-KR" sz="1450" u="none" cap="none" strike="noStrike">
                <a:solidFill>
                  <a:srgbClr val="15213F"/>
                </a:solidFill>
                <a:latin typeface="Roboto"/>
                <a:ea typeface="Roboto"/>
                <a:cs typeface="Roboto"/>
                <a:sym typeface="Roboto"/>
              </a:rPr>
              <a:t> = </a:t>
            </a:r>
            <a:r>
              <a:rPr b="1" i="0" lang="ko-KR" sz="1450" u="none" cap="none" strike="noStrike">
                <a:solidFill>
                  <a:srgbClr val="15213F"/>
                </a:solidFill>
                <a:latin typeface="Roboto"/>
                <a:ea typeface="Roboto"/>
                <a:cs typeface="Roboto"/>
                <a:sym typeface="Roboto"/>
              </a:rPr>
              <a:t>"카메라 써도 되나요?"</a:t>
            </a:r>
            <a:r>
              <a:rPr b="0" i="0" lang="ko-KR" sz="1450" u="none" cap="none" strike="noStrike">
                <a:solidFill>
                  <a:srgbClr val="15213F"/>
                </a:solidFill>
                <a:latin typeface="Roboto"/>
                <a:ea typeface="Roboto"/>
                <a:cs typeface="Roboto"/>
                <a:sym typeface="Roboto"/>
              </a:rPr>
              <a:t> 허가 요청 함수. 사용자가 "허용"을 클릭하면 웹캠 영상이 화면에 나타납니다!</a:t>
            </a:r>
            <a:endParaRPr b="0" i="0" sz="1450" u="none" cap="none" strike="noStrike">
              <a:solidFill>
                <a:schemeClr val="dk1"/>
              </a:solidFill>
              <a:latin typeface="Calibri"/>
              <a:ea typeface="Calibri"/>
              <a:cs typeface="Calibri"/>
              <a:sym typeface="Calibri"/>
            </a:endParaRPr>
          </a:p>
        </p:txBody>
      </p:sp>
      <p:pic>
        <p:nvPicPr>
          <p:cNvPr descr="preencoded.png" id="601" name="Google Shape;601;p29"/>
          <p:cNvPicPr preferRelativeResize="0"/>
          <p:nvPr/>
        </p:nvPicPr>
        <p:blipFill rotWithShape="1">
          <a:blip r:embed="rId3">
            <a:alphaModFix/>
          </a:blip>
          <a:srcRect b="0" l="0" r="0" t="0"/>
          <a:stretch/>
        </p:blipFill>
        <p:spPr>
          <a:xfrm>
            <a:off x="2178100" y="1202382"/>
            <a:ext cx="4787801" cy="2841575"/>
          </a:xfrm>
          <a:prstGeom prst="rect">
            <a:avLst/>
          </a:prstGeom>
          <a:noFill/>
          <a:ln>
            <a:noFill/>
          </a:ln>
        </p:spPr>
      </p:pic>
      <p:sp>
        <p:nvSpPr>
          <p:cNvPr id="602" name="Google Shape;602;p29"/>
          <p:cNvSpPr/>
          <p:nvPr/>
        </p:nvSpPr>
        <p:spPr>
          <a:xfrm>
            <a:off x="5510481" y="3384838"/>
            <a:ext cx="1190138" cy="229265"/>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0" i="0" lang="ko-KR" sz="1400" u="none" cap="none" strike="noStrike">
                <a:solidFill>
                  <a:srgbClr val="15213F"/>
                </a:solidFill>
                <a:latin typeface="Roboto Slab"/>
                <a:ea typeface="Roboto Slab"/>
                <a:cs typeface="Roboto Slab"/>
                <a:sym typeface="Roboto Slab"/>
              </a:rPr>
              <a:t>영상 표시·분석</a:t>
            </a:r>
            <a:endParaRPr b="0" i="0" sz="1400" u="none" cap="none" strike="noStrike">
              <a:solidFill>
                <a:schemeClr val="dk1"/>
              </a:solidFill>
              <a:latin typeface="Calibri"/>
              <a:ea typeface="Calibri"/>
              <a:cs typeface="Calibri"/>
              <a:sym typeface="Calibri"/>
            </a:endParaRPr>
          </a:p>
        </p:txBody>
      </p:sp>
      <p:sp>
        <p:nvSpPr>
          <p:cNvPr id="603" name="Google Shape;603;p29"/>
          <p:cNvSpPr/>
          <p:nvPr/>
        </p:nvSpPr>
        <p:spPr>
          <a:xfrm>
            <a:off x="4010581" y="3384838"/>
            <a:ext cx="1190138" cy="229265"/>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0" i="0" lang="ko-KR" sz="1400" u="none" cap="none" strike="noStrike">
                <a:solidFill>
                  <a:srgbClr val="15213F"/>
                </a:solidFill>
                <a:latin typeface="Roboto Slab"/>
                <a:ea typeface="Roboto Slab"/>
                <a:cs typeface="Roboto Slab"/>
                <a:sym typeface="Roboto Slab"/>
              </a:rPr>
              <a:t>사용자 허용</a:t>
            </a:r>
            <a:endParaRPr b="0" i="0" sz="1400" u="none" cap="none" strike="noStrike">
              <a:solidFill>
                <a:schemeClr val="dk1"/>
              </a:solidFill>
              <a:latin typeface="Calibri"/>
              <a:ea typeface="Calibri"/>
              <a:cs typeface="Calibri"/>
              <a:sym typeface="Calibri"/>
            </a:endParaRPr>
          </a:p>
        </p:txBody>
      </p:sp>
      <p:sp>
        <p:nvSpPr>
          <p:cNvPr id="604" name="Google Shape;604;p29"/>
          <p:cNvSpPr/>
          <p:nvPr/>
        </p:nvSpPr>
        <p:spPr>
          <a:xfrm>
            <a:off x="2486226" y="3384838"/>
            <a:ext cx="1190138" cy="229265"/>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400"/>
              <a:buFont typeface="Roboto Slab"/>
              <a:buNone/>
            </a:pPr>
            <a:r>
              <a:rPr b="0" i="0" lang="ko-KR" sz="1400" u="none" cap="none" strike="noStrike">
                <a:solidFill>
                  <a:srgbClr val="15213F"/>
                </a:solidFill>
                <a:latin typeface="Roboto Slab"/>
                <a:ea typeface="Roboto Slab"/>
                <a:cs typeface="Roboto Slab"/>
                <a:sym typeface="Roboto Slab"/>
              </a:rPr>
              <a:t>카메라 요청</a:t>
            </a:r>
            <a:endParaRPr b="0" i="0" sz="1400" u="none" cap="none" strike="noStrike">
              <a:solidFill>
                <a:schemeClr val="dk1"/>
              </a:solidFill>
              <a:latin typeface="Calibri"/>
              <a:ea typeface="Calibri"/>
              <a:cs typeface="Calibri"/>
              <a:sym typeface="Calibri"/>
            </a:endParaRPr>
          </a:p>
        </p:txBody>
      </p:sp>
      <p:sp>
        <p:nvSpPr>
          <p:cNvPr id="605" name="Google Shape;605;p29"/>
          <p:cNvSpPr/>
          <p:nvPr/>
        </p:nvSpPr>
        <p:spPr>
          <a:xfrm>
            <a:off x="424975" y="4132500"/>
            <a:ext cx="4097700" cy="885600"/>
          </a:xfrm>
          <a:prstGeom prst="roundRect">
            <a:avLst>
              <a:gd fmla="val 2224" name="adj"/>
            </a:avLst>
          </a:prstGeom>
          <a:solidFill>
            <a:srgbClr val="325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9"/>
          <p:cNvSpPr/>
          <p:nvPr/>
        </p:nvSpPr>
        <p:spPr>
          <a:xfrm>
            <a:off x="523801" y="4211241"/>
            <a:ext cx="3899967" cy="1544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950"/>
              <a:buFont typeface="Roboto Slab"/>
              <a:buNone/>
            </a:pPr>
            <a:r>
              <a:rPr b="0" i="0" lang="ko-KR" sz="1350" u="none" cap="none" strike="noStrike">
                <a:solidFill>
                  <a:srgbClr val="FFFFFF"/>
                </a:solidFill>
                <a:latin typeface="Roboto Slab"/>
                <a:ea typeface="Roboto Slab"/>
                <a:cs typeface="Roboto Slab"/>
                <a:sym typeface="Roboto Slab"/>
              </a:rPr>
              <a:t>카메라 설정</a:t>
            </a:r>
            <a:endParaRPr b="0" i="0" sz="1350" u="none" cap="none" strike="noStrike">
              <a:solidFill>
                <a:schemeClr val="dk1"/>
              </a:solidFill>
              <a:latin typeface="Calibri"/>
              <a:ea typeface="Calibri"/>
              <a:cs typeface="Calibri"/>
              <a:sym typeface="Calibri"/>
            </a:endParaRPr>
          </a:p>
        </p:txBody>
      </p:sp>
      <p:sp>
        <p:nvSpPr>
          <p:cNvPr id="607" name="Google Shape;607;p29"/>
          <p:cNvSpPr/>
          <p:nvPr/>
        </p:nvSpPr>
        <p:spPr>
          <a:xfrm>
            <a:off x="523801" y="4444380"/>
            <a:ext cx="3899967" cy="28411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Roboto"/>
              <a:buNone/>
            </a:pPr>
            <a:r>
              <a:rPr b="0" i="0" lang="ko-KR" sz="1250" u="none" cap="none" strike="noStrike">
                <a:solidFill>
                  <a:srgbClr val="FFFFFF"/>
                </a:solidFill>
                <a:latin typeface="Roboto"/>
                <a:ea typeface="Roboto"/>
                <a:cs typeface="Roboto"/>
                <a:sym typeface="Roboto"/>
              </a:rPr>
              <a:t>해상도: </a:t>
            </a:r>
            <a:r>
              <a:rPr b="1" i="0" lang="ko-KR" sz="1250" u="none" cap="none" strike="noStrike">
                <a:solidFill>
                  <a:srgbClr val="FFFFFF"/>
                </a:solidFill>
                <a:latin typeface="Roboto"/>
                <a:ea typeface="Roboto"/>
                <a:cs typeface="Roboto"/>
                <a:sym typeface="Roboto"/>
              </a:rPr>
              <a:t>640 × 480 픽셀</a:t>
            </a:r>
            <a:endParaRPr b="0" i="0" sz="12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FFFFFF"/>
              </a:buClr>
              <a:buSzPts val="750"/>
              <a:buFont typeface="Roboto"/>
              <a:buNone/>
            </a:pPr>
            <a:r>
              <a:rPr b="0" i="0" lang="ko-KR" sz="1250" u="none" cap="none" strike="noStrike">
                <a:solidFill>
                  <a:srgbClr val="FFFFFF"/>
                </a:solidFill>
                <a:latin typeface="Roboto"/>
                <a:ea typeface="Roboto"/>
                <a:cs typeface="Roboto"/>
                <a:sym typeface="Roboto"/>
              </a:rPr>
              <a:t>방향: 전면 카메라 (셀카 방향)</a:t>
            </a:r>
            <a:endParaRPr b="0" i="0" sz="1250" u="none" cap="none" strike="noStrike">
              <a:solidFill>
                <a:schemeClr val="dk1"/>
              </a:solidFill>
              <a:latin typeface="Calibri"/>
              <a:ea typeface="Calibri"/>
              <a:cs typeface="Calibri"/>
              <a:sym typeface="Calibri"/>
            </a:endParaRPr>
          </a:p>
        </p:txBody>
      </p:sp>
      <p:sp>
        <p:nvSpPr>
          <p:cNvPr id="608" name="Google Shape;608;p29"/>
          <p:cNvSpPr/>
          <p:nvPr/>
        </p:nvSpPr>
        <p:spPr>
          <a:xfrm>
            <a:off x="4697313" y="4211241"/>
            <a:ext cx="3955331" cy="1544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950"/>
              <a:buFont typeface="Roboto Slab"/>
              <a:buNone/>
            </a:pPr>
            <a:r>
              <a:rPr b="0" i="0" lang="ko-KR" sz="1350" u="none" cap="none" strike="noStrike">
                <a:solidFill>
                  <a:srgbClr val="3257B8"/>
                </a:solidFill>
                <a:latin typeface="Roboto Slab"/>
                <a:ea typeface="Roboto Slab"/>
                <a:cs typeface="Roboto Slab"/>
                <a:sym typeface="Roboto Slab"/>
              </a:rPr>
              <a:t>왜 풀HD가 아닌가요?</a:t>
            </a:r>
            <a:endParaRPr b="0" i="0" sz="1350" u="none" cap="none" strike="noStrike">
              <a:solidFill>
                <a:schemeClr val="dk1"/>
              </a:solidFill>
              <a:latin typeface="Calibri"/>
              <a:ea typeface="Calibri"/>
              <a:cs typeface="Calibri"/>
              <a:sym typeface="Calibri"/>
            </a:endParaRPr>
          </a:p>
        </p:txBody>
      </p:sp>
      <p:sp>
        <p:nvSpPr>
          <p:cNvPr id="609" name="Google Shape;609;p29"/>
          <p:cNvSpPr/>
          <p:nvPr/>
        </p:nvSpPr>
        <p:spPr>
          <a:xfrm>
            <a:off x="4697313" y="4444380"/>
            <a:ext cx="3955331" cy="28411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5213F"/>
              </a:buClr>
              <a:buSzPts val="750"/>
              <a:buFont typeface="Roboto"/>
              <a:buNone/>
            </a:pPr>
            <a:r>
              <a:rPr b="0" i="0" lang="ko-KR" sz="1250" u="none" cap="none" strike="noStrike">
                <a:solidFill>
                  <a:srgbClr val="15213F"/>
                </a:solidFill>
                <a:latin typeface="Roboto"/>
                <a:ea typeface="Roboto"/>
                <a:cs typeface="Roboto"/>
                <a:sym typeface="Roboto"/>
              </a:rPr>
              <a:t>고화질이면 컴퓨터가 헐떡거려요! 640×480이면 AI 분석에 충분하면서도 가볍습니다. 시험지에 이름 쓸 때 붓펜은 필요 없잖아요!</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30"/>
          <p:cNvSpPr/>
          <p:nvPr/>
        </p:nvSpPr>
        <p:spPr>
          <a:xfrm>
            <a:off x="496119" y="709166"/>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0"/>
          <p:cNvSpPr/>
          <p:nvPr/>
        </p:nvSpPr>
        <p:spPr>
          <a:xfrm>
            <a:off x="570533" y="746373"/>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3</a:t>
            </a:r>
            <a:endParaRPr b="0" i="0" sz="750" u="none" cap="none" strike="noStrike">
              <a:solidFill>
                <a:schemeClr val="dk1"/>
              </a:solidFill>
              <a:latin typeface="Calibri"/>
              <a:ea typeface="Calibri"/>
              <a:cs typeface="Calibri"/>
              <a:sym typeface="Calibri"/>
            </a:endParaRPr>
          </a:p>
        </p:txBody>
      </p:sp>
      <p:sp>
        <p:nvSpPr>
          <p:cNvPr id="617" name="Google Shape;617;p30"/>
          <p:cNvSpPr/>
          <p:nvPr/>
        </p:nvSpPr>
        <p:spPr>
          <a:xfrm>
            <a:off x="496119" y="947291"/>
            <a:ext cx="8151763" cy="4018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400" u="none" cap="none" strike="noStrike">
                <a:solidFill>
                  <a:srgbClr val="3257B8"/>
                </a:solidFill>
                <a:latin typeface="Roboto Slab"/>
                <a:ea typeface="Roboto Slab"/>
                <a:cs typeface="Roboto Slab"/>
                <a:sym typeface="Roboto Slab"/>
              </a:rPr>
              <a:t>자리 이탈 감지 — 자동 출석 체크 </a:t>
            </a:r>
            <a:r>
              <a:rPr b="1" i="0" lang="ko-KR" sz="2400" u="none" cap="none" strike="noStrike">
                <a:solidFill>
                  <a:srgbClr val="000000"/>
                </a:solidFill>
                <a:latin typeface="Roboto Slab"/>
                <a:ea typeface="Roboto Slab"/>
                <a:cs typeface="Roboto Slab"/>
                <a:sym typeface="Roboto Slab"/>
              </a:rPr>
              <a:t>🚶</a:t>
            </a:r>
            <a:endParaRPr b="1" i="0" sz="2400" u="none" cap="none" strike="noStrike">
              <a:solidFill>
                <a:schemeClr val="dk1"/>
              </a:solidFill>
              <a:latin typeface="Calibri"/>
              <a:ea typeface="Calibri"/>
              <a:cs typeface="Calibri"/>
              <a:sym typeface="Calibri"/>
            </a:endParaRPr>
          </a:p>
        </p:txBody>
      </p:sp>
      <p:sp>
        <p:nvSpPr>
          <p:cNvPr id="618" name="Google Shape;618;p30"/>
          <p:cNvSpPr/>
          <p:nvPr/>
        </p:nvSpPr>
        <p:spPr>
          <a:xfrm>
            <a:off x="496119" y="1535162"/>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얼굴이 안 보이면 = 자리를 비웠다!</a:t>
            </a:r>
            <a:r>
              <a:rPr b="0" i="0" lang="ko-KR" sz="1250" u="none" cap="none" strike="noStrike">
                <a:solidFill>
                  <a:srgbClr val="15213F"/>
                </a:solidFill>
                <a:latin typeface="Roboto"/>
                <a:ea typeface="Roboto"/>
                <a:cs typeface="Roboto"/>
                <a:sym typeface="Roboto"/>
              </a:rPr>
              <a:t> 매 0.1초마다 얼굴이 있는지 확인합니다.</a:t>
            </a:r>
            <a:endParaRPr b="0" i="0" sz="1250" u="none" cap="none" strike="noStrike">
              <a:solidFill>
                <a:schemeClr val="dk1"/>
              </a:solidFill>
              <a:latin typeface="Calibri"/>
              <a:ea typeface="Calibri"/>
              <a:cs typeface="Calibri"/>
              <a:sym typeface="Calibri"/>
            </a:endParaRPr>
          </a:p>
        </p:txBody>
      </p:sp>
      <p:sp>
        <p:nvSpPr>
          <p:cNvPr id="619" name="Google Shape;619;p30"/>
          <p:cNvSpPr/>
          <p:nvPr/>
        </p:nvSpPr>
        <p:spPr>
          <a:xfrm>
            <a:off x="496119" y="2835994"/>
            <a:ext cx="8151763" cy="14288"/>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30"/>
          <p:cNvSpPr/>
          <p:nvPr/>
        </p:nvSpPr>
        <p:spPr>
          <a:xfrm>
            <a:off x="2072804" y="2463924"/>
            <a:ext cx="14288" cy="372070"/>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0"/>
          <p:cNvSpPr/>
          <p:nvPr/>
        </p:nvSpPr>
        <p:spPr>
          <a:xfrm>
            <a:off x="1940421" y="2696468"/>
            <a:ext cx="279053" cy="279053"/>
          </a:xfrm>
          <a:prstGeom prst="roundRect">
            <a:avLst>
              <a:gd fmla="val 6668"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30"/>
          <p:cNvSpPr/>
          <p:nvPr/>
        </p:nvSpPr>
        <p:spPr>
          <a:xfrm>
            <a:off x="1986930" y="2719722"/>
            <a:ext cx="186035" cy="2325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13F"/>
              </a:buClr>
              <a:buSzPts val="1450"/>
              <a:buFont typeface="Roboto Slab"/>
              <a:buNone/>
            </a:pPr>
            <a:r>
              <a:rPr b="0" i="0" lang="ko-KR" sz="1450" u="none" cap="none" strike="noStrike">
                <a:solidFill>
                  <a:srgbClr val="15213F"/>
                </a:solidFill>
                <a:latin typeface="Roboto Slab"/>
                <a:ea typeface="Roboto Slab"/>
                <a:cs typeface="Roboto Slab"/>
                <a:sym typeface="Roboto Slab"/>
              </a:rPr>
              <a:t>1</a:t>
            </a:r>
            <a:endParaRPr b="0" i="0" sz="1450" u="none" cap="none" strike="noStrike">
              <a:solidFill>
                <a:schemeClr val="dk1"/>
              </a:solidFill>
              <a:latin typeface="Calibri"/>
              <a:ea typeface="Calibri"/>
              <a:cs typeface="Calibri"/>
              <a:sym typeface="Calibri"/>
            </a:endParaRPr>
          </a:p>
        </p:txBody>
      </p:sp>
      <p:sp>
        <p:nvSpPr>
          <p:cNvPr id="623" name="Google Shape;623;p30"/>
          <p:cNvSpPr/>
          <p:nvPr/>
        </p:nvSpPr>
        <p:spPr>
          <a:xfrm>
            <a:off x="620092" y="1873151"/>
            <a:ext cx="2919710"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800" u="none" cap="none" strike="noStrike">
                <a:solidFill>
                  <a:srgbClr val="15213F"/>
                </a:solidFill>
                <a:latin typeface="Roboto Slab"/>
                <a:ea typeface="Roboto Slab"/>
                <a:cs typeface="Roboto Slab"/>
                <a:sym typeface="Roboto Slab"/>
              </a:rPr>
              <a:t>0.3초</a:t>
            </a:r>
            <a:endParaRPr b="0" i="0" sz="1800" u="none" cap="none" strike="noStrike">
              <a:solidFill>
                <a:schemeClr val="dk1"/>
              </a:solidFill>
              <a:latin typeface="Calibri"/>
              <a:ea typeface="Calibri"/>
              <a:cs typeface="Calibri"/>
              <a:sym typeface="Calibri"/>
            </a:endParaRPr>
          </a:p>
        </p:txBody>
      </p:sp>
      <p:sp>
        <p:nvSpPr>
          <p:cNvPr id="624" name="Google Shape;624;p30"/>
          <p:cNvSpPr/>
          <p:nvPr/>
        </p:nvSpPr>
        <p:spPr>
          <a:xfrm>
            <a:off x="620092" y="2141413"/>
            <a:ext cx="2919710" cy="198462"/>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교재 보려고 고개 숙임 → </a:t>
            </a:r>
            <a:r>
              <a:rPr b="1" i="0" lang="ko-KR" sz="1250" u="none" cap="none" strike="noStrike">
                <a:solidFill>
                  <a:srgbClr val="15213F"/>
                </a:solidFill>
                <a:latin typeface="Roboto"/>
                <a:ea typeface="Roboto"/>
                <a:cs typeface="Roboto"/>
                <a:sym typeface="Roboto"/>
              </a:rPr>
              <a:t>무시</a:t>
            </a:r>
            <a:r>
              <a:rPr b="0" i="0" lang="ko-KR" sz="1250" u="none" cap="none" strike="noStrike">
                <a:solidFill>
                  <a:srgbClr val="15213F"/>
                </a:solidFill>
                <a:latin typeface="Roboto"/>
                <a:ea typeface="Roboto"/>
                <a:cs typeface="Roboto"/>
                <a:sym typeface="Roboto"/>
              </a:rPr>
              <a:t> (공부 중!)</a:t>
            </a:r>
            <a:endParaRPr b="0" i="0" sz="1250" u="none" cap="none" strike="noStrike">
              <a:solidFill>
                <a:schemeClr val="dk1"/>
              </a:solidFill>
              <a:latin typeface="Calibri"/>
              <a:ea typeface="Calibri"/>
              <a:cs typeface="Calibri"/>
              <a:sym typeface="Calibri"/>
            </a:endParaRPr>
          </a:p>
        </p:txBody>
      </p:sp>
      <p:sp>
        <p:nvSpPr>
          <p:cNvPr id="625" name="Google Shape;625;p30"/>
          <p:cNvSpPr/>
          <p:nvPr/>
        </p:nvSpPr>
        <p:spPr>
          <a:xfrm>
            <a:off x="3734098" y="2835994"/>
            <a:ext cx="14288" cy="372070"/>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0"/>
          <p:cNvSpPr/>
          <p:nvPr/>
        </p:nvSpPr>
        <p:spPr>
          <a:xfrm>
            <a:off x="3601715" y="2696468"/>
            <a:ext cx="279053" cy="279053"/>
          </a:xfrm>
          <a:prstGeom prst="roundRect">
            <a:avLst>
              <a:gd fmla="val 6668"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0"/>
          <p:cNvSpPr/>
          <p:nvPr/>
        </p:nvSpPr>
        <p:spPr>
          <a:xfrm>
            <a:off x="3648224" y="2719722"/>
            <a:ext cx="186035" cy="2325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13F"/>
              </a:buClr>
              <a:buSzPts val="1450"/>
              <a:buFont typeface="Roboto Slab"/>
              <a:buNone/>
            </a:pPr>
            <a:r>
              <a:rPr b="0" i="0" lang="ko-KR" sz="1450" u="none" cap="none" strike="noStrike">
                <a:solidFill>
                  <a:srgbClr val="15213F"/>
                </a:solidFill>
                <a:latin typeface="Roboto Slab"/>
                <a:ea typeface="Roboto Slab"/>
                <a:cs typeface="Roboto Slab"/>
                <a:sym typeface="Roboto Slab"/>
              </a:rPr>
              <a:t>2</a:t>
            </a:r>
            <a:endParaRPr b="0" i="0" sz="1450" u="none" cap="none" strike="noStrike">
              <a:solidFill>
                <a:schemeClr val="dk1"/>
              </a:solidFill>
              <a:latin typeface="Calibri"/>
              <a:ea typeface="Calibri"/>
              <a:cs typeface="Calibri"/>
              <a:sym typeface="Calibri"/>
            </a:endParaRPr>
          </a:p>
        </p:txBody>
      </p:sp>
      <p:sp>
        <p:nvSpPr>
          <p:cNvPr id="628" name="Google Shape;628;p30"/>
          <p:cNvSpPr/>
          <p:nvPr/>
        </p:nvSpPr>
        <p:spPr>
          <a:xfrm>
            <a:off x="2281386" y="3332113"/>
            <a:ext cx="2919785"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800" u="none" cap="none" strike="noStrike">
                <a:solidFill>
                  <a:srgbClr val="15213F"/>
                </a:solidFill>
                <a:latin typeface="Roboto Slab"/>
                <a:ea typeface="Roboto Slab"/>
                <a:cs typeface="Roboto Slab"/>
                <a:sym typeface="Roboto Slab"/>
              </a:rPr>
              <a:t>0.5초</a:t>
            </a:r>
            <a:endParaRPr b="0" i="0" sz="1800" u="none" cap="none" strike="noStrike">
              <a:solidFill>
                <a:schemeClr val="dk1"/>
              </a:solidFill>
              <a:latin typeface="Calibri"/>
              <a:ea typeface="Calibri"/>
              <a:cs typeface="Calibri"/>
              <a:sym typeface="Calibri"/>
            </a:endParaRPr>
          </a:p>
        </p:txBody>
      </p:sp>
      <p:sp>
        <p:nvSpPr>
          <p:cNvPr id="629" name="Google Shape;629;p30"/>
          <p:cNvSpPr/>
          <p:nvPr/>
        </p:nvSpPr>
        <p:spPr>
          <a:xfrm>
            <a:off x="2281386" y="3600376"/>
            <a:ext cx="2919785" cy="198462"/>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재채기 → </a:t>
            </a:r>
            <a:r>
              <a:rPr b="1" i="0" lang="ko-KR" sz="1250" u="none" cap="none" strike="noStrike">
                <a:solidFill>
                  <a:srgbClr val="15213F"/>
                </a:solidFill>
                <a:latin typeface="Roboto"/>
                <a:ea typeface="Roboto"/>
                <a:cs typeface="Roboto"/>
                <a:sym typeface="Roboto"/>
              </a:rPr>
              <a:t>무시</a:t>
            </a:r>
            <a:r>
              <a:rPr b="0" i="0" lang="ko-KR" sz="1250" u="none" cap="none" strike="noStrike">
                <a:solidFill>
                  <a:srgbClr val="15213F"/>
                </a:solidFill>
                <a:latin typeface="Roboto"/>
                <a:ea typeface="Roboto"/>
                <a:cs typeface="Roboto"/>
                <a:sym typeface="Roboto"/>
              </a:rPr>
              <a:t> (생리 현상)</a:t>
            </a:r>
            <a:endParaRPr b="0" i="0" sz="1250" u="none" cap="none" strike="noStrike">
              <a:solidFill>
                <a:schemeClr val="dk1"/>
              </a:solidFill>
              <a:latin typeface="Calibri"/>
              <a:ea typeface="Calibri"/>
              <a:cs typeface="Calibri"/>
              <a:sym typeface="Calibri"/>
            </a:endParaRPr>
          </a:p>
        </p:txBody>
      </p:sp>
      <p:sp>
        <p:nvSpPr>
          <p:cNvPr id="630" name="Google Shape;630;p30"/>
          <p:cNvSpPr/>
          <p:nvPr/>
        </p:nvSpPr>
        <p:spPr>
          <a:xfrm>
            <a:off x="5395466" y="2463924"/>
            <a:ext cx="14288" cy="372070"/>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0"/>
          <p:cNvSpPr/>
          <p:nvPr/>
        </p:nvSpPr>
        <p:spPr>
          <a:xfrm>
            <a:off x="5263083" y="2696468"/>
            <a:ext cx="279053" cy="279053"/>
          </a:xfrm>
          <a:prstGeom prst="roundRect">
            <a:avLst>
              <a:gd fmla="val 6668"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0"/>
          <p:cNvSpPr/>
          <p:nvPr/>
        </p:nvSpPr>
        <p:spPr>
          <a:xfrm>
            <a:off x="5309592" y="2719722"/>
            <a:ext cx="186035" cy="2325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13F"/>
              </a:buClr>
              <a:buSzPts val="1450"/>
              <a:buFont typeface="Roboto Slab"/>
              <a:buNone/>
            </a:pPr>
            <a:r>
              <a:rPr b="0" i="0" lang="ko-KR" sz="1450" u="none" cap="none" strike="noStrike">
                <a:solidFill>
                  <a:srgbClr val="15213F"/>
                </a:solidFill>
                <a:latin typeface="Roboto Slab"/>
                <a:ea typeface="Roboto Slab"/>
                <a:cs typeface="Roboto Slab"/>
                <a:sym typeface="Roboto Slab"/>
              </a:rPr>
              <a:t>3</a:t>
            </a:r>
            <a:endParaRPr b="0" i="0" sz="1450" u="none" cap="none" strike="noStrike">
              <a:solidFill>
                <a:schemeClr val="dk1"/>
              </a:solidFill>
              <a:latin typeface="Calibri"/>
              <a:ea typeface="Calibri"/>
              <a:cs typeface="Calibri"/>
              <a:sym typeface="Calibri"/>
            </a:endParaRPr>
          </a:p>
        </p:txBody>
      </p:sp>
      <p:sp>
        <p:nvSpPr>
          <p:cNvPr id="633" name="Google Shape;633;p30"/>
          <p:cNvSpPr/>
          <p:nvPr/>
        </p:nvSpPr>
        <p:spPr>
          <a:xfrm>
            <a:off x="3942755" y="1873151"/>
            <a:ext cx="2919785"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800" u="none" cap="none" strike="noStrike">
                <a:solidFill>
                  <a:srgbClr val="15213F"/>
                </a:solidFill>
                <a:latin typeface="Roboto Slab"/>
                <a:ea typeface="Roboto Slab"/>
                <a:cs typeface="Roboto Slab"/>
                <a:sym typeface="Roboto Slab"/>
              </a:rPr>
              <a:t>1초+</a:t>
            </a:r>
            <a:endParaRPr b="0" i="0" sz="1800" u="none" cap="none" strike="noStrike">
              <a:solidFill>
                <a:schemeClr val="dk1"/>
              </a:solidFill>
              <a:latin typeface="Calibri"/>
              <a:ea typeface="Calibri"/>
              <a:cs typeface="Calibri"/>
              <a:sym typeface="Calibri"/>
            </a:endParaRPr>
          </a:p>
        </p:txBody>
      </p:sp>
      <p:sp>
        <p:nvSpPr>
          <p:cNvPr id="634" name="Google Shape;634;p30"/>
          <p:cNvSpPr/>
          <p:nvPr/>
        </p:nvSpPr>
        <p:spPr>
          <a:xfrm>
            <a:off x="3942755" y="2141413"/>
            <a:ext cx="2919785" cy="198462"/>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연속 미감지 → </a:t>
            </a:r>
            <a:r>
              <a:rPr b="1" i="0" lang="ko-KR" sz="1250" u="none" cap="none" strike="noStrike">
                <a:solidFill>
                  <a:srgbClr val="15213F"/>
                </a:solidFill>
                <a:latin typeface="Roboto"/>
                <a:ea typeface="Roboto"/>
                <a:cs typeface="Roboto"/>
                <a:sym typeface="Roboto"/>
              </a:rPr>
              <a:t>자리 이탈 판정!</a:t>
            </a:r>
            <a:endParaRPr b="0" i="0" sz="1250" u="none" cap="none" strike="noStrike">
              <a:solidFill>
                <a:schemeClr val="dk1"/>
              </a:solidFill>
              <a:latin typeface="Calibri"/>
              <a:ea typeface="Calibri"/>
              <a:cs typeface="Calibri"/>
              <a:sym typeface="Calibri"/>
            </a:endParaRPr>
          </a:p>
        </p:txBody>
      </p:sp>
      <p:sp>
        <p:nvSpPr>
          <p:cNvPr id="635" name="Google Shape;635;p30"/>
          <p:cNvSpPr/>
          <p:nvPr/>
        </p:nvSpPr>
        <p:spPr>
          <a:xfrm>
            <a:off x="7056834" y="2835994"/>
            <a:ext cx="14288" cy="372070"/>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30"/>
          <p:cNvSpPr/>
          <p:nvPr/>
        </p:nvSpPr>
        <p:spPr>
          <a:xfrm>
            <a:off x="6924452" y="2696468"/>
            <a:ext cx="279053" cy="279053"/>
          </a:xfrm>
          <a:prstGeom prst="roundRect">
            <a:avLst>
              <a:gd fmla="val 6668"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0"/>
          <p:cNvSpPr/>
          <p:nvPr/>
        </p:nvSpPr>
        <p:spPr>
          <a:xfrm>
            <a:off x="6970961" y="2719722"/>
            <a:ext cx="186035" cy="2325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13F"/>
              </a:buClr>
              <a:buSzPts val="1450"/>
              <a:buFont typeface="Roboto Slab"/>
              <a:buNone/>
            </a:pPr>
            <a:r>
              <a:rPr b="0" i="0" lang="ko-KR" sz="1450" u="none" cap="none" strike="noStrike">
                <a:solidFill>
                  <a:srgbClr val="15213F"/>
                </a:solidFill>
                <a:latin typeface="Roboto Slab"/>
                <a:ea typeface="Roboto Slab"/>
                <a:cs typeface="Roboto Slab"/>
                <a:sym typeface="Roboto Slab"/>
              </a:rPr>
              <a:t>4</a:t>
            </a:r>
            <a:endParaRPr b="0" i="0" sz="1450" u="none" cap="none" strike="noStrike">
              <a:solidFill>
                <a:schemeClr val="dk1"/>
              </a:solidFill>
              <a:latin typeface="Calibri"/>
              <a:ea typeface="Calibri"/>
              <a:cs typeface="Calibri"/>
              <a:sym typeface="Calibri"/>
            </a:endParaRPr>
          </a:p>
        </p:txBody>
      </p:sp>
      <p:sp>
        <p:nvSpPr>
          <p:cNvPr id="638" name="Google Shape;638;p30"/>
          <p:cNvSpPr/>
          <p:nvPr/>
        </p:nvSpPr>
        <p:spPr>
          <a:xfrm>
            <a:off x="5604123" y="3332113"/>
            <a:ext cx="2919785" cy="19384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5213F"/>
              </a:buClr>
              <a:buSzPts val="1200"/>
              <a:buFont typeface="Roboto Slab"/>
              <a:buNone/>
            </a:pPr>
            <a:r>
              <a:rPr b="0" i="0" lang="ko-KR" sz="1800" u="none" cap="none" strike="noStrike">
                <a:solidFill>
                  <a:srgbClr val="15213F"/>
                </a:solidFill>
                <a:latin typeface="Roboto Slab"/>
                <a:ea typeface="Roboto Slab"/>
                <a:cs typeface="Roboto Slab"/>
                <a:sym typeface="Roboto Slab"/>
              </a:rPr>
              <a:t>10초+</a:t>
            </a:r>
            <a:endParaRPr b="0" i="0" sz="1800" u="none" cap="none" strike="noStrike">
              <a:solidFill>
                <a:schemeClr val="dk1"/>
              </a:solidFill>
              <a:latin typeface="Calibri"/>
              <a:ea typeface="Calibri"/>
              <a:cs typeface="Calibri"/>
              <a:sym typeface="Calibri"/>
            </a:endParaRPr>
          </a:p>
        </p:txBody>
      </p:sp>
      <p:sp>
        <p:nvSpPr>
          <p:cNvPr id="639" name="Google Shape;639;p30"/>
          <p:cNvSpPr/>
          <p:nvPr/>
        </p:nvSpPr>
        <p:spPr>
          <a:xfrm>
            <a:off x="5604123" y="3600376"/>
            <a:ext cx="2919785" cy="198462"/>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15213F"/>
              </a:buClr>
              <a:buSzPts val="950"/>
              <a:buFont typeface="Roboto"/>
              <a:buNone/>
            </a:pPr>
            <a:r>
              <a:rPr b="0" i="0" lang="ko-KR" sz="1250" u="none" cap="none" strike="noStrike">
                <a:solidFill>
                  <a:srgbClr val="15213F"/>
                </a:solidFill>
                <a:latin typeface="Roboto"/>
                <a:ea typeface="Roboto"/>
                <a:cs typeface="Roboto"/>
                <a:sym typeface="Roboto"/>
              </a:rPr>
              <a:t>간식 가지러 감 → </a:t>
            </a:r>
            <a:r>
              <a:rPr b="1" i="0" lang="ko-KR" sz="1250" u="none" cap="none" strike="noStrike">
                <a:solidFill>
                  <a:srgbClr val="15213F"/>
                </a:solidFill>
                <a:latin typeface="Roboto"/>
                <a:ea typeface="Roboto"/>
                <a:cs typeface="Roboto"/>
                <a:sym typeface="Roboto"/>
              </a:rPr>
              <a:t>확실히 자리 이탈!</a:t>
            </a:r>
            <a:endParaRPr b="0" i="0" sz="1250" u="none" cap="none" strike="noStrike">
              <a:solidFill>
                <a:schemeClr val="dk1"/>
              </a:solidFill>
              <a:latin typeface="Calibri"/>
              <a:ea typeface="Calibri"/>
              <a:cs typeface="Calibri"/>
              <a:sym typeface="Calibri"/>
            </a:endParaRPr>
          </a:p>
        </p:txBody>
      </p:sp>
      <p:sp>
        <p:nvSpPr>
          <p:cNvPr id="640" name="Google Shape;640;p30"/>
          <p:cNvSpPr/>
          <p:nvPr/>
        </p:nvSpPr>
        <p:spPr>
          <a:xfrm>
            <a:off x="496119" y="3938364"/>
            <a:ext cx="8151763" cy="495970"/>
          </a:xfrm>
          <a:prstGeom prst="roundRect">
            <a:avLst>
              <a:gd fmla="val 3752"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41" name="Google Shape;641;p30"/>
          <p:cNvPicPr preferRelativeResize="0"/>
          <p:nvPr/>
        </p:nvPicPr>
        <p:blipFill rotWithShape="1">
          <a:blip r:embed="rId3">
            <a:alphaModFix/>
          </a:blip>
          <a:srcRect b="0" l="0" r="0" t="0"/>
          <a:stretch/>
        </p:blipFill>
        <p:spPr>
          <a:xfrm>
            <a:off x="620092" y="4118149"/>
            <a:ext cx="155004" cy="123974"/>
          </a:xfrm>
          <a:prstGeom prst="rect">
            <a:avLst/>
          </a:prstGeom>
          <a:noFill/>
          <a:ln>
            <a:noFill/>
          </a:ln>
        </p:spPr>
      </p:pic>
      <p:sp>
        <p:nvSpPr>
          <p:cNvPr id="642" name="Google Shape;642;p30"/>
          <p:cNvSpPr/>
          <p:nvPr/>
        </p:nvSpPr>
        <p:spPr>
          <a:xfrm>
            <a:off x="899071" y="4093294"/>
            <a:ext cx="808203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00"/>
              </a:buClr>
              <a:buSzPts val="950"/>
              <a:buFont typeface="Roboto"/>
              <a:buNone/>
            </a:pPr>
            <a:r>
              <a:rPr b="1" i="0" lang="ko-KR" sz="1350" u="none" cap="none" strike="noStrike">
                <a:solidFill>
                  <a:srgbClr val="000000"/>
                </a:solidFill>
                <a:latin typeface="Roboto"/>
                <a:ea typeface="Roboto"/>
                <a:cs typeface="Roboto"/>
                <a:sym typeface="Roboto"/>
              </a:rPr>
              <a:t>디바운싱 = 엘리베이터 버튼!</a:t>
            </a:r>
            <a:r>
              <a:rPr b="0" i="0" lang="ko-KR" sz="1350" u="none" cap="none" strike="noStrike">
                <a:solidFill>
                  <a:srgbClr val="000000"/>
                </a:solidFill>
                <a:latin typeface="Roboto"/>
                <a:ea typeface="Roboto"/>
                <a:cs typeface="Roboto"/>
                <a:sym typeface="Roboto"/>
              </a:rPr>
              <a:t> 연타해도 한 번만 인식. 한 번 안 보인다고 결석 처리는 억울하니까요! 😅</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31"/>
          <p:cNvSpPr/>
          <p:nvPr/>
        </p:nvSpPr>
        <p:spPr>
          <a:xfrm>
            <a:off x="496119" y="821159"/>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1"/>
          <p:cNvSpPr/>
          <p:nvPr/>
        </p:nvSpPr>
        <p:spPr>
          <a:xfrm>
            <a:off x="570533" y="858366"/>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3</a:t>
            </a:r>
            <a:endParaRPr b="0" i="0" sz="750" u="none" cap="none" strike="noStrike">
              <a:solidFill>
                <a:schemeClr val="dk1"/>
              </a:solidFill>
              <a:latin typeface="Calibri"/>
              <a:ea typeface="Calibri"/>
              <a:cs typeface="Calibri"/>
              <a:sym typeface="Calibri"/>
            </a:endParaRPr>
          </a:p>
        </p:txBody>
      </p:sp>
      <p:sp>
        <p:nvSpPr>
          <p:cNvPr id="650" name="Google Shape;650;p31"/>
          <p:cNvSpPr/>
          <p:nvPr/>
        </p:nvSpPr>
        <p:spPr>
          <a:xfrm>
            <a:off x="496119" y="1059284"/>
            <a:ext cx="8151763" cy="4018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700" u="none" cap="none" strike="noStrike">
                <a:solidFill>
                  <a:srgbClr val="3257B8"/>
                </a:solidFill>
                <a:latin typeface="Roboto Slab"/>
                <a:ea typeface="Roboto Slab"/>
                <a:cs typeface="Roboto Slab"/>
                <a:sym typeface="Roboto Slab"/>
              </a:rPr>
              <a:t>졸음 감지 — EAR 측정기 </a:t>
            </a:r>
            <a:r>
              <a:rPr b="1" i="0" lang="ko-KR" sz="2700" u="none" cap="none" strike="noStrike">
                <a:solidFill>
                  <a:srgbClr val="000000"/>
                </a:solidFill>
                <a:latin typeface="Roboto Slab"/>
                <a:ea typeface="Roboto Slab"/>
                <a:cs typeface="Roboto Slab"/>
                <a:sym typeface="Roboto Slab"/>
              </a:rPr>
              <a:t>😴</a:t>
            </a:r>
            <a:endParaRPr b="1" i="0" sz="2700" u="none" cap="none" strike="noStrike">
              <a:solidFill>
                <a:schemeClr val="dk1"/>
              </a:solidFill>
              <a:latin typeface="Calibri"/>
              <a:ea typeface="Calibri"/>
              <a:cs typeface="Calibri"/>
              <a:sym typeface="Calibri"/>
            </a:endParaRPr>
          </a:p>
        </p:txBody>
      </p:sp>
      <p:sp>
        <p:nvSpPr>
          <p:cNvPr id="651" name="Google Shape;651;p31"/>
          <p:cNvSpPr/>
          <p:nvPr/>
        </p:nvSpPr>
        <p:spPr>
          <a:xfrm>
            <a:off x="496119" y="1647155"/>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450" u="none" cap="none" strike="noStrike">
                <a:solidFill>
                  <a:srgbClr val="15213F"/>
                </a:solidFill>
                <a:latin typeface="Roboto"/>
                <a:ea typeface="Roboto"/>
                <a:cs typeface="Roboto"/>
                <a:sym typeface="Roboto"/>
              </a:rPr>
              <a:t>EAR = 눈의 세로 ÷ 가로 = 만두 납작함 측정기!</a:t>
            </a:r>
            <a:r>
              <a:rPr b="0" i="0" lang="ko-KR" sz="1450" u="none" cap="none" strike="noStrike">
                <a:solidFill>
                  <a:srgbClr val="15213F"/>
                </a:solidFill>
                <a:latin typeface="Roboto"/>
                <a:ea typeface="Roboto"/>
                <a:cs typeface="Roboto"/>
                <a:sym typeface="Roboto"/>
              </a:rPr>
              <a:t> 중학교 수학의 피타고라스 정리로 두 점 사이 거리를 계산합니다!</a:t>
            </a:r>
            <a:endParaRPr b="0" i="0" sz="1450" u="none" cap="none" strike="noStrike">
              <a:solidFill>
                <a:schemeClr val="dk1"/>
              </a:solidFill>
              <a:latin typeface="Calibri"/>
              <a:ea typeface="Calibri"/>
              <a:cs typeface="Calibri"/>
              <a:sym typeface="Calibri"/>
            </a:endParaRPr>
          </a:p>
        </p:txBody>
      </p:sp>
      <p:sp>
        <p:nvSpPr>
          <p:cNvPr id="652" name="Google Shape;652;p31"/>
          <p:cNvSpPr/>
          <p:nvPr/>
        </p:nvSpPr>
        <p:spPr>
          <a:xfrm>
            <a:off x="496119" y="1985144"/>
            <a:ext cx="8151763" cy="917897"/>
          </a:xfrm>
          <a:prstGeom prst="roundRect">
            <a:avLst>
              <a:gd fmla="val 2027"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1"/>
          <p:cNvSpPr/>
          <p:nvPr/>
        </p:nvSpPr>
        <p:spPr>
          <a:xfrm>
            <a:off x="496119" y="1985144"/>
            <a:ext cx="4075881" cy="917897"/>
          </a:xfrm>
          <a:custGeom>
            <a:rect b="b" l="l" r="r" t="t"/>
            <a:pathLst>
              <a:path extrusionOk="0" h="917897" w="4075881">
                <a:moveTo>
                  <a:pt x="15506" y="0"/>
                </a:moveTo>
                <a:lnTo>
                  <a:pt x="4075881" y="0"/>
                </a:lnTo>
                <a:lnTo>
                  <a:pt x="4075881" y="917897"/>
                </a:lnTo>
                <a:lnTo>
                  <a:pt x="15506" y="917897"/>
                </a:lnTo>
                <a:cubicBezTo>
                  <a:pt x="6942" y="917897"/>
                  <a:pt x="0" y="910955"/>
                  <a:pt x="0" y="902391"/>
                </a:cubicBezTo>
                <a:lnTo>
                  <a:pt x="0" y="15506"/>
                </a:lnTo>
                <a:cubicBezTo>
                  <a:pt x="0" y="6942"/>
                  <a:pt x="6942" y="0"/>
                  <a:pt x="15506" y="0"/>
                </a:cubicBezTo>
                <a:close/>
              </a:path>
            </a:pathLst>
          </a:cu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1"/>
          <p:cNvSpPr/>
          <p:nvPr/>
        </p:nvSpPr>
        <p:spPr>
          <a:xfrm>
            <a:off x="620092" y="2109118"/>
            <a:ext cx="3827934"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800" u="none" cap="none" strike="noStrike">
                <a:solidFill>
                  <a:srgbClr val="000000"/>
                </a:solidFill>
                <a:latin typeface="Roboto Slab"/>
                <a:ea typeface="Roboto Slab"/>
                <a:cs typeface="Roboto Slab"/>
                <a:sym typeface="Roboto Slab"/>
              </a:rPr>
              <a:t>🥟</a:t>
            </a:r>
            <a:r>
              <a:rPr b="0" i="0" lang="ko-KR" sz="1800" u="none" cap="none" strike="noStrike">
                <a:solidFill>
                  <a:srgbClr val="15213F"/>
                </a:solidFill>
                <a:latin typeface="Roboto Slab"/>
                <a:ea typeface="Roboto Slab"/>
                <a:cs typeface="Roboto Slab"/>
                <a:sym typeface="Roboto Slab"/>
              </a:rPr>
              <a:t> 통통한 만두 (눈 열림)</a:t>
            </a:r>
            <a:endParaRPr b="0" i="0" sz="1800" u="none" cap="none" strike="noStrike">
              <a:solidFill>
                <a:schemeClr val="dk1"/>
              </a:solidFill>
              <a:latin typeface="Calibri"/>
              <a:ea typeface="Calibri"/>
              <a:cs typeface="Calibri"/>
              <a:sym typeface="Calibri"/>
            </a:endParaRPr>
          </a:p>
        </p:txBody>
      </p:sp>
      <p:sp>
        <p:nvSpPr>
          <p:cNvPr id="655" name="Google Shape;655;p31"/>
          <p:cNvSpPr/>
          <p:nvPr/>
        </p:nvSpPr>
        <p:spPr>
          <a:xfrm>
            <a:off x="620092" y="2382143"/>
            <a:ext cx="3827934"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EAR = 0.30</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 깨어있다! </a:t>
            </a:r>
            <a:r>
              <a:rPr b="0" i="0" lang="ko-KR" sz="950" u="none" cap="none" strike="noStrike">
                <a:solidFill>
                  <a:srgbClr val="000000"/>
                </a:solidFill>
                <a:latin typeface="Roboto"/>
                <a:ea typeface="Roboto"/>
                <a:cs typeface="Roboto"/>
                <a:sym typeface="Roboto"/>
              </a:rPr>
              <a:t>🟢</a:t>
            </a:r>
            <a:endParaRPr b="0" i="0" sz="950" u="none" cap="none" strike="noStrike">
              <a:solidFill>
                <a:schemeClr val="dk1"/>
              </a:solidFill>
              <a:latin typeface="Calibri"/>
              <a:ea typeface="Calibri"/>
              <a:cs typeface="Calibri"/>
              <a:sym typeface="Calibri"/>
            </a:endParaRPr>
          </a:p>
        </p:txBody>
      </p:sp>
      <p:sp>
        <p:nvSpPr>
          <p:cNvPr id="656" name="Google Shape;656;p31"/>
          <p:cNvSpPr/>
          <p:nvPr/>
        </p:nvSpPr>
        <p:spPr>
          <a:xfrm>
            <a:off x="4572000" y="1985144"/>
            <a:ext cx="4075881" cy="917897"/>
          </a:xfrm>
          <a:custGeom>
            <a:rect b="b" l="l" r="r" t="t"/>
            <a:pathLst>
              <a:path extrusionOk="0" h="917897" w="4075881">
                <a:moveTo>
                  <a:pt x="0" y="0"/>
                </a:moveTo>
                <a:lnTo>
                  <a:pt x="4060376" y="0"/>
                </a:lnTo>
                <a:cubicBezTo>
                  <a:pt x="4064488" y="0"/>
                  <a:pt x="4068432" y="1634"/>
                  <a:pt x="4071340" y="4542"/>
                </a:cubicBezTo>
                <a:cubicBezTo>
                  <a:pt x="4074248" y="7450"/>
                  <a:pt x="4075882" y="11394"/>
                  <a:pt x="4075882" y="15506"/>
                </a:cubicBezTo>
                <a:lnTo>
                  <a:pt x="4075881" y="902392"/>
                </a:lnTo>
                <a:cubicBezTo>
                  <a:pt x="4075881" y="910956"/>
                  <a:pt x="4068939" y="917898"/>
                  <a:pt x="4060375" y="917898"/>
                </a:cubicBezTo>
                <a:lnTo>
                  <a:pt x="0" y="917897"/>
                </a:lnTo>
                <a:lnTo>
                  <a:pt x="0" y="0"/>
                </a:lnTo>
                <a:close/>
              </a:path>
            </a:pathLst>
          </a:cu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1"/>
          <p:cNvSpPr/>
          <p:nvPr/>
        </p:nvSpPr>
        <p:spPr>
          <a:xfrm>
            <a:off x="4572000" y="1985144"/>
            <a:ext cx="14288" cy="917897"/>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1"/>
          <p:cNvSpPr/>
          <p:nvPr/>
        </p:nvSpPr>
        <p:spPr>
          <a:xfrm>
            <a:off x="4695974" y="2109118"/>
            <a:ext cx="3827934"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800" u="none" cap="none" strike="noStrike">
                <a:solidFill>
                  <a:srgbClr val="000000"/>
                </a:solidFill>
                <a:latin typeface="Roboto Slab"/>
                <a:ea typeface="Roboto Slab"/>
                <a:cs typeface="Roboto Slab"/>
                <a:sym typeface="Roboto Slab"/>
              </a:rPr>
              <a:t>🫓</a:t>
            </a:r>
            <a:r>
              <a:rPr b="0" i="0" lang="ko-KR" sz="1800" u="none" cap="none" strike="noStrike">
                <a:solidFill>
                  <a:srgbClr val="15213F"/>
                </a:solidFill>
                <a:latin typeface="Roboto Slab"/>
                <a:ea typeface="Roboto Slab"/>
                <a:cs typeface="Roboto Slab"/>
                <a:sym typeface="Roboto Slab"/>
              </a:rPr>
              <a:t> 납작한 만두 (눈 감김)</a:t>
            </a:r>
            <a:endParaRPr b="0" i="0" sz="1800" u="none" cap="none" strike="noStrike">
              <a:solidFill>
                <a:schemeClr val="dk1"/>
              </a:solidFill>
              <a:latin typeface="Calibri"/>
              <a:ea typeface="Calibri"/>
              <a:cs typeface="Calibri"/>
              <a:sym typeface="Calibri"/>
            </a:endParaRPr>
          </a:p>
        </p:txBody>
      </p:sp>
      <p:sp>
        <p:nvSpPr>
          <p:cNvPr id="659" name="Google Shape;659;p31"/>
          <p:cNvSpPr/>
          <p:nvPr/>
        </p:nvSpPr>
        <p:spPr>
          <a:xfrm>
            <a:off x="4695974" y="2382143"/>
            <a:ext cx="3827934"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EAR = 0.10~0.15</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 졸고 있다! </a:t>
            </a:r>
            <a:r>
              <a:rPr b="0" i="0" lang="ko-KR" sz="950" u="none" cap="none" strike="noStrike">
                <a:solidFill>
                  <a:srgbClr val="000000"/>
                </a:solidFill>
                <a:latin typeface="Roboto"/>
                <a:ea typeface="Roboto"/>
                <a:cs typeface="Roboto"/>
                <a:sym typeface="Roboto"/>
              </a:rPr>
              <a:t>😴</a:t>
            </a:r>
            <a:endParaRPr b="0" i="0" sz="950" u="none" cap="none" strike="noStrike">
              <a:solidFill>
                <a:schemeClr val="dk1"/>
              </a:solidFill>
              <a:latin typeface="Calibri"/>
              <a:ea typeface="Calibri"/>
              <a:cs typeface="Calibri"/>
              <a:sym typeface="Calibri"/>
            </a:endParaRPr>
          </a:p>
        </p:txBody>
      </p:sp>
      <p:sp>
        <p:nvSpPr>
          <p:cNvPr id="660" name="Google Shape;660;p31"/>
          <p:cNvSpPr/>
          <p:nvPr/>
        </p:nvSpPr>
        <p:spPr>
          <a:xfrm>
            <a:off x="496119" y="3042568"/>
            <a:ext cx="2634555" cy="941710"/>
          </a:xfrm>
          <a:prstGeom prst="roundRect">
            <a:avLst>
              <a:gd fmla="val 1976" name="adj"/>
            </a:avLst>
          </a:prstGeom>
          <a:solidFill>
            <a:srgbClr val="FBFCFE"/>
          </a:solidFill>
          <a:ln cap="flat" cmpd="sng" w="1427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1"/>
          <p:cNvSpPr/>
          <p:nvPr/>
        </p:nvSpPr>
        <p:spPr>
          <a:xfrm>
            <a:off x="634380" y="3180829"/>
            <a:ext cx="2358033"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일반 눈 깜빡임</a:t>
            </a:r>
            <a:endParaRPr b="1" i="0" sz="1600" u="none" cap="none" strike="noStrike">
              <a:solidFill>
                <a:schemeClr val="dk1"/>
              </a:solidFill>
              <a:latin typeface="Calibri"/>
              <a:ea typeface="Calibri"/>
              <a:cs typeface="Calibri"/>
              <a:sym typeface="Calibri"/>
            </a:endParaRPr>
          </a:p>
        </p:txBody>
      </p:sp>
      <p:sp>
        <p:nvSpPr>
          <p:cNvPr id="662" name="Google Shape;662;p31"/>
          <p:cNvSpPr/>
          <p:nvPr/>
        </p:nvSpPr>
        <p:spPr>
          <a:xfrm>
            <a:off x="634380" y="3449092"/>
            <a:ext cx="2358033"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EAR 0.10, 0.2초</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무시</a:t>
            </a:r>
            <a:r>
              <a:rPr b="0" i="0" lang="ko-KR" sz="950" u="none" cap="none" strike="noStrike">
                <a:solidFill>
                  <a:srgbClr val="15213F"/>
                </a:solidFill>
                <a:latin typeface="Roboto"/>
                <a:ea typeface="Roboto"/>
                <a:cs typeface="Roboto"/>
                <a:sym typeface="Roboto"/>
              </a:rPr>
              <a:t> (정상 반응)</a:t>
            </a:r>
            <a:endParaRPr b="0" i="0" sz="950" u="none" cap="none" strike="noStrike">
              <a:solidFill>
                <a:schemeClr val="dk1"/>
              </a:solidFill>
              <a:latin typeface="Calibri"/>
              <a:ea typeface="Calibri"/>
              <a:cs typeface="Calibri"/>
              <a:sym typeface="Calibri"/>
            </a:endParaRPr>
          </a:p>
        </p:txBody>
      </p:sp>
      <p:sp>
        <p:nvSpPr>
          <p:cNvPr id="663" name="Google Shape;663;p31"/>
          <p:cNvSpPr/>
          <p:nvPr/>
        </p:nvSpPr>
        <p:spPr>
          <a:xfrm>
            <a:off x="3254648" y="3042568"/>
            <a:ext cx="2634630" cy="941710"/>
          </a:xfrm>
          <a:prstGeom prst="roundRect">
            <a:avLst>
              <a:gd fmla="val 1976" name="adj"/>
            </a:avLst>
          </a:prstGeom>
          <a:solidFill>
            <a:srgbClr val="FBFCFE"/>
          </a:solidFill>
          <a:ln cap="flat" cmpd="sng" w="1427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1"/>
          <p:cNvSpPr/>
          <p:nvPr/>
        </p:nvSpPr>
        <p:spPr>
          <a:xfrm>
            <a:off x="3392909" y="3180829"/>
            <a:ext cx="2358107"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졸음 판정</a:t>
            </a:r>
            <a:endParaRPr b="1" i="0" sz="1600" u="none" cap="none" strike="noStrike">
              <a:solidFill>
                <a:schemeClr val="dk1"/>
              </a:solidFill>
              <a:latin typeface="Calibri"/>
              <a:ea typeface="Calibri"/>
              <a:cs typeface="Calibri"/>
              <a:sym typeface="Calibri"/>
            </a:endParaRPr>
          </a:p>
        </p:txBody>
      </p:sp>
      <p:sp>
        <p:nvSpPr>
          <p:cNvPr id="665" name="Google Shape;665;p31"/>
          <p:cNvSpPr/>
          <p:nvPr/>
        </p:nvSpPr>
        <p:spPr>
          <a:xfrm>
            <a:off x="3392909" y="3449092"/>
            <a:ext cx="2358107"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EAR 0.15, </a:t>
            </a:r>
            <a:r>
              <a:rPr b="1" i="0" lang="ko-KR" sz="950" u="none" cap="none" strike="noStrike">
                <a:solidFill>
                  <a:srgbClr val="15213F"/>
                </a:solidFill>
                <a:latin typeface="Roboto"/>
                <a:ea typeface="Roboto"/>
                <a:cs typeface="Roboto"/>
                <a:sym typeface="Roboto"/>
              </a:rPr>
              <a:t>1.5초 이상</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 졸음 감지! </a:t>
            </a:r>
            <a:r>
              <a:rPr b="0" i="0" lang="ko-KR" sz="950" u="none" cap="none" strike="noStrike">
                <a:solidFill>
                  <a:srgbClr val="000000"/>
                </a:solidFill>
                <a:latin typeface="Roboto"/>
                <a:ea typeface="Roboto"/>
                <a:cs typeface="Roboto"/>
                <a:sym typeface="Roboto"/>
              </a:rPr>
              <a:t>😴</a:t>
            </a:r>
            <a:endParaRPr b="0" i="0" sz="950" u="none" cap="none" strike="noStrike">
              <a:solidFill>
                <a:schemeClr val="dk1"/>
              </a:solidFill>
              <a:latin typeface="Calibri"/>
              <a:ea typeface="Calibri"/>
              <a:cs typeface="Calibri"/>
              <a:sym typeface="Calibri"/>
            </a:endParaRPr>
          </a:p>
        </p:txBody>
      </p:sp>
      <p:sp>
        <p:nvSpPr>
          <p:cNvPr id="666" name="Google Shape;666;p31"/>
          <p:cNvSpPr/>
          <p:nvPr/>
        </p:nvSpPr>
        <p:spPr>
          <a:xfrm>
            <a:off x="6013252" y="3042568"/>
            <a:ext cx="2634555" cy="941710"/>
          </a:xfrm>
          <a:prstGeom prst="roundRect">
            <a:avLst>
              <a:gd fmla="val 1976" name="adj"/>
            </a:avLst>
          </a:prstGeom>
          <a:solidFill>
            <a:srgbClr val="FBFCFE"/>
          </a:solidFill>
          <a:ln cap="flat" cmpd="sng" w="1427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31"/>
          <p:cNvSpPr/>
          <p:nvPr/>
        </p:nvSpPr>
        <p:spPr>
          <a:xfrm>
            <a:off x="6151513" y="3180829"/>
            <a:ext cx="2358033"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200"/>
              <a:buFont typeface="Roboto Slab"/>
              <a:buNone/>
            </a:pPr>
            <a:r>
              <a:rPr b="1" i="0" lang="ko-KR" sz="1600" u="none" cap="none" strike="noStrike">
                <a:solidFill>
                  <a:srgbClr val="15213F"/>
                </a:solidFill>
                <a:latin typeface="Roboto Slab"/>
                <a:ea typeface="Roboto Slab"/>
                <a:cs typeface="Roboto Slab"/>
                <a:sym typeface="Roboto Slab"/>
              </a:rPr>
              <a:t>활짝 뜬 눈</a:t>
            </a:r>
            <a:endParaRPr b="1" i="0" sz="1600" u="none" cap="none" strike="noStrike">
              <a:solidFill>
                <a:schemeClr val="dk1"/>
              </a:solidFill>
              <a:latin typeface="Calibri"/>
              <a:ea typeface="Calibri"/>
              <a:cs typeface="Calibri"/>
              <a:sym typeface="Calibri"/>
            </a:endParaRPr>
          </a:p>
        </p:txBody>
      </p:sp>
      <p:sp>
        <p:nvSpPr>
          <p:cNvPr id="668" name="Google Shape;668;p31"/>
          <p:cNvSpPr/>
          <p:nvPr/>
        </p:nvSpPr>
        <p:spPr>
          <a:xfrm>
            <a:off x="6151513" y="3449092"/>
            <a:ext cx="2358033"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EAR 0.30</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깨어있음</a:t>
            </a:r>
            <a:r>
              <a:rPr b="0" i="0" lang="ko-KR" sz="950" u="none" cap="none" strike="noStrike">
                <a:solidFill>
                  <a:srgbClr val="15213F"/>
                </a:solidFill>
                <a:latin typeface="Roboto"/>
                <a:ea typeface="Roboto"/>
                <a:cs typeface="Roboto"/>
                <a:sym typeface="Roboto"/>
              </a:rPr>
              <a:t> </a:t>
            </a:r>
            <a:r>
              <a:rPr b="0" i="0" lang="ko-KR" sz="950" u="none" cap="none" strike="noStrike">
                <a:solidFill>
                  <a:srgbClr val="000000"/>
                </a:solidFill>
                <a:latin typeface="Roboto"/>
                <a:ea typeface="Roboto"/>
                <a:cs typeface="Roboto"/>
                <a:sym typeface="Roboto"/>
              </a:rPr>
              <a:t>🟢</a:t>
            </a:r>
            <a:endParaRPr b="0" i="0" sz="950" u="none" cap="none" strike="noStrike">
              <a:solidFill>
                <a:schemeClr val="dk1"/>
              </a:solidFill>
              <a:latin typeface="Calibri"/>
              <a:ea typeface="Calibri"/>
              <a:cs typeface="Calibri"/>
              <a:sym typeface="Calibri"/>
            </a:endParaRPr>
          </a:p>
        </p:txBody>
      </p:sp>
      <p:sp>
        <p:nvSpPr>
          <p:cNvPr id="669" name="Google Shape;669;p31"/>
          <p:cNvSpPr/>
          <p:nvPr/>
        </p:nvSpPr>
        <p:spPr>
          <a:xfrm>
            <a:off x="496119" y="4123804"/>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판정 기준:</a:t>
            </a:r>
            <a:r>
              <a:rPr b="0" i="0" lang="ko-KR" sz="950" u="none" cap="none" strike="noStrike">
                <a:solidFill>
                  <a:srgbClr val="15213F"/>
                </a:solidFill>
                <a:latin typeface="Roboto"/>
                <a:ea typeface="Roboto"/>
                <a:cs typeface="Roboto"/>
                <a:sym typeface="Roboto"/>
              </a:rPr>
              <a:t> EAR &lt; 0.20이 1.5초 이상 지속되면 → 졸음! 피타고라스 정리가 여기서 쓰인다는 것, 알았나요? </a:t>
            </a:r>
            <a:r>
              <a:rPr b="0" i="0" lang="ko-KR" sz="950" u="none" cap="none" strike="noStrike">
                <a:solidFill>
                  <a:srgbClr val="000000"/>
                </a:solidFill>
                <a:latin typeface="Roboto"/>
                <a:ea typeface="Roboto"/>
                <a:cs typeface="Roboto"/>
                <a:sym typeface="Roboto"/>
              </a:rPr>
              <a:t>😄</a:t>
            </a:r>
            <a:endParaRPr b="0" i="0" sz="950" u="none" cap="none" strike="noStrike">
              <a:solidFill>
                <a:schemeClr val="dk1"/>
              </a:solidFill>
              <a:latin typeface="Calibri"/>
              <a:ea typeface="Calibri"/>
              <a:cs typeface="Calibri"/>
              <a:sym typeface="Calibri"/>
            </a:endParaRPr>
          </a:p>
        </p:txBody>
      </p:sp>
      <p:pic>
        <p:nvPicPr>
          <p:cNvPr id="670" name="Google Shape;670;p31"/>
          <p:cNvPicPr preferRelativeResize="0"/>
          <p:nvPr/>
        </p:nvPicPr>
        <p:blipFill>
          <a:blip r:embed="rId3">
            <a:alphaModFix/>
          </a:blip>
          <a:stretch>
            <a:fillRect/>
          </a:stretch>
        </p:blipFill>
        <p:spPr>
          <a:xfrm>
            <a:off x="7334975" y="3042575"/>
            <a:ext cx="1770100" cy="19957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32"/>
          <p:cNvSpPr/>
          <p:nvPr/>
        </p:nvSpPr>
        <p:spPr>
          <a:xfrm>
            <a:off x="496119" y="353095"/>
            <a:ext cx="509141" cy="176585"/>
          </a:xfrm>
          <a:prstGeom prst="roundRect">
            <a:avLst>
              <a:gd fmla="val 7903"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2"/>
          <p:cNvSpPr/>
          <p:nvPr/>
        </p:nvSpPr>
        <p:spPr>
          <a:xfrm>
            <a:off x="565845" y="387921"/>
            <a:ext cx="826889" cy="10693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00"/>
              <a:buFont typeface="Roboto"/>
              <a:buNone/>
            </a:pPr>
            <a:r>
              <a:rPr b="0" i="0" lang="ko-KR" sz="700" u="none" cap="none" strike="noStrike">
                <a:solidFill>
                  <a:srgbClr val="15213F"/>
                </a:solidFill>
                <a:latin typeface="Roboto"/>
                <a:ea typeface="Roboto"/>
                <a:cs typeface="Roboto"/>
                <a:sym typeface="Roboto"/>
              </a:rPr>
              <a:t>PHASE 3</a:t>
            </a:r>
            <a:endParaRPr b="0" i="0" sz="700" u="none" cap="none" strike="noStrike">
              <a:solidFill>
                <a:schemeClr val="dk1"/>
              </a:solidFill>
              <a:latin typeface="Calibri"/>
              <a:ea typeface="Calibri"/>
              <a:cs typeface="Calibri"/>
              <a:sym typeface="Calibri"/>
            </a:endParaRPr>
          </a:p>
        </p:txBody>
      </p:sp>
      <p:sp>
        <p:nvSpPr>
          <p:cNvPr id="678" name="Google Shape;678;p32"/>
          <p:cNvSpPr/>
          <p:nvPr/>
        </p:nvSpPr>
        <p:spPr>
          <a:xfrm>
            <a:off x="496119" y="573286"/>
            <a:ext cx="8151763" cy="37288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250"/>
              <a:buFont typeface="Roboto Slab"/>
              <a:buNone/>
            </a:pPr>
            <a:r>
              <a:rPr b="1" i="0" lang="ko-KR" sz="2250" u="none" cap="none" strike="noStrike">
                <a:solidFill>
                  <a:srgbClr val="3257B8"/>
                </a:solidFill>
                <a:latin typeface="Roboto Slab"/>
                <a:ea typeface="Roboto Slab"/>
                <a:cs typeface="Roboto Slab"/>
                <a:sym typeface="Roboto Slab"/>
              </a:rPr>
              <a:t>고개 방향 감지 — 시소 기울기 체크 </a:t>
            </a:r>
            <a:r>
              <a:rPr b="1" i="0" lang="ko-KR" sz="2250" u="none" cap="none" strike="noStrike">
                <a:solidFill>
                  <a:srgbClr val="000000"/>
                </a:solidFill>
                <a:latin typeface="Roboto Slab"/>
                <a:ea typeface="Roboto Slab"/>
                <a:cs typeface="Roboto Slab"/>
                <a:sym typeface="Roboto Slab"/>
              </a:rPr>
              <a:t>😶</a:t>
            </a:r>
            <a:endParaRPr b="1" i="0" sz="2250" u="none" cap="none" strike="noStrike">
              <a:solidFill>
                <a:schemeClr val="dk1"/>
              </a:solidFill>
              <a:latin typeface="Calibri"/>
              <a:ea typeface="Calibri"/>
              <a:cs typeface="Calibri"/>
              <a:sym typeface="Calibri"/>
            </a:endParaRPr>
          </a:p>
        </p:txBody>
      </p:sp>
      <p:sp>
        <p:nvSpPr>
          <p:cNvPr id="679" name="Google Shape;679;p32"/>
          <p:cNvSpPr/>
          <p:nvPr/>
        </p:nvSpPr>
        <p:spPr>
          <a:xfrm>
            <a:off x="496119" y="1109663"/>
            <a:ext cx="8608963" cy="180231"/>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5213F"/>
              </a:buClr>
              <a:buSzPts val="900"/>
              <a:buFont typeface="Roboto"/>
              <a:buNone/>
            </a:pPr>
            <a:r>
              <a:rPr b="1" i="0" lang="ko-KR" sz="1500" u="none" cap="none" strike="noStrike">
                <a:solidFill>
                  <a:srgbClr val="15213F"/>
                </a:solidFill>
                <a:latin typeface="Roboto"/>
                <a:ea typeface="Roboto"/>
                <a:cs typeface="Roboto"/>
                <a:sym typeface="Roboto"/>
              </a:rPr>
              <a:t>코가 얼굴 중앙에 있는지 확인!</a:t>
            </a:r>
            <a:r>
              <a:rPr b="0" i="0" lang="ko-KR" sz="1500" u="none" cap="none" strike="noStrike">
                <a:solidFill>
                  <a:srgbClr val="15213F"/>
                </a:solidFill>
                <a:latin typeface="Roboto"/>
                <a:ea typeface="Roboto"/>
                <a:cs typeface="Roboto"/>
                <a:sym typeface="Roboto"/>
              </a:rPr>
              <a:t> 코가 한쪽으로 쏠리면 시소가 기울어진 것 = 멍때림입니다.</a:t>
            </a:r>
            <a:endParaRPr b="0" i="0" sz="1500" u="none" cap="none" strike="noStrike">
              <a:solidFill>
                <a:schemeClr val="dk1"/>
              </a:solidFill>
              <a:latin typeface="Calibri"/>
              <a:ea typeface="Calibri"/>
              <a:cs typeface="Calibri"/>
              <a:sym typeface="Calibri"/>
            </a:endParaRPr>
          </a:p>
        </p:txBody>
      </p:sp>
      <p:sp>
        <p:nvSpPr>
          <p:cNvPr id="680" name="Google Shape;680;p32"/>
          <p:cNvSpPr/>
          <p:nvPr/>
        </p:nvSpPr>
        <p:spPr>
          <a:xfrm>
            <a:off x="496119" y="1535162"/>
            <a:ext cx="1912516" cy="893118"/>
          </a:xfrm>
          <a:prstGeom prst="roundRect">
            <a:avLst>
              <a:gd fmla="val 1953"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2"/>
          <p:cNvSpPr/>
          <p:nvPr/>
        </p:nvSpPr>
        <p:spPr>
          <a:xfrm>
            <a:off x="612353" y="1651397"/>
            <a:ext cx="1680046" cy="19117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100"/>
              <a:buFont typeface="Roboto Slab"/>
              <a:buNone/>
            </a:pPr>
            <a:r>
              <a:rPr b="1" i="0" lang="ko-KR" sz="1100" u="none" cap="none" strike="noStrike">
                <a:solidFill>
                  <a:srgbClr val="000000"/>
                </a:solidFill>
                <a:latin typeface="Roboto Slab"/>
                <a:ea typeface="Roboto Slab"/>
                <a:cs typeface="Roboto Slab"/>
                <a:sym typeface="Roboto Slab"/>
              </a:rPr>
              <a:t>⚖️</a:t>
            </a:r>
            <a:r>
              <a:rPr b="1" i="0" lang="ko-KR" sz="1100" u="none" cap="none" strike="noStrike">
                <a:solidFill>
                  <a:srgbClr val="15213F"/>
                </a:solidFill>
                <a:latin typeface="Roboto Slab"/>
                <a:ea typeface="Roboto Slab"/>
                <a:cs typeface="Roboto Slab"/>
                <a:sym typeface="Roboto Slab"/>
              </a:rPr>
              <a:t> 시소 수평</a:t>
            </a:r>
            <a:endParaRPr b="1" i="0" sz="1100" u="none" cap="none" strike="noStrike">
              <a:solidFill>
                <a:schemeClr val="dk1"/>
              </a:solidFill>
              <a:latin typeface="Calibri"/>
              <a:ea typeface="Calibri"/>
              <a:cs typeface="Calibri"/>
              <a:sym typeface="Calibri"/>
            </a:endParaRPr>
          </a:p>
        </p:txBody>
      </p:sp>
      <p:sp>
        <p:nvSpPr>
          <p:cNvPr id="682" name="Google Shape;682;p32"/>
          <p:cNvSpPr/>
          <p:nvPr/>
        </p:nvSpPr>
        <p:spPr>
          <a:xfrm>
            <a:off x="612353" y="1951583"/>
            <a:ext cx="1680046" cy="180231"/>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5213F"/>
              </a:buClr>
              <a:buSzPts val="900"/>
              <a:buFont typeface="Roboto"/>
              <a:buNone/>
            </a:pPr>
            <a:r>
              <a:rPr b="0" i="0" lang="ko-KR" sz="1100" u="none" cap="none" strike="noStrike">
                <a:solidFill>
                  <a:srgbClr val="15213F"/>
                </a:solidFill>
                <a:latin typeface="Roboto"/>
                <a:ea typeface="Roboto"/>
                <a:cs typeface="Roboto"/>
                <a:sym typeface="Roboto"/>
              </a:rPr>
              <a:t>코가 중앙 → 정면 응시 → 집중!</a:t>
            </a:r>
            <a:endParaRPr b="0" i="0" sz="1100" u="none" cap="none" strike="noStrike">
              <a:solidFill>
                <a:schemeClr val="dk1"/>
              </a:solidFill>
              <a:latin typeface="Calibri"/>
              <a:ea typeface="Calibri"/>
              <a:cs typeface="Calibri"/>
              <a:sym typeface="Calibri"/>
            </a:endParaRPr>
          </a:p>
        </p:txBody>
      </p:sp>
      <p:sp>
        <p:nvSpPr>
          <p:cNvPr id="683" name="Google Shape;683;p32"/>
          <p:cNvSpPr/>
          <p:nvPr/>
        </p:nvSpPr>
        <p:spPr>
          <a:xfrm>
            <a:off x="2517651" y="1535162"/>
            <a:ext cx="1912516" cy="893118"/>
          </a:xfrm>
          <a:prstGeom prst="roundRect">
            <a:avLst>
              <a:gd fmla="val 1953"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2"/>
          <p:cNvSpPr/>
          <p:nvPr/>
        </p:nvSpPr>
        <p:spPr>
          <a:xfrm>
            <a:off x="2633886" y="1651397"/>
            <a:ext cx="1680046" cy="19117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100"/>
              <a:buFont typeface="Roboto Slab"/>
              <a:buNone/>
            </a:pPr>
            <a:r>
              <a:rPr b="1" i="0" lang="ko-KR" sz="1100" u="none" cap="none" strike="noStrike">
                <a:solidFill>
                  <a:srgbClr val="000000"/>
                </a:solidFill>
                <a:latin typeface="Roboto Slab"/>
                <a:ea typeface="Roboto Slab"/>
                <a:cs typeface="Roboto Slab"/>
                <a:sym typeface="Roboto Slab"/>
              </a:rPr>
              <a:t>↗️</a:t>
            </a:r>
            <a:r>
              <a:rPr b="1" i="0" lang="ko-KR" sz="1100" u="none" cap="none" strike="noStrike">
                <a:solidFill>
                  <a:srgbClr val="15213F"/>
                </a:solidFill>
                <a:latin typeface="Roboto Slab"/>
                <a:ea typeface="Roboto Slab"/>
                <a:cs typeface="Roboto Slab"/>
                <a:sym typeface="Roboto Slab"/>
              </a:rPr>
              <a:t> 시소 기울어짐</a:t>
            </a:r>
            <a:endParaRPr b="1" i="0" sz="1100" u="none" cap="none" strike="noStrike">
              <a:solidFill>
                <a:schemeClr val="dk1"/>
              </a:solidFill>
              <a:latin typeface="Calibri"/>
              <a:ea typeface="Calibri"/>
              <a:cs typeface="Calibri"/>
              <a:sym typeface="Calibri"/>
            </a:endParaRPr>
          </a:p>
        </p:txBody>
      </p:sp>
      <p:sp>
        <p:nvSpPr>
          <p:cNvPr id="685" name="Google Shape;685;p32"/>
          <p:cNvSpPr/>
          <p:nvPr/>
        </p:nvSpPr>
        <p:spPr>
          <a:xfrm>
            <a:off x="2633886" y="1951583"/>
            <a:ext cx="1680046" cy="360462"/>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5213F"/>
              </a:buClr>
              <a:buSzPts val="900"/>
              <a:buFont typeface="Roboto"/>
              <a:buNone/>
            </a:pPr>
            <a:r>
              <a:rPr b="0" i="0" lang="ko-KR" sz="1100" u="none" cap="none" strike="noStrike">
                <a:solidFill>
                  <a:srgbClr val="15213F"/>
                </a:solidFill>
                <a:latin typeface="Roboto"/>
                <a:ea typeface="Roboto"/>
                <a:cs typeface="Roboto"/>
                <a:sym typeface="Roboto"/>
              </a:rPr>
              <a:t>코가 한쪽 쏠림 → 고개 돌림 → 멍때림!</a:t>
            </a:r>
            <a:endParaRPr b="0" i="0" sz="1100" u="none" cap="none" strike="noStrike">
              <a:solidFill>
                <a:schemeClr val="dk1"/>
              </a:solidFill>
              <a:latin typeface="Calibri"/>
              <a:ea typeface="Calibri"/>
              <a:cs typeface="Calibri"/>
              <a:sym typeface="Calibri"/>
            </a:endParaRPr>
          </a:p>
        </p:txBody>
      </p:sp>
      <p:sp>
        <p:nvSpPr>
          <p:cNvPr id="686" name="Google Shape;686;p32"/>
          <p:cNvSpPr/>
          <p:nvPr/>
        </p:nvSpPr>
        <p:spPr>
          <a:xfrm>
            <a:off x="4718596" y="1521544"/>
            <a:ext cx="3934048" cy="1816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1100"/>
              <a:buFont typeface="Roboto Slab"/>
              <a:buNone/>
            </a:pPr>
            <a:r>
              <a:rPr b="0" i="0" lang="ko-KR" sz="1100" u="none" cap="none" strike="noStrike">
                <a:solidFill>
                  <a:srgbClr val="3257B8"/>
                </a:solidFill>
                <a:latin typeface="Roboto Slab"/>
                <a:ea typeface="Roboto Slab"/>
                <a:cs typeface="Roboto Slab"/>
                <a:sym typeface="Roboto Slab"/>
              </a:rPr>
              <a:t>점점 강해지는 경고 (선생님의 인내심)</a:t>
            </a:r>
            <a:endParaRPr b="0" i="0" sz="1100" u="none" cap="none" strike="noStrike">
              <a:solidFill>
                <a:schemeClr val="dk1"/>
              </a:solidFill>
              <a:latin typeface="Calibri"/>
              <a:ea typeface="Calibri"/>
              <a:cs typeface="Calibri"/>
              <a:sym typeface="Calibri"/>
            </a:endParaRPr>
          </a:p>
        </p:txBody>
      </p:sp>
      <p:sp>
        <p:nvSpPr>
          <p:cNvPr id="687" name="Google Shape;687;p32"/>
          <p:cNvSpPr/>
          <p:nvPr/>
        </p:nvSpPr>
        <p:spPr>
          <a:xfrm>
            <a:off x="6678439" y="1825823"/>
            <a:ext cx="14288" cy="2841873"/>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2"/>
          <p:cNvSpPr/>
          <p:nvPr/>
        </p:nvSpPr>
        <p:spPr>
          <a:xfrm>
            <a:off x="6467326" y="1949500"/>
            <a:ext cx="232544" cy="14288"/>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2"/>
          <p:cNvSpPr/>
          <p:nvPr/>
        </p:nvSpPr>
        <p:spPr>
          <a:xfrm>
            <a:off x="6641976" y="1913037"/>
            <a:ext cx="87213" cy="87213"/>
          </a:xfrm>
          <a:prstGeom prst="ellipse">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32"/>
          <p:cNvSpPr/>
          <p:nvPr/>
        </p:nvSpPr>
        <p:spPr>
          <a:xfrm>
            <a:off x="4718596" y="1865784"/>
            <a:ext cx="1501825" cy="181645"/>
          </a:xfrm>
          <a:prstGeom prst="rect">
            <a:avLst/>
          </a:prstGeom>
          <a:noFill/>
          <a:ln>
            <a:noFill/>
          </a:ln>
        </p:spPr>
        <p:txBody>
          <a:bodyPr anchorCtr="0" anchor="t" bIns="0" lIns="0" spcFirstLastPara="1" rIns="0" wrap="square" tIns="0">
            <a:noAutofit/>
          </a:bodyPr>
          <a:lstStyle/>
          <a:p>
            <a:pPr indent="0" lvl="0" marL="0" marR="0" rtl="0" algn="r">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2초 — 아직 참음</a:t>
            </a:r>
            <a:endParaRPr b="1" i="0" u="none" cap="none" strike="noStrike">
              <a:solidFill>
                <a:schemeClr val="dk1"/>
              </a:solidFill>
              <a:latin typeface="Calibri"/>
              <a:ea typeface="Calibri"/>
              <a:cs typeface="Calibri"/>
              <a:sym typeface="Calibri"/>
            </a:endParaRPr>
          </a:p>
        </p:txBody>
      </p:sp>
      <p:sp>
        <p:nvSpPr>
          <p:cNvPr id="691" name="Google Shape;691;p32"/>
          <p:cNvSpPr/>
          <p:nvPr/>
        </p:nvSpPr>
        <p:spPr>
          <a:xfrm>
            <a:off x="4718596" y="2156445"/>
            <a:ext cx="1501825" cy="180231"/>
          </a:xfrm>
          <a:prstGeom prst="rect">
            <a:avLst/>
          </a:prstGeom>
          <a:noFill/>
          <a:ln>
            <a:noFill/>
          </a:ln>
        </p:spPr>
        <p:txBody>
          <a:bodyPr anchorCtr="0" anchor="t" bIns="0" lIns="0" spcFirstLastPara="1" rIns="0" wrap="square" tIns="0">
            <a:noAutofit/>
          </a:bodyPr>
          <a:lstStyle/>
          <a:p>
            <a:pPr indent="0" lvl="0" marL="0" marR="0" rtl="0" algn="r">
              <a:lnSpc>
                <a:spcPct val="129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경고 없음</a:t>
            </a:r>
            <a:endParaRPr b="0" i="0" sz="1200" u="none" cap="none" strike="noStrike">
              <a:solidFill>
                <a:schemeClr val="dk1"/>
              </a:solidFill>
              <a:latin typeface="Calibri"/>
              <a:ea typeface="Calibri"/>
              <a:cs typeface="Calibri"/>
              <a:sym typeface="Calibri"/>
            </a:endParaRPr>
          </a:p>
        </p:txBody>
      </p:sp>
      <p:sp>
        <p:nvSpPr>
          <p:cNvPr id="692" name="Google Shape;692;p32"/>
          <p:cNvSpPr/>
          <p:nvPr/>
        </p:nvSpPr>
        <p:spPr>
          <a:xfrm>
            <a:off x="6671295" y="2632695"/>
            <a:ext cx="232544" cy="14288"/>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32"/>
          <p:cNvSpPr/>
          <p:nvPr/>
        </p:nvSpPr>
        <p:spPr>
          <a:xfrm>
            <a:off x="6641976" y="2596232"/>
            <a:ext cx="87213" cy="87213"/>
          </a:xfrm>
          <a:prstGeom prst="ellipse">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32"/>
          <p:cNvSpPr/>
          <p:nvPr/>
        </p:nvSpPr>
        <p:spPr>
          <a:xfrm>
            <a:off x="7150745" y="2548979"/>
            <a:ext cx="1501899" cy="1816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10초 — 귓속말</a:t>
            </a:r>
            <a:endParaRPr b="1" i="0" u="none" cap="none" strike="noStrike">
              <a:solidFill>
                <a:schemeClr val="dk1"/>
              </a:solidFill>
              <a:latin typeface="Calibri"/>
              <a:ea typeface="Calibri"/>
              <a:cs typeface="Calibri"/>
              <a:sym typeface="Calibri"/>
            </a:endParaRPr>
          </a:p>
        </p:txBody>
      </p:sp>
      <p:sp>
        <p:nvSpPr>
          <p:cNvPr id="695" name="Google Shape;695;p32"/>
          <p:cNvSpPr/>
          <p:nvPr/>
        </p:nvSpPr>
        <p:spPr>
          <a:xfrm>
            <a:off x="7150745" y="2839641"/>
            <a:ext cx="1501899" cy="180231"/>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"집중해 주세요!"</a:t>
            </a:r>
            <a:endParaRPr b="0" i="0" sz="1200" u="none" cap="none" strike="noStrike">
              <a:solidFill>
                <a:schemeClr val="dk1"/>
              </a:solidFill>
              <a:latin typeface="Calibri"/>
              <a:ea typeface="Calibri"/>
              <a:cs typeface="Calibri"/>
              <a:sym typeface="Calibri"/>
            </a:endParaRPr>
          </a:p>
        </p:txBody>
      </p:sp>
      <p:sp>
        <p:nvSpPr>
          <p:cNvPr id="696" name="Google Shape;696;p32"/>
          <p:cNvSpPr/>
          <p:nvPr/>
        </p:nvSpPr>
        <p:spPr>
          <a:xfrm>
            <a:off x="6467326" y="3226817"/>
            <a:ext cx="232544" cy="14288"/>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2"/>
          <p:cNvSpPr/>
          <p:nvPr/>
        </p:nvSpPr>
        <p:spPr>
          <a:xfrm>
            <a:off x="6641976" y="3190354"/>
            <a:ext cx="87213" cy="87213"/>
          </a:xfrm>
          <a:prstGeom prst="ellipse">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2"/>
          <p:cNvSpPr/>
          <p:nvPr/>
        </p:nvSpPr>
        <p:spPr>
          <a:xfrm>
            <a:off x="4718596" y="3143101"/>
            <a:ext cx="1501825" cy="181645"/>
          </a:xfrm>
          <a:prstGeom prst="rect">
            <a:avLst/>
          </a:prstGeom>
          <a:noFill/>
          <a:ln>
            <a:noFill/>
          </a:ln>
        </p:spPr>
        <p:txBody>
          <a:bodyPr anchorCtr="0" anchor="t" bIns="0" lIns="0" spcFirstLastPara="1" rIns="0" wrap="square" tIns="0">
            <a:noAutofit/>
          </a:bodyPr>
          <a:lstStyle/>
          <a:p>
            <a:pPr indent="0" lvl="0" marL="0" marR="0" rtl="0" algn="r">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30초 — 어깨 두드림</a:t>
            </a:r>
            <a:endParaRPr b="1" i="0" u="none" cap="none" strike="noStrike">
              <a:solidFill>
                <a:schemeClr val="dk1"/>
              </a:solidFill>
              <a:latin typeface="Calibri"/>
              <a:ea typeface="Calibri"/>
              <a:cs typeface="Calibri"/>
              <a:sym typeface="Calibri"/>
            </a:endParaRPr>
          </a:p>
        </p:txBody>
      </p:sp>
      <p:sp>
        <p:nvSpPr>
          <p:cNvPr id="699" name="Google Shape;699;p32"/>
          <p:cNvSpPr/>
          <p:nvPr/>
        </p:nvSpPr>
        <p:spPr>
          <a:xfrm>
            <a:off x="4718596" y="3433762"/>
            <a:ext cx="1501825" cy="360462"/>
          </a:xfrm>
          <a:prstGeom prst="rect">
            <a:avLst/>
          </a:prstGeom>
          <a:noFill/>
          <a:ln>
            <a:noFill/>
          </a:ln>
        </p:spPr>
        <p:txBody>
          <a:bodyPr anchorCtr="0" anchor="t" bIns="0" lIns="0" spcFirstLastPara="1" rIns="0" wrap="square" tIns="0">
            <a:noAutofit/>
          </a:bodyPr>
          <a:lstStyle/>
          <a:p>
            <a:pPr indent="0" lvl="0" marL="0" marR="0" rtl="0" algn="r">
              <a:lnSpc>
                <a:spcPct val="129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"30초째 다른 곳을 보고 있어요!"</a:t>
            </a:r>
            <a:endParaRPr b="0" i="0" sz="1200" u="none" cap="none" strike="noStrike">
              <a:solidFill>
                <a:schemeClr val="dk1"/>
              </a:solidFill>
              <a:latin typeface="Calibri"/>
              <a:ea typeface="Calibri"/>
              <a:cs typeface="Calibri"/>
              <a:sym typeface="Calibri"/>
            </a:endParaRPr>
          </a:p>
        </p:txBody>
      </p:sp>
      <p:sp>
        <p:nvSpPr>
          <p:cNvPr id="700" name="Google Shape;700;p32"/>
          <p:cNvSpPr/>
          <p:nvPr/>
        </p:nvSpPr>
        <p:spPr>
          <a:xfrm>
            <a:off x="6671295" y="3821013"/>
            <a:ext cx="232544" cy="14288"/>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2"/>
          <p:cNvSpPr/>
          <p:nvPr/>
        </p:nvSpPr>
        <p:spPr>
          <a:xfrm>
            <a:off x="6641976" y="3784550"/>
            <a:ext cx="87213" cy="87213"/>
          </a:xfrm>
          <a:prstGeom prst="ellipse">
            <a:avLst/>
          </a:prstGeom>
          <a:solidFill>
            <a:srgbClr val="47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2"/>
          <p:cNvSpPr/>
          <p:nvPr/>
        </p:nvSpPr>
        <p:spPr>
          <a:xfrm>
            <a:off x="7150745" y="3737297"/>
            <a:ext cx="1501899" cy="1816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b="1" i="0" lang="ko-KR" u="none" cap="none" strike="noStrike">
                <a:solidFill>
                  <a:srgbClr val="15213F"/>
                </a:solidFill>
                <a:latin typeface="Roboto Slab"/>
                <a:ea typeface="Roboto Slab"/>
                <a:cs typeface="Roboto Slab"/>
                <a:sym typeface="Roboto Slab"/>
              </a:rPr>
              <a:t>1분 — 책상 앞에 서기</a:t>
            </a:r>
            <a:endParaRPr b="1" i="0" u="none" cap="none" strike="noStrike">
              <a:solidFill>
                <a:schemeClr val="dk1"/>
              </a:solidFill>
              <a:latin typeface="Calibri"/>
              <a:ea typeface="Calibri"/>
              <a:cs typeface="Calibri"/>
              <a:sym typeface="Calibri"/>
            </a:endParaRPr>
          </a:p>
        </p:txBody>
      </p:sp>
      <p:sp>
        <p:nvSpPr>
          <p:cNvPr id="703" name="Google Shape;703;p32"/>
          <p:cNvSpPr/>
          <p:nvPr/>
        </p:nvSpPr>
        <p:spPr>
          <a:xfrm>
            <a:off x="7150745" y="4027959"/>
            <a:ext cx="1501899" cy="180231"/>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5213F"/>
              </a:buClr>
              <a:buSzPts val="900"/>
              <a:buFont typeface="Roboto"/>
              <a:buNone/>
            </a:pPr>
            <a:r>
              <a:rPr b="0" i="0" lang="ko-KR" sz="1200" u="none" cap="none" strike="noStrike">
                <a:solidFill>
                  <a:srgbClr val="15213F"/>
                </a:solidFill>
                <a:latin typeface="Roboto"/>
                <a:ea typeface="Roboto"/>
                <a:cs typeface="Roboto"/>
                <a:sym typeface="Roboto"/>
              </a:rPr>
              <a:t>"쉬는 시간인가요?"</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33"/>
          <p:cNvSpPr/>
          <p:nvPr/>
        </p:nvSpPr>
        <p:spPr>
          <a:xfrm>
            <a:off x="496119" y="589880"/>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3"/>
          <p:cNvSpPr/>
          <p:nvPr/>
        </p:nvSpPr>
        <p:spPr>
          <a:xfrm>
            <a:off x="570533" y="627087"/>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3</a:t>
            </a:r>
            <a:endParaRPr b="0" i="0" sz="750" u="none" cap="none" strike="noStrike">
              <a:solidFill>
                <a:schemeClr val="dk1"/>
              </a:solidFill>
              <a:latin typeface="Calibri"/>
              <a:ea typeface="Calibri"/>
              <a:cs typeface="Calibri"/>
              <a:sym typeface="Calibri"/>
            </a:endParaRPr>
          </a:p>
        </p:txBody>
      </p:sp>
      <p:sp>
        <p:nvSpPr>
          <p:cNvPr id="711" name="Google Shape;711;p33"/>
          <p:cNvSpPr/>
          <p:nvPr/>
        </p:nvSpPr>
        <p:spPr>
          <a:xfrm>
            <a:off x="496119" y="828005"/>
            <a:ext cx="8151763" cy="4018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600" u="none" cap="none" strike="noStrike">
                <a:solidFill>
                  <a:srgbClr val="3257B8"/>
                </a:solidFill>
                <a:latin typeface="Roboto Slab"/>
                <a:ea typeface="Roboto Slab"/>
                <a:cs typeface="Roboto Slab"/>
                <a:sym typeface="Roboto Slab"/>
              </a:rPr>
              <a:t>종합 판별 + 알림 — 응급실 분류 </a:t>
            </a:r>
            <a:r>
              <a:rPr b="1" i="0" lang="ko-KR" sz="2600" u="none" cap="none" strike="noStrike">
                <a:solidFill>
                  <a:srgbClr val="000000"/>
                </a:solidFill>
                <a:latin typeface="Roboto Slab"/>
                <a:ea typeface="Roboto Slab"/>
                <a:cs typeface="Roboto Slab"/>
                <a:sym typeface="Roboto Slab"/>
              </a:rPr>
              <a:t>🏥</a:t>
            </a:r>
            <a:endParaRPr b="1" i="0" sz="2600" u="none" cap="none" strike="noStrike">
              <a:solidFill>
                <a:schemeClr val="dk1"/>
              </a:solidFill>
              <a:latin typeface="Calibri"/>
              <a:ea typeface="Calibri"/>
              <a:cs typeface="Calibri"/>
              <a:sym typeface="Calibri"/>
            </a:endParaRPr>
          </a:p>
        </p:txBody>
      </p:sp>
      <p:sp>
        <p:nvSpPr>
          <p:cNvPr id="712" name="Google Shape;712;p33"/>
          <p:cNvSpPr/>
          <p:nvPr/>
        </p:nvSpPr>
        <p:spPr>
          <a:xfrm>
            <a:off x="496119" y="1415876"/>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150" u="none" cap="none" strike="noStrike">
                <a:solidFill>
                  <a:srgbClr val="15213F"/>
                </a:solidFill>
                <a:latin typeface="Roboto"/>
                <a:ea typeface="Roboto"/>
                <a:cs typeface="Roboto"/>
                <a:sym typeface="Roboto"/>
              </a:rPr>
              <a:t>최종 판정관 = 병원 응급실 분류!</a:t>
            </a:r>
            <a:r>
              <a:rPr b="0" i="0" lang="ko-KR" sz="1150" u="none" cap="none" strike="noStrike">
                <a:solidFill>
                  <a:srgbClr val="15213F"/>
                </a:solidFill>
                <a:latin typeface="Roboto"/>
                <a:ea typeface="Roboto"/>
                <a:cs typeface="Roboto"/>
                <a:sym typeface="Roboto"/>
              </a:rPr>
              <a:t> 가장 심각한 것부터 우선 판정합니다.</a:t>
            </a:r>
            <a:endParaRPr b="0" i="0" sz="1150" u="none" cap="none" strike="noStrike">
              <a:solidFill>
                <a:schemeClr val="dk1"/>
              </a:solidFill>
              <a:latin typeface="Calibri"/>
              <a:ea typeface="Calibri"/>
              <a:cs typeface="Calibri"/>
              <a:sym typeface="Calibri"/>
            </a:endParaRPr>
          </a:p>
        </p:txBody>
      </p:sp>
      <p:pic>
        <p:nvPicPr>
          <p:cNvPr descr="preencoded.png" id="713" name="Google Shape;713;p33"/>
          <p:cNvPicPr preferRelativeResize="0"/>
          <p:nvPr/>
        </p:nvPicPr>
        <p:blipFill rotWithShape="1">
          <a:blip r:embed="rId3">
            <a:alphaModFix/>
          </a:blip>
          <a:srcRect b="0" l="0" r="0" t="0"/>
          <a:stretch/>
        </p:blipFill>
        <p:spPr>
          <a:xfrm>
            <a:off x="496119" y="1893391"/>
            <a:ext cx="4516338" cy="2520702"/>
          </a:xfrm>
          <a:prstGeom prst="rect">
            <a:avLst/>
          </a:prstGeom>
          <a:noFill/>
          <a:ln>
            <a:noFill/>
          </a:ln>
        </p:spPr>
      </p:pic>
      <p:sp>
        <p:nvSpPr>
          <p:cNvPr id="714" name="Google Shape;714;p33"/>
          <p:cNvSpPr/>
          <p:nvPr/>
        </p:nvSpPr>
        <p:spPr>
          <a:xfrm>
            <a:off x="5319775" y="1893402"/>
            <a:ext cx="3332700" cy="1094400"/>
          </a:xfrm>
          <a:prstGeom prst="roundRect">
            <a:avLst>
              <a:gd fmla="val 2113" name="adj"/>
            </a:avLst>
          </a:prstGeom>
          <a:solidFill>
            <a:srgbClr val="B6FC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15" name="Google Shape;715;p33"/>
          <p:cNvPicPr preferRelativeResize="0"/>
          <p:nvPr/>
        </p:nvPicPr>
        <p:blipFill rotWithShape="1">
          <a:blip r:embed="rId4">
            <a:alphaModFix/>
          </a:blip>
          <a:srcRect b="0" l="0" r="0" t="0"/>
          <a:stretch/>
        </p:blipFill>
        <p:spPr>
          <a:xfrm>
            <a:off x="5443761" y="2077938"/>
            <a:ext cx="155004" cy="123974"/>
          </a:xfrm>
          <a:prstGeom prst="rect">
            <a:avLst/>
          </a:prstGeom>
          <a:noFill/>
          <a:ln>
            <a:noFill/>
          </a:ln>
        </p:spPr>
      </p:pic>
      <p:sp>
        <p:nvSpPr>
          <p:cNvPr id="716" name="Google Shape;716;p33"/>
          <p:cNvSpPr/>
          <p:nvPr/>
        </p:nvSpPr>
        <p:spPr>
          <a:xfrm>
            <a:off x="5722739" y="2035969"/>
            <a:ext cx="2805857" cy="59538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00"/>
              </a:buClr>
              <a:buSzPts val="950"/>
              <a:buFont typeface="Roboto"/>
              <a:buNone/>
            </a:pPr>
            <a:r>
              <a:rPr b="0" i="0" lang="ko-KR" sz="1250" u="none" cap="none" strike="noStrike">
                <a:solidFill>
                  <a:srgbClr val="000000"/>
                </a:solidFill>
                <a:latin typeface="Roboto"/>
                <a:ea typeface="Roboto"/>
                <a:cs typeface="Roboto"/>
                <a:sym typeface="Roboto"/>
              </a:rPr>
              <a:t>처벌만 하는 선생님은 나쁜 선생님! </a:t>
            </a:r>
            <a:r>
              <a:rPr b="1" i="0" lang="ko-KR" sz="1250" u="none" cap="none" strike="noStrike">
                <a:solidFill>
                  <a:srgbClr val="000000"/>
                </a:solidFill>
                <a:latin typeface="Roboto"/>
                <a:ea typeface="Roboto"/>
                <a:cs typeface="Roboto"/>
                <a:sym typeface="Roboto"/>
              </a:rPr>
              <a:t>25분 연속 집중 → "대단해요! 5분 쉬어도 돼요!"</a:t>
            </a:r>
            <a:r>
              <a:rPr b="0" i="0" lang="ko-KR" sz="1250" u="none" cap="none" strike="noStrike">
                <a:solidFill>
                  <a:srgbClr val="000000"/>
                </a:solidFill>
                <a:latin typeface="Roboto"/>
                <a:ea typeface="Roboto"/>
                <a:cs typeface="Roboto"/>
                <a:sym typeface="Roboto"/>
              </a:rPr>
              <a:t> 칭찬도 해야 동기부여가 됩니다! 🎉</a:t>
            </a:r>
            <a:endParaRPr b="0" i="0" sz="1250" u="none" cap="none" strike="noStrike">
              <a:solidFill>
                <a:schemeClr val="dk1"/>
              </a:solidFill>
              <a:latin typeface="Calibri"/>
              <a:ea typeface="Calibri"/>
              <a:cs typeface="Calibri"/>
              <a:sym typeface="Calibri"/>
            </a:endParaRPr>
          </a:p>
        </p:txBody>
      </p:sp>
      <p:sp>
        <p:nvSpPr>
          <p:cNvPr id="717" name="Google Shape;717;p33"/>
          <p:cNvSpPr/>
          <p:nvPr/>
        </p:nvSpPr>
        <p:spPr>
          <a:xfrm>
            <a:off x="5319787" y="2913459"/>
            <a:ext cx="378998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34"/>
          <p:cNvSpPr/>
          <p:nvPr/>
        </p:nvSpPr>
        <p:spPr>
          <a:xfrm>
            <a:off x="496119" y="800174"/>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4"/>
          <p:cNvSpPr/>
          <p:nvPr/>
        </p:nvSpPr>
        <p:spPr>
          <a:xfrm>
            <a:off x="570533" y="837381"/>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4</a:t>
            </a:r>
            <a:endParaRPr b="0" i="0" sz="750" u="none" cap="none" strike="noStrike">
              <a:solidFill>
                <a:schemeClr val="dk1"/>
              </a:solidFill>
              <a:latin typeface="Calibri"/>
              <a:ea typeface="Calibri"/>
              <a:cs typeface="Calibri"/>
              <a:sym typeface="Calibri"/>
            </a:endParaRPr>
          </a:p>
        </p:txBody>
      </p:sp>
      <p:sp>
        <p:nvSpPr>
          <p:cNvPr id="725" name="Google Shape;725;p34"/>
          <p:cNvSpPr/>
          <p:nvPr/>
        </p:nvSpPr>
        <p:spPr>
          <a:xfrm>
            <a:off x="496119" y="1038299"/>
            <a:ext cx="8151763" cy="4018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1" i="0" lang="ko-KR" sz="2600" u="none" cap="none" strike="noStrike">
                <a:solidFill>
                  <a:srgbClr val="3257B8"/>
                </a:solidFill>
                <a:latin typeface="Roboto Slab"/>
                <a:ea typeface="Roboto Slab"/>
                <a:cs typeface="Roboto Slab"/>
                <a:sym typeface="Roboto Slab"/>
              </a:rPr>
              <a:t>Phase 4 — YOLO 핸드폰 감지 </a:t>
            </a:r>
            <a:r>
              <a:rPr b="1" i="0" lang="ko-KR" sz="2600" u="none" cap="none" strike="noStrike">
                <a:solidFill>
                  <a:srgbClr val="000000"/>
                </a:solidFill>
                <a:latin typeface="Roboto Slab"/>
                <a:ea typeface="Roboto Slab"/>
                <a:cs typeface="Roboto Slab"/>
                <a:sym typeface="Roboto Slab"/>
              </a:rPr>
              <a:t>📱</a:t>
            </a:r>
            <a:endParaRPr b="1" i="0" sz="2600" u="none" cap="none" strike="noStrike">
              <a:solidFill>
                <a:schemeClr val="dk1"/>
              </a:solidFill>
              <a:latin typeface="Calibri"/>
              <a:ea typeface="Calibri"/>
              <a:cs typeface="Calibri"/>
              <a:sym typeface="Calibri"/>
            </a:endParaRPr>
          </a:p>
        </p:txBody>
      </p:sp>
      <p:sp>
        <p:nvSpPr>
          <p:cNvPr id="726" name="Google Shape;726;p34"/>
          <p:cNvSpPr/>
          <p:nvPr/>
        </p:nvSpPr>
        <p:spPr>
          <a:xfrm>
            <a:off x="496119" y="1626171"/>
            <a:ext cx="8151763"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기간: </a:t>
            </a:r>
            <a:r>
              <a:rPr b="1" i="0" lang="ko-KR" sz="950" u="none" cap="none" strike="noStrike">
                <a:solidFill>
                  <a:srgbClr val="15213F"/>
                </a:solidFill>
                <a:latin typeface="Roboto"/>
                <a:ea typeface="Roboto"/>
                <a:cs typeface="Roboto"/>
                <a:sym typeface="Roboto"/>
              </a:rPr>
              <a:t>5주</a:t>
            </a:r>
            <a:r>
              <a:rPr b="0" i="0" lang="ko-KR" sz="950" u="none" cap="none" strike="noStrike">
                <a:solidFill>
                  <a:srgbClr val="15213F"/>
                </a:solidFill>
                <a:latin typeface="Roboto"/>
                <a:ea typeface="Roboto"/>
                <a:cs typeface="Roboto"/>
                <a:sym typeface="Roboto"/>
              </a:rPr>
              <a:t> | 물체 인식 AI 추가</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1" i="0" lang="ko-KR" sz="950" u="none" cap="none" strike="noStrike">
                <a:solidFill>
                  <a:srgbClr val="15213F"/>
                </a:solidFill>
                <a:latin typeface="Roboto"/>
                <a:ea typeface="Roboto"/>
                <a:cs typeface="Roboto"/>
                <a:sym typeface="Roboto"/>
              </a:rPr>
              <a:t>Phase 3 의사 + Phase 4 탐정 = 합동 수사!</a:t>
            </a:r>
            <a:endParaRPr b="0" i="0" sz="950" u="none" cap="none" strike="noStrike">
              <a:solidFill>
                <a:schemeClr val="dk1"/>
              </a:solidFill>
              <a:latin typeface="Calibri"/>
              <a:ea typeface="Calibri"/>
              <a:cs typeface="Calibri"/>
              <a:sym typeface="Calibri"/>
            </a:endParaRPr>
          </a:p>
        </p:txBody>
      </p:sp>
      <p:sp>
        <p:nvSpPr>
          <p:cNvPr id="727" name="Google Shape;727;p34"/>
          <p:cNvSpPr/>
          <p:nvPr/>
        </p:nvSpPr>
        <p:spPr>
          <a:xfrm>
            <a:off x="406822" y="2162621"/>
            <a:ext cx="4103191" cy="955104"/>
          </a:xfrm>
          <a:prstGeom prst="roundRect">
            <a:avLst>
              <a:gd fmla="val 1948" name="adj"/>
            </a:avLst>
          </a:prstGeom>
          <a:solidFill>
            <a:srgbClr val="325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34"/>
          <p:cNvSpPr/>
          <p:nvPr/>
        </p:nvSpPr>
        <p:spPr>
          <a:xfrm>
            <a:off x="530796" y="2286595"/>
            <a:ext cx="3855244"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500" u="none" cap="none" strike="noStrike">
                <a:solidFill>
                  <a:srgbClr val="000000"/>
                </a:solidFill>
                <a:latin typeface="Roboto Slab"/>
                <a:ea typeface="Roboto Slab"/>
                <a:cs typeface="Roboto Slab"/>
                <a:sym typeface="Roboto Slab"/>
              </a:rPr>
              <a:t>🩺</a:t>
            </a:r>
            <a:r>
              <a:rPr b="0" i="0" lang="ko-KR" sz="1500" u="none" cap="none" strike="noStrike">
                <a:solidFill>
                  <a:srgbClr val="FFFFFF"/>
                </a:solidFill>
                <a:latin typeface="Roboto Slab"/>
                <a:ea typeface="Roboto Slab"/>
                <a:cs typeface="Roboto Slab"/>
                <a:sym typeface="Roboto Slab"/>
              </a:rPr>
              <a:t> Phase 3 — MediaPipe (의사)</a:t>
            </a:r>
            <a:endParaRPr b="0" i="0" sz="1500" u="none" cap="none" strike="noStrike">
              <a:solidFill>
                <a:schemeClr val="dk1"/>
              </a:solidFill>
              <a:latin typeface="Calibri"/>
              <a:ea typeface="Calibri"/>
              <a:cs typeface="Calibri"/>
              <a:sym typeface="Calibri"/>
            </a:endParaRPr>
          </a:p>
        </p:txBody>
      </p:sp>
      <p:sp>
        <p:nvSpPr>
          <p:cNvPr id="729" name="Google Shape;729;p34"/>
          <p:cNvSpPr/>
          <p:nvPr/>
        </p:nvSpPr>
        <p:spPr>
          <a:xfrm>
            <a:off x="530796" y="2609180"/>
            <a:ext cx="3855244"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FFFFF"/>
              </a:buClr>
              <a:buSzPts val="950"/>
              <a:buFont typeface="Roboto"/>
              <a:buNone/>
            </a:pPr>
            <a:r>
              <a:rPr b="0" i="0" lang="ko-KR" sz="1150" u="none" cap="none" strike="noStrike">
                <a:solidFill>
                  <a:srgbClr val="FFFFFF"/>
                </a:solidFill>
                <a:latin typeface="Roboto"/>
                <a:ea typeface="Roboto"/>
                <a:cs typeface="Roboto"/>
                <a:sym typeface="Roboto"/>
              </a:rPr>
              <a:t>얼굴 전문 분석가</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FFFFFF"/>
              </a:buClr>
              <a:buSzPts val="950"/>
              <a:buFont typeface="Roboto"/>
              <a:buNone/>
            </a:pPr>
            <a:r>
              <a:rPr b="0" i="0" lang="ko-KR" sz="1150" u="none" cap="none" strike="noStrike">
                <a:solidFill>
                  <a:srgbClr val="FFFFFF"/>
                </a:solidFill>
                <a:latin typeface="Roboto"/>
                <a:ea typeface="Roboto"/>
                <a:cs typeface="Roboto"/>
                <a:sym typeface="Roboto"/>
              </a:rPr>
              <a:t>"이 학생 졸려 보입니다"</a:t>
            </a:r>
            <a:endParaRPr b="0" i="0" sz="1150" u="none" cap="none" strike="noStrike">
              <a:solidFill>
                <a:schemeClr val="dk1"/>
              </a:solidFill>
              <a:latin typeface="Calibri"/>
              <a:ea typeface="Calibri"/>
              <a:cs typeface="Calibri"/>
              <a:sym typeface="Calibri"/>
            </a:endParaRPr>
          </a:p>
        </p:txBody>
      </p:sp>
      <p:sp>
        <p:nvSpPr>
          <p:cNvPr id="730" name="Google Shape;730;p34"/>
          <p:cNvSpPr/>
          <p:nvPr/>
        </p:nvSpPr>
        <p:spPr>
          <a:xfrm>
            <a:off x="4728046" y="2286595"/>
            <a:ext cx="3924598"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500" u="none" cap="none" strike="noStrike">
                <a:solidFill>
                  <a:srgbClr val="000000"/>
                </a:solidFill>
                <a:latin typeface="Roboto Slab"/>
                <a:ea typeface="Roboto Slab"/>
                <a:cs typeface="Roboto Slab"/>
                <a:sym typeface="Roboto Slab"/>
              </a:rPr>
              <a:t>🕵️</a:t>
            </a:r>
            <a:r>
              <a:rPr b="0" i="0" lang="ko-KR" sz="1500" u="none" cap="none" strike="noStrike">
                <a:solidFill>
                  <a:srgbClr val="3257B8"/>
                </a:solidFill>
                <a:latin typeface="Roboto Slab"/>
                <a:ea typeface="Roboto Slab"/>
                <a:cs typeface="Roboto Slab"/>
                <a:sym typeface="Roboto Slab"/>
              </a:rPr>
              <a:t> Phase 4 — YOLO (탐정)</a:t>
            </a:r>
            <a:endParaRPr b="0" i="0" sz="1500" u="none" cap="none" strike="noStrike">
              <a:solidFill>
                <a:schemeClr val="dk1"/>
              </a:solidFill>
              <a:latin typeface="Calibri"/>
              <a:ea typeface="Calibri"/>
              <a:cs typeface="Calibri"/>
              <a:sym typeface="Calibri"/>
            </a:endParaRPr>
          </a:p>
        </p:txBody>
      </p:sp>
      <p:sp>
        <p:nvSpPr>
          <p:cNvPr id="731" name="Google Shape;731;p34"/>
          <p:cNvSpPr/>
          <p:nvPr/>
        </p:nvSpPr>
        <p:spPr>
          <a:xfrm>
            <a:off x="4728046" y="2609180"/>
            <a:ext cx="3924598"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물체 찾는 전문가</a:t>
            </a:r>
            <a:endParaRPr b="0" i="0" sz="11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15213F"/>
              </a:buClr>
              <a:buSzPts val="950"/>
              <a:buFont typeface="Roboto"/>
              <a:buNone/>
            </a:pPr>
            <a:r>
              <a:rPr b="0" i="0" lang="ko-KR" sz="1150" u="none" cap="none" strike="noStrike">
                <a:solidFill>
                  <a:srgbClr val="15213F"/>
                </a:solidFill>
                <a:latin typeface="Roboto"/>
                <a:ea typeface="Roboto"/>
                <a:cs typeface="Roboto"/>
                <a:sym typeface="Roboto"/>
              </a:rPr>
              <a:t>"손에 핸드폰을 들고 있습니다!"</a:t>
            </a:r>
            <a:endParaRPr b="0" i="0" sz="1150" u="none" cap="none" strike="noStrike">
              <a:solidFill>
                <a:schemeClr val="dk1"/>
              </a:solidFill>
              <a:latin typeface="Calibri"/>
              <a:ea typeface="Calibri"/>
              <a:cs typeface="Calibri"/>
              <a:sym typeface="Calibri"/>
            </a:endParaRPr>
          </a:p>
        </p:txBody>
      </p:sp>
      <p:sp>
        <p:nvSpPr>
          <p:cNvPr id="732" name="Google Shape;732;p34"/>
          <p:cNvSpPr/>
          <p:nvPr/>
        </p:nvSpPr>
        <p:spPr>
          <a:xfrm>
            <a:off x="496119" y="3257252"/>
            <a:ext cx="2634555" cy="748010"/>
          </a:xfrm>
          <a:prstGeom prst="roundRect">
            <a:avLst>
              <a:gd fmla="val 2488" name="adj"/>
            </a:avLst>
          </a:prstGeom>
          <a:solidFill>
            <a:srgbClr val="FBFCFE"/>
          </a:solidFill>
          <a:ln cap="flat" cmpd="sng" w="1427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34"/>
          <p:cNvSpPr/>
          <p:nvPr/>
        </p:nvSpPr>
        <p:spPr>
          <a:xfrm>
            <a:off x="634380" y="3395514"/>
            <a:ext cx="2358033"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핸드폰 (cell phone)</a:t>
            </a:r>
            <a:endParaRPr b="1" i="0" sz="1500" u="none" cap="none" strike="noStrike">
              <a:solidFill>
                <a:schemeClr val="dk1"/>
              </a:solidFill>
              <a:latin typeface="Calibri"/>
              <a:ea typeface="Calibri"/>
              <a:cs typeface="Calibri"/>
              <a:sym typeface="Calibri"/>
            </a:endParaRPr>
          </a:p>
        </p:txBody>
      </p:sp>
      <p:sp>
        <p:nvSpPr>
          <p:cNvPr id="734" name="Google Shape;734;p34"/>
          <p:cNvSpPr/>
          <p:nvPr/>
        </p:nvSpPr>
        <p:spPr>
          <a:xfrm>
            <a:off x="634380" y="3668539"/>
            <a:ext cx="235803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핸드폰 사용 시간 자동 기록</a:t>
            </a:r>
            <a:endParaRPr b="0" i="0" sz="950" u="none" cap="none" strike="noStrike">
              <a:solidFill>
                <a:schemeClr val="dk1"/>
              </a:solidFill>
              <a:latin typeface="Calibri"/>
              <a:ea typeface="Calibri"/>
              <a:cs typeface="Calibri"/>
              <a:sym typeface="Calibri"/>
            </a:endParaRPr>
          </a:p>
        </p:txBody>
      </p:sp>
      <p:sp>
        <p:nvSpPr>
          <p:cNvPr id="735" name="Google Shape;735;p34"/>
          <p:cNvSpPr/>
          <p:nvPr/>
        </p:nvSpPr>
        <p:spPr>
          <a:xfrm>
            <a:off x="3254648" y="3257252"/>
            <a:ext cx="2634630" cy="748010"/>
          </a:xfrm>
          <a:prstGeom prst="roundRect">
            <a:avLst>
              <a:gd fmla="val 2488" name="adj"/>
            </a:avLst>
          </a:prstGeom>
          <a:solidFill>
            <a:srgbClr val="FBFCFE"/>
          </a:solidFill>
          <a:ln cap="flat" cmpd="sng" w="1427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4"/>
          <p:cNvSpPr/>
          <p:nvPr/>
        </p:nvSpPr>
        <p:spPr>
          <a:xfrm>
            <a:off x="3392909" y="3395514"/>
            <a:ext cx="2358107"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컵/병 (cup, bottle)</a:t>
            </a:r>
            <a:endParaRPr b="1" i="0" sz="1500" u="none" cap="none" strike="noStrike">
              <a:solidFill>
                <a:schemeClr val="dk1"/>
              </a:solidFill>
              <a:latin typeface="Calibri"/>
              <a:ea typeface="Calibri"/>
              <a:cs typeface="Calibri"/>
              <a:sym typeface="Calibri"/>
            </a:endParaRPr>
          </a:p>
        </p:txBody>
      </p:sp>
      <p:sp>
        <p:nvSpPr>
          <p:cNvPr id="737" name="Google Shape;737;p34"/>
          <p:cNvSpPr/>
          <p:nvPr/>
        </p:nvSpPr>
        <p:spPr>
          <a:xfrm>
            <a:off x="3392909" y="3668539"/>
            <a:ext cx="235810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음료 마심 → 휴식 추정</a:t>
            </a:r>
            <a:endParaRPr b="0" i="0" sz="950" u="none" cap="none" strike="noStrike">
              <a:solidFill>
                <a:schemeClr val="dk1"/>
              </a:solidFill>
              <a:latin typeface="Calibri"/>
              <a:ea typeface="Calibri"/>
              <a:cs typeface="Calibri"/>
              <a:sym typeface="Calibri"/>
            </a:endParaRPr>
          </a:p>
        </p:txBody>
      </p:sp>
      <p:sp>
        <p:nvSpPr>
          <p:cNvPr id="738" name="Google Shape;738;p34"/>
          <p:cNvSpPr/>
          <p:nvPr/>
        </p:nvSpPr>
        <p:spPr>
          <a:xfrm>
            <a:off x="6013252" y="3257252"/>
            <a:ext cx="2634555" cy="748010"/>
          </a:xfrm>
          <a:prstGeom prst="roundRect">
            <a:avLst>
              <a:gd fmla="val 2488" name="adj"/>
            </a:avLst>
          </a:prstGeom>
          <a:solidFill>
            <a:srgbClr val="FBFCFE"/>
          </a:solidFill>
          <a:ln cap="flat" cmpd="sng" w="14275">
            <a:solidFill>
              <a:srgbClr val="CFD2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4"/>
          <p:cNvSpPr/>
          <p:nvPr/>
        </p:nvSpPr>
        <p:spPr>
          <a:xfrm>
            <a:off x="6151513" y="3395514"/>
            <a:ext cx="2358033"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1" i="0" lang="ko-KR" sz="1500" u="none" cap="none" strike="noStrike">
                <a:solidFill>
                  <a:srgbClr val="000000"/>
                </a:solidFill>
                <a:latin typeface="Roboto Slab"/>
                <a:ea typeface="Roboto Slab"/>
                <a:cs typeface="Roboto Slab"/>
                <a:sym typeface="Roboto Slab"/>
              </a:rPr>
              <a:t>👤</a:t>
            </a:r>
            <a:r>
              <a:rPr b="1" i="0" lang="ko-KR" sz="1500" u="none" cap="none" strike="noStrike">
                <a:solidFill>
                  <a:srgbClr val="15213F"/>
                </a:solidFill>
                <a:latin typeface="Roboto Slab"/>
                <a:ea typeface="Roboto Slab"/>
                <a:cs typeface="Roboto Slab"/>
                <a:sym typeface="Roboto Slab"/>
              </a:rPr>
              <a:t> 사람 (person)</a:t>
            </a:r>
            <a:endParaRPr b="1" i="0" sz="1500" u="none" cap="none" strike="noStrike">
              <a:solidFill>
                <a:schemeClr val="dk1"/>
              </a:solidFill>
              <a:latin typeface="Calibri"/>
              <a:ea typeface="Calibri"/>
              <a:cs typeface="Calibri"/>
              <a:sym typeface="Calibri"/>
            </a:endParaRPr>
          </a:p>
        </p:txBody>
      </p:sp>
      <p:sp>
        <p:nvSpPr>
          <p:cNvPr id="740" name="Google Shape;740;p34"/>
          <p:cNvSpPr/>
          <p:nvPr/>
        </p:nvSpPr>
        <p:spPr>
          <a:xfrm>
            <a:off x="6151513" y="3668539"/>
            <a:ext cx="235803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다른 사람 등장 → 대화 추정</a:t>
            </a:r>
            <a:endParaRPr b="0" i="0" sz="950" u="none" cap="none" strike="noStrike">
              <a:solidFill>
                <a:schemeClr val="dk1"/>
              </a:solidFill>
              <a:latin typeface="Calibri"/>
              <a:ea typeface="Calibri"/>
              <a:cs typeface="Calibri"/>
              <a:sym typeface="Calibri"/>
            </a:endParaRPr>
          </a:p>
        </p:txBody>
      </p:sp>
      <p:sp>
        <p:nvSpPr>
          <p:cNvPr id="741" name="Google Shape;741;p34"/>
          <p:cNvSpPr/>
          <p:nvPr/>
        </p:nvSpPr>
        <p:spPr>
          <a:xfrm>
            <a:off x="496125" y="4144822"/>
            <a:ext cx="8609100" cy="597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1" i="0" lang="ko-KR" sz="1250" u="none" cap="none" strike="noStrike">
                <a:solidFill>
                  <a:srgbClr val="15213F"/>
                </a:solidFill>
                <a:latin typeface="Roboto"/>
                <a:ea typeface="Roboto"/>
                <a:cs typeface="Roboto"/>
                <a:sym typeface="Roboto"/>
              </a:rPr>
              <a:t>YOLO = You Only Look Once (한 번만 봐!)</a:t>
            </a:r>
            <a:r>
              <a:rPr b="0" i="0" lang="ko-KR" sz="1250" u="none" cap="none" strike="noStrike">
                <a:solidFill>
                  <a:srgbClr val="15213F"/>
                </a:solidFill>
                <a:latin typeface="Roboto"/>
                <a:ea typeface="Roboto"/>
                <a:cs typeface="Roboto"/>
                <a:sym typeface="Roboto"/>
              </a:rPr>
              <a:t> 사진을 딱 한 번 보고 물체의 종류와 위치를 알아냅니다. </a:t>
            </a:r>
            <a:br>
              <a:rPr b="0" i="0" lang="ko-KR" sz="1250" u="none" cap="none" strike="noStrike">
                <a:solidFill>
                  <a:srgbClr val="15213F"/>
                </a:solidFill>
                <a:latin typeface="Roboto"/>
                <a:ea typeface="Roboto"/>
                <a:cs typeface="Roboto"/>
                <a:sym typeface="Roboto"/>
              </a:rPr>
            </a:br>
            <a:r>
              <a:rPr b="0" i="0" lang="ko-KR" sz="1250" u="none" cap="none" strike="noStrike">
                <a:solidFill>
                  <a:srgbClr val="15213F"/>
                </a:solidFill>
                <a:latin typeface="Roboto"/>
                <a:ea typeface="Roboto"/>
                <a:cs typeface="Roboto"/>
                <a:sym typeface="Roboto"/>
              </a:rPr>
              <a:t>2초마다 탐정 파견 → 핸드폰 발견 시 딴짓 기록!</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35"/>
          <p:cNvSpPr/>
          <p:nvPr/>
        </p:nvSpPr>
        <p:spPr>
          <a:xfrm>
            <a:off x="496119" y="579909"/>
            <a:ext cx="543446" cy="188565"/>
          </a:xfrm>
          <a:prstGeom prst="roundRect">
            <a:avLst>
              <a:gd fmla="val 789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35"/>
          <p:cNvSpPr/>
          <p:nvPr/>
        </p:nvSpPr>
        <p:spPr>
          <a:xfrm>
            <a:off x="570533" y="617116"/>
            <a:ext cx="851818" cy="11415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5213F"/>
              </a:buClr>
              <a:buSzPts val="750"/>
              <a:buFont typeface="Roboto"/>
              <a:buNone/>
            </a:pPr>
            <a:r>
              <a:rPr b="0" i="0" lang="ko-KR" sz="750" u="none" cap="none" strike="noStrike">
                <a:solidFill>
                  <a:srgbClr val="15213F"/>
                </a:solidFill>
                <a:latin typeface="Roboto"/>
                <a:ea typeface="Roboto"/>
                <a:cs typeface="Roboto"/>
                <a:sym typeface="Roboto"/>
              </a:rPr>
              <a:t>PHASE 4</a:t>
            </a:r>
            <a:endParaRPr b="0" i="0" sz="750" u="none" cap="none" strike="noStrike">
              <a:solidFill>
                <a:schemeClr val="dk1"/>
              </a:solidFill>
              <a:latin typeface="Calibri"/>
              <a:ea typeface="Calibri"/>
              <a:cs typeface="Calibri"/>
              <a:sym typeface="Calibri"/>
            </a:endParaRPr>
          </a:p>
        </p:txBody>
      </p:sp>
      <p:sp>
        <p:nvSpPr>
          <p:cNvPr id="749" name="Google Shape;749;p35"/>
          <p:cNvSpPr/>
          <p:nvPr/>
        </p:nvSpPr>
        <p:spPr>
          <a:xfrm>
            <a:off x="496119" y="818034"/>
            <a:ext cx="8151763"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400"/>
              <a:buFont typeface="Roboto Slab"/>
              <a:buNone/>
            </a:pPr>
            <a:r>
              <a:rPr b="0" i="0" lang="ko-KR" sz="2600" u="none" cap="none" strike="noStrike">
                <a:solidFill>
                  <a:srgbClr val="3257B8"/>
                </a:solidFill>
                <a:latin typeface="Roboto Slab"/>
                <a:ea typeface="Roboto Slab"/>
                <a:cs typeface="Roboto Slab"/>
                <a:sym typeface="Roboto Slab"/>
              </a:rPr>
              <a:t>Phase 4 — 최종 종합 판별</a:t>
            </a:r>
            <a:endParaRPr b="0" i="0" sz="2600" u="none" cap="none" strike="noStrike">
              <a:solidFill>
                <a:schemeClr val="dk1"/>
              </a:solidFill>
              <a:latin typeface="Calibri"/>
              <a:ea typeface="Calibri"/>
              <a:cs typeface="Calibri"/>
              <a:sym typeface="Calibri"/>
            </a:endParaRPr>
          </a:p>
        </p:txBody>
      </p:sp>
      <p:sp>
        <p:nvSpPr>
          <p:cNvPr id="750" name="Google Shape;750;p35"/>
          <p:cNvSpPr/>
          <p:nvPr/>
        </p:nvSpPr>
        <p:spPr>
          <a:xfrm>
            <a:off x="496119" y="1391617"/>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1650" u="none" cap="none" strike="noStrike">
                <a:solidFill>
                  <a:srgbClr val="15213F"/>
                </a:solidFill>
                <a:latin typeface="Roboto"/>
                <a:ea typeface="Roboto"/>
                <a:cs typeface="Roboto"/>
                <a:sym typeface="Roboto"/>
              </a:rPr>
              <a:t>의사(MediaPipe) + 탐정(YOLO) 합동 회의 결과! </a:t>
            </a:r>
            <a:r>
              <a:rPr b="1" i="0" lang="ko-KR" sz="1650" u="none" cap="none" strike="noStrike">
                <a:solidFill>
                  <a:srgbClr val="15213F"/>
                </a:solidFill>
                <a:latin typeface="Roboto"/>
                <a:ea typeface="Roboto"/>
                <a:cs typeface="Roboto"/>
                <a:sym typeface="Roboto"/>
              </a:rPr>
              <a:t>딴짓 5종 세분화</a:t>
            </a:r>
            <a:r>
              <a:rPr b="0" i="0" lang="ko-KR" sz="1650" u="none" cap="none" strike="noStrike">
                <a:solidFill>
                  <a:srgbClr val="15213F"/>
                </a:solidFill>
                <a:latin typeface="Roboto"/>
                <a:ea typeface="Roboto"/>
                <a:cs typeface="Roboto"/>
                <a:sym typeface="Roboto"/>
              </a:rPr>
              <a:t>가 완성됩니다.</a:t>
            </a:r>
            <a:endParaRPr b="0" i="0" sz="1650" u="none" cap="none" strike="noStrike">
              <a:solidFill>
                <a:schemeClr val="dk1"/>
              </a:solidFill>
              <a:latin typeface="Calibri"/>
              <a:ea typeface="Calibri"/>
              <a:cs typeface="Calibri"/>
              <a:sym typeface="Calibri"/>
            </a:endParaRPr>
          </a:p>
        </p:txBody>
      </p:sp>
      <p:pic>
        <p:nvPicPr>
          <p:cNvPr descr="preencoded.png" id="751" name="Google Shape;751;p35"/>
          <p:cNvPicPr preferRelativeResize="0"/>
          <p:nvPr/>
        </p:nvPicPr>
        <p:blipFill rotWithShape="1">
          <a:blip r:embed="rId3">
            <a:alphaModFix/>
          </a:blip>
          <a:srcRect b="0" l="0" r="0" t="0"/>
          <a:stretch/>
        </p:blipFill>
        <p:spPr>
          <a:xfrm>
            <a:off x="496119" y="1869132"/>
            <a:ext cx="3417317" cy="1907307"/>
          </a:xfrm>
          <a:prstGeom prst="rect">
            <a:avLst/>
          </a:prstGeom>
          <a:noFill/>
          <a:ln>
            <a:noFill/>
          </a:ln>
        </p:spPr>
      </p:pic>
      <p:sp>
        <p:nvSpPr>
          <p:cNvPr id="752" name="Google Shape;752;p35"/>
          <p:cNvSpPr/>
          <p:nvPr/>
        </p:nvSpPr>
        <p:spPr>
          <a:xfrm>
            <a:off x="4220766" y="1869132"/>
            <a:ext cx="2153915" cy="768995"/>
          </a:xfrm>
          <a:prstGeom prst="roundRect">
            <a:avLst>
              <a:gd fmla="val 242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5"/>
          <p:cNvSpPr/>
          <p:nvPr/>
        </p:nvSpPr>
        <p:spPr>
          <a:xfrm>
            <a:off x="4344739" y="1993106"/>
            <a:ext cx="1905967"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700" u="none" cap="none" strike="noStrike">
                <a:solidFill>
                  <a:srgbClr val="FF0000"/>
                </a:solidFill>
                <a:latin typeface="Roboto Slab"/>
                <a:ea typeface="Roboto Slab"/>
                <a:cs typeface="Roboto Slab"/>
                <a:sym typeface="Roboto Slab"/>
              </a:rPr>
              <a:t>📱 핸드폰</a:t>
            </a:r>
            <a:endParaRPr b="0" i="0" sz="1700" u="none" cap="none" strike="noStrike">
              <a:solidFill>
                <a:srgbClr val="FF0000"/>
              </a:solidFill>
              <a:latin typeface="Calibri"/>
              <a:ea typeface="Calibri"/>
              <a:cs typeface="Calibri"/>
              <a:sym typeface="Calibri"/>
            </a:endParaRPr>
          </a:p>
        </p:txBody>
      </p:sp>
      <p:sp>
        <p:nvSpPr>
          <p:cNvPr id="754" name="Google Shape;754;p35"/>
          <p:cNvSpPr/>
          <p:nvPr/>
        </p:nvSpPr>
        <p:spPr>
          <a:xfrm>
            <a:off x="4344739" y="2315691"/>
            <a:ext cx="190596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YOLO 탐지</a:t>
            </a:r>
            <a:endParaRPr b="0" i="0" sz="950" u="none" cap="none" strike="noStrike">
              <a:solidFill>
                <a:schemeClr val="dk1"/>
              </a:solidFill>
              <a:latin typeface="Calibri"/>
              <a:ea typeface="Calibri"/>
              <a:cs typeface="Calibri"/>
              <a:sym typeface="Calibri"/>
            </a:endParaRPr>
          </a:p>
        </p:txBody>
      </p:sp>
      <p:sp>
        <p:nvSpPr>
          <p:cNvPr id="755" name="Google Shape;755;p35"/>
          <p:cNvSpPr/>
          <p:nvPr/>
        </p:nvSpPr>
        <p:spPr>
          <a:xfrm>
            <a:off x="6498654" y="1869132"/>
            <a:ext cx="2153915" cy="768995"/>
          </a:xfrm>
          <a:prstGeom prst="roundRect">
            <a:avLst>
              <a:gd fmla="val 242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5"/>
          <p:cNvSpPr/>
          <p:nvPr/>
        </p:nvSpPr>
        <p:spPr>
          <a:xfrm>
            <a:off x="6622628" y="1993106"/>
            <a:ext cx="1905967"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700" u="none" cap="none" strike="noStrike">
                <a:solidFill>
                  <a:srgbClr val="FF0000"/>
                </a:solidFill>
                <a:latin typeface="Roboto Slab"/>
                <a:ea typeface="Roboto Slab"/>
                <a:cs typeface="Roboto Slab"/>
                <a:sym typeface="Roboto Slab"/>
              </a:rPr>
              <a:t>😴 졸음</a:t>
            </a:r>
            <a:endParaRPr b="0" i="0" sz="1700" u="none" cap="none" strike="noStrike">
              <a:solidFill>
                <a:srgbClr val="FF0000"/>
              </a:solidFill>
              <a:latin typeface="Calibri"/>
              <a:ea typeface="Calibri"/>
              <a:cs typeface="Calibri"/>
              <a:sym typeface="Calibri"/>
            </a:endParaRPr>
          </a:p>
        </p:txBody>
      </p:sp>
      <p:sp>
        <p:nvSpPr>
          <p:cNvPr id="757" name="Google Shape;757;p35"/>
          <p:cNvSpPr/>
          <p:nvPr/>
        </p:nvSpPr>
        <p:spPr>
          <a:xfrm>
            <a:off x="6622628" y="2315691"/>
            <a:ext cx="190596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MediaPipe EAR</a:t>
            </a:r>
            <a:endParaRPr b="0" i="0" sz="950" u="none" cap="none" strike="noStrike">
              <a:solidFill>
                <a:schemeClr val="dk1"/>
              </a:solidFill>
              <a:latin typeface="Calibri"/>
              <a:ea typeface="Calibri"/>
              <a:cs typeface="Calibri"/>
              <a:sym typeface="Calibri"/>
            </a:endParaRPr>
          </a:p>
        </p:txBody>
      </p:sp>
      <p:sp>
        <p:nvSpPr>
          <p:cNvPr id="758" name="Google Shape;758;p35"/>
          <p:cNvSpPr/>
          <p:nvPr/>
        </p:nvSpPr>
        <p:spPr>
          <a:xfrm>
            <a:off x="4220766" y="2762101"/>
            <a:ext cx="2153915" cy="768995"/>
          </a:xfrm>
          <a:prstGeom prst="roundRect">
            <a:avLst>
              <a:gd fmla="val 242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35"/>
          <p:cNvSpPr/>
          <p:nvPr/>
        </p:nvSpPr>
        <p:spPr>
          <a:xfrm>
            <a:off x="4344739" y="2886075"/>
            <a:ext cx="1905967"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700" u="none" cap="none" strike="noStrike">
                <a:solidFill>
                  <a:srgbClr val="FF0000"/>
                </a:solidFill>
                <a:latin typeface="Roboto Slab"/>
                <a:ea typeface="Roboto Slab"/>
                <a:cs typeface="Roboto Slab"/>
                <a:sym typeface="Roboto Slab"/>
              </a:rPr>
              <a:t>😶 멍때림</a:t>
            </a:r>
            <a:endParaRPr b="0" i="0" sz="1700" u="none" cap="none" strike="noStrike">
              <a:solidFill>
                <a:srgbClr val="FF0000"/>
              </a:solidFill>
              <a:latin typeface="Calibri"/>
              <a:ea typeface="Calibri"/>
              <a:cs typeface="Calibri"/>
              <a:sym typeface="Calibri"/>
            </a:endParaRPr>
          </a:p>
        </p:txBody>
      </p:sp>
      <p:sp>
        <p:nvSpPr>
          <p:cNvPr id="760" name="Google Shape;760;p35"/>
          <p:cNvSpPr/>
          <p:nvPr/>
        </p:nvSpPr>
        <p:spPr>
          <a:xfrm>
            <a:off x="4344739" y="3208660"/>
            <a:ext cx="190596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MediaPipe 고개</a:t>
            </a:r>
            <a:endParaRPr b="0" i="0" sz="950" u="none" cap="none" strike="noStrike">
              <a:solidFill>
                <a:schemeClr val="dk1"/>
              </a:solidFill>
              <a:latin typeface="Calibri"/>
              <a:ea typeface="Calibri"/>
              <a:cs typeface="Calibri"/>
              <a:sym typeface="Calibri"/>
            </a:endParaRPr>
          </a:p>
        </p:txBody>
      </p:sp>
      <p:sp>
        <p:nvSpPr>
          <p:cNvPr id="761" name="Google Shape;761;p35"/>
          <p:cNvSpPr/>
          <p:nvPr/>
        </p:nvSpPr>
        <p:spPr>
          <a:xfrm>
            <a:off x="6498654" y="2762101"/>
            <a:ext cx="2153915" cy="768995"/>
          </a:xfrm>
          <a:prstGeom prst="roundRect">
            <a:avLst>
              <a:gd fmla="val 242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5"/>
          <p:cNvSpPr/>
          <p:nvPr/>
        </p:nvSpPr>
        <p:spPr>
          <a:xfrm>
            <a:off x="6622628" y="2886075"/>
            <a:ext cx="1905967"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700" u="none" cap="none" strike="noStrike">
                <a:solidFill>
                  <a:srgbClr val="FF0000"/>
                </a:solidFill>
                <a:latin typeface="Roboto Slab"/>
                <a:ea typeface="Roboto Slab"/>
                <a:cs typeface="Roboto Slab"/>
                <a:sym typeface="Roboto Slab"/>
              </a:rPr>
              <a:t>🚶 자리비움</a:t>
            </a:r>
            <a:endParaRPr b="0" i="0" sz="1700" u="none" cap="none" strike="noStrike">
              <a:solidFill>
                <a:srgbClr val="FF0000"/>
              </a:solidFill>
              <a:latin typeface="Calibri"/>
              <a:ea typeface="Calibri"/>
              <a:cs typeface="Calibri"/>
              <a:sym typeface="Calibri"/>
            </a:endParaRPr>
          </a:p>
        </p:txBody>
      </p:sp>
      <p:sp>
        <p:nvSpPr>
          <p:cNvPr id="763" name="Google Shape;763;p35"/>
          <p:cNvSpPr/>
          <p:nvPr/>
        </p:nvSpPr>
        <p:spPr>
          <a:xfrm>
            <a:off x="6622628" y="3208660"/>
            <a:ext cx="1905967"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MediaPipe 얼굴</a:t>
            </a:r>
            <a:endParaRPr b="0" i="0" sz="950" u="none" cap="none" strike="noStrike">
              <a:solidFill>
                <a:schemeClr val="dk1"/>
              </a:solidFill>
              <a:latin typeface="Calibri"/>
              <a:ea typeface="Calibri"/>
              <a:cs typeface="Calibri"/>
              <a:sym typeface="Calibri"/>
            </a:endParaRPr>
          </a:p>
        </p:txBody>
      </p:sp>
      <p:sp>
        <p:nvSpPr>
          <p:cNvPr id="764" name="Google Shape;764;p35"/>
          <p:cNvSpPr/>
          <p:nvPr/>
        </p:nvSpPr>
        <p:spPr>
          <a:xfrm>
            <a:off x="4220766" y="3655070"/>
            <a:ext cx="4431804" cy="768995"/>
          </a:xfrm>
          <a:prstGeom prst="roundRect">
            <a:avLst>
              <a:gd fmla="val 2420"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35"/>
          <p:cNvSpPr/>
          <p:nvPr/>
        </p:nvSpPr>
        <p:spPr>
          <a:xfrm>
            <a:off x="4344739" y="3779044"/>
            <a:ext cx="4183856" cy="1986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00"/>
              <a:buFont typeface="Roboto Slab"/>
              <a:buNone/>
            </a:pPr>
            <a:r>
              <a:rPr b="0" i="0" lang="ko-KR" sz="1700" u="none" cap="none" strike="noStrike">
                <a:solidFill>
                  <a:srgbClr val="FF0000"/>
                </a:solidFill>
                <a:latin typeface="Roboto Slab"/>
                <a:ea typeface="Roboto Slab"/>
                <a:cs typeface="Roboto Slab"/>
                <a:sym typeface="Roboto Slab"/>
              </a:rPr>
              <a:t>❓ 기타</a:t>
            </a:r>
            <a:endParaRPr b="0" i="0" sz="1700" u="none" cap="none" strike="noStrike">
              <a:solidFill>
                <a:srgbClr val="FF0000"/>
              </a:solidFill>
              <a:latin typeface="Calibri"/>
              <a:ea typeface="Calibri"/>
              <a:cs typeface="Calibri"/>
              <a:sym typeface="Calibri"/>
            </a:endParaRPr>
          </a:p>
        </p:txBody>
      </p:sp>
      <p:sp>
        <p:nvSpPr>
          <p:cNvPr id="766" name="Google Shape;766;p35"/>
          <p:cNvSpPr/>
          <p:nvPr/>
        </p:nvSpPr>
        <p:spPr>
          <a:xfrm>
            <a:off x="4344739" y="4101629"/>
            <a:ext cx="4183856"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15213F"/>
              </a:buClr>
              <a:buSzPts val="950"/>
              <a:buFont typeface="Roboto"/>
              <a:buNone/>
            </a:pPr>
            <a:r>
              <a:rPr b="0" i="0" lang="ko-KR" sz="950" u="none" cap="none" strike="noStrike">
                <a:solidFill>
                  <a:srgbClr val="15213F"/>
                </a:solidFill>
                <a:latin typeface="Roboto"/>
                <a:ea typeface="Roboto"/>
                <a:cs typeface="Roboto"/>
                <a:sym typeface="Roboto"/>
              </a:rPr>
              <a:t>분류 불가 딴짓</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36"/>
          <p:cNvSpPr/>
          <p:nvPr/>
        </p:nvSpPr>
        <p:spPr>
          <a:xfrm>
            <a:off x="496119" y="386358"/>
            <a:ext cx="8151763" cy="3789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300"/>
              <a:buFont typeface="Roboto Slab"/>
              <a:buNone/>
            </a:pPr>
            <a:r>
              <a:rPr b="1" i="0" lang="ko-KR" sz="2300" u="none" cap="none" strike="noStrike">
                <a:solidFill>
                  <a:srgbClr val="3257B8"/>
                </a:solidFill>
                <a:latin typeface="Roboto Slab"/>
                <a:ea typeface="Roboto Slab"/>
                <a:cs typeface="Roboto Slab"/>
                <a:sym typeface="Roboto Slab"/>
              </a:rPr>
              <a:t>핵심 원칙: 한 층씩 차근차근! </a:t>
            </a:r>
            <a:r>
              <a:rPr b="1" i="0" lang="ko-KR" sz="2300" u="none" cap="none" strike="noStrike">
                <a:solidFill>
                  <a:srgbClr val="000000"/>
                </a:solidFill>
                <a:latin typeface="Roboto Slab"/>
                <a:ea typeface="Roboto Slab"/>
                <a:cs typeface="Roboto Slab"/>
                <a:sym typeface="Roboto Slab"/>
              </a:rPr>
              <a:t>🏗️</a:t>
            </a:r>
            <a:endParaRPr b="1" i="0" sz="2300" u="none" cap="none" strike="noStrike">
              <a:solidFill>
                <a:schemeClr val="dk1"/>
              </a:solidFill>
              <a:latin typeface="Calibri"/>
              <a:ea typeface="Calibri"/>
              <a:cs typeface="Calibri"/>
              <a:sym typeface="Calibri"/>
            </a:endParaRPr>
          </a:p>
        </p:txBody>
      </p:sp>
      <p:sp>
        <p:nvSpPr>
          <p:cNvPr id="773" name="Google Shape;773;p36"/>
          <p:cNvSpPr/>
          <p:nvPr/>
        </p:nvSpPr>
        <p:spPr>
          <a:xfrm>
            <a:off x="496119" y="990674"/>
            <a:ext cx="8608963" cy="1846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5213F"/>
              </a:buClr>
              <a:buSzPts val="900"/>
              <a:buFont typeface="Roboto"/>
              <a:buNone/>
            </a:pPr>
            <a:r>
              <a:rPr b="0" i="0" lang="ko-KR" sz="1300" u="none" cap="none" strike="noStrike">
                <a:solidFill>
                  <a:srgbClr val="15213F"/>
                </a:solidFill>
                <a:latin typeface="Roboto"/>
                <a:ea typeface="Roboto"/>
                <a:cs typeface="Roboto"/>
                <a:sym typeface="Roboto"/>
              </a:rPr>
              <a:t>집 짓기의 순서를 반드시 지켜야 합니다. </a:t>
            </a:r>
            <a:r>
              <a:rPr b="1" i="0" lang="ko-KR" sz="1300" u="none" cap="none" strike="noStrike">
                <a:solidFill>
                  <a:srgbClr val="15213F"/>
                </a:solidFill>
                <a:latin typeface="Roboto"/>
                <a:ea typeface="Roboto"/>
                <a:cs typeface="Roboto"/>
                <a:sym typeface="Roboto"/>
              </a:rPr>
              <a:t>벽도 없는데 스마트 도어락을 달 수 없듯이</a:t>
            </a:r>
            <a:r>
              <a:rPr b="0" i="0" lang="ko-KR" sz="1300" u="none" cap="none" strike="noStrike">
                <a:solidFill>
                  <a:srgbClr val="15213F"/>
                </a:solidFill>
                <a:latin typeface="Roboto"/>
                <a:ea typeface="Roboto"/>
                <a:cs typeface="Roboto"/>
                <a:sym typeface="Roboto"/>
              </a:rPr>
              <a:t>, 기본 기능 없이 AI를 붙이면 다 무너져요!</a:t>
            </a:r>
            <a:endParaRPr b="0" i="0" sz="1300" u="none" cap="none" strike="noStrike">
              <a:solidFill>
                <a:schemeClr val="dk1"/>
              </a:solidFill>
              <a:latin typeface="Calibri"/>
              <a:ea typeface="Calibri"/>
              <a:cs typeface="Calibri"/>
              <a:sym typeface="Calibri"/>
            </a:endParaRPr>
          </a:p>
        </p:txBody>
      </p:sp>
      <p:sp>
        <p:nvSpPr>
          <p:cNvPr id="774" name="Google Shape;774;p36"/>
          <p:cNvSpPr/>
          <p:nvPr/>
        </p:nvSpPr>
        <p:spPr>
          <a:xfrm>
            <a:off x="496119" y="1302097"/>
            <a:ext cx="1018952" cy="673298"/>
          </a:xfrm>
          <a:prstGeom prst="roundRect">
            <a:avLst>
              <a:gd fmla="val 2634"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6"/>
          <p:cNvSpPr/>
          <p:nvPr/>
        </p:nvSpPr>
        <p:spPr>
          <a:xfrm>
            <a:off x="922437" y="1534864"/>
            <a:ext cx="166241" cy="20776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13F"/>
              </a:buClr>
              <a:buSzPts val="1300"/>
              <a:buFont typeface="Roboto Slab"/>
              <a:buNone/>
            </a:pPr>
            <a:r>
              <a:rPr b="0" i="0" lang="ko-KR" sz="1300" u="none" cap="none" strike="noStrike">
                <a:solidFill>
                  <a:srgbClr val="15213F"/>
                </a:solidFill>
                <a:latin typeface="Roboto Slab"/>
                <a:ea typeface="Roboto Slab"/>
                <a:cs typeface="Roboto Slab"/>
                <a:sym typeface="Roboto Slab"/>
              </a:rPr>
              <a:t>1</a:t>
            </a:r>
            <a:endParaRPr b="0" i="0" sz="1300" u="none" cap="none" strike="noStrike">
              <a:solidFill>
                <a:schemeClr val="dk1"/>
              </a:solidFill>
              <a:latin typeface="Calibri"/>
              <a:ea typeface="Calibri"/>
              <a:cs typeface="Calibri"/>
              <a:sym typeface="Calibri"/>
            </a:endParaRPr>
          </a:p>
        </p:txBody>
      </p:sp>
      <p:sp>
        <p:nvSpPr>
          <p:cNvPr id="776" name="Google Shape;776;p36"/>
          <p:cNvSpPr/>
          <p:nvPr/>
        </p:nvSpPr>
        <p:spPr>
          <a:xfrm>
            <a:off x="1633240" y="1420267"/>
            <a:ext cx="6896472" cy="18469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50"/>
              <a:buFont typeface="Roboto Slab"/>
              <a:buNone/>
            </a:pPr>
            <a:r>
              <a:rPr b="1" i="0" lang="ko-KR" sz="1550" u="none" cap="none" strike="noStrike">
                <a:solidFill>
                  <a:srgbClr val="15213F"/>
                </a:solidFill>
                <a:latin typeface="Roboto Slab"/>
                <a:ea typeface="Roboto Slab"/>
                <a:cs typeface="Roboto Slab"/>
                <a:sym typeface="Roboto Slab"/>
              </a:rPr>
              <a:t>AI는 나중에 (Phase 3~4)</a:t>
            </a:r>
            <a:endParaRPr b="1" i="0" sz="1550" u="none" cap="none" strike="noStrike">
              <a:solidFill>
                <a:schemeClr val="dk1"/>
              </a:solidFill>
              <a:latin typeface="Calibri"/>
              <a:ea typeface="Calibri"/>
              <a:cs typeface="Calibri"/>
              <a:sym typeface="Calibri"/>
            </a:endParaRPr>
          </a:p>
        </p:txBody>
      </p:sp>
      <p:sp>
        <p:nvSpPr>
          <p:cNvPr id="777" name="Google Shape;777;p36"/>
          <p:cNvSpPr/>
          <p:nvPr/>
        </p:nvSpPr>
        <p:spPr>
          <a:xfrm>
            <a:off x="1633240" y="1672530"/>
            <a:ext cx="6896472" cy="1846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5213F"/>
              </a:buClr>
              <a:buSzPts val="900"/>
              <a:buFont typeface="Roboto"/>
              <a:buNone/>
            </a:pPr>
            <a:r>
              <a:rPr b="0" i="0" lang="ko-KR" sz="900" u="none" cap="none" strike="noStrike">
                <a:solidFill>
                  <a:srgbClr val="15213F"/>
                </a:solidFill>
                <a:latin typeface="Roboto"/>
                <a:ea typeface="Roboto"/>
                <a:cs typeface="Roboto"/>
                <a:sym typeface="Roboto"/>
              </a:rPr>
              <a:t>스마트홈은 집이 완성된 후에!</a:t>
            </a:r>
            <a:endParaRPr b="0" i="0" sz="900" u="none" cap="none" strike="noStrike">
              <a:solidFill>
                <a:schemeClr val="dk1"/>
              </a:solidFill>
              <a:latin typeface="Calibri"/>
              <a:ea typeface="Calibri"/>
              <a:cs typeface="Calibri"/>
              <a:sym typeface="Calibri"/>
            </a:endParaRPr>
          </a:p>
        </p:txBody>
      </p:sp>
      <p:sp>
        <p:nvSpPr>
          <p:cNvPr id="778" name="Google Shape;778;p36"/>
          <p:cNvSpPr/>
          <p:nvPr/>
        </p:nvSpPr>
        <p:spPr>
          <a:xfrm>
            <a:off x="1574155" y="1969443"/>
            <a:ext cx="7014642" cy="7144"/>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6"/>
          <p:cNvSpPr/>
          <p:nvPr/>
        </p:nvSpPr>
        <p:spPr>
          <a:xfrm>
            <a:off x="496119" y="2034480"/>
            <a:ext cx="2037904" cy="673298"/>
          </a:xfrm>
          <a:prstGeom prst="roundRect">
            <a:avLst>
              <a:gd fmla="val 2634"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36"/>
          <p:cNvSpPr/>
          <p:nvPr/>
        </p:nvSpPr>
        <p:spPr>
          <a:xfrm>
            <a:off x="1431950" y="2267248"/>
            <a:ext cx="166241" cy="20776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13F"/>
              </a:buClr>
              <a:buSzPts val="1300"/>
              <a:buFont typeface="Roboto Slab"/>
              <a:buNone/>
            </a:pPr>
            <a:r>
              <a:rPr b="0" i="0" lang="ko-KR" sz="1300" u="none" cap="none" strike="noStrike">
                <a:solidFill>
                  <a:srgbClr val="15213F"/>
                </a:solidFill>
                <a:latin typeface="Roboto Slab"/>
                <a:ea typeface="Roboto Slab"/>
                <a:cs typeface="Roboto Slab"/>
                <a:sym typeface="Roboto Slab"/>
              </a:rPr>
              <a:t>2</a:t>
            </a:r>
            <a:endParaRPr b="0" i="0" sz="1300" u="none" cap="none" strike="noStrike">
              <a:solidFill>
                <a:schemeClr val="dk1"/>
              </a:solidFill>
              <a:latin typeface="Calibri"/>
              <a:ea typeface="Calibri"/>
              <a:cs typeface="Calibri"/>
              <a:sym typeface="Calibri"/>
            </a:endParaRPr>
          </a:p>
        </p:txBody>
      </p:sp>
      <p:sp>
        <p:nvSpPr>
          <p:cNvPr id="781" name="Google Shape;781;p36"/>
          <p:cNvSpPr/>
          <p:nvPr/>
        </p:nvSpPr>
        <p:spPr>
          <a:xfrm>
            <a:off x="2652192" y="2152650"/>
            <a:ext cx="5877520" cy="18469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50"/>
              <a:buFont typeface="Roboto Slab"/>
              <a:buNone/>
            </a:pPr>
            <a:r>
              <a:rPr b="1" i="0" lang="ko-KR" sz="1550" u="none" cap="none" strike="noStrike">
                <a:solidFill>
                  <a:srgbClr val="15213F"/>
                </a:solidFill>
                <a:latin typeface="Roboto Slab"/>
                <a:ea typeface="Roboto Slab"/>
                <a:cs typeface="Roboto Slab"/>
                <a:sym typeface="Roboto Slab"/>
              </a:rPr>
              <a:t>로직 다음 (JS + Flask)</a:t>
            </a:r>
            <a:endParaRPr b="1" i="0" sz="1550" u="none" cap="none" strike="noStrike">
              <a:solidFill>
                <a:schemeClr val="dk1"/>
              </a:solidFill>
              <a:latin typeface="Calibri"/>
              <a:ea typeface="Calibri"/>
              <a:cs typeface="Calibri"/>
              <a:sym typeface="Calibri"/>
            </a:endParaRPr>
          </a:p>
        </p:txBody>
      </p:sp>
      <p:sp>
        <p:nvSpPr>
          <p:cNvPr id="782" name="Google Shape;782;p36"/>
          <p:cNvSpPr/>
          <p:nvPr/>
        </p:nvSpPr>
        <p:spPr>
          <a:xfrm>
            <a:off x="2652192" y="2404914"/>
            <a:ext cx="5877520" cy="1846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5213F"/>
              </a:buClr>
              <a:buSzPts val="900"/>
              <a:buFont typeface="Roboto"/>
              <a:buNone/>
            </a:pPr>
            <a:r>
              <a:rPr b="0" i="0" lang="ko-KR" sz="900" u="none" cap="none" strike="noStrike">
                <a:solidFill>
                  <a:srgbClr val="15213F"/>
                </a:solidFill>
                <a:latin typeface="Roboto"/>
                <a:ea typeface="Roboto"/>
                <a:cs typeface="Roboto"/>
                <a:sym typeface="Roboto"/>
              </a:rPr>
              <a:t>스위치에 전선 연결</a:t>
            </a:r>
            <a:endParaRPr b="0" i="0" sz="900" u="none" cap="none" strike="noStrike">
              <a:solidFill>
                <a:schemeClr val="dk1"/>
              </a:solidFill>
              <a:latin typeface="Calibri"/>
              <a:ea typeface="Calibri"/>
              <a:cs typeface="Calibri"/>
              <a:sym typeface="Calibri"/>
            </a:endParaRPr>
          </a:p>
        </p:txBody>
      </p:sp>
      <p:sp>
        <p:nvSpPr>
          <p:cNvPr id="783" name="Google Shape;783;p36"/>
          <p:cNvSpPr/>
          <p:nvPr/>
        </p:nvSpPr>
        <p:spPr>
          <a:xfrm>
            <a:off x="2593107" y="2701826"/>
            <a:ext cx="5995690" cy="7144"/>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36"/>
          <p:cNvSpPr/>
          <p:nvPr/>
        </p:nvSpPr>
        <p:spPr>
          <a:xfrm>
            <a:off x="496119" y="2766864"/>
            <a:ext cx="3056855" cy="673298"/>
          </a:xfrm>
          <a:prstGeom prst="roundRect">
            <a:avLst>
              <a:gd fmla="val 2634"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36"/>
          <p:cNvSpPr/>
          <p:nvPr/>
        </p:nvSpPr>
        <p:spPr>
          <a:xfrm>
            <a:off x="1941388" y="2999631"/>
            <a:ext cx="166241" cy="20776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13F"/>
              </a:buClr>
              <a:buSzPts val="1300"/>
              <a:buFont typeface="Roboto Slab"/>
              <a:buNone/>
            </a:pPr>
            <a:r>
              <a:rPr b="0" i="0" lang="ko-KR" sz="1300" u="none" cap="none" strike="noStrike">
                <a:solidFill>
                  <a:srgbClr val="15213F"/>
                </a:solidFill>
                <a:latin typeface="Roboto Slab"/>
                <a:ea typeface="Roboto Slab"/>
                <a:cs typeface="Roboto Slab"/>
                <a:sym typeface="Roboto Slab"/>
              </a:rPr>
              <a:t>3</a:t>
            </a:r>
            <a:endParaRPr b="0" i="0" sz="1300" u="none" cap="none" strike="noStrike">
              <a:solidFill>
                <a:schemeClr val="dk1"/>
              </a:solidFill>
              <a:latin typeface="Calibri"/>
              <a:ea typeface="Calibri"/>
              <a:cs typeface="Calibri"/>
              <a:sym typeface="Calibri"/>
            </a:endParaRPr>
          </a:p>
        </p:txBody>
      </p:sp>
      <p:sp>
        <p:nvSpPr>
          <p:cNvPr id="786" name="Google Shape;786;p36"/>
          <p:cNvSpPr/>
          <p:nvPr/>
        </p:nvSpPr>
        <p:spPr>
          <a:xfrm>
            <a:off x="3671143" y="2885033"/>
            <a:ext cx="4858569" cy="18469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50"/>
              <a:buFont typeface="Roboto Slab"/>
              <a:buNone/>
            </a:pPr>
            <a:r>
              <a:rPr b="1" i="0" lang="ko-KR" sz="1550" u="none" cap="none" strike="noStrike">
                <a:solidFill>
                  <a:srgbClr val="15213F"/>
                </a:solidFill>
                <a:latin typeface="Roboto Slab"/>
                <a:ea typeface="Roboto Slab"/>
                <a:cs typeface="Roboto Slab"/>
                <a:sym typeface="Roboto Slab"/>
              </a:rPr>
              <a:t>데이터 설계 (JSON/CSV)</a:t>
            </a:r>
            <a:endParaRPr b="1" i="0" sz="1550" u="none" cap="none" strike="noStrike">
              <a:solidFill>
                <a:schemeClr val="dk1"/>
              </a:solidFill>
              <a:latin typeface="Calibri"/>
              <a:ea typeface="Calibri"/>
              <a:cs typeface="Calibri"/>
              <a:sym typeface="Calibri"/>
            </a:endParaRPr>
          </a:p>
        </p:txBody>
      </p:sp>
      <p:sp>
        <p:nvSpPr>
          <p:cNvPr id="787" name="Google Shape;787;p36"/>
          <p:cNvSpPr/>
          <p:nvPr/>
        </p:nvSpPr>
        <p:spPr>
          <a:xfrm>
            <a:off x="3671143" y="3137297"/>
            <a:ext cx="4858569" cy="1846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5213F"/>
              </a:buClr>
              <a:buSzPts val="900"/>
              <a:buFont typeface="Roboto"/>
              <a:buNone/>
            </a:pPr>
            <a:r>
              <a:rPr b="0" i="0" lang="ko-KR" sz="900" u="none" cap="none" strike="noStrike">
                <a:solidFill>
                  <a:srgbClr val="15213F"/>
                </a:solidFill>
                <a:latin typeface="Roboto"/>
                <a:ea typeface="Roboto"/>
                <a:cs typeface="Roboto"/>
                <a:sym typeface="Roboto"/>
              </a:rPr>
              <a:t>수도관, 전기 배선</a:t>
            </a:r>
            <a:endParaRPr b="0" i="0" sz="900" u="none" cap="none" strike="noStrike">
              <a:solidFill>
                <a:schemeClr val="dk1"/>
              </a:solidFill>
              <a:latin typeface="Calibri"/>
              <a:ea typeface="Calibri"/>
              <a:cs typeface="Calibri"/>
              <a:sym typeface="Calibri"/>
            </a:endParaRPr>
          </a:p>
        </p:txBody>
      </p:sp>
      <p:sp>
        <p:nvSpPr>
          <p:cNvPr id="788" name="Google Shape;788;p36"/>
          <p:cNvSpPr/>
          <p:nvPr/>
        </p:nvSpPr>
        <p:spPr>
          <a:xfrm>
            <a:off x="3612059" y="3434209"/>
            <a:ext cx="4976738" cy="7144"/>
          </a:xfrm>
          <a:prstGeom prst="roundRect">
            <a:avLst>
              <a:gd fmla="val 49998" name="adj"/>
            </a:avLst>
          </a:prstGeom>
          <a:solidFill>
            <a:srgbClr val="CFD2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36"/>
          <p:cNvSpPr/>
          <p:nvPr/>
        </p:nvSpPr>
        <p:spPr>
          <a:xfrm>
            <a:off x="496119" y="3499247"/>
            <a:ext cx="4075881" cy="673298"/>
          </a:xfrm>
          <a:prstGeom prst="roundRect">
            <a:avLst>
              <a:gd fmla="val 2634" name="adj"/>
            </a:avLst>
          </a:prstGeom>
          <a:solidFill>
            <a:srgbClr val="E9E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36"/>
          <p:cNvSpPr/>
          <p:nvPr/>
        </p:nvSpPr>
        <p:spPr>
          <a:xfrm>
            <a:off x="2450902" y="3732014"/>
            <a:ext cx="166241" cy="20776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13F"/>
              </a:buClr>
              <a:buSzPts val="1300"/>
              <a:buFont typeface="Roboto Slab"/>
              <a:buNone/>
            </a:pPr>
            <a:r>
              <a:rPr b="0" i="0" lang="ko-KR" sz="1300" u="none" cap="none" strike="noStrike">
                <a:solidFill>
                  <a:srgbClr val="15213F"/>
                </a:solidFill>
                <a:latin typeface="Roboto Slab"/>
                <a:ea typeface="Roboto Slab"/>
                <a:cs typeface="Roboto Slab"/>
                <a:sym typeface="Roboto Slab"/>
              </a:rPr>
              <a:t>4</a:t>
            </a:r>
            <a:endParaRPr b="0" i="0" sz="1300" u="none" cap="none" strike="noStrike">
              <a:solidFill>
                <a:schemeClr val="dk1"/>
              </a:solidFill>
              <a:latin typeface="Calibri"/>
              <a:ea typeface="Calibri"/>
              <a:cs typeface="Calibri"/>
              <a:sym typeface="Calibri"/>
            </a:endParaRPr>
          </a:p>
        </p:txBody>
      </p:sp>
      <p:sp>
        <p:nvSpPr>
          <p:cNvPr id="791" name="Google Shape;791;p36"/>
          <p:cNvSpPr/>
          <p:nvPr/>
        </p:nvSpPr>
        <p:spPr>
          <a:xfrm>
            <a:off x="4690170" y="3617416"/>
            <a:ext cx="3839542" cy="18469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50"/>
              <a:buFont typeface="Roboto Slab"/>
              <a:buNone/>
            </a:pPr>
            <a:r>
              <a:rPr b="1" i="0" lang="ko-KR" sz="1550" u="none" cap="none" strike="noStrike">
                <a:solidFill>
                  <a:srgbClr val="15213F"/>
                </a:solidFill>
                <a:latin typeface="Roboto Slab"/>
                <a:ea typeface="Roboto Slab"/>
                <a:cs typeface="Roboto Slab"/>
                <a:sym typeface="Roboto Slab"/>
              </a:rPr>
              <a:t>UI 먼저 (HTML/CSS)</a:t>
            </a:r>
            <a:endParaRPr b="1" i="0" sz="1550" u="none" cap="none" strike="noStrike">
              <a:solidFill>
                <a:schemeClr val="dk1"/>
              </a:solidFill>
              <a:latin typeface="Calibri"/>
              <a:ea typeface="Calibri"/>
              <a:cs typeface="Calibri"/>
              <a:sym typeface="Calibri"/>
            </a:endParaRPr>
          </a:p>
        </p:txBody>
      </p:sp>
      <p:sp>
        <p:nvSpPr>
          <p:cNvPr id="792" name="Google Shape;792;p36"/>
          <p:cNvSpPr/>
          <p:nvPr/>
        </p:nvSpPr>
        <p:spPr>
          <a:xfrm>
            <a:off x="4690170" y="3869680"/>
            <a:ext cx="3839542" cy="1846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5213F"/>
              </a:buClr>
              <a:buSzPts val="900"/>
              <a:buFont typeface="Roboto"/>
              <a:buNone/>
            </a:pPr>
            <a:r>
              <a:rPr b="0" i="0" lang="ko-KR" sz="900" u="none" cap="none" strike="noStrike">
                <a:solidFill>
                  <a:srgbClr val="15213F"/>
                </a:solidFill>
                <a:latin typeface="Roboto"/>
                <a:ea typeface="Roboto"/>
                <a:cs typeface="Roboto"/>
                <a:sym typeface="Roboto"/>
              </a:rPr>
              <a:t>벽과 문을 먼저 세운다!</a:t>
            </a:r>
            <a:endParaRPr b="0" i="0" sz="900" u="none" cap="none" strike="noStrike">
              <a:solidFill>
                <a:schemeClr val="dk1"/>
              </a:solidFill>
              <a:latin typeface="Calibri"/>
              <a:ea typeface="Calibri"/>
              <a:cs typeface="Calibri"/>
              <a:sym typeface="Calibri"/>
            </a:endParaRPr>
          </a:p>
        </p:txBody>
      </p:sp>
      <p:sp>
        <p:nvSpPr>
          <p:cNvPr id="793" name="Google Shape;793;p36"/>
          <p:cNvSpPr/>
          <p:nvPr/>
        </p:nvSpPr>
        <p:spPr>
          <a:xfrm>
            <a:off x="496119" y="4299272"/>
            <a:ext cx="8151763" cy="457795"/>
          </a:xfrm>
          <a:prstGeom prst="roundRect">
            <a:avLst>
              <a:gd fmla="val 3874"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94" name="Google Shape;794;p36"/>
          <p:cNvPicPr preferRelativeResize="0"/>
          <p:nvPr/>
        </p:nvPicPr>
        <p:blipFill rotWithShape="1">
          <a:blip r:embed="rId3">
            <a:alphaModFix/>
          </a:blip>
          <a:srcRect b="0" l="0" r="0" t="0"/>
          <a:stretch/>
        </p:blipFill>
        <p:spPr>
          <a:xfrm>
            <a:off x="614288" y="4467374"/>
            <a:ext cx="147786" cy="118170"/>
          </a:xfrm>
          <a:prstGeom prst="rect">
            <a:avLst/>
          </a:prstGeom>
          <a:noFill/>
          <a:ln>
            <a:noFill/>
          </a:ln>
        </p:spPr>
      </p:pic>
      <p:sp>
        <p:nvSpPr>
          <p:cNvPr id="795" name="Google Shape;795;p36"/>
          <p:cNvSpPr/>
          <p:nvPr/>
        </p:nvSpPr>
        <p:spPr>
          <a:xfrm>
            <a:off x="880244" y="4441478"/>
            <a:ext cx="8106668" cy="1846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900"/>
              <a:buFont typeface="Roboto"/>
              <a:buNone/>
            </a:pPr>
            <a:r>
              <a:rPr b="0" i="0" lang="ko-KR" sz="1600" u="none" cap="none" strike="noStrike">
                <a:solidFill>
                  <a:srgbClr val="000000"/>
                </a:solidFill>
                <a:latin typeface="Roboto"/>
                <a:ea typeface="Roboto"/>
                <a:cs typeface="Roboto"/>
                <a:sym typeface="Roboto"/>
              </a:rPr>
              <a:t>화면(UI) 없이 로직 테스트 불가 → 기본 기능 없이 AI 불가. </a:t>
            </a:r>
            <a:r>
              <a:rPr b="1" i="0" lang="ko-KR" sz="1600" u="none" cap="none" strike="noStrike">
                <a:solidFill>
                  <a:srgbClr val="000000"/>
                </a:solidFill>
                <a:latin typeface="Roboto"/>
                <a:ea typeface="Roboto"/>
                <a:cs typeface="Roboto"/>
                <a:sym typeface="Roboto"/>
              </a:rPr>
              <a:t>차근차근, 한 층씩!</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pic>
        <p:nvPicPr>
          <p:cNvPr descr="preencoded.png" id="801" name="Google Shape;801;p37"/>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802" name="Google Shape;802;p37"/>
          <p:cNvSpPr/>
          <p:nvPr/>
        </p:nvSpPr>
        <p:spPr>
          <a:xfrm>
            <a:off x="496119" y="353541"/>
            <a:ext cx="4722763" cy="37162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257B8"/>
              </a:buClr>
              <a:buSzPts val="2250"/>
              <a:buFont typeface="Roboto Slab"/>
              <a:buNone/>
            </a:pPr>
            <a:r>
              <a:rPr b="0" i="0" lang="ko-KR" sz="3050" u="none" cap="none" strike="noStrike">
                <a:solidFill>
                  <a:srgbClr val="3257B8"/>
                </a:solidFill>
                <a:latin typeface="Roboto Slab"/>
                <a:ea typeface="Roboto Slab"/>
                <a:cs typeface="Roboto Slab"/>
                <a:sym typeface="Roboto Slab"/>
              </a:rPr>
              <a:t>감사합니다! </a:t>
            </a:r>
            <a:r>
              <a:rPr b="0" i="0" lang="ko-KR" sz="3050" u="none" cap="none" strike="noStrike">
                <a:solidFill>
                  <a:srgbClr val="000000"/>
                </a:solidFill>
                <a:latin typeface="Roboto Slab"/>
                <a:ea typeface="Roboto Slab"/>
                <a:cs typeface="Roboto Slab"/>
                <a:sym typeface="Roboto Slab"/>
              </a:rPr>
              <a:t>🎉</a:t>
            </a:r>
            <a:endParaRPr b="0" i="0" sz="3050" u="none" cap="none" strike="noStrike">
              <a:solidFill>
                <a:schemeClr val="dk1"/>
              </a:solidFill>
              <a:latin typeface="Calibri"/>
              <a:ea typeface="Calibri"/>
              <a:cs typeface="Calibri"/>
              <a:sym typeface="Calibri"/>
            </a:endParaRPr>
          </a:p>
        </p:txBody>
      </p:sp>
      <p:sp>
        <p:nvSpPr>
          <p:cNvPr id="803" name="Google Shape;803;p37"/>
          <p:cNvSpPr/>
          <p:nvPr/>
        </p:nvSpPr>
        <p:spPr>
          <a:xfrm>
            <a:off x="267519" y="883295"/>
            <a:ext cx="5179963" cy="175840"/>
          </a:xfrm>
          <a:prstGeom prst="rect">
            <a:avLst/>
          </a:prstGeom>
          <a:noFill/>
          <a:ln>
            <a:noFill/>
          </a:ln>
        </p:spPr>
        <p:txBody>
          <a:bodyPr anchorCtr="0" anchor="t" bIns="0" lIns="0" spcFirstLastPara="1" rIns="0" wrap="square" tIns="0">
            <a:noAutofit/>
          </a:bodyPr>
          <a:lstStyle/>
          <a:p>
            <a:pPr indent="0" lvl="0" marL="0" marR="0" rtl="0" algn="ctr">
              <a:lnSpc>
                <a:spcPct val="128000"/>
              </a:lnSpc>
              <a:spcBef>
                <a:spcPts val="0"/>
              </a:spcBef>
              <a:spcAft>
                <a:spcPts val="0"/>
              </a:spcAft>
              <a:buClr>
                <a:srgbClr val="15213F"/>
              </a:buClr>
              <a:buSzPts val="900"/>
              <a:buFont typeface="Roboto"/>
              <a:buNone/>
            </a:pPr>
            <a:r>
              <a:rPr b="1" i="0" lang="ko-KR" sz="900" u="none" cap="none" strike="noStrike">
                <a:solidFill>
                  <a:srgbClr val="15213F"/>
                </a:solidFill>
                <a:latin typeface="Roboto"/>
                <a:ea typeface="Roboto"/>
                <a:cs typeface="Roboto"/>
                <a:sym typeface="Roboto"/>
              </a:rPr>
              <a:t>AI 공부 매니저 — 개발 시나리오 총정리</a:t>
            </a:r>
            <a:endParaRPr b="0" i="0" sz="900" u="none" cap="none" strike="noStrike">
              <a:solidFill>
                <a:schemeClr val="dk1"/>
              </a:solidFill>
              <a:latin typeface="Calibri"/>
              <a:ea typeface="Calibri"/>
              <a:cs typeface="Calibri"/>
              <a:sym typeface="Calibri"/>
            </a:endParaRPr>
          </a:p>
        </p:txBody>
      </p:sp>
      <p:pic>
        <p:nvPicPr>
          <p:cNvPr descr="preencoded.png" id="804" name="Google Shape;804;p37"/>
          <p:cNvPicPr preferRelativeResize="0"/>
          <p:nvPr/>
        </p:nvPicPr>
        <p:blipFill rotWithShape="1">
          <a:blip r:embed="rId4">
            <a:alphaModFix/>
          </a:blip>
          <a:srcRect b="0" l="0" r="0" t="0"/>
          <a:stretch/>
        </p:blipFill>
        <p:spPr>
          <a:xfrm>
            <a:off x="496119" y="1177677"/>
            <a:ext cx="4722763" cy="686098"/>
          </a:xfrm>
          <a:prstGeom prst="rect">
            <a:avLst/>
          </a:prstGeom>
          <a:noFill/>
          <a:ln>
            <a:noFill/>
          </a:ln>
        </p:spPr>
      </p:pic>
      <p:sp>
        <p:nvSpPr>
          <p:cNvPr id="805" name="Google Shape;805;p37"/>
          <p:cNvSpPr/>
          <p:nvPr/>
        </p:nvSpPr>
        <p:spPr>
          <a:xfrm>
            <a:off x="1073125" y="1306264"/>
            <a:ext cx="4017169"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i="0" lang="ko-KR" sz="1200" u="none" cap="none" strike="noStrike">
                <a:solidFill>
                  <a:srgbClr val="15213F"/>
                </a:solidFill>
                <a:latin typeface="Roboto Slab"/>
                <a:ea typeface="Roboto Slab"/>
                <a:cs typeface="Roboto Slab"/>
                <a:sym typeface="Roboto Slab"/>
              </a:rPr>
              <a:t>대상</a:t>
            </a:r>
            <a:endParaRPr i="0" sz="1200" u="none" cap="none" strike="noStrike">
              <a:solidFill>
                <a:schemeClr val="dk1"/>
              </a:solidFill>
              <a:latin typeface="Calibri"/>
              <a:ea typeface="Calibri"/>
              <a:cs typeface="Calibri"/>
              <a:sym typeface="Calibri"/>
            </a:endParaRPr>
          </a:p>
        </p:txBody>
      </p:sp>
      <p:sp>
        <p:nvSpPr>
          <p:cNvPr id="806" name="Google Shape;806;p37"/>
          <p:cNvSpPr/>
          <p:nvPr/>
        </p:nvSpPr>
        <p:spPr>
          <a:xfrm>
            <a:off x="1073125" y="1548185"/>
            <a:ext cx="4017169"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1" i="0" lang="ko-KR" sz="1500" u="none" cap="none" strike="noStrike">
                <a:solidFill>
                  <a:srgbClr val="15213F"/>
                </a:solidFill>
                <a:latin typeface="Roboto"/>
                <a:ea typeface="Roboto"/>
                <a:cs typeface="Roboto"/>
                <a:sym typeface="Roboto"/>
              </a:rPr>
              <a:t>중학교 2학년 코딩 수업</a:t>
            </a:r>
            <a:endParaRPr b="1" i="0" sz="1500" u="none" cap="none" strike="noStrike">
              <a:solidFill>
                <a:schemeClr val="dk1"/>
              </a:solidFill>
              <a:latin typeface="Calibri"/>
              <a:ea typeface="Calibri"/>
              <a:cs typeface="Calibri"/>
              <a:sym typeface="Calibri"/>
            </a:endParaRPr>
          </a:p>
        </p:txBody>
      </p:sp>
      <p:pic>
        <p:nvPicPr>
          <p:cNvPr descr="preencoded.png" id="807" name="Google Shape;807;p37"/>
          <p:cNvPicPr preferRelativeResize="0"/>
          <p:nvPr/>
        </p:nvPicPr>
        <p:blipFill rotWithShape="1">
          <a:blip r:embed="rId4">
            <a:alphaModFix/>
          </a:blip>
          <a:srcRect b="0" l="0" r="0" t="0"/>
          <a:stretch/>
        </p:blipFill>
        <p:spPr>
          <a:xfrm>
            <a:off x="496119" y="1969145"/>
            <a:ext cx="4722763" cy="686098"/>
          </a:xfrm>
          <a:prstGeom prst="rect">
            <a:avLst/>
          </a:prstGeom>
          <a:noFill/>
          <a:ln>
            <a:noFill/>
          </a:ln>
        </p:spPr>
      </p:pic>
      <p:sp>
        <p:nvSpPr>
          <p:cNvPr id="808" name="Google Shape;808;p37"/>
          <p:cNvSpPr/>
          <p:nvPr/>
        </p:nvSpPr>
        <p:spPr>
          <a:xfrm>
            <a:off x="1073125" y="2097732"/>
            <a:ext cx="4017169"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i="0" lang="ko-KR" sz="1200" u="none" cap="none" strike="noStrike">
                <a:solidFill>
                  <a:srgbClr val="15213F"/>
                </a:solidFill>
                <a:latin typeface="Roboto Slab"/>
                <a:ea typeface="Roboto Slab"/>
                <a:cs typeface="Roboto Slab"/>
                <a:sym typeface="Roboto Slab"/>
              </a:rPr>
              <a:t>기술 스택</a:t>
            </a:r>
            <a:endParaRPr i="0" sz="1200" u="none" cap="none" strike="noStrike">
              <a:solidFill>
                <a:schemeClr val="dk1"/>
              </a:solidFill>
              <a:latin typeface="Calibri"/>
              <a:ea typeface="Calibri"/>
              <a:cs typeface="Calibri"/>
              <a:sym typeface="Calibri"/>
            </a:endParaRPr>
          </a:p>
        </p:txBody>
      </p:sp>
      <p:sp>
        <p:nvSpPr>
          <p:cNvPr id="809" name="Google Shape;809;p37"/>
          <p:cNvSpPr/>
          <p:nvPr/>
        </p:nvSpPr>
        <p:spPr>
          <a:xfrm>
            <a:off x="1073125" y="2339653"/>
            <a:ext cx="4017169"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1" i="0" lang="ko-KR" sz="1500" u="none" cap="none" strike="noStrike">
                <a:solidFill>
                  <a:srgbClr val="15213F"/>
                </a:solidFill>
                <a:latin typeface="Roboto"/>
                <a:ea typeface="Roboto"/>
                <a:cs typeface="Roboto"/>
                <a:sym typeface="Roboto"/>
              </a:rPr>
              <a:t>Flask + HTML/CSS/JS + JSON/CSV</a:t>
            </a:r>
            <a:endParaRPr b="1" i="0" sz="1500" u="none" cap="none" strike="noStrike">
              <a:solidFill>
                <a:schemeClr val="dk1"/>
              </a:solidFill>
              <a:latin typeface="Calibri"/>
              <a:ea typeface="Calibri"/>
              <a:cs typeface="Calibri"/>
              <a:sym typeface="Calibri"/>
            </a:endParaRPr>
          </a:p>
        </p:txBody>
      </p:sp>
      <p:pic>
        <p:nvPicPr>
          <p:cNvPr descr="preencoded.png" id="810" name="Google Shape;810;p37"/>
          <p:cNvPicPr preferRelativeResize="0"/>
          <p:nvPr/>
        </p:nvPicPr>
        <p:blipFill rotWithShape="1">
          <a:blip r:embed="rId4">
            <a:alphaModFix/>
          </a:blip>
          <a:srcRect b="0" l="0" r="0" t="0"/>
          <a:stretch/>
        </p:blipFill>
        <p:spPr>
          <a:xfrm>
            <a:off x="496119" y="2760613"/>
            <a:ext cx="4722763" cy="686098"/>
          </a:xfrm>
          <a:prstGeom prst="rect">
            <a:avLst/>
          </a:prstGeom>
          <a:noFill/>
          <a:ln>
            <a:noFill/>
          </a:ln>
        </p:spPr>
      </p:pic>
      <p:sp>
        <p:nvSpPr>
          <p:cNvPr id="811" name="Google Shape;811;p37"/>
          <p:cNvSpPr/>
          <p:nvPr/>
        </p:nvSpPr>
        <p:spPr>
          <a:xfrm>
            <a:off x="1073125" y="2889200"/>
            <a:ext cx="4017169"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i="0" lang="ko-KR" sz="1200" u="none" cap="none" strike="noStrike">
                <a:solidFill>
                  <a:srgbClr val="15213F"/>
                </a:solidFill>
                <a:latin typeface="Roboto Slab"/>
                <a:ea typeface="Roboto Slab"/>
                <a:cs typeface="Roboto Slab"/>
                <a:sym typeface="Roboto Slab"/>
              </a:rPr>
              <a:t>AI 기술</a:t>
            </a:r>
            <a:endParaRPr i="0" sz="1200" u="none" cap="none" strike="noStrike">
              <a:solidFill>
                <a:schemeClr val="dk1"/>
              </a:solidFill>
              <a:latin typeface="Calibri"/>
              <a:ea typeface="Calibri"/>
              <a:cs typeface="Calibri"/>
              <a:sym typeface="Calibri"/>
            </a:endParaRPr>
          </a:p>
        </p:txBody>
      </p:sp>
      <p:sp>
        <p:nvSpPr>
          <p:cNvPr id="812" name="Google Shape;812;p37"/>
          <p:cNvSpPr/>
          <p:nvPr/>
        </p:nvSpPr>
        <p:spPr>
          <a:xfrm>
            <a:off x="1073125" y="3131121"/>
            <a:ext cx="4017169"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1" i="0" lang="ko-KR" sz="1500" u="none" cap="none" strike="noStrike">
                <a:solidFill>
                  <a:srgbClr val="15213F"/>
                </a:solidFill>
                <a:latin typeface="Roboto"/>
                <a:ea typeface="Roboto"/>
                <a:cs typeface="Roboto"/>
                <a:sym typeface="Roboto"/>
              </a:rPr>
              <a:t>MediaPipe (얼굴) + YOLO (물체)</a:t>
            </a:r>
            <a:endParaRPr b="1" i="0" sz="1500" u="none" cap="none" strike="noStrike">
              <a:solidFill>
                <a:schemeClr val="dk1"/>
              </a:solidFill>
              <a:latin typeface="Calibri"/>
              <a:ea typeface="Calibri"/>
              <a:cs typeface="Calibri"/>
              <a:sym typeface="Calibri"/>
            </a:endParaRPr>
          </a:p>
        </p:txBody>
      </p:sp>
      <p:pic>
        <p:nvPicPr>
          <p:cNvPr descr="preencoded.png" id="813" name="Google Shape;813;p37"/>
          <p:cNvPicPr preferRelativeResize="0"/>
          <p:nvPr/>
        </p:nvPicPr>
        <p:blipFill rotWithShape="1">
          <a:blip r:embed="rId4">
            <a:alphaModFix/>
          </a:blip>
          <a:srcRect b="0" l="0" r="0" t="0"/>
          <a:stretch/>
        </p:blipFill>
        <p:spPr>
          <a:xfrm>
            <a:off x="496119" y="3552081"/>
            <a:ext cx="4722763" cy="686098"/>
          </a:xfrm>
          <a:prstGeom prst="rect">
            <a:avLst/>
          </a:prstGeom>
          <a:noFill/>
          <a:ln>
            <a:noFill/>
          </a:ln>
        </p:spPr>
      </p:pic>
      <p:sp>
        <p:nvSpPr>
          <p:cNvPr id="814" name="Google Shape;814;p37"/>
          <p:cNvSpPr/>
          <p:nvPr/>
        </p:nvSpPr>
        <p:spPr>
          <a:xfrm>
            <a:off x="1073125" y="3680668"/>
            <a:ext cx="4017169"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5213F"/>
              </a:buClr>
              <a:buSzPts val="1100"/>
              <a:buFont typeface="Roboto Slab"/>
              <a:buNone/>
            </a:pPr>
            <a:r>
              <a:rPr i="0" lang="ko-KR" sz="1200" u="none" cap="none" strike="noStrike">
                <a:solidFill>
                  <a:srgbClr val="15213F"/>
                </a:solidFill>
                <a:latin typeface="Roboto Slab"/>
                <a:ea typeface="Roboto Slab"/>
                <a:cs typeface="Roboto Slab"/>
                <a:sym typeface="Roboto Slab"/>
              </a:rPr>
              <a:t>개발 기간</a:t>
            </a:r>
            <a:endParaRPr i="0" sz="1200" u="none" cap="none" strike="noStrike">
              <a:solidFill>
                <a:schemeClr val="dk1"/>
              </a:solidFill>
              <a:latin typeface="Calibri"/>
              <a:ea typeface="Calibri"/>
              <a:cs typeface="Calibri"/>
              <a:sym typeface="Calibri"/>
            </a:endParaRPr>
          </a:p>
        </p:txBody>
      </p:sp>
      <p:sp>
        <p:nvSpPr>
          <p:cNvPr id="815" name="Google Shape;815;p37"/>
          <p:cNvSpPr/>
          <p:nvPr/>
        </p:nvSpPr>
        <p:spPr>
          <a:xfrm>
            <a:off x="1073125" y="3922588"/>
            <a:ext cx="4017169"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15213F"/>
              </a:buClr>
              <a:buSzPts val="900"/>
              <a:buFont typeface="Roboto"/>
              <a:buNone/>
            </a:pPr>
            <a:r>
              <a:rPr b="1" i="0" lang="ko-KR" sz="1500" u="none" cap="none" strike="noStrike">
                <a:solidFill>
                  <a:srgbClr val="15213F"/>
                </a:solidFill>
                <a:latin typeface="Roboto"/>
                <a:ea typeface="Roboto"/>
                <a:cs typeface="Roboto"/>
                <a:sym typeface="Roboto"/>
              </a:rPr>
              <a:t>총 </a:t>
            </a:r>
            <a:r>
              <a:rPr b="1" lang="ko-KR" sz="1500">
                <a:solidFill>
                  <a:srgbClr val="15213F"/>
                </a:solidFill>
                <a:latin typeface="Roboto"/>
                <a:ea typeface="Roboto"/>
                <a:cs typeface="Roboto"/>
                <a:sym typeface="Roboto"/>
              </a:rPr>
              <a:t>2</a:t>
            </a:r>
            <a:r>
              <a:rPr b="1" i="0" lang="ko-KR" sz="1500" u="none" cap="none" strike="noStrike">
                <a:solidFill>
                  <a:srgbClr val="15213F"/>
                </a:solidFill>
                <a:latin typeface="Roboto"/>
                <a:ea typeface="Roboto"/>
                <a:cs typeface="Roboto"/>
                <a:sym typeface="Roboto"/>
              </a:rPr>
              <a:t>주 (약 </a:t>
            </a:r>
            <a:r>
              <a:rPr b="1" lang="ko-KR" sz="1500">
                <a:solidFill>
                  <a:srgbClr val="15213F"/>
                </a:solidFill>
                <a:latin typeface="Roboto"/>
                <a:ea typeface="Roboto"/>
                <a:cs typeface="Roboto"/>
                <a:sym typeface="Roboto"/>
              </a:rPr>
              <a:t>4일 과정</a:t>
            </a:r>
            <a:r>
              <a:rPr b="1" i="0" lang="ko-KR" sz="1500" u="none" cap="none" strike="noStrike">
                <a:solidFill>
                  <a:srgbClr val="15213F"/>
                </a:solidFill>
                <a:latin typeface="Roboto"/>
                <a:ea typeface="Roboto"/>
                <a:cs typeface="Roboto"/>
                <a:sym typeface="Roboto"/>
              </a:rPr>
              <a:t>) · 4단계</a:t>
            </a:r>
            <a:endParaRPr b="1" i="0" sz="1500" u="none" cap="none" strike="noStrike">
              <a:solidFill>
                <a:schemeClr val="dk1"/>
              </a:solidFill>
              <a:latin typeface="Calibri"/>
              <a:ea typeface="Calibri"/>
              <a:cs typeface="Calibri"/>
              <a:sym typeface="Calibri"/>
            </a:endParaRPr>
          </a:p>
        </p:txBody>
      </p:sp>
      <p:sp>
        <p:nvSpPr>
          <p:cNvPr id="816" name="Google Shape;816;p37"/>
          <p:cNvSpPr/>
          <p:nvPr/>
        </p:nvSpPr>
        <p:spPr>
          <a:xfrm>
            <a:off x="496119" y="4356720"/>
            <a:ext cx="4722763" cy="433239"/>
          </a:xfrm>
          <a:prstGeom prst="roundRect">
            <a:avLst>
              <a:gd fmla="val 3959" name="adj"/>
            </a:avLst>
          </a:prstGeom>
          <a:solidFill>
            <a:srgbClr val="D7D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17" name="Google Shape;817;p37"/>
          <p:cNvPicPr preferRelativeResize="0"/>
          <p:nvPr/>
        </p:nvPicPr>
        <p:blipFill rotWithShape="1">
          <a:blip r:embed="rId5">
            <a:alphaModFix/>
          </a:blip>
          <a:srcRect b="0" l="0" r="0" t="0"/>
          <a:stretch/>
        </p:blipFill>
        <p:spPr>
          <a:xfrm>
            <a:off x="610419" y="4513883"/>
            <a:ext cx="142875" cy="114300"/>
          </a:xfrm>
          <a:prstGeom prst="rect">
            <a:avLst/>
          </a:prstGeom>
          <a:noFill/>
          <a:ln>
            <a:noFill/>
          </a:ln>
        </p:spPr>
      </p:pic>
      <p:sp>
        <p:nvSpPr>
          <p:cNvPr id="818" name="Google Shape;818;p37"/>
          <p:cNvSpPr/>
          <p:nvPr/>
        </p:nvSpPr>
        <p:spPr>
          <a:xfrm>
            <a:off x="867594" y="4490665"/>
            <a:ext cx="4694188"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000000"/>
              </a:buClr>
              <a:buSzPts val="900"/>
              <a:buFont typeface="Roboto"/>
              <a:buNone/>
            </a:pPr>
            <a:r>
              <a:rPr b="0" i="0" lang="ko-KR" sz="1200" u="none" cap="none" strike="noStrike">
                <a:solidFill>
                  <a:srgbClr val="000000"/>
                </a:solidFill>
                <a:latin typeface="Roboto"/>
                <a:ea typeface="Roboto"/>
                <a:cs typeface="Roboto"/>
                <a:sym typeface="Roboto"/>
              </a:rPr>
              <a:t>다음 시간: </a:t>
            </a:r>
            <a:r>
              <a:rPr b="1" i="0" lang="ko-KR" sz="1200" u="none" cap="none" strike="noStrike">
                <a:solidFill>
                  <a:srgbClr val="000000"/>
                </a:solidFill>
                <a:latin typeface="Roboto"/>
                <a:ea typeface="Roboto"/>
                <a:cs typeface="Roboto"/>
                <a:sym typeface="Roboto"/>
              </a:rPr>
              <a:t>Phase 1 실습 — Flask 서버 만들기!</a:t>
            </a:r>
            <a:r>
              <a:rPr b="0" i="0" lang="ko-KR" sz="1200" u="none" cap="none" strike="noStrike">
                <a:solidFill>
                  <a:srgbClr val="000000"/>
                </a:solidFill>
                <a:latin typeface="Roboto"/>
                <a:ea typeface="Roboto"/>
                <a:cs typeface="Roboto"/>
                <a:sym typeface="Roboto"/>
              </a:rPr>
              <a:t> 이제 직접 코딩해봐요!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pic>
        <p:nvPicPr>
          <p:cNvPr id="824" name="Google Shape;824;p38"/>
          <p:cNvPicPr preferRelativeResize="0"/>
          <p:nvPr/>
        </p:nvPicPr>
        <p:blipFill>
          <a:blip r:embed="rId3">
            <a:alphaModFix/>
          </a:blip>
          <a:stretch>
            <a:fillRect/>
          </a:stretch>
        </p:blipFill>
        <p:spPr>
          <a:xfrm>
            <a:off x="257500" y="2791725"/>
            <a:ext cx="3797512" cy="2191200"/>
          </a:xfrm>
          <a:prstGeom prst="rect">
            <a:avLst/>
          </a:prstGeom>
          <a:noFill/>
          <a:ln>
            <a:noFill/>
          </a:ln>
        </p:spPr>
      </p:pic>
      <p:sp>
        <p:nvSpPr>
          <p:cNvPr id="825" name="Google Shape;825;p38"/>
          <p:cNvSpPr txBox="1"/>
          <p:nvPr/>
        </p:nvSpPr>
        <p:spPr>
          <a:xfrm>
            <a:off x="257550" y="313075"/>
            <a:ext cx="3797400" cy="21912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ko-KR" sz="1650">
                <a:solidFill>
                  <a:schemeClr val="lt1"/>
                </a:solidFill>
                <a:latin typeface="Roboto"/>
                <a:ea typeface="Roboto"/>
                <a:cs typeface="Roboto"/>
                <a:sym typeface="Roboto"/>
              </a:rPr>
              <a:t>1단계 소스 코드를 완성해 주세요. flask를 통한 UI부터 제작해  주세요.  입력부터 타이머 동작 등등 html 파일로 만들어 주세요. flask를 이용하여 / 화면에 띄워 주세요.  크게 </a:t>
            </a:r>
            <a:r>
              <a:rPr lang="ko-KR" sz="1650">
                <a:solidFill>
                  <a:srgbClr val="FF0000"/>
                </a:solidFill>
                <a:latin typeface="Roboto"/>
                <a:ea typeface="Roboto"/>
                <a:cs typeface="Roboto"/>
                <a:sym typeface="Roboto"/>
              </a:rPr>
              <a:t>입력, 통계, 코멘트</a:t>
            </a:r>
            <a:r>
              <a:rPr lang="ko-KR" sz="1650">
                <a:solidFill>
                  <a:schemeClr val="lt1"/>
                </a:solidFill>
                <a:latin typeface="Roboto"/>
                <a:ea typeface="Roboto"/>
                <a:cs typeface="Roboto"/>
                <a:sym typeface="Roboto"/>
              </a:rPr>
              <a:t>를 연결하여 보여주고 두개의 페이지로 구분하면 좋을 듯 합니다.</a:t>
            </a:r>
            <a:endParaRPr sz="2000">
              <a:solidFill>
                <a:schemeClr val="lt1"/>
              </a:solidFill>
            </a:endParaRPr>
          </a:p>
        </p:txBody>
      </p:sp>
      <p:pic>
        <p:nvPicPr>
          <p:cNvPr id="826" name="Google Shape;826;p38"/>
          <p:cNvPicPr preferRelativeResize="0"/>
          <p:nvPr/>
        </p:nvPicPr>
        <p:blipFill>
          <a:blip r:embed="rId4">
            <a:alphaModFix/>
          </a:blip>
          <a:stretch>
            <a:fillRect/>
          </a:stretch>
        </p:blipFill>
        <p:spPr>
          <a:xfrm>
            <a:off x="4470900" y="1053550"/>
            <a:ext cx="4363826" cy="403124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pic>
        <p:nvPicPr>
          <p:cNvPr id="832" name="Google Shape;832;p39"/>
          <p:cNvPicPr preferRelativeResize="0"/>
          <p:nvPr/>
        </p:nvPicPr>
        <p:blipFill>
          <a:blip r:embed="rId3">
            <a:alphaModFix/>
          </a:blip>
          <a:stretch>
            <a:fillRect/>
          </a:stretch>
        </p:blipFill>
        <p:spPr>
          <a:xfrm>
            <a:off x="4077325" y="761200"/>
            <a:ext cx="5066674" cy="3449424"/>
          </a:xfrm>
          <a:prstGeom prst="rect">
            <a:avLst/>
          </a:prstGeom>
          <a:noFill/>
          <a:ln>
            <a:noFill/>
          </a:ln>
        </p:spPr>
      </p:pic>
      <p:sp>
        <p:nvSpPr>
          <p:cNvPr id="833" name="Google Shape;833;p39"/>
          <p:cNvSpPr txBox="1"/>
          <p:nvPr/>
        </p:nvSpPr>
        <p:spPr>
          <a:xfrm>
            <a:off x="0" y="1105525"/>
            <a:ext cx="3813600" cy="1970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KR" sz="1450">
                <a:solidFill>
                  <a:srgbClr val="FF0000"/>
                </a:solidFill>
                <a:latin typeface="Roboto"/>
                <a:ea typeface="Roboto"/>
                <a:cs typeface="Roboto"/>
                <a:sym typeface="Roboto"/>
              </a:rPr>
              <a:t>todoList</a:t>
            </a:r>
            <a:r>
              <a:rPr lang="ko-KR" sz="1450">
                <a:solidFill>
                  <a:srgbClr val="E1E0D9"/>
                </a:solidFill>
                <a:latin typeface="Roboto"/>
                <a:ea typeface="Roboto"/>
                <a:cs typeface="Roboto"/>
                <a:sym typeface="Roboto"/>
              </a:rPr>
              <a:t> 처럼 편집 쉽게 이동도 편하게 해 주세요. 날짜 및 시간이 명시가 안 되었어요. </a:t>
            </a:r>
            <a:endParaRPr sz="1450">
              <a:solidFill>
                <a:srgbClr val="E1E0D9"/>
              </a:solidFill>
              <a:latin typeface="Roboto"/>
              <a:ea typeface="Roboto"/>
              <a:cs typeface="Roboto"/>
              <a:sym typeface="Roboto"/>
            </a:endParaRPr>
          </a:p>
          <a:p>
            <a:pPr indent="0" lvl="0" marL="0" rtl="0" algn="l">
              <a:spcBef>
                <a:spcPts val="0"/>
              </a:spcBef>
              <a:spcAft>
                <a:spcPts val="0"/>
              </a:spcAft>
              <a:buNone/>
            </a:pPr>
            <a:r>
              <a:rPr lang="ko-KR" sz="1450">
                <a:solidFill>
                  <a:srgbClr val="E1E0D9"/>
                </a:solidFill>
                <a:latin typeface="Roboto"/>
                <a:ea typeface="Roboto"/>
                <a:cs typeface="Roboto"/>
                <a:sym typeface="Roboto"/>
              </a:rPr>
              <a:t>이 부분은 </a:t>
            </a:r>
            <a:r>
              <a:rPr b="1" lang="ko-KR" sz="1450">
                <a:solidFill>
                  <a:srgbClr val="FF0000"/>
                </a:solidFill>
                <a:latin typeface="Roboto"/>
                <a:ea typeface="Roboto"/>
                <a:cs typeface="Roboto"/>
                <a:sym typeface="Roboto"/>
              </a:rPr>
              <a:t>todoList</a:t>
            </a:r>
            <a:r>
              <a:rPr lang="ko-KR" sz="1450">
                <a:solidFill>
                  <a:srgbClr val="E1E0D9"/>
                </a:solidFill>
                <a:latin typeface="Roboto"/>
                <a:ea typeface="Roboto"/>
                <a:cs typeface="Roboto"/>
                <a:sym typeface="Roboto"/>
              </a:rPr>
              <a:t>  + </a:t>
            </a:r>
            <a:r>
              <a:rPr b="1" lang="ko-KR" sz="1450">
                <a:solidFill>
                  <a:srgbClr val="FF0000"/>
                </a:solidFill>
                <a:latin typeface="Roboto"/>
                <a:ea typeface="Roboto"/>
                <a:cs typeface="Roboto"/>
                <a:sym typeface="Roboto"/>
              </a:rPr>
              <a:t>타이머</a:t>
            </a:r>
            <a:r>
              <a:rPr lang="ko-KR" sz="1450">
                <a:solidFill>
                  <a:srgbClr val="E1E0D9"/>
                </a:solidFill>
                <a:latin typeface="Roboto"/>
                <a:ea typeface="Roboto"/>
                <a:cs typeface="Roboto"/>
                <a:sym typeface="Roboto"/>
              </a:rPr>
              <a:t>가 함께 움직여야 합니다.  시간을 넣을때도 지금 현재 시간을 바탕으로 몇시까지 진행할 수 있는지를 체크해 주세요. 공부도 짧게 하는 것보다는 길게 하는 것이 효과가 좋다. 짧게 하려고 할때는 적어도 1시간은 해야 한다고 경고도 주고 해 주세요.</a:t>
            </a:r>
            <a:endParaRPr sz="18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40"/>
          <p:cNvSpPr txBox="1"/>
          <p:nvPr/>
        </p:nvSpPr>
        <p:spPr>
          <a:xfrm>
            <a:off x="221075" y="791300"/>
            <a:ext cx="3831000" cy="34557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1250">
                <a:solidFill>
                  <a:srgbClr val="E1E0D9"/>
                </a:solidFill>
                <a:latin typeface="Roboto"/>
                <a:ea typeface="Roboto"/>
                <a:cs typeface="Roboto"/>
                <a:sym typeface="Roboto"/>
              </a:rPr>
              <a:t>플러스 버튼을 주어서, 오늘의 공부 계획에 추가할 수 있도록 해 주세요. 지금은 수정과 생성이 좀 복잡합니다.  안되는 것 같아요. </a:t>
            </a:r>
            <a:endParaRPr sz="1250">
              <a:solidFill>
                <a:srgbClr val="E1E0D9"/>
              </a:solidFill>
              <a:latin typeface="Roboto"/>
              <a:ea typeface="Roboto"/>
              <a:cs typeface="Roboto"/>
              <a:sym typeface="Roboto"/>
            </a:endParaRPr>
          </a:p>
          <a:p>
            <a:pPr indent="0" lvl="0" marL="0" rtl="0" algn="l">
              <a:spcBef>
                <a:spcPts val="0"/>
              </a:spcBef>
              <a:spcAft>
                <a:spcPts val="0"/>
              </a:spcAft>
              <a:buNone/>
            </a:pPr>
            <a:r>
              <a:rPr lang="ko-KR" sz="1250">
                <a:solidFill>
                  <a:srgbClr val="E1E0D9"/>
                </a:solidFill>
                <a:latin typeface="Roboto"/>
                <a:ea typeface="Roboto"/>
                <a:cs typeface="Roboto"/>
                <a:sym typeface="Roboto"/>
              </a:rPr>
              <a:t>편집, 추가 명확하지가 안해요.  그리고 멀티 선택이 안되게 해 주세요. 하나만 선택해야 합니다.</a:t>
            </a:r>
            <a:endParaRPr sz="1250">
              <a:solidFill>
                <a:srgbClr val="E1E0D9"/>
              </a:solidFill>
              <a:latin typeface="Roboto"/>
              <a:ea typeface="Roboto"/>
              <a:cs typeface="Roboto"/>
              <a:sym typeface="Roboto"/>
            </a:endParaRPr>
          </a:p>
          <a:p>
            <a:pPr indent="0" lvl="0" marL="0" rtl="0" algn="l">
              <a:spcBef>
                <a:spcPts val="0"/>
              </a:spcBef>
              <a:spcAft>
                <a:spcPts val="0"/>
              </a:spcAft>
              <a:buNone/>
            </a:pPr>
            <a:r>
              <a:t/>
            </a:r>
            <a:endParaRPr sz="1250">
              <a:solidFill>
                <a:srgbClr val="E1E0D9"/>
              </a:solidFill>
              <a:latin typeface="Roboto"/>
              <a:ea typeface="Roboto"/>
              <a:cs typeface="Roboto"/>
              <a:sym typeface="Roboto"/>
            </a:endParaRPr>
          </a:p>
          <a:p>
            <a:pPr indent="0" lvl="0" marL="0" rtl="0" algn="l">
              <a:spcBef>
                <a:spcPts val="0"/>
              </a:spcBef>
              <a:spcAft>
                <a:spcPts val="0"/>
              </a:spcAft>
              <a:buNone/>
            </a:pPr>
            <a:r>
              <a:rPr lang="ko-KR" sz="1250">
                <a:solidFill>
                  <a:srgbClr val="E1E0D9"/>
                </a:solidFill>
                <a:latin typeface="Roboto"/>
                <a:ea typeface="Roboto"/>
                <a:cs typeface="Roboto"/>
                <a:sym typeface="Roboto"/>
              </a:rPr>
              <a:t> 그리고 단순 나열이 아니라, 우선순위 나열입니다.  수학 60분,  영어 50분, 국어 30분 등등 순차적으로 이루어져 있습니다.  그래서 마감 시간이 영어 같은 경우에 수학한 다음에 영어 50분이기때문에 더 마감 시간이 늘어나야 합니다. 그리고 마찬가지로 국어는 수학+영어+ 국어 시간까지 포함시켜야 합니다. 그래야 마지막 시간을 알 수가 있습니다.  </a:t>
            </a:r>
            <a:endParaRPr sz="1250">
              <a:solidFill>
                <a:srgbClr val="E1E0D9"/>
              </a:solidFill>
              <a:latin typeface="Roboto"/>
              <a:ea typeface="Roboto"/>
              <a:cs typeface="Roboto"/>
              <a:sym typeface="Roboto"/>
            </a:endParaRPr>
          </a:p>
          <a:p>
            <a:pPr indent="0" lvl="0" marL="0" rtl="0" algn="l">
              <a:spcBef>
                <a:spcPts val="0"/>
              </a:spcBef>
              <a:spcAft>
                <a:spcPts val="0"/>
              </a:spcAft>
              <a:buNone/>
            </a:pPr>
            <a:r>
              <a:t/>
            </a:r>
            <a:endParaRPr sz="1250">
              <a:solidFill>
                <a:srgbClr val="E1E0D9"/>
              </a:solidFill>
              <a:latin typeface="Roboto"/>
              <a:ea typeface="Roboto"/>
              <a:cs typeface="Roboto"/>
              <a:sym typeface="Roboto"/>
            </a:endParaRPr>
          </a:p>
          <a:p>
            <a:pPr indent="0" lvl="0" marL="0" rtl="0" algn="l">
              <a:spcBef>
                <a:spcPts val="0"/>
              </a:spcBef>
              <a:spcAft>
                <a:spcPts val="0"/>
              </a:spcAft>
              <a:buNone/>
            </a:pPr>
            <a:r>
              <a:rPr lang="ko-KR" sz="1250">
                <a:solidFill>
                  <a:srgbClr val="E1E0D9"/>
                </a:solidFill>
                <a:latin typeface="Roboto"/>
                <a:ea typeface="Roboto"/>
                <a:cs typeface="Roboto"/>
                <a:sym typeface="Roboto"/>
              </a:rPr>
              <a:t>좀더 심플하게 수정해 주세요.   시작-일시정지-종료&amp;저장이 안됩니다.  더미 데이터를 통해서 테스트 가능하게 해 주세요.</a:t>
            </a:r>
            <a:endParaRPr sz="1600"/>
          </a:p>
        </p:txBody>
      </p:sp>
      <p:pic>
        <p:nvPicPr>
          <p:cNvPr id="840" name="Google Shape;840;p40"/>
          <p:cNvPicPr preferRelativeResize="0"/>
          <p:nvPr/>
        </p:nvPicPr>
        <p:blipFill>
          <a:blip r:embed="rId3">
            <a:alphaModFix/>
          </a:blip>
          <a:stretch>
            <a:fillRect/>
          </a:stretch>
        </p:blipFill>
        <p:spPr>
          <a:xfrm>
            <a:off x="4204475" y="861125"/>
            <a:ext cx="4787125" cy="321843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41"/>
          <p:cNvSpPr txBox="1"/>
          <p:nvPr/>
        </p:nvSpPr>
        <p:spPr>
          <a:xfrm>
            <a:off x="58200" y="1117150"/>
            <a:ext cx="4028700" cy="20934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1550">
                <a:solidFill>
                  <a:srgbClr val="E1E0D9"/>
                </a:solidFill>
                <a:latin typeface="Roboto"/>
                <a:ea typeface="Roboto"/>
                <a:cs typeface="Roboto"/>
                <a:sym typeface="Roboto"/>
              </a:rPr>
              <a:t>왼쪽 영역을 너비를 조금 더 확대 해 주세요. 우선순위가 의미가 없다. 우선순위 배열을 1,2,3로 하여 먼저 실행하는 부분입니다. 라디오 버튼이 지금은 필요가 없다. 이를 바탕으로 누적된 시간을 표시할 수가 있다.  연필 편집 툴도 필요가 없다. 선택되면 바로 수정하는 부분과 시작 활성화시켜 주세요. 아무거도 선택하지 않으면  추가 가능하도록 해 주세요. 단순화시켜 주세요.</a:t>
            </a:r>
            <a:endParaRPr sz="1900"/>
          </a:p>
        </p:txBody>
      </p:sp>
      <p:pic>
        <p:nvPicPr>
          <p:cNvPr id="847" name="Google Shape;847;p41"/>
          <p:cNvPicPr preferRelativeResize="0"/>
          <p:nvPr/>
        </p:nvPicPr>
        <p:blipFill>
          <a:blip r:embed="rId3">
            <a:alphaModFix/>
          </a:blip>
          <a:stretch>
            <a:fillRect/>
          </a:stretch>
        </p:blipFill>
        <p:spPr>
          <a:xfrm>
            <a:off x="4227675" y="815700"/>
            <a:ext cx="4752299" cy="325872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42"/>
          <p:cNvSpPr txBox="1"/>
          <p:nvPr/>
        </p:nvSpPr>
        <p:spPr>
          <a:xfrm>
            <a:off x="104725" y="1693375"/>
            <a:ext cx="3039600" cy="26397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1450">
                <a:solidFill>
                  <a:srgbClr val="E1E0D9"/>
                </a:solidFill>
                <a:latin typeface="Roboto"/>
                <a:ea typeface="Roboto"/>
                <a:cs typeface="Roboto"/>
                <a:sym typeface="Roboto"/>
              </a:rPr>
              <a:t>왼쪽 영역을 너비를 조금 더 확대 해 주세요. 우선순위가 의미가 없다. 우선순위 배열을 1,2,3로 하여 먼저 실행하는 부분입니다. 라디오 버튼이 지금은 필요가 없다. 이를 바탕으로 누적된 시간을 표시할 수가 있다.  연필 편집 툴도 필요가 없다. 선택되면 바로 수정하는 부분과 시작 활성화시켜 주세요. 아무거도 선택하지 않으면  추가 가능하도록 해 주세요. 단순화시켜 주세요.</a:t>
            </a:r>
            <a:endParaRPr sz="1800"/>
          </a:p>
        </p:txBody>
      </p:sp>
      <p:pic>
        <p:nvPicPr>
          <p:cNvPr id="854" name="Google Shape;854;p42"/>
          <p:cNvPicPr preferRelativeResize="0"/>
          <p:nvPr/>
        </p:nvPicPr>
        <p:blipFill>
          <a:blip r:embed="rId3">
            <a:alphaModFix/>
          </a:blip>
          <a:stretch>
            <a:fillRect/>
          </a:stretch>
        </p:blipFill>
        <p:spPr>
          <a:xfrm>
            <a:off x="3370250" y="563225"/>
            <a:ext cx="5773750" cy="402634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43"/>
          <p:cNvSpPr txBox="1"/>
          <p:nvPr/>
        </p:nvSpPr>
        <p:spPr>
          <a:xfrm>
            <a:off x="199450" y="913225"/>
            <a:ext cx="3000000" cy="8082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KR" sz="1350">
                <a:solidFill>
                  <a:srgbClr val="E1E0D9"/>
                </a:solidFill>
                <a:latin typeface="Roboto"/>
                <a:ea typeface="Roboto"/>
                <a:cs typeface="Roboto"/>
                <a:sym typeface="Roboto"/>
              </a:rPr>
              <a:t>저장, 선택 해제도 삭제해 주세요. 바로 반영해 주세요. 자주 바뀔 수 있으므로 바로 반영하는 것이 좋을 듯 합니다.</a:t>
            </a:r>
            <a:endParaRPr b="1" sz="1700"/>
          </a:p>
        </p:txBody>
      </p:sp>
      <p:pic>
        <p:nvPicPr>
          <p:cNvPr id="861" name="Google Shape;861;p43"/>
          <p:cNvPicPr preferRelativeResize="0"/>
          <p:nvPr/>
        </p:nvPicPr>
        <p:blipFill>
          <a:blip r:embed="rId3">
            <a:alphaModFix/>
          </a:blip>
          <a:stretch>
            <a:fillRect/>
          </a:stretch>
        </p:blipFill>
        <p:spPr>
          <a:xfrm>
            <a:off x="3446325" y="152400"/>
            <a:ext cx="5545276" cy="4207886"/>
          </a:xfrm>
          <a:prstGeom prst="rect">
            <a:avLst/>
          </a:prstGeom>
          <a:noFill/>
          <a:ln>
            <a:noFill/>
          </a:ln>
        </p:spPr>
      </p:pic>
      <p:sp>
        <p:nvSpPr>
          <p:cNvPr id="862" name="Google Shape;862;p43"/>
          <p:cNvSpPr txBox="1"/>
          <p:nvPr/>
        </p:nvSpPr>
        <p:spPr>
          <a:xfrm>
            <a:off x="199450" y="3107075"/>
            <a:ext cx="2874900" cy="900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1550">
                <a:solidFill>
                  <a:srgbClr val="E1E0D9"/>
                </a:solidFill>
                <a:latin typeface="Roboto"/>
                <a:ea typeface="Roboto"/>
                <a:cs typeface="Roboto"/>
                <a:sym typeface="Roboto"/>
              </a:rPr>
              <a:t>과목 선택이 전혀 안됩니다.   상단에 전체 해제 버튼이 있었으면 합니다</a:t>
            </a:r>
            <a:endParaRPr sz="1900"/>
          </a:p>
        </p:txBody>
      </p:sp>
      <p:sp>
        <p:nvSpPr>
          <p:cNvPr id="863" name="Google Shape;863;p43"/>
          <p:cNvSpPr txBox="1"/>
          <p:nvPr/>
        </p:nvSpPr>
        <p:spPr>
          <a:xfrm>
            <a:off x="199450" y="1899575"/>
            <a:ext cx="3000000" cy="854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1450">
                <a:solidFill>
                  <a:srgbClr val="E1E0D9"/>
                </a:solidFill>
                <a:latin typeface="Roboto"/>
                <a:ea typeface="Roboto"/>
                <a:cs typeface="Roboto"/>
                <a:sym typeface="Roboto"/>
              </a:rPr>
              <a:t>과목을 선택하지 않으면 다른 배경이나 다른 곳을 선택하면, 바로 선택 해제해 주세요.</a:t>
            </a:r>
            <a:endParaRPr sz="18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44"/>
          <p:cNvSpPr txBox="1"/>
          <p:nvPr/>
        </p:nvSpPr>
        <p:spPr>
          <a:xfrm>
            <a:off x="407300" y="279250"/>
            <a:ext cx="3947100" cy="26628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1150">
                <a:solidFill>
                  <a:srgbClr val="E1E0D9"/>
                </a:solidFill>
                <a:latin typeface="Roboto"/>
                <a:ea typeface="Roboto"/>
                <a:cs typeface="Roboto"/>
                <a:sym typeface="Roboto"/>
              </a:rPr>
              <a:t>시작을 누르면, 이제는 컴퓨터 비전으로 순공이 아닌 부분을 체크해 주세요.  오늘의 기록을 바꿨으면 다른 창으로 바뀌어 아래처럼 체크해 주세요. </a:t>
            </a:r>
            <a:endParaRPr sz="1150">
              <a:solidFill>
                <a:srgbClr val="E1E0D9"/>
              </a:solidFill>
              <a:latin typeface="Roboto"/>
              <a:ea typeface="Roboto"/>
              <a:cs typeface="Roboto"/>
              <a:sym typeface="Roboto"/>
            </a:endParaRPr>
          </a:p>
          <a:p>
            <a:pPr indent="0" lvl="0" marL="0" rtl="0" algn="l">
              <a:spcBef>
                <a:spcPts val="0"/>
              </a:spcBef>
              <a:spcAft>
                <a:spcPts val="0"/>
              </a:spcAft>
              <a:buNone/>
            </a:pPr>
            <a:r>
              <a:t/>
            </a:r>
            <a:endParaRPr sz="1150">
              <a:solidFill>
                <a:srgbClr val="E1E0D9"/>
              </a:solidFill>
              <a:latin typeface="Roboto"/>
              <a:ea typeface="Roboto"/>
              <a:cs typeface="Roboto"/>
              <a:sym typeface="Roboto"/>
            </a:endParaRPr>
          </a:p>
          <a:p>
            <a:pPr indent="0" lvl="0" marL="0" rtl="0" algn="l">
              <a:spcBef>
                <a:spcPts val="0"/>
              </a:spcBef>
              <a:spcAft>
                <a:spcPts val="0"/>
              </a:spcAft>
              <a:buNone/>
            </a:pPr>
            <a:r>
              <a:rPr lang="ko-KR" sz="1150">
                <a:solidFill>
                  <a:srgbClr val="E1E0D9"/>
                </a:solidFill>
                <a:latin typeface="Roboto"/>
                <a:ea typeface="Roboto"/>
                <a:cs typeface="Roboto"/>
                <a:sym typeface="Roboto"/>
              </a:rPr>
              <a:t>* 핸드폰 </a:t>
            </a:r>
            <a:endParaRPr sz="1150">
              <a:solidFill>
                <a:srgbClr val="E1E0D9"/>
              </a:solidFill>
              <a:latin typeface="Roboto"/>
              <a:ea typeface="Roboto"/>
              <a:cs typeface="Roboto"/>
              <a:sym typeface="Roboto"/>
            </a:endParaRPr>
          </a:p>
          <a:p>
            <a:pPr indent="0" lvl="0" marL="0" rtl="0" algn="l">
              <a:spcBef>
                <a:spcPts val="0"/>
              </a:spcBef>
              <a:spcAft>
                <a:spcPts val="0"/>
              </a:spcAft>
              <a:buNone/>
            </a:pPr>
            <a:r>
              <a:rPr lang="ko-KR" sz="1150">
                <a:solidFill>
                  <a:srgbClr val="E1E0D9"/>
                </a:solidFill>
                <a:latin typeface="Roboto"/>
                <a:ea typeface="Roboto"/>
                <a:cs typeface="Roboto"/>
                <a:sym typeface="Roboto"/>
              </a:rPr>
              <a:t>* 멍때림</a:t>
            </a:r>
            <a:endParaRPr sz="1150">
              <a:solidFill>
                <a:srgbClr val="E1E0D9"/>
              </a:solidFill>
              <a:latin typeface="Roboto"/>
              <a:ea typeface="Roboto"/>
              <a:cs typeface="Roboto"/>
              <a:sym typeface="Roboto"/>
            </a:endParaRPr>
          </a:p>
          <a:p>
            <a:pPr indent="0" lvl="0" marL="0" rtl="0" algn="l">
              <a:spcBef>
                <a:spcPts val="0"/>
              </a:spcBef>
              <a:spcAft>
                <a:spcPts val="0"/>
              </a:spcAft>
              <a:buNone/>
            </a:pPr>
            <a:r>
              <a:rPr lang="ko-KR" sz="1150">
                <a:solidFill>
                  <a:srgbClr val="E1E0D9"/>
                </a:solidFill>
                <a:latin typeface="Roboto"/>
                <a:ea typeface="Roboto"/>
                <a:cs typeface="Roboto"/>
                <a:sym typeface="Roboto"/>
              </a:rPr>
              <a:t>* 자리 비움 </a:t>
            </a:r>
            <a:endParaRPr sz="1150">
              <a:solidFill>
                <a:srgbClr val="E1E0D9"/>
              </a:solidFill>
              <a:latin typeface="Roboto"/>
              <a:ea typeface="Roboto"/>
              <a:cs typeface="Roboto"/>
              <a:sym typeface="Roboto"/>
            </a:endParaRPr>
          </a:p>
          <a:p>
            <a:pPr indent="0" lvl="0" marL="0" rtl="0" algn="l">
              <a:spcBef>
                <a:spcPts val="0"/>
              </a:spcBef>
              <a:spcAft>
                <a:spcPts val="0"/>
              </a:spcAft>
              <a:buNone/>
            </a:pPr>
            <a:r>
              <a:rPr lang="ko-KR" sz="1150">
                <a:solidFill>
                  <a:srgbClr val="E1E0D9"/>
                </a:solidFill>
                <a:latin typeface="Roboto"/>
                <a:ea typeface="Roboto"/>
                <a:cs typeface="Roboto"/>
                <a:sym typeface="Roboto"/>
              </a:rPr>
              <a:t>* 졸음 + 기타 </a:t>
            </a:r>
            <a:endParaRPr sz="1150">
              <a:solidFill>
                <a:srgbClr val="E1E0D9"/>
              </a:solidFill>
              <a:latin typeface="Roboto"/>
              <a:ea typeface="Roboto"/>
              <a:cs typeface="Roboto"/>
              <a:sym typeface="Roboto"/>
            </a:endParaRPr>
          </a:p>
          <a:p>
            <a:pPr indent="0" lvl="0" marL="0" rtl="0" algn="l">
              <a:spcBef>
                <a:spcPts val="0"/>
              </a:spcBef>
              <a:spcAft>
                <a:spcPts val="0"/>
              </a:spcAft>
              <a:buNone/>
            </a:pPr>
            <a:r>
              <a:t/>
            </a:r>
            <a:endParaRPr sz="1150">
              <a:solidFill>
                <a:srgbClr val="E1E0D9"/>
              </a:solidFill>
              <a:latin typeface="Roboto"/>
              <a:ea typeface="Roboto"/>
              <a:cs typeface="Roboto"/>
              <a:sym typeface="Roboto"/>
            </a:endParaRPr>
          </a:p>
          <a:p>
            <a:pPr indent="0" lvl="0" marL="0" rtl="0" algn="l">
              <a:spcBef>
                <a:spcPts val="0"/>
              </a:spcBef>
              <a:spcAft>
                <a:spcPts val="0"/>
              </a:spcAft>
              <a:buNone/>
            </a:pPr>
            <a:r>
              <a:rPr lang="ko-KR" sz="1150">
                <a:solidFill>
                  <a:srgbClr val="E1E0D9"/>
                </a:solidFill>
                <a:latin typeface="Roboto"/>
                <a:ea typeface="Roboto"/>
                <a:cs typeface="Roboto"/>
                <a:sym typeface="Roboto"/>
              </a:rPr>
              <a:t>이렇게 체크가 가능할까요?  컴퓨터 비젼으로 나를 맞쳐 주세요. 나를 모니터링 해 주세요. 이 부분도 윤곽선을 찾고 여기에 나를 맞추어 하는 것이 어떨까요?  간단하게 UI를 만들어 주세요. 왼쪽-가운데-오른쪽  (3개의 영역으로, 오른쪽에 딴짓 시간으로 막대 그래프로 보여주느것이 어떨까요?)</a:t>
            </a:r>
            <a:endParaRPr sz="1500"/>
          </a:p>
        </p:txBody>
      </p:sp>
      <p:pic>
        <p:nvPicPr>
          <p:cNvPr id="870" name="Google Shape;870;p44"/>
          <p:cNvPicPr preferRelativeResize="0"/>
          <p:nvPr/>
        </p:nvPicPr>
        <p:blipFill>
          <a:blip r:embed="rId3">
            <a:alphaModFix/>
          </a:blip>
          <a:stretch>
            <a:fillRect/>
          </a:stretch>
        </p:blipFill>
        <p:spPr>
          <a:xfrm>
            <a:off x="4599900" y="350225"/>
            <a:ext cx="4380075" cy="3889609"/>
          </a:xfrm>
          <a:prstGeom prst="rect">
            <a:avLst/>
          </a:prstGeom>
          <a:noFill/>
          <a:ln>
            <a:noFill/>
          </a:ln>
        </p:spPr>
      </p:pic>
      <p:sp>
        <p:nvSpPr>
          <p:cNvPr id="871" name="Google Shape;871;p44"/>
          <p:cNvSpPr txBox="1"/>
          <p:nvPr/>
        </p:nvSpPr>
        <p:spPr>
          <a:xfrm>
            <a:off x="360750" y="3316525"/>
            <a:ext cx="3947100" cy="7620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KR" sz="1250">
                <a:solidFill>
                  <a:srgbClr val="E1E0D9"/>
                </a:solidFill>
                <a:latin typeface="Roboto"/>
                <a:ea typeface="Roboto"/>
                <a:cs typeface="Roboto"/>
                <a:sym typeface="Roboto"/>
              </a:rPr>
              <a:t>새 페이지가 아니라, 여기에서 시작 누르면 오늘의 기록 감추고 이 부분에 웹캠 모니터링 오른쪽 영역을 확대하여 여기에 4가지 상태 표시(막대 그래프로) 해 주세요.</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