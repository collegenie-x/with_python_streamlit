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57200"/>
            <a:ext cx="1371600" cy="1371600"/>
          </a:xfrm>
          <a:prstGeom prst="ellipse">
            <a:avLst/>
          </a:prstGeom>
          <a:solidFill>
            <a:srgbClr val="8B5CF6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0" y="5486400"/>
            <a:ext cx="1828800" cy="1828800"/>
          </a:xfrm>
          <a:prstGeom prst="ellipse">
            <a:avLst/>
          </a:prstGeom>
          <a:solidFill>
            <a:srgbClr val="538DF8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274320"/>
            <a:ext cx="914400" cy="914400"/>
          </a:xfrm>
          <a:prstGeom prst="ellipse">
            <a:avLst/>
          </a:prstGeom>
          <a:solidFill>
            <a:srgbClr val="EC4899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바이브 코딩에서 AI 오케스트라까지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Arial"/>
              </a:defRPr>
            </a:pPr>
            <a:r>
              <a:t>중학교 2학년 | 다가치 수업 2일차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3840480"/>
            <a:ext cx="5760720" cy="64008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2D3EE"/>
                </a:solidFill>
                <a:latin typeface="Arial"/>
              </a:defRPr>
            </a:pPr>
            <a:r>
              <a:t>AI에게 말만 하면 코드가 만들어진다고? 진짜야!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53035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Arial"/>
              </a:defRPr>
            </a:pPr>
            <a:r>
              <a:t>코딩 경험 0 → 나만의 앱 완성까지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오늘의 여정 — 민수의 스토리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Arial"/>
              </a:defRPr>
            </a:pPr>
            <a:r>
              <a:t>"나 혼자서도 뭔가 만들 수 있을까?" — 민수의 질문에서 시작합니다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1645920" cy="38404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188720" cy="320040"/>
          </a:xfrm>
          <a:prstGeom prst="roundRect">
            <a:avLst>
              <a:gd name="adj" fmla="val 15000"/>
            </a:avLst>
          </a:prstGeom>
          <a:solidFill>
            <a:srgbClr val="538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3172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rial"/>
              </a:defRPr>
            </a:pPr>
            <a:r>
              <a:t>바이브 코딩이</a:t>
            </a:r>
            <a:br/>
            <a:r>
              <a:t>뭔데?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337560"/>
            <a:ext cx="914400" cy="27432"/>
          </a:xfrm>
          <a:prstGeom prst="rect">
            <a:avLst/>
          </a:prstGeom>
          <a:solidFill>
            <a:srgbClr val="538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520439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Arial"/>
              </a:defRPr>
            </a:pPr>
            <a:r>
              <a:t>AI에게 말만 하면</a:t>
            </a:r>
            <a:br/>
            <a:r>
              <a:t>코드가 만들어진다고?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1408" y="32004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58568" y="1645920"/>
            <a:ext cx="1645920" cy="38404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87168" y="1828800"/>
            <a:ext cx="1188720" cy="320040"/>
          </a:xfrm>
          <a:prstGeom prst="roundRect">
            <a:avLst>
              <a:gd name="adj" fmla="val 1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PART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5728" y="233172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rial"/>
              </a:defRPr>
            </a:pPr>
            <a:r>
              <a:t>어떤 도구들이</a:t>
            </a:r>
            <a:br/>
            <a:r>
              <a:t>있어?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24328" y="3337560"/>
            <a:ext cx="914400" cy="274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50008" y="3520439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Arial"/>
              </a:defRPr>
            </a:pPr>
            <a:r>
              <a:t>Claude Code, V0,</a:t>
            </a:r>
            <a:br/>
            <a:r>
              <a:t>Bolt.new...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22776" y="32004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59936" y="1645920"/>
            <a:ext cx="1645920" cy="38404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88536" y="1828800"/>
            <a:ext cx="1188720" cy="320040"/>
          </a:xfrm>
          <a:prstGeom prst="roundRect">
            <a:avLst>
              <a:gd name="adj" fmla="val 15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PART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97096" y="233172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rial"/>
              </a:defRPr>
            </a:pPr>
            <a:r>
              <a:t>진짜 뭘</a:t>
            </a:r>
            <a:br/>
            <a:r>
              <a:t>만들었어?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3337560"/>
            <a:ext cx="914400" cy="274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51376" y="3520439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Arial"/>
              </a:defRPr>
            </a:pPr>
            <a:r>
              <a:t>실제 사례 12가지</a:t>
            </a:r>
            <a:br/>
            <a:r>
              <a:t>앱, 영상, 음악, 굿즈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24144" y="32004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61304" y="1645920"/>
            <a:ext cx="1645920" cy="38404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089904" y="1828800"/>
            <a:ext cx="1188720" cy="320040"/>
          </a:xfrm>
          <a:prstGeom prst="roundRect">
            <a:avLst>
              <a:gd name="adj" fmla="val 1500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PART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98464" y="233172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rial"/>
              </a:defRPr>
            </a:pPr>
            <a:r>
              <a:t>코딩 말고</a:t>
            </a:r>
            <a:br/>
            <a:r>
              <a:t>다른 것도?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27064" y="3337560"/>
            <a:ext cx="914400" cy="2743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52744" y="3520439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Arial"/>
              </a:defRPr>
            </a:pPr>
            <a:r>
              <a:t>AI 오케스트라</a:t>
            </a:r>
            <a:br/>
            <a:r>
              <a:t>7개 파트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25512" y="32004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62672" y="1645920"/>
            <a:ext cx="1645920" cy="38404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891272" y="1828800"/>
            <a:ext cx="1188720" cy="320040"/>
          </a:xfrm>
          <a:prstGeom prst="roundRect">
            <a:avLst>
              <a:gd name="adj" fmla="val 15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PART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99832" y="233172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rial"/>
              </a:defRPr>
            </a:pPr>
            <a:r>
              <a:t>어떻게</a:t>
            </a:r>
            <a:br/>
            <a:r>
              <a:t>생각해야 해?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28432" y="3337560"/>
            <a:ext cx="914400" cy="2743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54112" y="3520439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Arial"/>
              </a:defRPr>
            </a:pPr>
            <a:r>
              <a:t>아이디어 → 사업</a:t>
            </a:r>
            <a:br/>
            <a:r>
              <a:t>방법론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32004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64040" y="1645920"/>
            <a:ext cx="1645920" cy="38404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692640" y="1828800"/>
            <a:ext cx="1188720" cy="320040"/>
          </a:xfrm>
          <a:prstGeom prst="roundRect">
            <a:avLst>
              <a:gd name="adj" fmla="val 15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PART 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233172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rial"/>
              </a:defRPr>
            </a:pPr>
            <a:r>
              <a:t>직접</a:t>
            </a:r>
            <a:br/>
            <a:r>
              <a:t>만들어보자!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29800" y="3337560"/>
            <a:ext cx="914400" cy="274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55480" y="3520439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Arial"/>
              </a:defRPr>
            </a:pPr>
            <a:r>
              <a:t>Flask + HTML</a:t>
            </a:r>
            <a:br/>
            <a:r>
              <a:t>공부 타이머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  <a:latin typeface="Arial"/>
              </a:defRPr>
            </a:pPr>
            <a:r>
              <a:t>기획 → 설명 → 확인 → 수정 → 반복  |  이 공식은 모든 PART에 적용됩니다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0" y="1828800"/>
            <a:ext cx="987552" cy="320040"/>
          </a:xfrm>
          <a:prstGeom prst="roundRect">
            <a:avLst>
              <a:gd name="adj" fmla="val 30000"/>
            </a:avLst>
          </a:prstGeom>
          <a:solidFill>
            <a:srgbClr val="538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3774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rial"/>
              </a:defRPr>
            </a:pPr>
            <a:r>
              <a:t>바이브 코딩이란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Arial"/>
              </a:defRPr>
            </a:pPr>
            <a:r>
              <a:t>2025년, 코딩의 규칙이 바뀌었다.</a:t>
            </a:r>
            <a:br/>
            <a:r>
              <a:t>코드를 쓰는 능력이 아니라, 설명하는 능력이 핵심인 시대.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바이브 코딩의 탄생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698480" cy="16459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73152" cy="1645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Arial"/>
              </a:defRPr>
            </a:pPr>
            <a:r>
              <a:t>안드레이 카파시 (Andrej Karpathy) — 테슬라·OpenAI 공동 창업자, 2025년 2월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Arial"/>
              </a:defRPr>
            </a:pPr>
            <a:r>
              <a:t>"나는 요즘 새로운 종류의 코딩을 하고 있다. 바이브 코딩이라고 부른다.</a:t>
            </a:r>
            <a:br/>
            <a:r>
              <a:t>AI에게 말로 설명하고, 코드는 AI가 쓴다. 나는 결과만 보고 '좋아' 또는 '이 부분 고쳐줘'라고 한다."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3200400"/>
            <a:ext cx="7589520" cy="9144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3246120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2D3EE"/>
                </a:solidFill>
                <a:latin typeface="Arial"/>
              </a:defRPr>
            </a:pPr>
            <a:r>
              <a:t>바이브 코딩 = 원하는 것을 말로 설명하면, AI가 코드를 만들어주는 방식</a:t>
            </a:r>
            <a:br/>
            <a:r>
              <a:t>코드 문법을 외울 필요가 없다. "무엇을 만들고 싶은지 정확하게 설명하는 능력"이 핵심!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80560"/>
            <a:ext cx="2560320" cy="1920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4480560"/>
            <a:ext cx="73152" cy="19202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61772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  <a:latin typeface="Arial"/>
              </a:defRPr>
            </a:pPr>
            <a:r>
              <a:t>코드 문법 암기?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400" b="0">
                <a:solidFill>
                  <a:srgbClr val="E2E8F0"/>
                </a:solidFill>
                <a:latin typeface="Arial"/>
              </a:defRPr>
            </a:pPr>
            <a:r>
              <a:t>필요 없음!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400" b="0">
                <a:solidFill>
                  <a:srgbClr val="E2E8F0"/>
                </a:solidFill>
                <a:latin typeface="Arial"/>
              </a:defRPr>
            </a:pPr>
          </a:p>
          <a:p>
            <a:pPr algn="l">
              <a:spcBef>
                <a:spcPts val="300"/>
              </a:spcBef>
              <a:spcAft>
                <a:spcPts val="0"/>
              </a:spcAft>
              <a:defRPr sz="1400" b="0">
                <a:solidFill>
                  <a:srgbClr val="E2E8F0"/>
                </a:solidFill>
                <a:latin typeface="Arial"/>
              </a:defRPr>
            </a:pPr>
            <a:r>
              <a:t>AI가 대신 써줍니다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4480560"/>
            <a:ext cx="2560320" cy="1920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66160" y="4480560"/>
            <a:ext cx="73152" cy="1920240"/>
          </a:xfrm>
          <a:prstGeom prst="rect">
            <a:avLst/>
          </a:prstGeom>
          <a:solidFill>
            <a:srgbClr val="538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461772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38DF8"/>
                </a:solidFill>
                <a:latin typeface="Arial"/>
              </a:defRPr>
            </a:pPr>
            <a:r>
              <a:t>필요한 능력?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400" b="0">
                <a:solidFill>
                  <a:srgbClr val="E2E8F0"/>
                </a:solidFill>
                <a:latin typeface="Arial"/>
              </a:defRPr>
            </a:pPr>
            <a:r>
              <a:t>설명력!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400" b="0">
                <a:solidFill>
                  <a:srgbClr val="E2E8F0"/>
                </a:solidFill>
                <a:latin typeface="Arial"/>
              </a:defRPr>
            </a:pPr>
          </a:p>
          <a:p>
            <a:pPr algn="l">
              <a:spcBef>
                <a:spcPts val="300"/>
              </a:spcBef>
              <a:spcAft>
                <a:spcPts val="0"/>
              </a:spcAft>
              <a:defRPr sz="1400" b="0">
                <a:solidFill>
                  <a:srgbClr val="E2E8F0"/>
                </a:solidFill>
                <a:latin typeface="Arial"/>
              </a:defRPr>
            </a:pPr>
            <a:r>
              <a:t>원하는 것을 정확하게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480560"/>
            <a:ext cx="2560320" cy="1920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4480560"/>
            <a:ext cx="73152" cy="192024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461772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923C"/>
                </a:solidFill>
                <a:latin typeface="Arial"/>
              </a:defRPr>
            </a:pPr>
            <a:r>
              <a:t>걸리는 시간?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400" b="0">
                <a:solidFill>
                  <a:srgbClr val="E2E8F0"/>
                </a:solidFill>
                <a:latin typeface="Arial"/>
              </a:defRPr>
            </a:pPr>
            <a:r>
              <a:t>몇 시간!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400" b="0">
                <a:solidFill>
                  <a:srgbClr val="E2E8F0"/>
                </a:solidFill>
                <a:latin typeface="Arial"/>
              </a:defRPr>
            </a:pPr>
          </a:p>
          <a:p>
            <a:pPr algn="l">
              <a:spcBef>
                <a:spcPts val="300"/>
              </a:spcBef>
              <a:spcAft>
                <a:spcPts val="0"/>
              </a:spcAft>
              <a:defRPr sz="1400" b="0">
                <a:solidFill>
                  <a:srgbClr val="E2E8F0"/>
                </a:solidFill>
                <a:latin typeface="Arial"/>
              </a:defRPr>
            </a:pPr>
            <a:r>
              <a:t>며칠이 아니라 하루 안에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4480560"/>
            <a:ext cx="2560320" cy="1920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4480560"/>
            <a:ext cx="73152" cy="19202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461772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B5CF6"/>
                </a:solidFill>
                <a:latin typeface="Arial"/>
              </a:defRPr>
            </a:pPr>
            <a:r>
              <a:t>비유하면?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400" b="0">
                <a:solidFill>
                  <a:srgbClr val="E2E8F0"/>
                </a:solidFill>
                <a:latin typeface="Arial"/>
              </a:defRPr>
            </a:pPr>
            <a:r>
              <a:t>통역사!</a:t>
            </a:r>
          </a:p>
          <a:p>
            <a:pPr algn="l">
              <a:spcBef>
                <a:spcPts val="300"/>
              </a:spcBef>
              <a:spcAft>
                <a:spcPts val="0"/>
              </a:spcAft>
              <a:defRPr sz="1400" b="0">
                <a:solidFill>
                  <a:srgbClr val="E2E8F0"/>
                </a:solidFill>
                <a:latin typeface="Arial"/>
              </a:defRPr>
            </a:pPr>
          </a:p>
          <a:p>
            <a:pPr algn="l">
              <a:spcBef>
                <a:spcPts val="300"/>
              </a:spcBef>
              <a:spcAft>
                <a:spcPts val="0"/>
              </a:spcAft>
              <a:defRPr sz="1400" b="0">
                <a:solidFill>
                  <a:srgbClr val="E2E8F0"/>
                </a:solidFill>
                <a:latin typeface="Arial"/>
              </a:defRPr>
            </a:pPr>
            <a:r>
              <a:t>한국어로 설명 → AI가 번역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전통적 코딩 vs 바이브 코딩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6984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206240"/>
                <a:gridCol w="4206240"/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비교 항목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전통적 코딩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바이브 코딩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코드를 누가 쓰나?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사람이 직접 타이핑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AI가 대신 작성</a:t>
                      </a:r>
                    </a:p>
                  </a:txBody>
                  <a:tcPr anchor="ctr">
                    <a:solidFill>
                      <a:srgbClr val="0F2D1A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문법을 외워야 하나?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반드시 외워야 함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몰라도 됨</a:t>
                      </a:r>
                    </a:p>
                  </a:txBody>
                  <a:tcPr anchor="ctr">
                    <a:solidFill>
                      <a:srgbClr val="0F2D1A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필요한 능력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프로그래밍 언어 문법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원하는 것을 설명하는 능력</a:t>
                      </a:r>
                    </a:p>
                  </a:txBody>
                  <a:tcPr anchor="ctr">
                    <a:solidFill>
                      <a:srgbClr val="0F2D1A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에러가 나면?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코드를 읽고 직접 수정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AI에게 에러 알려주고 수정 요청</a:t>
                      </a:r>
                    </a:p>
                  </a:txBody>
                  <a:tcPr anchor="ctr">
                    <a:solidFill>
                      <a:srgbClr val="0F2D1A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걸리는 시간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며칠~몇 주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몇 시간~하루</a:t>
                      </a:r>
                    </a:p>
                  </a:txBody>
                  <a:tcPr anchor="ctr">
                    <a:solidFill>
                      <a:srgbClr val="0F2D1A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비유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외국어를 배워서 직접 말하기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통역사에게 한국어로 설명하기</a:t>
                      </a:r>
                    </a:p>
                  </a:txBody>
                  <a:tcPr anchor="ctr">
                    <a:solidFill>
                      <a:srgbClr val="0F2D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바이브 코딩 5단계 방법론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BF24"/>
                </a:solidFill>
                <a:latin typeface="Arial"/>
              </a:defRPr>
            </a:pPr>
            <a:r>
              <a:t>이 5단계는 코딩뿐만 아니라, 영상/디자인/마케팅에도 똑같이 적용됩니다!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196596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1737360"/>
            <a:ext cx="640080" cy="640080"/>
          </a:xfrm>
          <a:prstGeom prst="ellipse">
            <a:avLst/>
          </a:prstGeom>
          <a:solidFill>
            <a:srgbClr val="538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538DF8"/>
                </a:solidFill>
                <a:latin typeface="Arial"/>
              </a:defRPr>
            </a:pPr>
            <a:r>
              <a:t>기획하기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2E8F0"/>
                </a:solidFill>
                <a:latin typeface="Arial"/>
              </a:defRPr>
            </a:pPr>
            <a:r>
              <a:t>뭘 만들지</a:t>
            </a:r>
            <a:br/>
            <a:r>
              <a:t>정한다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160520"/>
            <a:ext cx="123444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2976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4A3B8"/>
                </a:solidFill>
                <a:latin typeface="Arial"/>
              </a:defRPr>
            </a:pPr>
            <a:r>
              <a:t>비유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6344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Arial"/>
              </a:defRPr>
            </a:pPr>
            <a:r>
              <a:t>건축 설계도</a:t>
            </a:r>
            <a:br/>
            <a:r>
              <a:t>그리기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1448" y="3200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4A3B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15184" y="1554480"/>
            <a:ext cx="196596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55264" y="173736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6624" y="256032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8B5CF6"/>
                </a:solidFill>
                <a:latin typeface="Arial"/>
              </a:defRPr>
            </a:pPr>
            <a:r>
              <a:t>설명하기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6624" y="310896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2E8F0"/>
                </a:solidFill>
                <a:latin typeface="Arial"/>
              </a:defRPr>
            </a:pPr>
            <a:r>
              <a:t>AI에게 원하는</a:t>
            </a:r>
            <a:br/>
            <a:r>
              <a:t>것을 말한다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80944" y="4160520"/>
            <a:ext cx="123444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42976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4A3B8"/>
                </a:solidFill>
                <a:latin typeface="Arial"/>
              </a:defRPr>
            </a:pPr>
            <a:r>
              <a:t>비유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6624" y="466344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Arial"/>
              </a:defRPr>
            </a:pPr>
            <a:r>
              <a:t>건축가에게</a:t>
            </a:r>
            <a:br/>
            <a:r>
              <a:t>주문하기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3200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4A3B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73168" y="1554480"/>
            <a:ext cx="196596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13248" y="1737360"/>
            <a:ext cx="640080" cy="6400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4608" y="256032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4D399"/>
                </a:solidFill>
                <a:latin typeface="Arial"/>
              </a:defRPr>
            </a:pPr>
            <a:r>
              <a:t>확인하기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4608" y="310896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2E8F0"/>
                </a:solidFill>
                <a:latin typeface="Arial"/>
              </a:defRPr>
            </a:pPr>
            <a:r>
              <a:t>결과를 실행해서</a:t>
            </a:r>
            <a:br/>
            <a:r>
              <a:t>본다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38928" y="4160520"/>
            <a:ext cx="123444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4608" y="42976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4A3B8"/>
                </a:solidFill>
                <a:latin typeface="Arial"/>
              </a:defRPr>
            </a:pPr>
            <a:r>
              <a:t>비유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4608" y="466344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Arial"/>
              </a:defRPr>
            </a:pPr>
            <a:r>
              <a:t>완성된 집</a:t>
            </a:r>
            <a:br/>
            <a:r>
              <a:t>둘러보기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57416" y="3200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4A3B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31152" y="1554480"/>
            <a:ext cx="196596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571232" y="1737360"/>
            <a:ext cx="640080" cy="64008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22592" y="256032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B923C"/>
                </a:solidFill>
                <a:latin typeface="Arial"/>
              </a:defRPr>
            </a:pPr>
            <a:r>
              <a:t>수정하기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22592" y="310896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2E8F0"/>
                </a:solidFill>
                <a:latin typeface="Arial"/>
              </a:defRPr>
            </a:pPr>
            <a:r>
              <a:t>마음에 안 드는</a:t>
            </a:r>
            <a:br/>
            <a:r>
              <a:t>부분을 고친다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96912" y="4160520"/>
            <a:ext cx="123444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22592" y="42976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4A3B8"/>
                </a:solidFill>
                <a:latin typeface="Arial"/>
              </a:defRPr>
            </a:pPr>
            <a:r>
              <a:t>비유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22592" y="466344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Arial"/>
              </a:defRPr>
            </a:pPr>
            <a:r>
              <a:t>벽 색깔</a:t>
            </a:r>
            <a:br/>
            <a:r>
              <a:t>바꿔주세요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3200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4A3B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89136" y="1554480"/>
            <a:ext cx="196596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729216" y="1737360"/>
            <a:ext cx="640080" cy="64008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0576" y="256032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EC4899"/>
                </a:solidFill>
                <a:latin typeface="Arial"/>
              </a:defRPr>
            </a:pPr>
            <a:r>
              <a:t>반복하기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0576" y="3108960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2E8F0"/>
                </a:solidFill>
                <a:latin typeface="Arial"/>
              </a:defRPr>
            </a:pPr>
            <a:r>
              <a:t>2~4를 반복해서</a:t>
            </a:r>
            <a:br/>
            <a:r>
              <a:t>완성도 높인다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54896" y="4160520"/>
            <a:ext cx="123444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80576" y="42976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4A3B8"/>
                </a:solidFill>
                <a:latin typeface="Arial"/>
              </a:defRPr>
            </a:pPr>
            <a:r>
              <a:t>비유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0576" y="466344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Arial"/>
              </a:defRPr>
            </a:pPr>
            <a:r>
              <a:t>인테리어</a:t>
            </a:r>
            <a:br/>
            <a:r>
              <a:t>하나씩 추가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좋은 프롬프트 작성법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1097280"/>
            <a:ext cx="7589520" cy="64008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0" y="114300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2D3EE"/>
                </a:solidFill>
                <a:latin typeface="Arial"/>
              </a:defRPr>
            </a:pPr>
            <a:r>
              <a:t>좋은 프롬프트 = 무엇을 + 어떻게 + 제약 조건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01168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434840"/>
                <a:gridCol w="4434840"/>
              </a:tblGrid>
              <a:tr h="877824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구분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나쁜 프롬프트 ❌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좋은 프롬프트 ✅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기능 설명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"타이머 만들어"</a:t>
                      </a:r>
                    </a:p>
                  </a:txBody>
                  <a:tcPr anchor="ctr">
                    <a:solidFill>
                      <a:srgbClr val="2D151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"25분 카운트다운 타이머. 시작, 일시정지, 리셋 버튼"</a:t>
                      </a:r>
                    </a:p>
                  </a:txBody>
                  <a:tcPr anchor="ctr">
                    <a:solidFill>
                      <a:srgbClr val="0F2D1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디자인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"이쁘게 해줘"</a:t>
                      </a:r>
                    </a:p>
                  </a:txBody>
                  <a:tcPr anchor="ctr">
                    <a:solidFill>
                      <a:srgbClr val="2D151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"배경은 연한 파란색, 버튼은 둥근 모서리, 글자 60px"</a:t>
                      </a:r>
                    </a:p>
                  </a:txBody>
                  <a:tcPr anchor="ctr">
                    <a:solidFill>
                      <a:srgbClr val="0F2D1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수정 요청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"이상해, 다시 해"</a:t>
                      </a:r>
                    </a:p>
                  </a:txBody>
                  <a:tcPr anchor="ctr">
                    <a:solidFill>
                      <a:srgbClr val="2D151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"시작 버튼 눌러도 안 움직여. 콘솔에 에러 나와"</a:t>
                      </a:r>
                    </a:p>
                  </a:txBody>
                  <a:tcPr anchor="ctr">
                    <a:solidFill>
                      <a:srgbClr val="0F2D1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기능 추가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"다 추가해줘"</a:t>
                      </a:r>
                    </a:p>
                  </a:txBody>
                  <a:tcPr anchor="ctr">
                    <a:solidFill>
                      <a:srgbClr val="2D151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"타이머 위에 과목 드롭다운 추가. 수학, 영어, 국어"</a:t>
                      </a:r>
                    </a:p>
                  </a:txBody>
                  <a:tcPr anchor="ctr">
                    <a:solidFill>
                      <a:srgbClr val="0F2D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0" y="1828800"/>
            <a:ext cx="987552" cy="320040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3774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rial"/>
              </a:defRPr>
            </a:pPr>
            <a:r>
              <a:t>바이브 코딩 도구 &amp; 플랫폼 총정리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Arial"/>
              </a:defRPr>
            </a:pPr>
            <a:r>
              <a:t>8가지 주요 도구의 특징과 차이점</a:t>
            </a:r>
            <a:br/>
            <a:r>
              <a:t>AI 에이전트, 웹 빌더, 코딩 어시스턴트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바이브 코딩 도구의 3가지 유형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3566160" cy="5029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566160" cy="548640"/>
          </a:xfrm>
          <a:prstGeom prst="roundRect">
            <a:avLst>
              <a:gd name="adj" fmla="val 4000"/>
            </a:avLst>
          </a:prstGeom>
          <a:solidFill>
            <a:srgbClr val="538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AI 코딩 에이전트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Arial"/>
              </a:defRPr>
            </a:pPr>
            <a:r>
              <a:t>AI에게 말하면 파일을</a:t>
            </a:r>
            <a:br/>
            <a:r>
              <a:t>직접 만들고 수정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94A3B8"/>
                </a:solidFill>
                <a:latin typeface="Arial"/>
              </a:defRPr>
            </a:pPr>
            <a:r>
              <a:t>대표 도구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38DF8"/>
                </a:solidFill>
                <a:latin typeface="Arial"/>
              </a:defRPr>
            </a:pPr>
            <a:r>
              <a:t>Claude Code</a:t>
            </a:r>
            <a:br/>
            <a:r>
              <a:t>Replit Agent</a:t>
            </a:r>
            <a:br/>
            <a:r>
              <a:t>Google AI 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12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94A3B8"/>
                </a:solidFill>
                <a:latin typeface="Arial"/>
              </a:defRPr>
            </a:pPr>
            <a:r>
              <a:t>추천 대상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532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Arial"/>
              </a:defRPr>
            </a:pPr>
            <a:r>
              <a:t>처음 시작하는 사람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80160"/>
            <a:ext cx="3566160" cy="5029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1280160"/>
            <a:ext cx="3566160" cy="548640"/>
          </a:xfrm>
          <a:prstGeom prst="roundRect">
            <a:avLst>
              <a:gd name="adj" fmla="val 4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웹 빌더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574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Arial"/>
              </a:defRPr>
            </a:pPr>
            <a:r>
              <a:t>브라우저에서</a:t>
            </a:r>
            <a:br/>
            <a:r>
              <a:t>바로 앱 완성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108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94A3B8"/>
                </a:solidFill>
                <a:latin typeface="Arial"/>
              </a:defRPr>
            </a:pPr>
            <a:r>
              <a:t>대표 도구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4290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4D399"/>
                </a:solidFill>
                <a:latin typeface="Arial"/>
              </a:defRPr>
            </a:pPr>
            <a:r>
              <a:t>V0</a:t>
            </a:r>
            <a:br/>
            <a:r>
              <a:t>Bolt.new</a:t>
            </a:r>
            <a:br/>
            <a:r>
              <a:t>Lovable</a:t>
            </a:r>
            <a:br/>
            <a:r>
              <a:t>Create.xyz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5212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94A3B8"/>
                </a:solidFill>
                <a:latin typeface="Arial"/>
              </a:defRPr>
            </a:pPr>
            <a:r>
              <a:t>추천 대상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532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Arial"/>
              </a:defRPr>
            </a:pPr>
            <a:r>
              <a:t>빠른 프로토타입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280160"/>
            <a:ext cx="3566160" cy="5029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0" y="1280160"/>
            <a:ext cx="3566160" cy="548640"/>
          </a:xfrm>
          <a:prstGeom prst="roundRect">
            <a:avLst>
              <a:gd name="adj" fmla="val 400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코딩 어시스턴트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0574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Arial"/>
              </a:defRPr>
            </a:pPr>
            <a:r>
              <a:t>코드 에디터 안에서</a:t>
            </a:r>
            <a:br/>
            <a:r>
              <a:t>AI가 옆에서 도움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108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94A3B8"/>
                </a:solidFill>
                <a:latin typeface="Arial"/>
              </a:defRPr>
            </a:pPr>
            <a:r>
              <a:t>대표 도구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4290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B923C"/>
                </a:solidFill>
                <a:latin typeface="Arial"/>
              </a:defRPr>
            </a:pPr>
            <a:r>
              <a:t>Cursor</a:t>
            </a:r>
            <a:br/>
            <a:r>
              <a:t>GitHub Copilot</a:t>
            </a:r>
            <a:br/>
            <a:r>
              <a:t>Windsurf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5212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94A3B8"/>
                </a:solidFill>
                <a:latin typeface="Arial"/>
              </a:defRPr>
            </a:pPr>
            <a:r>
              <a:t>추천 대상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5532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Arial"/>
              </a:defRPr>
            </a:pPr>
            <a:r>
              <a:t>코딩 경험 있는 사람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8대 도구 비교표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1097280"/>
                <a:gridCol w="1188720"/>
                <a:gridCol w="4114800"/>
                <a:gridCol w="1828800"/>
              </a:tblGrid>
              <a:tr h="5892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도구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유형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설치?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난이도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가장 잘하는 것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무료?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Claude Code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에이전트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터미널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쉬움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전체 프로젝트 생성 + 설명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유료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V0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웹 빌더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없음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매우 쉬움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예쁜 웹 UI 디자인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체험 무료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Bolt.new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웹 빌더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없음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쉬움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즉시 실행되는 전체 앱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체험 무료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Lovable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웹 빌더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없음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쉬움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DB 연동 앱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체험 무료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Cursor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어시스턴트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앱 설치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보통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기존 코드 수정/확장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체험 무료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Replit Agent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에이전트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없음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매우 쉬움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학습용, 브라우저만으로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무료 가능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Google AI Studio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에이전트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없음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쉬움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Google 연동, 긴 코드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무료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Create.xyz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웹 빌더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없음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매우 쉬움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AI 기능 포함 앱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체험 무료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코딩 이외의 AI 창작 도구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2743200" cy="5029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743200" cy="502920"/>
          </a:xfrm>
          <a:prstGeom prst="roundRect">
            <a:avLst>
              <a:gd name="adj" fmla="val 4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이미지/디자인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0116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4A3B8"/>
                </a:solidFill>
                <a:latin typeface="Arial"/>
              </a:defRPr>
            </a:pPr>
            <a:r>
              <a:t>도구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3172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C4899"/>
                </a:solidFill>
                <a:latin typeface="Arial"/>
              </a:defRPr>
            </a:pPr>
            <a:r>
              <a:t>Midjourney · DALL-E 3</a:t>
            </a:r>
            <a:br/>
            <a:r>
              <a:t>Canva AI · Adobe Firefly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749040"/>
            <a:ext cx="1828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9319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4A3B8"/>
                </a:solidFill>
                <a:latin typeface="Arial"/>
              </a:defRPr>
            </a:pPr>
            <a:r>
              <a:t>하는 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2976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2E8F0"/>
                </a:solidFill>
                <a:latin typeface="Arial"/>
              </a:defRPr>
            </a:pPr>
            <a:r>
              <a:t>텍스트 → 고품질 이미지</a:t>
            </a:r>
            <a:br/>
            <a:r>
              <a:t>로고, 썸네일, 포스터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280160"/>
            <a:ext cx="2743200" cy="5029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83280" y="1280160"/>
            <a:ext cx="2743200" cy="502920"/>
          </a:xfrm>
          <a:prstGeom prst="roundRect">
            <a:avLst>
              <a:gd name="adj" fmla="val 4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영상/동영상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0116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4A3B8"/>
                </a:solidFill>
                <a:latin typeface="Arial"/>
              </a:defRPr>
            </a:pPr>
            <a:r>
              <a:t>도구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33172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  <a:latin typeface="Arial"/>
              </a:defRPr>
            </a:pPr>
            <a:r>
              <a:t>Runway Gen-3 · Sora</a:t>
            </a:r>
            <a:br/>
            <a:r>
              <a:t>CapCut AI · HeyGen · Vrew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3749040"/>
            <a:ext cx="1828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39319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4A3B8"/>
                </a:solidFill>
                <a:latin typeface="Arial"/>
              </a:defRPr>
            </a:pPr>
            <a:r>
              <a:t>하는 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42976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2E8F0"/>
                </a:solidFill>
                <a:latin typeface="Arial"/>
              </a:defRPr>
            </a:pPr>
            <a:r>
              <a:t>텍스트 → 영상 생성</a:t>
            </a:r>
            <a:br/>
            <a:r>
              <a:t>자동 편집, AI 아바타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280160"/>
            <a:ext cx="2743200" cy="5029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9360" y="1280160"/>
            <a:ext cx="2743200" cy="502920"/>
          </a:xfrm>
          <a:prstGeom prst="roundRect">
            <a:avLst>
              <a:gd name="adj" fmla="val 4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음악/사운드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0116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4A3B8"/>
                </a:solidFill>
                <a:latin typeface="Arial"/>
              </a:defRPr>
            </a:pPr>
            <a:r>
              <a:t>도구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33172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D3EE"/>
                </a:solidFill>
                <a:latin typeface="Arial"/>
              </a:defRPr>
            </a:pPr>
            <a:r>
              <a:t>Suno · Udio</a:t>
            </a:r>
            <a:br/>
            <a:r>
              <a:t>ElevenLabs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3749040"/>
            <a:ext cx="1828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9319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4A3B8"/>
                </a:solidFill>
                <a:latin typeface="Arial"/>
              </a:defRPr>
            </a:pPr>
            <a:r>
              <a:t>하는 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2976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2E8F0"/>
                </a:solidFill>
                <a:latin typeface="Arial"/>
              </a:defRPr>
            </a:pPr>
            <a:r>
              <a:t>텍스트 → 완성 곡</a:t>
            </a:r>
            <a:br/>
            <a:r>
              <a:t>AI 음성 나레이션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280160"/>
            <a:ext cx="2743200" cy="5029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35440" y="1280160"/>
            <a:ext cx="2743200" cy="502920"/>
          </a:xfrm>
          <a:prstGeom prst="roundRect">
            <a:avLst>
              <a:gd name="adj" fmla="val 4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글쓰기/PPT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20116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4A3B8"/>
                </a:solidFill>
                <a:latin typeface="Arial"/>
              </a:defRPr>
            </a:pPr>
            <a:r>
              <a:t>도구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233172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  <a:latin typeface="Arial"/>
              </a:defRPr>
            </a:pPr>
            <a:r>
              <a:t>Claude · Gamma</a:t>
            </a:r>
            <a:br/>
            <a:r>
              <a:t>Notion AI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92640" y="3749040"/>
            <a:ext cx="1828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72600" y="39319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4A3B8"/>
                </a:solidFill>
                <a:latin typeface="Arial"/>
              </a:defRPr>
            </a:pPr>
            <a:r>
              <a:t>하는 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42976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2E8F0"/>
                </a:solidFill>
                <a:latin typeface="Arial"/>
              </a:defRPr>
            </a:pPr>
            <a:r>
              <a:t>블로그, 카피, PPT</a:t>
            </a:r>
            <a:br/>
            <a:r>
              <a:t>문서 자동 생성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0" y="1828800"/>
            <a:ext cx="987552" cy="320040"/>
          </a:xfrm>
          <a:prstGeom prst="roundRect">
            <a:avLst>
              <a:gd name="adj" fmla="val 3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3774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rial"/>
              </a:defRPr>
            </a:pPr>
            <a:r>
              <a:t>진짜 이걸로 뭘 만들었어?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Arial"/>
              </a:defRPr>
            </a:pPr>
            <a:r>
              <a:t>코딩을 모르는 사람들이 AI로 만든 실제 사례 12가지</a:t>
            </a:r>
            <a:br/>
            <a:r>
              <a:t>앱, 영상, 음악, 광고, 굿즈, 전자책까지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실제 사례 — 앱 &amp; 서비스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116128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468880"/>
                <a:gridCol w="2286000"/>
                <a:gridCol w="2286000"/>
                <a:gridCol w="4023360"/>
              </a:tblGrid>
              <a:tr h="757645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프로젝트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만든 사람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사용 도구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결과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PhotoAI.com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네덜란드 1인 개발자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AI 코딩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월 매출 1억원, 직원 0명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교육용 퀴즈 앱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미국 초등학교 교사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Bolt.new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30분 완성, 학생 120명 사용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중고 교과서 플랫폼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한국 대학생 3명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V0 (Vercel)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2시간 만에 회원 200명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네일샵 예약 시스템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40대 네일샵 사장님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Lovable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전화예약 70% 감소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교실 좌석 배치 앱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중학생 3명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Replit Agent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선생님 6명 매주 사용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</a:tr>
              <a:tr h="7576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YouTube 요약 확장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경영학과 대학생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Cursor + Claude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주간 사용자 3,000명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실제 사례 — 콘텐츠 &amp; 비즈니스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118872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560320"/>
                <a:gridCol w="2103120"/>
                <a:gridCol w="2743200"/>
                <a:gridCol w="3931920"/>
              </a:tblGrid>
              <a:tr h="757645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프로젝트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만든 사람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사용 도구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결과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lo-fi 음악 유튜브 채널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한국 고등학생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Suno + Midjourney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구독자 8,000명, 월 30만원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화장품 광고 영상 3편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소규모 브랜드 (3명)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Runway+Suno+CapCut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비용 90% 절감 (300만→3만)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AI 마케팅 전자책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프리랜서 마케터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Claude+Midjourney+Gamma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500부 판매, 약 500만원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AI 교육 영상 20편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학원 강사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Claude+HeyGen+Canva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유튜브 2,000명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AI 캐릭터 굿즈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고등학생 미술동아리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Midjourney+Canva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월 매출 80만원, 축제 완판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</a:tr>
              <a:tr h="7576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AI 그림일기 앱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초등학교 교사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Create.xyz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학부모 만족도 4.8/5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12개 사례의 공통 패턴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538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554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38DF8"/>
                </a:solidFill>
                <a:latin typeface="Arial"/>
              </a:defRPr>
            </a:pPr>
            <a:r>
              <a:t>자기 문제 해결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0574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Arial"/>
              </a:defRPr>
            </a:pPr>
            <a:r>
              <a:t>자기가 겪는</a:t>
            </a:r>
            <a:br/>
            <a:r>
              <a:t>불편함에서 시작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8016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0" y="1554480"/>
            <a:ext cx="457200" cy="4572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1554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4D399"/>
                </a:solidFill>
                <a:latin typeface="Arial"/>
              </a:defRPr>
            </a:pPr>
            <a:r>
              <a:t>빠른 출시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20574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Arial"/>
              </a:defRPr>
            </a:pPr>
            <a:r>
              <a:t>완벽하지 않아도</a:t>
            </a:r>
            <a:br/>
            <a:r>
              <a:t>먼저 내놓음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28016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80" y="1554480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1554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B5CF6"/>
                </a:solidFill>
                <a:latin typeface="Arial"/>
              </a:defRPr>
            </a:pPr>
            <a:r>
              <a:t>피드백 반영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20574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Arial"/>
              </a:defRPr>
            </a:pPr>
            <a:r>
              <a:t>사용자 반응 보고</a:t>
            </a:r>
            <a:br/>
            <a:r>
              <a:t>계속 개선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931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B923C"/>
                </a:solidFill>
                <a:latin typeface="Arial"/>
              </a:defRPr>
            </a:pPr>
            <a:r>
              <a:t>도구 조합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4348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Arial"/>
              </a:defRPr>
            </a:pPr>
            <a:r>
              <a:t>하나가 아니라</a:t>
            </a:r>
            <a:br/>
            <a:r>
              <a:t>여러 AI를 조합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65760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72000" y="3931920"/>
            <a:ext cx="457200" cy="45720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3931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C4899"/>
                </a:solidFill>
                <a:latin typeface="Arial"/>
              </a:defRPr>
            </a:pPr>
            <a:r>
              <a:t>틈새 시장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44348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Arial"/>
              </a:defRPr>
            </a:pPr>
            <a:r>
              <a:t>특정 대상에</a:t>
            </a:r>
            <a:br/>
            <a:r>
              <a:t>집중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3657600"/>
            <a:ext cx="3566160" cy="21031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12480" y="3931920"/>
            <a:ext cx="457200" cy="4572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3931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D3EE"/>
                </a:solidFill>
                <a:latin typeface="Arial"/>
              </a:defRPr>
            </a:pPr>
            <a:r>
              <a:t>낮은 비용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44348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Arial"/>
              </a:defRPr>
            </a:pPr>
            <a:r>
              <a:t>AI 구독료만으로</a:t>
            </a:r>
            <a:br/>
            <a:r>
              <a:t>시작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71600" y="5760720"/>
            <a:ext cx="9418320" cy="64008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45920" y="58064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D3EE"/>
                </a:solidFill>
                <a:latin typeface="Arial"/>
              </a:defRPr>
            </a:pPr>
            <a:r>
              <a:t>공통점은 "코딩을 잘한다"가 아니라, "어떤 문제를 풀지 명확히 알고 있었다"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0" y="1828800"/>
            <a:ext cx="987552" cy="320040"/>
          </a:xfrm>
          <a:prstGeom prst="roundRect">
            <a:avLst>
              <a:gd name="adj" fmla="val 3000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3774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rial"/>
              </a:defRPr>
            </a:pPr>
            <a:r>
              <a:t>AI 오케스트라와 1인 사업가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Arial"/>
              </a:defRPr>
            </a:pPr>
            <a:r>
              <a:t>코딩을 넘어서 영상, 음악, 디자인, 광고까지</a:t>
            </a:r>
            <a:br/>
            <a:r>
              <a:t>1명이 7명의 역할을 하는 AI 오케스트라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1인 AI 오케스트라란?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Arial"/>
              </a:defRPr>
            </a:pPr>
            <a:r>
              <a:t>지휘자는 악기를 직접 연주하지 않는다. 어떤 악기가 언제, 어떻게 연주할지 결정한다.</a:t>
            </a:r>
          </a:p>
        </p:txBody>
      </p:sp>
      <p:sp>
        <p:nvSpPr>
          <p:cNvPr id="4" name="Oval 3"/>
          <p:cNvSpPr/>
          <p:nvPr/>
        </p:nvSpPr>
        <p:spPr>
          <a:xfrm>
            <a:off x="5029200" y="2286000"/>
            <a:ext cx="2103120" cy="2103120"/>
          </a:xfrm>
          <a:prstGeom prst="ellipse">
            <a:avLst/>
          </a:prstGeom>
          <a:solidFill>
            <a:srgbClr val="1E3A5F"/>
          </a:solidFill>
          <a:ln w="381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BBF24"/>
                </a:solidFill>
                <a:latin typeface="Arial"/>
              </a:defRPr>
            </a:pPr>
            <a:r>
              <a:t>나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BBF24"/>
                </a:solidFill>
                <a:latin typeface="Arial"/>
              </a:defRPr>
            </a:pPr>
            <a:r>
              <a:t>(지휘자)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164592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25400">
            <a:solidFill>
              <a:srgbClr val="538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38DF8"/>
                </a:solidFill>
                <a:latin typeface="Arial"/>
              </a:defRPr>
            </a:pPr>
            <a:r>
              <a:t>코딩 AI</a:t>
            </a:r>
          </a:p>
          <a:p>
            <a:pPr algn="ctr">
              <a:spcBef>
                <a:spcPts val="40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Arial"/>
              </a:defRPr>
            </a:pPr>
            <a:r>
              <a:t>Claude Code</a:t>
            </a:r>
            <a:br/>
            <a:r>
              <a:t>Bolt.new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371600"/>
            <a:ext cx="164592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C4899"/>
                </a:solidFill>
                <a:latin typeface="Arial"/>
              </a:defRPr>
            </a:pPr>
            <a:r>
              <a:t>디자인 AI</a:t>
            </a:r>
          </a:p>
          <a:p>
            <a:pPr algn="ctr">
              <a:spcBef>
                <a:spcPts val="40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Arial"/>
              </a:defRPr>
            </a:pPr>
            <a:r>
              <a:t>Midjourney</a:t>
            </a:r>
            <a:br/>
            <a:r>
              <a:t>Canva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731520"/>
            <a:ext cx="164592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F4444"/>
                </a:solidFill>
                <a:latin typeface="Arial"/>
              </a:defRPr>
            </a:pPr>
            <a:r>
              <a:t>영상 AI</a:t>
            </a:r>
          </a:p>
          <a:p>
            <a:pPr algn="ctr">
              <a:spcBef>
                <a:spcPts val="40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Arial"/>
              </a:defRPr>
            </a:pPr>
            <a:r>
              <a:t>Runway</a:t>
            </a:r>
            <a:br/>
            <a:r>
              <a:t>CapCut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371600"/>
            <a:ext cx="164592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BBF24"/>
                </a:solidFill>
                <a:latin typeface="Arial"/>
              </a:defRPr>
            </a:pPr>
            <a:r>
              <a:t>글쓰기 AI</a:t>
            </a:r>
          </a:p>
          <a:p>
            <a:pPr algn="ctr">
              <a:spcBef>
                <a:spcPts val="40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Arial"/>
              </a:defRPr>
            </a:pPr>
            <a:r>
              <a:t>Claude</a:t>
            </a:r>
            <a:br/>
            <a:r>
              <a:t>Notion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2743200"/>
            <a:ext cx="164592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4D399"/>
                </a:solidFill>
                <a:latin typeface="Arial"/>
              </a:defRPr>
            </a:pPr>
            <a:r>
              <a:t>마케팅 AI</a:t>
            </a:r>
          </a:p>
          <a:p>
            <a:pPr algn="ctr">
              <a:spcBef>
                <a:spcPts val="40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Arial"/>
              </a:defRPr>
            </a:pPr>
            <a:r>
              <a:t>Meta Ads</a:t>
            </a:r>
            <a:br/>
            <a:r>
              <a:t>Claude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4389120"/>
            <a:ext cx="164592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2D3EE"/>
                </a:solidFill>
                <a:latin typeface="Arial"/>
              </a:defRPr>
            </a:pPr>
            <a:r>
              <a:t>음악 AI</a:t>
            </a:r>
          </a:p>
          <a:p>
            <a:pPr algn="ctr">
              <a:spcBef>
                <a:spcPts val="40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Arial"/>
              </a:defRPr>
            </a:pPr>
            <a:r>
              <a:t>Suno</a:t>
            </a:r>
            <a:br/>
            <a:r>
              <a:t>Udio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4114800"/>
            <a:ext cx="164592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8B5CF6"/>
                </a:solidFill>
                <a:latin typeface="Arial"/>
              </a:defRPr>
            </a:pPr>
            <a:r>
              <a:t>음성 AI</a:t>
            </a:r>
          </a:p>
          <a:p>
            <a:pPr algn="ctr">
              <a:spcBef>
                <a:spcPts val="40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Arial"/>
              </a:defRPr>
            </a:pPr>
            <a:r>
              <a:t>ElevenLabs</a:t>
            </a:r>
            <a:br/>
            <a:r>
              <a:t>Vrew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AI 오케스트라 7개 파트 상세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4114800"/>
                <a:gridCol w="4206240"/>
              </a:tblGrid>
              <a:tr h="6629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파트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역할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담당 AI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하는 일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1. 기획/전략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38DF8"/>
                          </a:solidFill>
                          <a:latin typeface="Arial"/>
                        </a:defRPr>
                      </a:pPr>
                      <a:r>
                        <a:t>두뇌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Claude, ChatGPT, Gemini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아이디어, 시장 분석, 사업 계획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2. 개발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심장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Claude Code, Bolt.new, Lovable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웹앱, 모바일 앱, 기능 구현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3. 디자인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EC4899"/>
                          </a:solidFill>
                          <a:latin typeface="Arial"/>
                        </a:defRPr>
                      </a:pPr>
                      <a:r>
                        <a:t>얼굴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Midjourney, Canva AI, DALL-E 3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로고, 썸네일, 소셜 이미지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4. 글쓰기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BBF24"/>
                          </a:solidFill>
                          <a:latin typeface="Arial"/>
                        </a:defRPr>
                      </a:pPr>
                      <a:r>
                        <a:t>목소리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Claude, Notion AI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블로그, SNS, 앱 소개 문구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5. 영상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눈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Runway, CapCut, HeyGen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쇼츠, 릴스, 광고, 교육 영상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6. 음악/음성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2D3EE"/>
                          </a:solidFill>
                          <a:latin typeface="Arial"/>
                        </a:defRPr>
                      </a:pPr>
                      <a:r>
                        <a:t>귀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Suno, ElevenLabs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BGM, 효과음, AI 나레이션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7. 마케팅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8B5CF6"/>
                          </a:solidFill>
                          <a:latin typeface="Arial"/>
                        </a:defRPr>
                      </a:pPr>
                      <a:r>
                        <a:t>다리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Claude + Meta Ads + Analytics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광고, SNS, 데이터 분석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전통 팀 vs AI 오케스트라 비용 비교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09728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3200400"/>
                <a:gridCol w="2011680"/>
              </a:tblGrid>
              <a:tr h="627017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역할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전통 (사람 고용)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AI 오케스트라 (1인)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절감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개발자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월 400만원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Claude Code 구독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~95%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디자이너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월 300만원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Midjourney 구독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~97%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영상 편집자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건당 30만원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Runway + CapCut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~90%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카피라이터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건당 10만원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Claude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~95%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마케팅 매니저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월 350만원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AI + 본인 판단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~80%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음악 제작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건당 50만원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Suno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~99%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1371600" y="5760720"/>
            <a:ext cx="9418320" cy="64008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58064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D3EE"/>
                </a:solidFill>
                <a:latin typeface="Arial"/>
              </a:defRPr>
            </a:pPr>
            <a:r>
              <a:t>AI 오케스트라의 최대 장점: "실패해도 괜찮다" — 비용이 거의 0원!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오케스트라 지휘 3가지 레벨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3566160" cy="3657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566160" cy="822960"/>
          </a:xfrm>
          <a:prstGeom prst="roundRect">
            <a:avLst>
              <a:gd name="adj" fmla="val 4000"/>
            </a:avLst>
          </a:prstGeom>
          <a:solidFill>
            <a:srgbClr val="538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E2E8F0"/>
                </a:solidFill>
                <a:latin typeface="Arial"/>
              </a:defRPr>
            </a:pPr>
            <a:r>
              <a:t>레벨 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독주자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38DF8"/>
                </a:solidFill>
                <a:latin typeface="Arial"/>
              </a:defRPr>
            </a:pPr>
            <a:r>
              <a:t>AI 1~2개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2E8F0"/>
                </a:solidFill>
                <a:latin typeface="Arial"/>
              </a:defRPr>
            </a:pPr>
            <a:r>
              <a:t>앱 하나 만들기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80160"/>
            <a:ext cx="3566160" cy="30175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280160"/>
            <a:ext cx="3566160" cy="82296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E2E8F0"/>
                </a:solidFill>
                <a:latin typeface="Arial"/>
              </a:defRPr>
            </a:pPr>
            <a:r>
              <a:t>레벨 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듀엣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5CF6"/>
                </a:solidFill>
                <a:latin typeface="Arial"/>
              </a:defRPr>
            </a:pPr>
            <a:r>
              <a:t>AI 3~4개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517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2E8F0"/>
                </a:solidFill>
                <a:latin typeface="Arial"/>
              </a:defRPr>
            </a:pPr>
            <a:r>
              <a:t>앱 + 디자인 + 영상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280160"/>
            <a:ext cx="3566160" cy="23774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0" y="1280160"/>
            <a:ext cx="3566160" cy="822960"/>
          </a:xfrm>
          <a:prstGeom prst="roundRect">
            <a:avLst>
              <a:gd name="adj" fmla="val 400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E2E8F0"/>
                </a:solidFill>
                <a:latin typeface="Arial"/>
              </a:defRPr>
            </a:pPr>
            <a:r>
              <a:t>레벨 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풀 오케스트라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286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  <a:latin typeface="Arial"/>
              </a:defRPr>
            </a:pPr>
            <a:r>
              <a:t>AI 5개 이상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6517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2E8F0"/>
                </a:solidFill>
                <a:latin typeface="Arial"/>
              </a:defRPr>
            </a:pPr>
            <a:r>
              <a:t>앱 + 브랜딩 + 콘텐츠</a:t>
            </a:r>
            <a:br/>
            <a:r>
              <a:t>+ 마케팅 + 수익화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BBF24"/>
                </a:solidFill>
                <a:latin typeface="Arial"/>
              </a:defRPr>
            </a:pPr>
            <a:r>
              <a:t>오늘 이 수업에서 여러분은 레벨 1을 시작합니다!</a:t>
            </a:r>
            <a:br/>
            <a:r>
              <a:t>수업이 끝나면 레벨 2~3으로 나아갈 준비가 됩니다.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0" y="1828800"/>
            <a:ext cx="987552" cy="320040"/>
          </a:xfrm>
          <a:prstGeom prst="roundRect">
            <a:avLst>
              <a:gd name="adj" fmla="val 30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PART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3774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rial"/>
              </a:defRPr>
            </a:pPr>
            <a:r>
              <a:t>아이디어를 사업으로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Arial"/>
              </a:defRPr>
            </a:pPr>
            <a:r>
              <a:t>불편 발견 → 검증 → 벤치마킹 → 차별화</a:t>
            </a:r>
            <a:br/>
            <a:r>
              <a:t>페르소나 설정과 반복적 사고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아이디어 발전 4단계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2743200" cy="48463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417320" y="1554480"/>
            <a:ext cx="822960" cy="8229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4D399"/>
                </a:solidFill>
                <a:latin typeface="Arial"/>
              </a:defRPr>
            </a:pPr>
            <a:r>
              <a:t>씨앗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4A3B8"/>
                </a:solidFill>
                <a:latin typeface="Arial"/>
              </a:defRPr>
            </a:pPr>
            <a:r>
              <a:t>핵심 질문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661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Arial"/>
              </a:defRPr>
            </a:pPr>
            <a:r>
              <a:t>이런 거 있으면</a:t>
            </a:r>
            <a:br/>
            <a:r>
              <a:t>좋겠다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480560"/>
            <a:ext cx="1828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4A3B8"/>
                </a:solidFill>
                <a:latin typeface="Arial"/>
              </a:defRPr>
            </a:pPr>
            <a:r>
              <a:t>구체적 방법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29199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2E8F0"/>
                </a:solidFill>
                <a:latin typeface="Arial"/>
              </a:defRPr>
            </a:pPr>
            <a:r>
              <a:t>불편 일기, 주변 관찰</a:t>
            </a:r>
            <a:br/>
            <a:r>
              <a:t>AI에게 물어보기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8688" y="31089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4A3B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280160"/>
            <a:ext cx="2743200" cy="48463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43400" y="1554480"/>
            <a:ext cx="822960" cy="822960"/>
          </a:xfrm>
          <a:prstGeom prst="ellipse">
            <a:avLst/>
          </a:prstGeom>
          <a:solidFill>
            <a:srgbClr val="538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560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38DF8"/>
                </a:solidFill>
                <a:latin typeface="Arial"/>
              </a:defRPr>
            </a:pPr>
            <a:r>
              <a:t>검증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200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4A3B8"/>
                </a:solidFill>
                <a:latin typeface="Arial"/>
              </a:defRPr>
            </a:pPr>
            <a:r>
              <a:t>핵심 질문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5661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Arial"/>
              </a:defRPr>
            </a:pPr>
            <a:r>
              <a:t>나만 그런 건가?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4480560"/>
            <a:ext cx="1828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4A3B8"/>
                </a:solidFill>
                <a:latin typeface="Arial"/>
              </a:defRPr>
            </a:pPr>
            <a:r>
              <a:t>구체적 방법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5029199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2E8F0"/>
                </a:solidFill>
                <a:latin typeface="Arial"/>
              </a:defRPr>
            </a:pPr>
            <a:r>
              <a:t>Google Trends, 설문</a:t>
            </a:r>
            <a:br/>
            <a:r>
              <a:t>커뮤니티 검색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31089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4A3B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280160"/>
            <a:ext cx="2743200" cy="48463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69480" y="1554480"/>
            <a:ext cx="822960" cy="8229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560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B5CF6"/>
                </a:solidFill>
                <a:latin typeface="Arial"/>
              </a:defRPr>
            </a:pPr>
            <a:r>
              <a:t>벤치마킹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200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4A3B8"/>
                </a:solidFill>
                <a:latin typeface="Arial"/>
              </a:defRPr>
            </a:pPr>
            <a:r>
              <a:t>핵심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5661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Arial"/>
              </a:defRPr>
            </a:pPr>
            <a:r>
              <a:t>다른 사람은</a:t>
            </a:r>
            <a:br/>
            <a:r>
              <a:t>어떻게 풀었지?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4480560"/>
            <a:ext cx="1828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4A3B8"/>
                </a:solidFill>
                <a:latin typeface="Arial"/>
              </a:defRPr>
            </a:pPr>
            <a:r>
              <a:t>구체적 방법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029199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2E8F0"/>
                </a:solidFill>
                <a:latin typeface="Arial"/>
              </a:defRPr>
            </a:pPr>
            <a:r>
              <a:t>경쟁 앱 분석</a:t>
            </a:r>
            <a:br/>
            <a:r>
              <a:t>강점/약점 표 작성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70848" y="31089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4A3B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35440" y="1280160"/>
            <a:ext cx="2743200" cy="48463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195560" y="1554480"/>
            <a:ext cx="822960" cy="82296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2560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B923C"/>
                </a:solidFill>
                <a:latin typeface="Arial"/>
              </a:defRPr>
            </a:pPr>
            <a:r>
              <a:t>차별화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3200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4A3B8"/>
                </a:solidFill>
                <a:latin typeface="Arial"/>
              </a:defRPr>
            </a:pPr>
            <a:r>
              <a:t>핵심 질문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35661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Arial"/>
              </a:defRPr>
            </a:pPr>
            <a:r>
              <a:t>내 것만의</a:t>
            </a:r>
            <a:br/>
            <a:r>
              <a:t>무기는 뭐지?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92640" y="4480560"/>
            <a:ext cx="18288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4A3B8"/>
                </a:solidFill>
                <a:latin typeface="Arial"/>
              </a:defRPr>
            </a:pPr>
            <a:r>
              <a:t>구체적 방법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5029199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2E8F0"/>
                </a:solidFill>
                <a:latin typeface="Arial"/>
              </a:defRPr>
            </a:pPr>
            <a:r>
              <a:t>독자적 기능 정의</a:t>
            </a:r>
            <a:br/>
            <a:r>
              <a:t>타겟 좁히기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페르소나 설정: "누구를 위한 건가?"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BF24"/>
                </a:solidFill>
                <a:latin typeface="Arial"/>
              </a:defRPr>
            </a:pPr>
            <a:r>
              <a:t>"모든 사람을 위한 앱"은 아무도 안 쓴다. 딱 한 명을 정하면, 오히려 더 많은 사람이 쓴다.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743200"/>
                <a:gridCol w="2926080"/>
              </a:tblGrid>
              <a:tr h="679268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기능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민수 (중학생)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서연 (고등학생)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준호 (공시생)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기본 타이머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핵심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핵심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핵심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과목별 기록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있으면 좋음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핵심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핵심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친구 경쟁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핵심 ⭐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핵심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불필요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주간/월간 통계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불필요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있으면 좋음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핵심 ⭐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SNS 차단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핵심 ⭐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있으면 좋음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불필요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디자인 스타일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귀여운, 캐릭터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깔끔, 미니멀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기능적, 대시보드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반복적 사고: v1 → v2 → v3 → v4 → v5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200400"/>
                <a:gridCol w="3200400"/>
                <a:gridCol w="292608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버전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바꾼 것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이유 (피드백)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결과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v1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기본 타이머 완성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첫 출발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작동하지만 아무도 안 씀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v2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다크 모드 추가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"밤에 눈이 아파"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밤 사용률 2배 증가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v3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과목 버튼으로 변경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"드롭다운 불편해"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선택 속도 50% 빨라짐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v4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친구 경쟁 기능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"같이 공부하고 싶어"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사용자 3배 증가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v5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주간 리포트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주말 사용률 낮음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주말 사용률 40% 증가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1828800" y="5577840"/>
            <a:ext cx="8503920" cy="73152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0" y="56235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D3EE"/>
                </a:solidFill>
                <a:latin typeface="Arial"/>
              </a:defRPr>
            </a:pPr>
            <a:r>
              <a:t>AI 덕분에 수정 비용이 거의 0에 가깝다.</a:t>
            </a:r>
            <a:br/>
            <a:r>
              <a:t>"이 부분 이렇게 바꿔줘" 한마디면 된다!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지휘자의 마인드셋 5원칙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47120" cy="914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" y="1325880"/>
            <a:ext cx="640080" cy="640080"/>
          </a:xfrm>
          <a:prstGeom prst="ellipse">
            <a:avLst/>
          </a:prstGeom>
          <a:solidFill>
            <a:srgbClr val="538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280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38DF8"/>
                </a:solidFill>
                <a:latin typeface="Arial"/>
              </a:defRPr>
            </a:pPr>
            <a:r>
              <a:t>문제부터 시작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28016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Arial"/>
              </a:defRPr>
            </a:pPr>
            <a:r>
              <a:t>"이 기술로 뭘 만들지?"가 아니라</a:t>
            </a:r>
            <a:br/>
            <a:r>
              <a:t>"이 문제를 어떻게 풀지?"가 먼저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40280"/>
            <a:ext cx="11247120" cy="914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2377440"/>
            <a:ext cx="640080" cy="6400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331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4D399"/>
                </a:solidFill>
                <a:latin typeface="Arial"/>
              </a:defRPr>
            </a:pPr>
            <a:r>
              <a:t>완벽보다 시작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3317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Arial"/>
              </a:defRPr>
            </a:pPr>
            <a:r>
              <a:t>50%짜리를 내놓고, 나머지 50%는</a:t>
            </a:r>
            <a:br/>
            <a:r>
              <a:t>피드백으로 채워라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91840"/>
            <a:ext cx="11247120" cy="914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4360" y="342900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383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B5CF6"/>
                </a:solidFill>
                <a:latin typeface="Arial"/>
              </a:defRPr>
            </a:pPr>
            <a:r>
              <a:t>계속 물어봐라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3832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Arial"/>
              </a:defRPr>
            </a:pPr>
            <a:r>
              <a:t>사용자에게, AI에게, 경쟁 제품에게</a:t>
            </a:r>
            <a:br/>
            <a:r>
              <a:t>끊임없이 질문하라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343400"/>
            <a:ext cx="11247120" cy="914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4360" y="4480560"/>
            <a:ext cx="640080" cy="64008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434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B923C"/>
                </a:solidFill>
                <a:latin typeface="Arial"/>
              </a:defRPr>
            </a:pPr>
            <a:r>
              <a:t>AI의 한계를 알아라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43484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Arial"/>
              </a:defRPr>
            </a:pPr>
            <a:r>
              <a:t>AI는 도구일 뿐, 판단은 사람의 몫</a:t>
            </a:r>
            <a:br/>
            <a:r>
              <a:t>항상 검증하고 수정하라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394960"/>
            <a:ext cx="11247120" cy="9144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4360" y="5532120"/>
            <a:ext cx="640080" cy="64008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486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C4899"/>
                </a:solidFill>
                <a:latin typeface="Arial"/>
              </a:defRPr>
            </a:pPr>
            <a:r>
              <a:t>나만의 이야기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48640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Arial"/>
              </a:defRPr>
            </a:pPr>
            <a:r>
              <a:t>AI는 누구나 쓴다. 차별화는</a:t>
            </a:r>
            <a:br/>
            <a:r>
              <a:t>'어떤 문제를 풀고 싶으냐'에서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0" y="1828800"/>
            <a:ext cx="987552" cy="320040"/>
          </a:xfrm>
          <a:prstGeom prst="roundRect">
            <a:avLst>
              <a:gd name="adj" fmla="val 3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PART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3774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rial"/>
              </a:defRPr>
            </a:pPr>
            <a:r>
              <a:t>직접 만들어보자!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Arial"/>
              </a:defRPr>
            </a:pPr>
            <a:r>
              <a:t>Flask 서버와 HTML의 동작 원리</a:t>
            </a:r>
            <a:br/>
            <a:r>
              <a:t>식당 비유로 쉽게 이해하기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웹앱의 구조: 3개의 층 = 식당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685800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73152" cy="1371600"/>
          </a:xfrm>
          <a:prstGeom prst="rect">
            <a:avLst/>
          </a:prstGeom>
          <a:solidFill>
            <a:srgbClr val="538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38DF8"/>
                </a:solidFill>
                <a:latin typeface="Arial"/>
              </a:defRPr>
            </a:pPr>
            <a:r>
              <a:t>1층: 클라이언트 (손님)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Arial"/>
              </a:defRPr>
            </a:pPr>
            <a:r>
              <a:t>웹 브라우저</a:t>
            </a:r>
            <a:br/>
            <a:r>
              <a:t>사용자가 보는 화면</a:t>
            </a:r>
            <a:br/>
            <a:r>
              <a:t>타이머, 버튼, 기록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685800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743200"/>
            <a:ext cx="73152" cy="13716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Arial"/>
              </a:defRPr>
            </a:pPr>
            <a:r>
              <a:t>2층: 서버 (주방장)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0040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Arial"/>
              </a:defRPr>
            </a:pPr>
            <a:r>
              <a:t>Flask (Python)</a:t>
            </a:r>
            <a:br/>
            <a:r>
              <a:t>요청을 받아 처리하고</a:t>
            </a:r>
            <a:br/>
            <a:r>
              <a:t>HTML을 전달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97680"/>
            <a:ext cx="685800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297680"/>
            <a:ext cx="73152" cy="1371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Arial"/>
              </a:defRPr>
            </a:pPr>
            <a:r>
              <a:t>3층: 데이터 (냉장고)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75488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Arial"/>
              </a:defRPr>
            </a:pPr>
            <a:r>
              <a:t>records.json</a:t>
            </a:r>
            <a:br/>
            <a:r>
              <a:t>공부 기록이</a:t>
            </a:r>
            <a:br/>
            <a:r>
              <a:t>영구 저장되는 곳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772400" y="1188720"/>
          <a:ext cx="4114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188720"/>
                <a:gridCol w="155448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구성 요소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식당 비유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역할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브라우저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손님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화면 표시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Flask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주방장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요청 처리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records.json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냉장고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데이터 저장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HTTP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주문서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대화 규칙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GET vs POST — 두 가지 주문 방식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6984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206240"/>
                <a:gridCol w="4206240"/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비교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GET 요청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POST 요청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뜻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538DF8"/>
                          </a:solidFill>
                          <a:latin typeface="Arial"/>
                        </a:defRPr>
                      </a:pPr>
                      <a:r>
                        <a:t>정보를 "가져와라"</a:t>
                      </a:r>
                    </a:p>
                  </a:txBody>
                  <a:tcPr anchor="ctr">
                    <a:solidFill>
                      <a:srgbClr val="0F25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정보를 "보내라"</a:t>
                      </a:r>
                    </a:p>
                  </a:txBody>
                  <a:tcPr anchor="ctr">
                    <a:solidFill>
                      <a:srgbClr val="0F2D1A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데이터 방향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538DF8"/>
                          </a:solidFill>
                          <a:latin typeface="Arial"/>
                        </a:defRPr>
                      </a:pPr>
                      <a:r>
                        <a:t>서버 → 브라우저 (읽기)</a:t>
                      </a:r>
                    </a:p>
                  </a:txBody>
                  <a:tcPr anchor="ctr">
                    <a:solidFill>
                      <a:srgbClr val="0F25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브라우저 → 서버 (쓰기)</a:t>
                      </a:r>
                    </a:p>
                  </a:txBody>
                  <a:tcPr anchor="ctr">
                    <a:solidFill>
                      <a:srgbClr val="0F2D1A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언제 발생?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538DF8"/>
                          </a:solidFill>
                          <a:latin typeface="Arial"/>
                        </a:defRPr>
                      </a:pPr>
                      <a:r>
                        <a:t>주소창에 URL 입력</a:t>
                      </a:r>
                    </a:p>
                  </a:txBody>
                  <a:tcPr anchor="ctr">
                    <a:solidFill>
                      <a:srgbClr val="0F25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기록 저장할 때</a:t>
                      </a:r>
                    </a:p>
                  </a:txBody>
                  <a:tcPr anchor="ctr">
                    <a:solidFill>
                      <a:srgbClr val="0F2D1A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우리 앱 예시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538DF8"/>
                          </a:solidFill>
                          <a:latin typeface="Arial"/>
                        </a:defRPr>
                      </a:pPr>
                      <a:r>
                        <a:t>홈페이지 보기, 기록 불러오기</a:t>
                      </a:r>
                    </a:p>
                  </a:txBody>
                  <a:tcPr anchor="ctr">
                    <a:solidFill>
                      <a:srgbClr val="0F25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공부 기록 저장하기</a:t>
                      </a:r>
                    </a:p>
                  </a:txBody>
                  <a:tcPr anchor="ctr">
                    <a:solidFill>
                      <a:srgbClr val="0F2D1A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식당 비유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538DF8"/>
                          </a:solidFill>
                          <a:latin typeface="Arial"/>
                        </a:defRPr>
                      </a:pPr>
                      <a:r>
                        <a:t>메뉴판 달라고 하기</a:t>
                      </a:r>
                    </a:p>
                  </a:txBody>
                  <a:tcPr anchor="ctr">
                    <a:solidFill>
                      <a:srgbClr val="0F25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주문서 제출하기</a:t>
                      </a:r>
                    </a:p>
                  </a:txBody>
                  <a:tcPr anchor="ctr">
                    <a:solidFill>
                      <a:srgbClr val="0F2D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타이머 카운트다운 알고리즘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73152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200400"/>
                <a:gridCol w="3200400"/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순서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동작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설명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시작 버튼 클릭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이벤트 발생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1초마다 반복 실행 예약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JavaScript가 담당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남은 시간에서 1초 빼기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1500초 → 1499초 → ...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분:초로 변환 → 화면 업데이트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1499초 → 24:59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남은 시간 = 0? → 정지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반복 실행 멈춤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"수고했어!" 메시지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사용자에게 알림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서버에 기록 저장 (POST)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Flask가 JSON에 저장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046720" y="1188720"/>
            <a:ext cx="3657600" cy="15544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0" y="137160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▶ 시작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9659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2E8F0"/>
                </a:solidFill>
                <a:latin typeface="Arial"/>
              </a:defRPr>
            </a:pPr>
            <a:r>
              <a:t>1초마다 반복 실행</a:t>
            </a:r>
            <a:br/>
            <a:r>
              <a:t>시작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3017520"/>
            <a:ext cx="3657600" cy="15544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0" y="320040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⏸ 일시정지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37947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2E8F0"/>
                </a:solidFill>
                <a:latin typeface="Arial"/>
              </a:defRPr>
            </a:pPr>
            <a:r>
              <a:t>반복 실행 멈춤</a:t>
            </a:r>
            <a:br/>
            <a:r>
              <a:t>(시간은 유지)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4846320"/>
            <a:ext cx="3657600" cy="15544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0" y="502920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🔄 리셋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56235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2E8F0"/>
                </a:solidFill>
                <a:latin typeface="Arial"/>
              </a:defRPr>
            </a:pPr>
            <a:r>
              <a:t>멈춤 + 시간을</a:t>
            </a:r>
            <a:br/>
            <a:r>
              <a:t>25:00으로 되돌림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각 언어의 역할 정리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1645920"/>
                <a:gridCol w="3017520"/>
                <a:gridCol w="22860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언어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역할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실행 장소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이 프로젝트에서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식당 비유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Python (Flask)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서버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내 컴퓨터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HTML 전달, 기록 저장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주방장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538DF8"/>
                          </a:solidFill>
                          <a:latin typeface="Arial"/>
                        </a:defRPr>
                      </a:pPr>
                      <a:r>
                        <a:t>HTML + CSS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화면 뼈대 + 디자인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브라우저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타이머, 버튼, 색상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접시 + 데코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BBF24"/>
                          </a:solidFill>
                          <a:latin typeface="Arial"/>
                        </a:defRPr>
                      </a:pPr>
                      <a:r>
                        <a:t>JavaScript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화면 움직임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브라우저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카운트다운, 서버 통신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2E8F0"/>
                          </a:solidFill>
                          <a:latin typeface="Arial"/>
                        </a:defRPr>
                      </a:pPr>
                      <a:r>
                        <a:t>서빙 로봇</a:t>
                      </a:r>
                    </a:p>
                  </a:txBody>
                  <a:tcPr anchor="ctr">
                    <a:solidFill>
                      <a:srgbClr val="17243B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914400" y="4389120"/>
            <a:ext cx="10332720" cy="201168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448056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Arial"/>
              </a:defRPr>
            </a:pPr>
            <a:r>
              <a:t>민수의 깨달음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937760"/>
            <a:ext cx="9784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Arial"/>
              </a:defRPr>
            </a:pPr>
            <a:r>
              <a:t>"Flask는 배달부, HTML은 상품, JavaScript는 상품 안에서 움직이는 부분, records.json은 창고구나!"</a:t>
            </a:r>
            <a:br/>
            <a:br/>
            <a:r>
              <a:t>코드를 한 줄도 직접 쓰지 않았지만, 앱이 어떻게 돌아가는지 이해하니까</a:t>
            </a:r>
            <a:br/>
            <a:r>
              <a:t>AI에게 "서버 쪽을 고쳐줘" 또는 "타이머 로직을 바꿔줘"라고 정확하게 말할 수 있게 됐다.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74320"/>
            <a:ext cx="1097280" cy="1097280"/>
          </a:xfrm>
          <a:prstGeom prst="ellipse">
            <a:avLst/>
          </a:prstGeom>
          <a:solidFill>
            <a:srgbClr val="8B5CF6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029200"/>
            <a:ext cx="1371600" cy="1371600"/>
          </a:xfrm>
          <a:prstGeom prst="ellipse">
            <a:avLst/>
          </a:prstGeom>
          <a:solidFill>
            <a:srgbClr val="538DF8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457200"/>
            <a:ext cx="731520" cy="731520"/>
          </a:xfrm>
          <a:prstGeom prst="ellipse">
            <a:avLst/>
          </a:prstGeom>
          <a:solidFill>
            <a:srgbClr val="EC4899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Arial"/>
              </a:defRPr>
            </a:pPr>
            <a:r>
              <a:t>민수의 대답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rial"/>
              </a:defRPr>
            </a:pPr>
            <a:r>
              <a:t>"AI와 함께라면, 할 수 있다."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2743200"/>
            <a:ext cx="7589520" cy="9144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2788920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D3EE"/>
                </a:solidFill>
                <a:latin typeface="Arial"/>
              </a:defRPr>
            </a:pPr>
            <a:r>
              <a:t>기획 → 설명 → 확인 → 수정 → 반복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9319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2E8F0"/>
                </a:solidFill>
                <a:latin typeface="Arial"/>
              </a:defRPr>
            </a:pPr>
            <a:r>
              <a:t>이 공식은 코딩에도, 영상에도, 디자인에도, 음악에도, 사업에도 통한다.</a:t>
            </a:r>
            <a:br/>
            <a:r>
              <a:t>도구만 바뀔 뿐, 방법은 같다.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029200"/>
            <a:ext cx="5029200" cy="11887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5029200"/>
            <a:ext cx="73152" cy="1188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51663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Arial"/>
              </a:defRPr>
            </a:pPr>
            <a:r>
              <a:t>"코딩을 잘하는 사람"이 아니라</a:t>
            </a:r>
            <a:br/>
            <a:r>
              <a:t>"설명을 잘하는 사람"이 만드는 시대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029200"/>
            <a:ext cx="5029200" cy="11887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5029200"/>
            <a:ext cx="73152" cy="1188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51663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923C"/>
                </a:solidFill>
                <a:latin typeface="Arial"/>
              </a:defRPr>
            </a:pPr>
            <a:r>
              <a:t>"혼자서 다 할 수 있는 사람"이 아니라</a:t>
            </a:r>
            <a:br/>
            <a:r>
              <a:t>"AI를 잘 지휘하는 사람"이 이기는 시대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감사합니다!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2D3EE"/>
                </a:solidFill>
                <a:latin typeface="Arial"/>
              </a:defRPr>
            </a:pPr>
            <a:r>
              <a:t>기억하세요: 기획 → 설명 → 확인 → 수정 → 반복</a:t>
            </a:r>
            <a:br/>
            <a:r>
              <a:t>이 5단계만 기억하면, 무엇이든 만들 수 있습니다.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4389120"/>
            <a:ext cx="576072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0" y="443484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BBF24"/>
                </a:solidFill>
                <a:latin typeface="Arial"/>
              </a:defRPr>
            </a:pPr>
            <a:r>
              <a:t>다음 시간: 실습 — Flask + HTML로 공부 타이머 직접 만들기!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